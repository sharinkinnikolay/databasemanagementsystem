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50.xml" ContentType="application/vnd.openxmlformats-officedocument.presentationml.slide+xml"/>
  <Override PartName="/ppt/slides/slide243.xml" ContentType="application/vnd.openxmlformats-officedocument.presentationml.slide+xml"/>
  <Override PartName="/ppt/slides/slide290.xml" ContentType="application/vnd.openxmlformats-officedocument.presentationml.slide+xml"/>
  <Override PartName="/ppt/notesSlides/notesSlide16.xml" ContentType="application/vnd.openxmlformats-officedocument.presentationml.notesSlide+xml"/>
  <Override PartName="/ppt/slides/slide221.xml" ContentType="application/vnd.openxmlformats-officedocument.presentationml.slide+xml"/>
  <Override PartName="/ppt/slides/slide319.xml" ContentType="application/vnd.openxmlformats-officedocument.presentationml.slide+xml"/>
  <Override PartName="/ppt/slides/slide366.xml" ContentType="application/vnd.openxmlformats-officedocument.presentationml.slide+xml"/>
  <Override PartName="/ppt/slides/slide158.xml" ContentType="application/vnd.openxmlformats-officedocument.presentationml.slide+xml"/>
  <Override PartName="/ppt/slides/slide344.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3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s/slide295.xml" ContentType="application/vnd.openxmlformats-officedocument.presentationml.slide+xml"/>
  <Override PartName="/ppt/slides/slide300.xml" ContentType="application/vnd.openxmlformats-officedocument.presentationml.slide+xml"/>
  <Override PartName="/ppt/slides/slide31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s/slide237.xml" ContentType="application/vnd.openxmlformats-officedocument.presentationml.slide+xml"/>
  <Override PartName="/ppt/slides/slide284.xml" ContentType="application/vnd.openxmlformats-officedocument.presentationml.slide+xml"/>
  <Override PartName="/ppt/theme/theme2.xml" ContentType="application/vnd.openxmlformats-officedocument.them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Override PartName="/ppt/slides/slide273.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ppt/slides/slide349.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slides/slide327.xml" ContentType="application/vnd.openxmlformats-officedocument.presentationml.slide+xml"/>
  <Override PartName="/ppt/slides/slide338.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s/slide316.xml" ContentType="application/vnd.openxmlformats-officedocument.presentationml.slide+xml"/>
  <Override PartName="/ppt/slides/slide363.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305.xml" ContentType="application/vnd.openxmlformats-officedocument.presentationml.slide+xml"/>
  <Override PartName="/ppt/slides/slide352.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278.xml" ContentType="application/vnd.openxmlformats-officedocument.presentationml.slide+xml"/>
  <Override PartName="/ppt/slides/slide289.xml" ContentType="application/vnd.openxmlformats-officedocument.presentationml.slide+xml"/>
  <Override PartName="/ppt/slides/slide330.xml" ContentType="application/vnd.openxmlformats-officedocument.presentationml.slide+xml"/>
  <Override PartName="/ppt/slides/slide341.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Override PartName="/ppt/slides/slide281.xml" ContentType="application/vnd.openxmlformats-officedocument.presentationml.slide+xml"/>
  <Override PartName="/ppt/slides/slide292.xml" ContentType="application/vnd.openxmlformats-officedocument.presentationml.slide+xml"/>
  <Override PartName="/ppt/notesSlides/notesSlide18.xml" ContentType="application/vnd.openxmlformats-officedocument.presentationml.notesSlide+xml"/>
  <Override PartName="/ppt/slides/slide41.xml" ContentType="application/vnd.openxmlformats-officedocument.presentationml.slide+xml"/>
  <Override PartName="/ppt/slides/slide223.xml" ContentType="application/vnd.openxmlformats-officedocument.presentationml.slide+xml"/>
  <Override PartName="/ppt/slides/slide270.xml" ContentType="application/vnd.openxmlformats-officedocument.presentationml.slide+xml"/>
  <Override PartName="/ppt/slides/slide357.xml" ContentType="application/vnd.openxmlformats-officedocument.presentationml.slide+xml"/>
  <Override PartName="/ppt/slides/slide368.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s/slide346.xml" ContentType="application/vnd.openxmlformats-officedocument.presentationml.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335.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slides/slide324.xml" ContentType="application/vnd.openxmlformats-officedocument.presentationml.slide+xml"/>
  <Override PartName="/ppt/slides/slide371.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s/slide297.xml" ContentType="application/vnd.openxmlformats-officedocument.presentationml.slide+xml"/>
  <Override PartName="/ppt/slides/slide302.xml" ContentType="application/vnd.openxmlformats-officedocument.presentationml.slide+xml"/>
  <Override PartName="/ppt/slides/slide313.xml" ContentType="application/vnd.openxmlformats-officedocument.presentationml.slide+xml"/>
  <Override PartName="/ppt/slides/slide360.xml" ContentType="application/vnd.openxmlformats-officedocument.presentationml.slide+xml"/>
  <Override PartName="/ppt/slideLayouts/slideLayout9.xml" ContentType="application/vnd.openxmlformats-officedocument.presentationml.slideLayout+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239.xml" ContentType="application/vnd.openxmlformats-officedocument.presentationml.slide+xml"/>
  <Override PartName="/ppt/slides/slide286.xml" ContentType="application/vnd.openxmlformats-officedocument.presentationml.slide+xml"/>
  <Override PartName="/ppt/notesSlides/notesSlide1.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64.xml" ContentType="application/vnd.openxmlformats-officedocument.presentationml.slide+xml"/>
  <Override PartName="/ppt/slides/slide275.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53.xml" ContentType="application/vnd.openxmlformats-officedocument.presentationml.slide+xml"/>
  <Override PartName="/ppt/slides/slide13.xml" ContentType="application/vnd.openxmlformats-officedocument.presentationml.slide+xml"/>
  <Override PartName="/ppt/slides/slide60.xml" ContentType="application/vnd.openxmlformats-officedocument.presentationml.slide+xml"/>
  <Override PartName="/ppt/slides/slide242.xml" ContentType="application/vnd.openxmlformats-officedocument.presentationml.slide+xml"/>
  <Override PartName="/ppt/slides/slide329.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slides/slide231.xml" ContentType="application/vnd.openxmlformats-officedocument.presentationml.slide+xml"/>
  <Override PartName="/ppt/slides/slide318.xml" ContentType="application/vnd.openxmlformats-officedocument.presentationml.slide+xml"/>
  <Override PartName="/ppt/slides/slide365.xml" ContentType="application/vnd.openxmlformats-officedocument.presentationml.slide+xml"/>
  <Override PartName="/ppt/slides/slide157.xml" ContentType="application/vnd.openxmlformats-officedocument.presentationml.slide+xml"/>
  <Override PartName="/ppt/slides/slide220.xml" ContentType="application/vnd.openxmlformats-officedocument.presentationml.slide+xml"/>
  <Override PartName="/ppt/slides/slide307.xml" ContentType="application/vnd.openxmlformats-officedocument.presentationml.slide+xml"/>
  <Override PartName="/ppt/slides/slide354.xml" ContentType="application/vnd.openxmlformats-officedocument.presentationml.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slides/slide332.xml" ContentType="application/vnd.openxmlformats-officedocument.presentationml.slide+xml"/>
  <Override PartName="/ppt/slides/slide343.xml" ContentType="application/vnd.openxmlformats-officedocument.presentationml.slide+xml"/>
  <Override PartName="/ppt/notesSlides/notesSlide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69.xml" ContentType="application/vnd.openxmlformats-officedocument.presentationml.slide+xml"/>
  <Override PartName="/ppt/slides/slide32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31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s/slide283.xml" ContentType="application/vnd.openxmlformats-officedocument.presentationml.slide+xml"/>
  <Override PartName="/ppt/slides/slide294.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slides/slide272.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slides/slide348.xml" ContentType="application/vnd.openxmlformats-officedocument.presentationml.slide+xml"/>
  <Override PartName="/ppt/slides/slide359.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337.xml" ContentType="application/vnd.openxmlformats-officedocument.presentationml.slide+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slides/slide326.xml" ContentType="application/vnd.openxmlformats-officedocument.presentationml.slide+xml"/>
  <Override PartName="/ppt/slides/slide373.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299.xml" ContentType="application/vnd.openxmlformats-officedocument.presentationml.slide+xml"/>
  <Override PartName="/ppt/slides/slide304.xml" ContentType="application/vnd.openxmlformats-officedocument.presentationml.slide+xml"/>
  <Override PartName="/ppt/slides/slide315.xml" ContentType="application/vnd.openxmlformats-officedocument.presentationml.slide+xml"/>
  <Override PartName="/ppt/slides/slide351.xml" ContentType="application/vnd.openxmlformats-officedocument.presentationml.slide+xml"/>
  <Override PartName="/ppt/slides/slide362.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slides/slide288.xml" ContentType="application/vnd.openxmlformats-officedocument.presentationml.slide+xml"/>
  <Override PartName="/ppt/slides/slide34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77.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s/slide2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slides/slide280.xml" ContentType="application/vnd.openxmlformats-officedocument.presentationml.slide+xml"/>
  <Override PartName="/ppt/slides/slide367.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309.xml" ContentType="application/vnd.openxmlformats-officedocument.presentationml.slide+xml"/>
  <Override PartName="/ppt/slides/slide356.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345.xml" ContentType="application/vnd.openxmlformats-officedocument.presentationml.slide+xml"/>
  <Override PartName="/ppt/notesSlides/notesSlide8.xml" ContentType="application/vnd.openxmlformats-officedocument.presentationml.notesSlide+xml"/>
  <Default Extension="gif" ContentType="image/gif"/>
  <Override PartName="/ppt/notesSlides/notesSlide20.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323.xml" ContentType="application/vnd.openxmlformats-officedocument.presentationml.slide+xml"/>
  <Override PartName="/ppt/slides/slide334.xml" ContentType="application/vnd.openxmlformats-officedocument.presentationml.slide+xml"/>
  <Override PartName="/ppt/slides/slide370.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slides/slide312.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s/slide285.xml" ContentType="application/vnd.openxmlformats-officedocument.presentationml.slide+xml"/>
  <Override PartName="/ppt/slides/slide296.xml" ContentType="application/vnd.openxmlformats-officedocument.presentationml.slide+xml"/>
  <Override PartName="/ppt/slides/slide30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274.xml" ContentType="application/vnd.openxmlformats-officedocument.presentationml.slide+xml"/>
  <Override PartName="/ppt/theme/theme3.xml" ContentType="application/vnd.openxmlformats-officedocument.them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339.xml" ContentType="application/vnd.openxmlformats-officedocument.presentationml.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s/slide32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slides/slide167.xml" ContentType="application/vnd.openxmlformats-officedocument.presentationml.slide+xml"/>
  <Override PartName="/ppt/slides/slide306.xml" ContentType="application/vnd.openxmlformats-officedocument.presentationml.slide+xml"/>
  <Override PartName="/ppt/slides/slide317.xml" ContentType="application/vnd.openxmlformats-officedocument.presentationml.slide+xml"/>
  <Override PartName="/ppt/slides/slide353.xml" ContentType="application/vnd.openxmlformats-officedocument.presentationml.slide+xml"/>
  <Override PartName="/ppt/slides/slide364.xml" ContentType="application/vnd.openxmlformats-officedocument.presentationml.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slides/slide342.xml" ContentType="application/vnd.openxmlformats-officedocument.presentationml.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slides/slide279.xml" ContentType="application/vnd.openxmlformats-officedocument.presentationml.slide+xml"/>
  <Override PartName="/ppt/slides/slide331.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slides/slide3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s/slide29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Override PartName="/ppt/slides/slide282.xml" ContentType="application/vnd.openxmlformats-officedocument.presentationml.slide+xml"/>
  <Override PartName="/ppt/slides/slide369.xml" ContentType="application/vnd.openxmlformats-officedocument.presentationml.slide+xml"/>
  <Default Extension="jpeg" ContentType="image/jpeg"/>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slides/slide358.xml" ContentType="application/vnd.openxmlformats-officedocument.presentationml.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347.xml" ContentType="application/vnd.openxmlformats-officedocument.presentationml.slide+xml"/>
  <Override PartName="/ppt/notesSlides/notesSlide22.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slides/slide325.xml" ContentType="application/vnd.openxmlformats-officedocument.presentationml.slide+xml"/>
  <Override PartName="/ppt/slides/slide336.xml" ContentType="application/vnd.openxmlformats-officedocument.presentationml.slide+xml"/>
  <Override PartName="/ppt/slides/slide372.xml" ContentType="application/vnd.openxmlformats-officedocument.presentationml.slide+xml"/>
  <Override PartName="/ppt/notesSlides/notesSlide1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314.xml" ContentType="application/vnd.openxmlformats-officedocument.presentationml.slide+xml"/>
  <Override PartName="/ppt/slides/slide361.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slides/slide287.xml" ContentType="application/vnd.openxmlformats-officedocument.presentationml.slide+xml"/>
  <Override PartName="/ppt/slides/slide298.xml" ContentType="application/vnd.openxmlformats-officedocument.presentationml.slide+xml"/>
  <Override PartName="/ppt/slides/slide303.xml" ContentType="application/vnd.openxmlformats-officedocument.presentationml.slide+xml"/>
  <Override PartName="/ppt/slides/slide350.xml" ContentType="application/vnd.openxmlformats-officedocument.presentationml.slide+xml"/>
  <Override PartName="/ppt/slides/slide58.xml" ContentType="application/vnd.openxmlformats-officedocument.presentationml.slide+xml"/>
  <Override PartName="/ppt/slides/slide229.xml" ContentType="application/vnd.openxmlformats-officedocument.presentationml.slide+xml"/>
  <Override PartName="/ppt/slides/slide276.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slides/slide207.xml" ContentType="application/vnd.openxmlformats-officedocument.presentationml.slide+xml"/>
  <Override PartName="/ppt/slides/slide254.xml" ContentType="application/vnd.openxmlformats-officedocument.presentationml.slide+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slides/slide308.xml" ContentType="application/vnd.openxmlformats-officedocument.presentationml.slide+xml"/>
  <Override PartName="/ppt/slides/slide355.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99.xml" ContentType="application/vnd.openxmlformats-officedocument.presentationml.slide+xml"/>
  <Override PartName="/ppt/slides/slide33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notesMasterIdLst>
    <p:notesMasterId r:id="rId375"/>
  </p:notesMasterIdLst>
  <p:handoutMasterIdLst>
    <p:handoutMasterId r:id="rId376"/>
  </p:handoutMasterIdLst>
  <p:sldIdLst>
    <p:sldId id="256" r:id="rId2"/>
    <p:sldId id="606" r:id="rId3"/>
    <p:sldId id="616" r:id="rId4"/>
    <p:sldId id="615" r:id="rId5"/>
    <p:sldId id="614" r:id="rId6"/>
    <p:sldId id="613" r:id="rId7"/>
    <p:sldId id="612" r:id="rId8"/>
    <p:sldId id="611" r:id="rId9"/>
    <p:sldId id="610" r:id="rId10"/>
    <p:sldId id="609" r:id="rId11"/>
    <p:sldId id="608" r:id="rId12"/>
    <p:sldId id="607" r:id="rId13"/>
    <p:sldId id="605" r:id="rId14"/>
    <p:sldId id="632" r:id="rId15"/>
    <p:sldId id="631" r:id="rId16"/>
    <p:sldId id="630" r:id="rId17"/>
    <p:sldId id="629" r:id="rId18"/>
    <p:sldId id="628" r:id="rId19"/>
    <p:sldId id="627" r:id="rId20"/>
    <p:sldId id="62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633" r:id="rId43"/>
    <p:sldId id="278" r:id="rId44"/>
    <p:sldId id="279" r:id="rId45"/>
    <p:sldId id="280" r:id="rId46"/>
    <p:sldId id="281" r:id="rId47"/>
    <p:sldId id="282" r:id="rId48"/>
    <p:sldId id="283" r:id="rId49"/>
    <p:sldId id="284"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1" r:id="rId67"/>
    <p:sldId id="653" r:id="rId68"/>
    <p:sldId id="302" r:id="rId69"/>
    <p:sldId id="303" r:id="rId70"/>
    <p:sldId id="304" r:id="rId71"/>
    <p:sldId id="305" r:id="rId72"/>
    <p:sldId id="306" r:id="rId73"/>
    <p:sldId id="307" r:id="rId74"/>
    <p:sldId id="308" r:id="rId75"/>
    <p:sldId id="309" r:id="rId76"/>
    <p:sldId id="310" r:id="rId77"/>
    <p:sldId id="312" r:id="rId78"/>
    <p:sldId id="311" r:id="rId79"/>
    <p:sldId id="313" r:id="rId80"/>
    <p:sldId id="314" r:id="rId81"/>
    <p:sldId id="315" r:id="rId82"/>
    <p:sldId id="316" r:id="rId83"/>
    <p:sldId id="317" r:id="rId84"/>
    <p:sldId id="318" r:id="rId85"/>
    <p:sldId id="319" r:id="rId86"/>
    <p:sldId id="320" r:id="rId87"/>
    <p:sldId id="321" r:id="rId88"/>
    <p:sldId id="322" r:id="rId89"/>
    <p:sldId id="323" r:id="rId90"/>
    <p:sldId id="324" r:id="rId91"/>
    <p:sldId id="325" r:id="rId92"/>
    <p:sldId id="326" r:id="rId93"/>
    <p:sldId id="327" r:id="rId94"/>
    <p:sldId id="328" r:id="rId95"/>
    <p:sldId id="329" r:id="rId96"/>
    <p:sldId id="330" r:id="rId97"/>
    <p:sldId id="331" r:id="rId98"/>
    <p:sldId id="332" r:id="rId99"/>
    <p:sldId id="333" r:id="rId100"/>
    <p:sldId id="334" r:id="rId101"/>
    <p:sldId id="335" r:id="rId102"/>
    <p:sldId id="336" r:id="rId103"/>
    <p:sldId id="337" r:id="rId104"/>
    <p:sldId id="338" r:id="rId105"/>
    <p:sldId id="339" r:id="rId106"/>
    <p:sldId id="340" r:id="rId107"/>
    <p:sldId id="342" r:id="rId108"/>
    <p:sldId id="341" r:id="rId109"/>
    <p:sldId id="343" r:id="rId110"/>
    <p:sldId id="344" r:id="rId111"/>
    <p:sldId id="345" r:id="rId112"/>
    <p:sldId id="346" r:id="rId113"/>
    <p:sldId id="347" r:id="rId114"/>
    <p:sldId id="348" r:id="rId115"/>
    <p:sldId id="358" r:id="rId116"/>
    <p:sldId id="349" r:id="rId117"/>
    <p:sldId id="350" r:id="rId118"/>
    <p:sldId id="353" r:id="rId119"/>
    <p:sldId id="354" r:id="rId120"/>
    <p:sldId id="355" r:id="rId121"/>
    <p:sldId id="356" r:id="rId122"/>
    <p:sldId id="357" r:id="rId123"/>
    <p:sldId id="359" r:id="rId124"/>
    <p:sldId id="360" r:id="rId125"/>
    <p:sldId id="361" r:id="rId126"/>
    <p:sldId id="362" r:id="rId127"/>
    <p:sldId id="363" r:id="rId128"/>
    <p:sldId id="364" r:id="rId129"/>
    <p:sldId id="365" r:id="rId130"/>
    <p:sldId id="366" r:id="rId131"/>
    <p:sldId id="367" r:id="rId132"/>
    <p:sldId id="373" r:id="rId133"/>
    <p:sldId id="368" r:id="rId134"/>
    <p:sldId id="369" r:id="rId135"/>
    <p:sldId id="370" r:id="rId136"/>
    <p:sldId id="371" r:id="rId137"/>
    <p:sldId id="372" r:id="rId138"/>
    <p:sldId id="374" r:id="rId139"/>
    <p:sldId id="375" r:id="rId140"/>
    <p:sldId id="376" r:id="rId141"/>
    <p:sldId id="377" r:id="rId142"/>
    <p:sldId id="378" r:id="rId143"/>
    <p:sldId id="379" r:id="rId144"/>
    <p:sldId id="380" r:id="rId145"/>
    <p:sldId id="381" r:id="rId146"/>
    <p:sldId id="382" r:id="rId147"/>
    <p:sldId id="383" r:id="rId148"/>
    <p:sldId id="384" r:id="rId149"/>
    <p:sldId id="385" r:id="rId150"/>
    <p:sldId id="386" r:id="rId151"/>
    <p:sldId id="389" r:id="rId152"/>
    <p:sldId id="390" r:id="rId153"/>
    <p:sldId id="391" r:id="rId154"/>
    <p:sldId id="392" r:id="rId155"/>
    <p:sldId id="393" r:id="rId156"/>
    <p:sldId id="394" r:id="rId157"/>
    <p:sldId id="395" r:id="rId158"/>
    <p:sldId id="396" r:id="rId159"/>
    <p:sldId id="397" r:id="rId160"/>
    <p:sldId id="398" r:id="rId161"/>
    <p:sldId id="399" r:id="rId162"/>
    <p:sldId id="400" r:id="rId163"/>
    <p:sldId id="401" r:id="rId164"/>
    <p:sldId id="402" r:id="rId165"/>
    <p:sldId id="403" r:id="rId166"/>
    <p:sldId id="404" r:id="rId167"/>
    <p:sldId id="405" r:id="rId168"/>
    <p:sldId id="406" r:id="rId169"/>
    <p:sldId id="407" r:id="rId170"/>
    <p:sldId id="410" r:id="rId171"/>
    <p:sldId id="411" r:id="rId172"/>
    <p:sldId id="408" r:id="rId173"/>
    <p:sldId id="409" r:id="rId174"/>
    <p:sldId id="412" r:id="rId175"/>
    <p:sldId id="413" r:id="rId176"/>
    <p:sldId id="414" r:id="rId177"/>
    <p:sldId id="415" r:id="rId178"/>
    <p:sldId id="416" r:id="rId179"/>
    <p:sldId id="417" r:id="rId180"/>
    <p:sldId id="418" r:id="rId181"/>
    <p:sldId id="419" r:id="rId182"/>
    <p:sldId id="420" r:id="rId183"/>
    <p:sldId id="421" r:id="rId184"/>
    <p:sldId id="422" r:id="rId185"/>
    <p:sldId id="423" r:id="rId186"/>
    <p:sldId id="424" r:id="rId187"/>
    <p:sldId id="425" r:id="rId188"/>
    <p:sldId id="426" r:id="rId189"/>
    <p:sldId id="427" r:id="rId190"/>
    <p:sldId id="428" r:id="rId191"/>
    <p:sldId id="451" r:id="rId192"/>
    <p:sldId id="450" r:id="rId193"/>
    <p:sldId id="449" r:id="rId194"/>
    <p:sldId id="448" r:id="rId195"/>
    <p:sldId id="466" r:id="rId196"/>
    <p:sldId id="447" r:id="rId197"/>
    <p:sldId id="446" r:id="rId198"/>
    <p:sldId id="445" r:id="rId199"/>
    <p:sldId id="443" r:id="rId200"/>
    <p:sldId id="442" r:id="rId201"/>
    <p:sldId id="441" r:id="rId202"/>
    <p:sldId id="440" r:id="rId203"/>
    <p:sldId id="439" r:id="rId204"/>
    <p:sldId id="438" r:id="rId205"/>
    <p:sldId id="437" r:id="rId206"/>
    <p:sldId id="436" r:id="rId207"/>
    <p:sldId id="435" r:id="rId208"/>
    <p:sldId id="434" r:id="rId209"/>
    <p:sldId id="433" r:id="rId210"/>
    <p:sldId id="432" r:id="rId211"/>
    <p:sldId id="431" r:id="rId212"/>
    <p:sldId id="430" r:id="rId213"/>
    <p:sldId id="459" r:id="rId214"/>
    <p:sldId id="458" r:id="rId215"/>
    <p:sldId id="457" r:id="rId216"/>
    <p:sldId id="456" r:id="rId217"/>
    <p:sldId id="455" r:id="rId218"/>
    <p:sldId id="462" r:id="rId219"/>
    <p:sldId id="461" r:id="rId220"/>
    <p:sldId id="460" r:id="rId221"/>
    <p:sldId id="463" r:id="rId222"/>
    <p:sldId id="454" r:id="rId223"/>
    <p:sldId id="465" r:id="rId224"/>
    <p:sldId id="464" r:id="rId225"/>
    <p:sldId id="453" r:id="rId226"/>
    <p:sldId id="429" r:id="rId227"/>
    <p:sldId id="467" r:id="rId228"/>
    <p:sldId id="476" r:id="rId229"/>
    <p:sldId id="475" r:id="rId230"/>
    <p:sldId id="474" r:id="rId231"/>
    <p:sldId id="473" r:id="rId232"/>
    <p:sldId id="472" r:id="rId233"/>
    <p:sldId id="468" r:id="rId234"/>
    <p:sldId id="487" r:id="rId235"/>
    <p:sldId id="486" r:id="rId236"/>
    <p:sldId id="485" r:id="rId237"/>
    <p:sldId id="484" r:id="rId238"/>
    <p:sldId id="482" r:id="rId239"/>
    <p:sldId id="481" r:id="rId240"/>
    <p:sldId id="480" r:id="rId241"/>
    <p:sldId id="479" r:id="rId242"/>
    <p:sldId id="478" r:id="rId243"/>
    <p:sldId id="495" r:id="rId244"/>
    <p:sldId id="494" r:id="rId245"/>
    <p:sldId id="493" r:id="rId246"/>
    <p:sldId id="492" r:id="rId247"/>
    <p:sldId id="491" r:id="rId248"/>
    <p:sldId id="490" r:id="rId249"/>
    <p:sldId id="489" r:id="rId250"/>
    <p:sldId id="488" r:id="rId251"/>
    <p:sldId id="477" r:id="rId252"/>
    <p:sldId id="496" r:id="rId253"/>
    <p:sldId id="469" r:id="rId254"/>
    <p:sldId id="471" r:id="rId255"/>
    <p:sldId id="470" r:id="rId256"/>
    <p:sldId id="497" r:id="rId257"/>
    <p:sldId id="501" r:id="rId258"/>
    <p:sldId id="500" r:id="rId259"/>
    <p:sldId id="499" r:id="rId260"/>
    <p:sldId id="498" r:id="rId261"/>
    <p:sldId id="505" r:id="rId262"/>
    <p:sldId id="503" r:id="rId263"/>
    <p:sldId id="506" r:id="rId264"/>
    <p:sldId id="502" r:id="rId265"/>
    <p:sldId id="507" r:id="rId266"/>
    <p:sldId id="508" r:id="rId267"/>
    <p:sldId id="531" r:id="rId268"/>
    <p:sldId id="530" r:id="rId269"/>
    <p:sldId id="529" r:id="rId270"/>
    <p:sldId id="528" r:id="rId271"/>
    <p:sldId id="527" r:id="rId272"/>
    <p:sldId id="526" r:id="rId273"/>
    <p:sldId id="525" r:id="rId274"/>
    <p:sldId id="524" r:id="rId275"/>
    <p:sldId id="523" r:id="rId276"/>
    <p:sldId id="522" r:id="rId277"/>
    <p:sldId id="520" r:id="rId278"/>
    <p:sldId id="519" r:id="rId279"/>
    <p:sldId id="518" r:id="rId280"/>
    <p:sldId id="517" r:id="rId281"/>
    <p:sldId id="516" r:id="rId282"/>
    <p:sldId id="515" r:id="rId283"/>
    <p:sldId id="514" r:id="rId284"/>
    <p:sldId id="513" r:id="rId285"/>
    <p:sldId id="512" r:id="rId286"/>
    <p:sldId id="511" r:id="rId287"/>
    <p:sldId id="544" r:id="rId288"/>
    <p:sldId id="545" r:id="rId289"/>
    <p:sldId id="550" r:id="rId290"/>
    <p:sldId id="549" r:id="rId291"/>
    <p:sldId id="548" r:id="rId292"/>
    <p:sldId id="547" r:id="rId293"/>
    <p:sldId id="546" r:id="rId294"/>
    <p:sldId id="536" r:id="rId295"/>
    <p:sldId id="535" r:id="rId296"/>
    <p:sldId id="540" r:id="rId297"/>
    <p:sldId id="539" r:id="rId298"/>
    <p:sldId id="534" r:id="rId299"/>
    <p:sldId id="542" r:id="rId300"/>
    <p:sldId id="541" r:id="rId301"/>
    <p:sldId id="554" r:id="rId302"/>
    <p:sldId id="553" r:id="rId303"/>
    <p:sldId id="552" r:id="rId304"/>
    <p:sldId id="551" r:id="rId305"/>
    <p:sldId id="558" r:id="rId306"/>
    <p:sldId id="557" r:id="rId307"/>
    <p:sldId id="556" r:id="rId308"/>
    <p:sldId id="560" r:id="rId309"/>
    <p:sldId id="559" r:id="rId310"/>
    <p:sldId id="561" r:id="rId311"/>
    <p:sldId id="562" r:id="rId312"/>
    <p:sldId id="555" r:id="rId313"/>
    <p:sldId id="538" r:id="rId314"/>
    <p:sldId id="533" r:id="rId315"/>
    <p:sldId id="563" r:id="rId316"/>
    <p:sldId id="573" r:id="rId317"/>
    <p:sldId id="572" r:id="rId318"/>
    <p:sldId id="571" r:id="rId319"/>
    <p:sldId id="570" r:id="rId320"/>
    <p:sldId id="569" r:id="rId321"/>
    <p:sldId id="568" r:id="rId322"/>
    <p:sldId id="567" r:id="rId323"/>
    <p:sldId id="566" r:id="rId324"/>
    <p:sldId id="577" r:id="rId325"/>
    <p:sldId id="576" r:id="rId326"/>
    <p:sldId id="575" r:id="rId327"/>
    <p:sldId id="574" r:id="rId328"/>
    <p:sldId id="565" r:id="rId329"/>
    <p:sldId id="564" r:id="rId330"/>
    <p:sldId id="584" r:id="rId331"/>
    <p:sldId id="583" r:id="rId332"/>
    <p:sldId id="582" r:id="rId333"/>
    <p:sldId id="581" r:id="rId334"/>
    <p:sldId id="580" r:id="rId335"/>
    <p:sldId id="587" r:id="rId336"/>
    <p:sldId id="593" r:id="rId337"/>
    <p:sldId id="589" r:id="rId338"/>
    <p:sldId id="588" r:id="rId339"/>
    <p:sldId id="590" r:id="rId340"/>
    <p:sldId id="592" r:id="rId341"/>
    <p:sldId id="591" r:id="rId342"/>
    <p:sldId id="585" r:id="rId343"/>
    <p:sldId id="579" r:id="rId344"/>
    <p:sldId id="578" r:id="rId345"/>
    <p:sldId id="594" r:id="rId346"/>
    <p:sldId id="598" r:id="rId347"/>
    <p:sldId id="597" r:id="rId348"/>
    <p:sldId id="596" r:id="rId349"/>
    <p:sldId id="595" r:id="rId350"/>
    <p:sldId id="602" r:id="rId351"/>
    <p:sldId id="601" r:id="rId352"/>
    <p:sldId id="603" r:id="rId353"/>
    <p:sldId id="600" r:id="rId354"/>
    <p:sldId id="599" r:id="rId355"/>
    <p:sldId id="634" r:id="rId356"/>
    <p:sldId id="637" r:id="rId357"/>
    <p:sldId id="636" r:id="rId358"/>
    <p:sldId id="635" r:id="rId359"/>
    <p:sldId id="638" r:id="rId360"/>
    <p:sldId id="643" r:id="rId361"/>
    <p:sldId id="642" r:id="rId362"/>
    <p:sldId id="641" r:id="rId363"/>
    <p:sldId id="640" r:id="rId364"/>
    <p:sldId id="639" r:id="rId365"/>
    <p:sldId id="644" r:id="rId366"/>
    <p:sldId id="646" r:id="rId367"/>
    <p:sldId id="645" r:id="rId368"/>
    <p:sldId id="652" r:id="rId369"/>
    <p:sldId id="651" r:id="rId370"/>
    <p:sldId id="647" r:id="rId371"/>
    <p:sldId id="650" r:id="rId372"/>
    <p:sldId id="649" r:id="rId373"/>
    <p:sldId id="648" r:id="rId37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427" autoAdjust="0"/>
  </p:normalViewPr>
  <p:slideViewPr>
    <p:cSldViewPr snapToGrid="0">
      <p:cViewPr varScale="1">
        <p:scale>
          <a:sx n="88" d="100"/>
          <a:sy n="88" d="100"/>
        </p:scale>
        <p:origin x="-816" y="-108"/>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3822" y="108"/>
      </p:cViewPr>
      <p:guideLst/>
    </p:cSldViewPr>
  </p:notes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slide" Target="slides/slide323.xml"/><Relationship Id="rId345" Type="http://schemas.openxmlformats.org/officeDocument/2006/relationships/slide" Target="slides/slide344.xml"/><Relationship Id="rId366" Type="http://schemas.openxmlformats.org/officeDocument/2006/relationships/slide" Target="slides/slide365.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slide" Target="slides/slide334.xml"/><Relationship Id="rId356" Type="http://schemas.openxmlformats.org/officeDocument/2006/relationships/slide" Target="slides/slide355.xml"/><Relationship Id="rId377"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slide" Target="slides/slide324.xml"/><Relationship Id="rId346" Type="http://schemas.openxmlformats.org/officeDocument/2006/relationships/slide" Target="slides/slide345.xml"/><Relationship Id="rId367" Type="http://schemas.openxmlformats.org/officeDocument/2006/relationships/slide" Target="slides/slide366.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357" Type="http://schemas.openxmlformats.org/officeDocument/2006/relationships/slide" Target="slides/slide356.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378" Type="http://schemas.openxmlformats.org/officeDocument/2006/relationships/viewProps" Target="viewProps.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theme" Target="theme/theme1.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tableStyles" Target="tableStyles.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notesMaster" Target="notesMasters/notesMaster1.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handoutMaster" Target="handoutMasters/handoutMaster1.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179B7-9D1F-4B41-AC5F-3E7083E451A3}" type="datetimeFigureOut">
              <a:rPr lang="ru-RU" smtClean="0"/>
              <a:pPr/>
              <a:t>28.04.2016</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7684E4-1C6A-4074-9901-741A65819D0C}" type="slidenum">
              <a:rPr lang="ru-RU" smtClean="0"/>
              <a:pPr/>
              <a:t>‹#›</a:t>
            </a:fld>
            <a:endParaRPr lang="ru-RU"/>
          </a:p>
        </p:txBody>
      </p:sp>
    </p:spTree>
    <p:extLst>
      <p:ext uri="{BB962C8B-B14F-4D97-AF65-F5344CB8AC3E}">
        <p14:creationId xmlns:p14="http://schemas.microsoft.com/office/powerpoint/2010/main" xmlns="" val="2975234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368B63-96FC-4E70-8D52-E969C0E0992C}" type="datetimeFigureOut">
              <a:rPr lang="ru-RU" smtClean="0"/>
              <a:pPr/>
              <a:t>28.04.2016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0B1CA-660F-49E2-AAC1-E7C7EA218A26}" type="slidenum">
              <a:rPr lang="ru-RU" smtClean="0"/>
              <a:pPr/>
              <a:t>‹#›</a:t>
            </a:fld>
            <a:endParaRPr lang="ru-RU"/>
          </a:p>
        </p:txBody>
      </p:sp>
    </p:spTree>
    <p:extLst>
      <p:ext uri="{BB962C8B-B14F-4D97-AF65-F5344CB8AC3E}">
        <p14:creationId xmlns:p14="http://schemas.microsoft.com/office/powerpoint/2010/main" xmlns="" val="936094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intuit.ru/studies/courses/74/74/lecture/2218?page=3"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intuit.ru/studies/courses/74/74/lecture/2220?page=5"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intuit.ru/studies/courses/74/74/lecture/2220?page=5"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1</a:t>
            </a:fld>
            <a:endParaRPr lang="ru-RU"/>
          </a:p>
        </p:txBody>
      </p:sp>
    </p:spTree>
    <p:extLst>
      <p:ext uri="{BB962C8B-B14F-4D97-AF65-F5344CB8AC3E}">
        <p14:creationId xmlns:p14="http://schemas.microsoft.com/office/powerpoint/2010/main" xmlns="" val="253557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8CE0B1CA-660F-49E2-AAC1-E7C7EA218A26}" type="slidenum">
              <a:rPr lang="ru-RU" smtClean="0"/>
              <a:pPr/>
              <a:t>3</a:t>
            </a:fld>
            <a:endParaRPr lang="ru-RU"/>
          </a:p>
        </p:txBody>
      </p:sp>
    </p:spTree>
    <p:extLst>
      <p:ext uri="{BB962C8B-B14F-4D97-AF65-F5344CB8AC3E}">
        <p14:creationId xmlns:p14="http://schemas.microsoft.com/office/powerpoint/2010/main" xmlns="" val="1348318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Из этого свойства вытекает наличие у каждого отношения так называемого первичного ключа - набора атрибутов, значения которых однозначно определяют кортеж отношения. Для каждого отношения по крайней мере полный набор его атрибутов обладает этим свойством. Однако при формальном определении первичного ключа требуется обеспечение его «минимальности», т.е. в набор атрибутов первичного ключа не должны входить такие атрибуты, которые можно отбросить без ущерба для основного свойства, - однозначно определять кортеж. Понятие </a:t>
            </a:r>
            <a:r>
              <a:rPr lang="ru-RU" sz="1200" b="0" i="1" kern="1200" dirty="0" smtClean="0">
                <a:solidFill>
                  <a:schemeClr val="tx1"/>
                </a:solidFill>
                <a:effectLst/>
                <a:latin typeface="+mn-lt"/>
                <a:ea typeface="+mn-ea"/>
                <a:cs typeface="+mn-cs"/>
              </a:rPr>
              <a:t>первичного ключа</a:t>
            </a:r>
            <a:r>
              <a:rPr lang="ru-RU" sz="1200" b="0" i="0" kern="1200" dirty="0" smtClean="0">
                <a:solidFill>
                  <a:schemeClr val="tx1"/>
                </a:solidFill>
                <a:effectLst/>
                <a:latin typeface="+mn-lt"/>
                <a:ea typeface="+mn-ea"/>
                <a:cs typeface="+mn-cs"/>
              </a:rPr>
              <a:t> является исключительно важным в связи с понятием целостности баз данных.</a:t>
            </a:r>
          </a:p>
          <a:p>
            <a:r>
              <a:rPr lang="ru-RU" sz="1200" b="0" i="0" kern="1200" dirty="0" smtClean="0">
                <a:solidFill>
                  <a:schemeClr val="tx1"/>
                </a:solidFill>
                <a:effectLst/>
                <a:latin typeface="+mn-lt"/>
                <a:ea typeface="+mn-ea"/>
                <a:cs typeface="+mn-cs"/>
              </a:rPr>
              <a:t>Конечно, могут существовать </a:t>
            </a:r>
            <a:r>
              <a:rPr lang="ru-RU" sz="1200" b="0" i="1" kern="1200" dirty="0" smtClean="0">
                <a:solidFill>
                  <a:schemeClr val="tx1"/>
                </a:solidFill>
                <a:effectLst/>
                <a:latin typeface="+mn-lt"/>
                <a:ea typeface="+mn-ea"/>
                <a:cs typeface="+mn-cs"/>
              </a:rPr>
              <a:t>значения отношения</a:t>
            </a:r>
            <a:r>
              <a:rPr lang="ru-RU" sz="1200" b="0" i="0" kern="1200" dirty="0" smtClean="0">
                <a:solidFill>
                  <a:schemeClr val="tx1"/>
                </a:solidFill>
                <a:effectLst/>
                <a:latin typeface="+mn-lt"/>
                <a:ea typeface="+mn-ea"/>
                <a:cs typeface="+mn-cs"/>
              </a:rPr>
              <a:t> с несколькими несовпадающими минимальными наборами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обладающими свойствами уникальности. Например, если вернуться к предположениям лекции 1 об уникальности значений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СЛУ_НОМЕР </a:t>
            </a:r>
            <a:r>
              <a:rPr lang="ru-RU" sz="1200" b="0" i="0" kern="1200" dirty="0" err="1" smtClean="0">
                <a:solidFill>
                  <a:schemeClr val="tx1"/>
                </a:solidFill>
                <a:effectLst/>
                <a:latin typeface="+mn-lt"/>
                <a:ea typeface="+mn-ea"/>
                <a:cs typeface="+mn-cs"/>
              </a:rPr>
              <a:t>иСЛУ_ИМЯ</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СЛУЖАЩИЕ, то для каждого </a:t>
            </a:r>
            <a:r>
              <a:rPr lang="ru-RU" sz="1200" b="0" i="1" kern="1200" dirty="0" smtClean="0">
                <a:solidFill>
                  <a:schemeClr val="tx1"/>
                </a:solidFill>
                <a:effectLst/>
                <a:latin typeface="+mn-lt"/>
                <a:ea typeface="+mn-ea"/>
                <a:cs typeface="+mn-cs"/>
              </a:rPr>
              <a:t>значения</a:t>
            </a:r>
            <a:r>
              <a:rPr lang="ru-RU" sz="1200" b="0" i="0" kern="1200" dirty="0" smtClean="0">
                <a:solidFill>
                  <a:schemeClr val="tx1"/>
                </a:solidFill>
                <a:effectLst/>
                <a:latin typeface="+mn-lt"/>
                <a:ea typeface="+mn-ea"/>
                <a:cs typeface="+mn-cs"/>
              </a:rPr>
              <a:t> этого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мы имеем два множества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претендующих на звание </a:t>
            </a:r>
            <a:r>
              <a:rPr lang="ru-RU" sz="1200" b="0" i="1" kern="1200" dirty="0" smtClean="0">
                <a:solidFill>
                  <a:schemeClr val="tx1"/>
                </a:solidFill>
                <a:effectLst/>
                <a:latin typeface="+mn-lt"/>
                <a:ea typeface="+mn-ea"/>
                <a:cs typeface="+mn-cs"/>
              </a:rPr>
              <a:t>первичного ключа</a:t>
            </a:r>
            <a:r>
              <a:rPr lang="ru-RU" sz="1200" b="0" i="0" kern="1200" dirty="0" smtClean="0">
                <a:solidFill>
                  <a:schemeClr val="tx1"/>
                </a:solidFill>
                <a:effectLst/>
                <a:latin typeface="+mn-lt"/>
                <a:ea typeface="+mn-ea"/>
                <a:cs typeface="+mn-cs"/>
              </a:rPr>
              <a:t> – {СЛУ_НОМЕР} и {СЛУ_ИМЯ}. В этом случае проектировщик </a:t>
            </a:r>
            <a:r>
              <a:rPr lang="ru-RU" sz="1200" b="0" i="1" kern="1200" dirty="0" smtClean="0">
                <a:solidFill>
                  <a:schemeClr val="tx1"/>
                </a:solidFill>
                <a:effectLst/>
                <a:latin typeface="+mn-lt"/>
                <a:ea typeface="+mn-ea"/>
                <a:cs typeface="+mn-cs"/>
              </a:rPr>
              <a:t>базы данных</a:t>
            </a:r>
            <a:r>
              <a:rPr lang="ru-RU" sz="1200" b="0" i="0" kern="1200" dirty="0" smtClean="0">
                <a:solidFill>
                  <a:schemeClr val="tx1"/>
                </a:solidFill>
                <a:effectLst/>
                <a:latin typeface="+mn-lt"/>
                <a:ea typeface="+mn-ea"/>
                <a:cs typeface="+mn-cs"/>
              </a:rPr>
              <a:t> должен решить, какое из альтернативных множеств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назвать </a:t>
            </a:r>
            <a:r>
              <a:rPr lang="ru-RU" sz="1200" b="0" i="1" kern="1200" dirty="0" smtClean="0">
                <a:solidFill>
                  <a:schemeClr val="tx1"/>
                </a:solidFill>
                <a:effectLst/>
                <a:latin typeface="+mn-lt"/>
                <a:ea typeface="+mn-ea"/>
                <a:cs typeface="+mn-cs"/>
              </a:rPr>
              <a:t>первичным ключом</a:t>
            </a:r>
            <a:r>
              <a:rPr lang="ru-RU" sz="1200" b="0" i="0" kern="1200" dirty="0" smtClean="0">
                <a:solidFill>
                  <a:schemeClr val="tx1"/>
                </a:solidFill>
                <a:effectLst/>
                <a:latin typeface="+mn-lt"/>
                <a:ea typeface="+mn-ea"/>
                <a:cs typeface="+mn-cs"/>
              </a:rPr>
              <a:t>, а остальные минимальные наборы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обладающие свойством уникальности, называются возможными ключами</a:t>
            </a:r>
            <a:r>
              <a:rPr lang="ru-RU" sz="1200" b="0" i="0" kern="1200" baseline="30000" dirty="0" smtClean="0">
                <a:solidFill>
                  <a:schemeClr val="tx1"/>
                </a:solidFill>
                <a:effectLst/>
                <a:latin typeface="+mn-lt"/>
                <a:ea typeface="+mn-ea"/>
                <a:cs typeface="+mn-cs"/>
              </a:rPr>
              <a:t>3</a:t>
            </a:r>
            <a:r>
              <a:rPr lang="ru-RU" sz="1200" b="0" i="0" kern="1200" dirty="0" smtClean="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22</a:t>
            </a:fld>
            <a:endParaRPr lang="ru-RU"/>
          </a:p>
        </p:txBody>
      </p:sp>
    </p:spTree>
    <p:extLst>
      <p:ext uri="{BB962C8B-B14F-4D97-AF65-F5344CB8AC3E}">
        <p14:creationId xmlns:p14="http://schemas.microsoft.com/office/powerpoint/2010/main" xmlns="" val="4287159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Отсутствие требования к поддержанию порядка на множестве кортежей отношения дает дополнительную гибкость СУБД при хранении баз данных во внешней памяти и при выполнении запросов к базе данных. Это не противоречит тому, что при формулировании запроса к БД, например, на языке SQL можно потребовать сортировки результирующей таблицы в соответствии со значениями некоторых столбцов. Такой результат, вообще говоря, не отношение, а некоторый упорядоченный список кортежей.</a:t>
            </a:r>
            <a:endParaRPr lang="ru-RU" dirty="0" smtClean="0">
              <a:latin typeface="Arial" panose="020B0604020202020204" pitchFamily="34" charset="0"/>
              <a:cs typeface="Arial" panose="020B0604020202020204" pitchFamily="34" charset="0"/>
            </a:endParaRPr>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23</a:t>
            </a:fld>
            <a:endParaRPr lang="ru-RU"/>
          </a:p>
        </p:txBody>
      </p:sp>
    </p:spTree>
    <p:extLst>
      <p:ext uri="{BB962C8B-B14F-4D97-AF65-F5344CB8AC3E}">
        <p14:creationId xmlns:p14="http://schemas.microsoft.com/office/powerpoint/2010/main" xmlns="" val="511257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Легко заметить явную аналогию между </a:t>
            </a:r>
            <a:r>
              <a:rPr lang="ru-RU" sz="1200" b="0" i="1" kern="1200" dirty="0" smtClean="0">
                <a:solidFill>
                  <a:schemeClr val="tx1"/>
                </a:solidFill>
                <a:effectLst/>
                <a:latin typeface="+mn-lt"/>
                <a:ea typeface="+mn-ea"/>
                <a:cs typeface="+mn-cs"/>
              </a:rPr>
              <a:t>заголовками отношений</a:t>
            </a:r>
            <a:r>
              <a:rPr lang="ru-RU" sz="1200" b="0" i="0" kern="1200" dirty="0" smtClean="0">
                <a:solidFill>
                  <a:schemeClr val="tx1"/>
                </a:solidFill>
                <a:effectLst/>
                <a:latin typeface="+mn-lt"/>
                <a:ea typeface="+mn-ea"/>
                <a:cs typeface="+mn-cs"/>
              </a:rPr>
              <a:t> и структурными типами в языках программирования. Даже в языке программирования C с его практически неограниченными возможностями работы с указателями настойчиво рекомендуется обращаться к полям структур только по их именам. Если, например, на языке C определена структурная переменная</a:t>
            </a:r>
          </a:p>
          <a:p>
            <a:r>
              <a:rPr lang="ru-RU" sz="1200" b="0" i="0" kern="1200" dirty="0" err="1" smtClean="0">
                <a:solidFill>
                  <a:schemeClr val="tx1"/>
                </a:solidFill>
                <a:effectLst/>
                <a:latin typeface="+mn-lt"/>
                <a:ea typeface="+mn-ea"/>
                <a:cs typeface="+mn-cs"/>
              </a:rPr>
              <a:t>struct</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int</a:t>
            </a:r>
            <a:r>
              <a:rPr lang="ru-RU" sz="1200" b="0" i="0" kern="1200" dirty="0" smtClean="0">
                <a:solidFill>
                  <a:schemeClr val="tx1"/>
                </a:solidFill>
                <a:effectLst/>
                <a:latin typeface="+mn-lt"/>
                <a:ea typeface="+mn-ea"/>
                <a:cs typeface="+mn-cs"/>
              </a:rPr>
              <a:t> a; </a:t>
            </a:r>
            <a:r>
              <a:rPr lang="ru-RU" sz="1200" b="0" i="0" kern="1200" dirty="0" err="1" smtClean="0">
                <a:solidFill>
                  <a:schemeClr val="tx1"/>
                </a:solidFill>
                <a:effectLst/>
                <a:latin typeface="+mn-lt"/>
                <a:ea typeface="+mn-ea"/>
                <a:cs typeface="+mn-cs"/>
              </a:rPr>
              <a:t>char</a:t>
            </a:r>
            <a:r>
              <a:rPr lang="ru-RU" sz="1200" b="0" i="0" kern="1200" dirty="0" smtClean="0">
                <a:solidFill>
                  <a:schemeClr val="tx1"/>
                </a:solidFill>
                <a:effectLst/>
                <a:latin typeface="+mn-lt"/>
                <a:ea typeface="+mn-ea"/>
                <a:cs typeface="+mn-cs"/>
              </a:rPr>
              <a:t> b; </a:t>
            </a:r>
            <a:r>
              <a:rPr lang="ru-RU" sz="1200" b="0" i="0" kern="1200" dirty="0" err="1" smtClean="0">
                <a:solidFill>
                  <a:schemeClr val="tx1"/>
                </a:solidFill>
                <a:effectLst/>
                <a:latin typeface="+mn-lt"/>
                <a:ea typeface="+mn-ea"/>
                <a:cs typeface="+mn-cs"/>
              </a:rPr>
              <a:t>int</a:t>
            </a:r>
            <a:r>
              <a:rPr lang="ru-RU" sz="1200" b="0" i="0" kern="1200" dirty="0" smtClean="0">
                <a:solidFill>
                  <a:schemeClr val="tx1"/>
                </a:solidFill>
                <a:effectLst/>
                <a:latin typeface="+mn-lt"/>
                <a:ea typeface="+mn-ea"/>
                <a:cs typeface="+mn-cs"/>
              </a:rPr>
              <a:t> c} d;</a:t>
            </a:r>
          </a:p>
          <a:p>
            <a:r>
              <a:rPr lang="ru-RU" sz="1200" b="0" i="0" kern="1200" dirty="0" smtClean="0">
                <a:solidFill>
                  <a:schemeClr val="tx1"/>
                </a:solidFill>
                <a:effectLst/>
                <a:latin typeface="+mn-lt"/>
                <a:ea typeface="+mn-ea"/>
                <a:cs typeface="+mn-cs"/>
              </a:rPr>
              <a:t>то в стандарте языка решительно не рекомендуется использовать для доступа к символьному полю b конструкцию *(&amp;d + </a:t>
            </a:r>
            <a:r>
              <a:rPr lang="ru-RU" sz="1200" b="0" i="0" kern="1200" dirty="0" err="1" smtClean="0">
                <a:solidFill>
                  <a:schemeClr val="tx1"/>
                </a:solidFill>
                <a:effectLst/>
                <a:latin typeface="+mn-lt"/>
                <a:ea typeface="+mn-ea"/>
                <a:cs typeface="+mn-cs"/>
              </a:rPr>
              <a:t>sizeof</a:t>
            </a:r>
            <a:r>
              <a:rPr lang="ru-RU" sz="1200" b="0" i="0" kern="1200" dirty="0" smtClean="0">
                <a:solidFill>
                  <a:schemeClr val="tx1"/>
                </a:solidFill>
                <a:effectLst/>
                <a:latin typeface="+mn-lt"/>
                <a:ea typeface="+mn-ea"/>
                <a:cs typeface="+mn-cs"/>
              </a:rPr>
              <a:t>(</a:t>
            </a:r>
            <a:r>
              <a:rPr lang="ru-RU" sz="1200" b="0" i="0" kern="1200" dirty="0" err="1" smtClean="0">
                <a:solidFill>
                  <a:schemeClr val="tx1"/>
                </a:solidFill>
                <a:effectLst/>
                <a:latin typeface="+mn-lt"/>
                <a:ea typeface="+mn-ea"/>
                <a:cs typeface="+mn-cs"/>
              </a:rPr>
              <a:t>int</a:t>
            </a:r>
            <a:r>
              <a:rPr lang="ru-RU" sz="1200" b="0" i="0" kern="1200" dirty="0" smtClean="0">
                <a:solidFill>
                  <a:schemeClr val="tx1"/>
                </a:solidFill>
                <a:effectLst/>
                <a:latin typeface="+mn-lt"/>
                <a:ea typeface="+mn-ea"/>
                <a:cs typeface="+mn-cs"/>
              </a:rPr>
              <a:t>)) (взять адрес структурной переменной d, прибавить к нему число байтов в целом числе и взять значение байта по полученному адресу). Это объясняется тем, что при реальном расположении в памяти полей такой структурной переменной в том порядке, как они определены, во многих компьютерах потребуется выровнять поле c по байту с четным адресом. Поэтому один байт просто пропадет. При расположении структурной переменной в памяти экономный компилятор (вернее, оптимизатор) переставит местами поля b и c, и указанная выше конструкция не обеспечит доступа к полю b. Для корректного обращения к полю b</a:t>
            </a:r>
            <a:r>
              <a:rPr lang="en-US" sz="1200" b="0"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переменной d нужно использовать конструкции </a:t>
            </a:r>
            <a:r>
              <a:rPr lang="ru-RU" sz="1200" b="0" i="0" kern="1200" dirty="0" err="1" smtClean="0">
                <a:solidFill>
                  <a:schemeClr val="tx1"/>
                </a:solidFill>
                <a:effectLst/>
                <a:latin typeface="+mn-lt"/>
                <a:ea typeface="+mn-ea"/>
                <a:cs typeface="+mn-cs"/>
              </a:rPr>
              <a:t>d.b</a:t>
            </a:r>
            <a:r>
              <a:rPr lang="ru-RU" sz="1200" b="0" i="0" kern="1200" dirty="0" smtClean="0">
                <a:solidFill>
                  <a:schemeClr val="tx1"/>
                </a:solidFill>
                <a:effectLst/>
                <a:latin typeface="+mn-lt"/>
                <a:ea typeface="+mn-ea"/>
                <a:cs typeface="+mn-cs"/>
              </a:rPr>
              <a:t> или &amp;d-&gt;b, т. е. явно указывать имя поля.</a:t>
            </a:r>
          </a:p>
          <a:p>
            <a:r>
              <a:rPr lang="ru-RU" sz="1200" b="0" i="0" kern="1200" dirty="0" smtClean="0">
                <a:solidFill>
                  <a:schemeClr val="tx1"/>
                </a:solidFill>
                <a:effectLst/>
                <a:latin typeface="+mn-lt"/>
                <a:ea typeface="+mn-ea"/>
                <a:cs typeface="+mn-cs"/>
              </a:rPr>
              <a:t>Аналогичными практическими соображениями оправдывается и отсутствие упорядоченности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в </a:t>
            </a:r>
            <a:r>
              <a:rPr lang="ru-RU" sz="1200" b="0" i="1" kern="1200" dirty="0" smtClean="0">
                <a:solidFill>
                  <a:schemeClr val="tx1"/>
                </a:solidFill>
                <a:effectLst/>
                <a:latin typeface="+mn-lt"/>
                <a:ea typeface="+mn-ea"/>
                <a:cs typeface="+mn-cs"/>
              </a:rPr>
              <a:t>заголовке отношения</a:t>
            </a:r>
            <a:r>
              <a:rPr lang="ru-RU" sz="1200" b="0" i="0" kern="1200" dirty="0" smtClean="0">
                <a:solidFill>
                  <a:schemeClr val="tx1"/>
                </a:solidFill>
                <a:effectLst/>
                <a:latin typeface="+mn-lt"/>
                <a:ea typeface="+mn-ea"/>
                <a:cs typeface="+mn-cs"/>
              </a:rPr>
              <a:t>. В этом случае СУБД сама принимает решение о том, в каком физическом порядке следует хранить значения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кортежей</a:t>
            </a:r>
            <a:r>
              <a:rPr lang="ru-RU" sz="1200" b="0" i="0" kern="1200" dirty="0" smtClean="0">
                <a:solidFill>
                  <a:schemeClr val="tx1"/>
                </a:solidFill>
                <a:effectLst/>
                <a:latin typeface="+mn-lt"/>
                <a:ea typeface="+mn-ea"/>
                <a:cs typeface="+mn-cs"/>
              </a:rPr>
              <a:t> (хотя обычно один и тот же физический порядок поддерживается для всех </a:t>
            </a:r>
            <a:r>
              <a:rPr lang="ru-RU" sz="1200" b="0" i="1" kern="1200" dirty="0" smtClean="0">
                <a:solidFill>
                  <a:schemeClr val="tx1"/>
                </a:solidFill>
                <a:effectLst/>
                <a:latin typeface="+mn-lt"/>
                <a:ea typeface="+mn-ea"/>
                <a:cs typeface="+mn-cs"/>
              </a:rPr>
              <a:t>кортежей</a:t>
            </a:r>
            <a:r>
              <a:rPr lang="ru-RU" sz="1200" b="0" i="0" kern="1200" dirty="0" smtClean="0">
                <a:solidFill>
                  <a:schemeClr val="tx1"/>
                </a:solidFill>
                <a:effectLst/>
                <a:latin typeface="+mn-lt"/>
                <a:ea typeface="+mn-ea"/>
                <a:cs typeface="+mn-cs"/>
              </a:rPr>
              <a:t> каждого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 Кроме того, это свойство облегчает выполнение операции модификации схем существующих </a:t>
            </a:r>
            <a:r>
              <a:rPr lang="ru-RU" sz="1200" b="0" i="1" kern="1200" dirty="0" smtClean="0">
                <a:solidFill>
                  <a:schemeClr val="tx1"/>
                </a:solidFill>
                <a:effectLst/>
                <a:latin typeface="+mn-lt"/>
                <a:ea typeface="+mn-ea"/>
                <a:cs typeface="+mn-cs"/>
              </a:rPr>
              <a:t>отношений</a:t>
            </a:r>
            <a:r>
              <a:rPr lang="ru-RU" sz="1200" b="0" i="0" kern="1200" dirty="0" smtClean="0">
                <a:solidFill>
                  <a:schemeClr val="tx1"/>
                </a:solidFill>
                <a:effectLst/>
                <a:latin typeface="+mn-lt"/>
                <a:ea typeface="+mn-ea"/>
                <a:cs typeface="+mn-cs"/>
              </a:rPr>
              <a:t> не только путем добавления новых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но и путем удаления существующих.</a:t>
            </a:r>
          </a:p>
          <a:p>
            <a:r>
              <a:rPr lang="ru-RU" sz="1200" b="0" i="0" kern="1200" dirty="0" smtClean="0">
                <a:solidFill>
                  <a:schemeClr val="tx1"/>
                </a:solidFill>
                <a:effectLst/>
                <a:latin typeface="+mn-lt"/>
                <a:ea typeface="+mn-ea"/>
                <a:cs typeface="+mn-cs"/>
              </a:rPr>
              <a:t>Снова забегая вперед, заметим, что в языке SQL в некоторых случаях допускается индексное указание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причем в качестве неявного порядка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используется их порядок в </a:t>
            </a:r>
            <a:r>
              <a:rPr lang="ru-RU" sz="1200" b="0" i="1" kern="1200" dirty="0" smtClean="0">
                <a:solidFill>
                  <a:schemeClr val="tx1"/>
                </a:solidFill>
                <a:effectLst/>
                <a:latin typeface="+mn-lt"/>
                <a:ea typeface="+mn-ea"/>
                <a:cs typeface="+mn-cs"/>
              </a:rPr>
              <a:t>линейной форме</a:t>
            </a:r>
            <a:r>
              <a:rPr lang="ru-RU" sz="1200" b="0" i="0" kern="1200" dirty="0" smtClean="0">
                <a:solidFill>
                  <a:schemeClr val="tx1"/>
                </a:solidFill>
                <a:effectLst/>
                <a:latin typeface="+mn-lt"/>
                <a:ea typeface="+mn-ea"/>
                <a:cs typeface="+mn-cs"/>
              </a:rPr>
              <a:t> определения схемы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(это одна из осуждаемых особенностей языка SQL).</a:t>
            </a:r>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24</a:t>
            </a:fld>
            <a:endParaRPr lang="ru-RU"/>
          </a:p>
        </p:txBody>
      </p:sp>
    </p:spTree>
    <p:extLst>
      <p:ext uri="{BB962C8B-B14F-4D97-AF65-F5344CB8AC3E}">
        <p14:creationId xmlns:p14="http://schemas.microsoft.com/office/powerpoint/2010/main" xmlns="" val="148254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Пример ненормализованного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показан на </a:t>
            </a:r>
            <a:r>
              <a:rPr lang="ru-RU" sz="1200" b="0" i="0" u="none" strike="noStrike" kern="1200" dirty="0" smtClean="0">
                <a:solidFill>
                  <a:schemeClr val="tx1"/>
                </a:solidFill>
                <a:effectLst/>
                <a:latin typeface="+mn-lt"/>
                <a:ea typeface="+mn-ea"/>
                <a:cs typeface="+mn-cs"/>
                <a:hlinkClick r:id="rId3"/>
              </a:rPr>
              <a:t>рис. 2.2</a:t>
            </a:r>
            <a:r>
              <a:rPr lang="ru-RU" sz="1200" b="0" i="0" kern="1200" dirty="0" smtClean="0">
                <a:solidFill>
                  <a:schemeClr val="tx1"/>
                </a:solidFill>
                <a:effectLst/>
                <a:latin typeface="+mn-lt"/>
                <a:ea typeface="+mn-ea"/>
                <a:cs typeface="+mn-cs"/>
              </a:rPr>
              <a:t>. Можно сказать, что здесь мы имеем бинарное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в котором значениями </a:t>
            </a:r>
            <a:r>
              <a:rPr lang="ru-RU" sz="1200" b="0" i="1" kern="1200" dirty="0" smtClean="0">
                <a:solidFill>
                  <a:schemeClr val="tx1"/>
                </a:solidFill>
                <a:effectLst/>
                <a:latin typeface="+mn-lt"/>
                <a:ea typeface="+mn-ea"/>
                <a:cs typeface="+mn-cs"/>
              </a:rPr>
              <a:t>атрибута</a:t>
            </a:r>
            <a:r>
              <a:rPr lang="ru-RU" sz="1200" b="0" i="0" kern="1200" dirty="0" smtClean="0">
                <a:solidFill>
                  <a:schemeClr val="tx1"/>
                </a:solidFill>
                <a:effectLst/>
                <a:latin typeface="+mn-lt"/>
                <a:ea typeface="+mn-ea"/>
                <a:cs typeface="+mn-cs"/>
              </a:rPr>
              <a:t> ОТДЕЛЫ являются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Заметим, что исходное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СЛУЖАЩИЕ является нормализованным вариантом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ОТДЕЛЫ-СЛУЖАЩИЕ. Нормализованный вариант показан на </a:t>
            </a:r>
            <a:r>
              <a:rPr lang="ru-RU" sz="1200" b="0" i="0" u="none" strike="noStrike" kern="1200" dirty="0" smtClean="0">
                <a:solidFill>
                  <a:schemeClr val="tx1"/>
                </a:solidFill>
                <a:effectLst/>
                <a:latin typeface="+mn-lt"/>
                <a:ea typeface="+mn-ea"/>
                <a:cs typeface="+mn-cs"/>
                <a:hlinkClick r:id="rId3"/>
              </a:rPr>
              <a:t>рис. 2.3</a:t>
            </a:r>
            <a:r>
              <a:rPr lang="ru-RU" sz="1200" b="0" i="0" kern="1200" dirty="0" smtClean="0">
                <a:solidFill>
                  <a:schemeClr val="tx1"/>
                </a:solidFill>
                <a:effectLst/>
                <a:latin typeface="+mn-lt"/>
                <a:ea typeface="+mn-ea"/>
                <a:cs typeface="+mn-cs"/>
              </a:rPr>
              <a:t>.</a:t>
            </a: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Если информация о служащих представлена в виде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СЛУЖАЩИЕ, оба оператора будут выполняться одинаково (</a:t>
            </a:r>
            <a:r>
              <a:rPr lang="ru-RU" sz="1200" b="0" i="0" kern="1200" dirty="0" err="1" smtClean="0">
                <a:solidFill>
                  <a:schemeClr val="tx1"/>
                </a:solidFill>
                <a:effectLst/>
                <a:latin typeface="+mn-lt"/>
                <a:ea typeface="+mn-ea"/>
                <a:cs typeface="+mn-cs"/>
              </a:rPr>
              <a:t>вставить</a:t>
            </a:r>
            <a:r>
              <a:rPr lang="ru-RU" sz="1200" b="0" i="1" kern="1200" dirty="0" err="1" smtClean="0">
                <a:solidFill>
                  <a:schemeClr val="tx1"/>
                </a:solidFill>
                <a:effectLst/>
                <a:latin typeface="+mn-lt"/>
                <a:ea typeface="+mn-ea"/>
                <a:cs typeface="+mn-cs"/>
              </a:rPr>
              <a:t>кортеж</a:t>
            </a:r>
            <a:r>
              <a:rPr lang="ru-RU" sz="1200" b="0" i="0" kern="1200" dirty="0" smtClean="0">
                <a:solidFill>
                  <a:schemeClr val="tx1"/>
                </a:solidFill>
                <a:effectLst/>
                <a:latin typeface="+mn-lt"/>
                <a:ea typeface="+mn-ea"/>
                <a:cs typeface="+mn-cs"/>
              </a:rPr>
              <a:t> в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СЛУЖАЩИЕ ). Если же работать с ненормализованным </a:t>
            </a:r>
            <a:r>
              <a:rPr lang="ru-RU" sz="1200" b="0" i="1" kern="1200" dirty="0" smtClean="0">
                <a:solidFill>
                  <a:schemeClr val="tx1"/>
                </a:solidFill>
                <a:effectLst/>
                <a:latin typeface="+mn-lt"/>
                <a:ea typeface="+mn-ea"/>
                <a:cs typeface="+mn-cs"/>
              </a:rPr>
              <a:t>отношением</a:t>
            </a:r>
            <a:r>
              <a:rPr lang="ru-RU" sz="1200" b="0" i="0" kern="1200" dirty="0" smtClean="0">
                <a:solidFill>
                  <a:schemeClr val="tx1"/>
                </a:solidFill>
                <a:effectLst/>
                <a:latin typeface="+mn-lt"/>
                <a:ea typeface="+mn-ea"/>
                <a:cs typeface="+mn-cs"/>
              </a:rPr>
              <a:t> ОТДЕЛЫ-СЛУЖАЩИЕ, то первый оператор приведет к простой вставке </a:t>
            </a:r>
            <a:r>
              <a:rPr lang="ru-RU" sz="1200" b="0" i="1" kern="1200" dirty="0" smtClean="0">
                <a:solidFill>
                  <a:schemeClr val="tx1"/>
                </a:solidFill>
                <a:effectLst/>
                <a:latin typeface="+mn-lt"/>
                <a:ea typeface="+mn-ea"/>
                <a:cs typeface="+mn-cs"/>
              </a:rPr>
              <a:t>кортежа</a:t>
            </a:r>
            <a:r>
              <a:rPr lang="ru-RU" sz="1200" b="0" i="0" kern="1200" dirty="0" smtClean="0">
                <a:solidFill>
                  <a:schemeClr val="tx1"/>
                </a:solidFill>
                <a:effectLst/>
                <a:latin typeface="+mn-lt"/>
                <a:ea typeface="+mn-ea"/>
                <a:cs typeface="+mn-cs"/>
              </a:rPr>
              <a:t>, а второй – к добавлению </a:t>
            </a:r>
            <a:r>
              <a:rPr lang="ru-RU" sz="1200" b="0" i="1" kern="1200" dirty="0" smtClean="0">
                <a:solidFill>
                  <a:schemeClr val="tx1"/>
                </a:solidFill>
                <a:effectLst/>
                <a:latin typeface="+mn-lt"/>
                <a:ea typeface="+mn-ea"/>
                <a:cs typeface="+mn-cs"/>
              </a:rPr>
              <a:t>кортежа</a:t>
            </a:r>
            <a:r>
              <a:rPr lang="ru-RU" sz="1200" b="0" i="0" kern="1200" dirty="0" smtClean="0">
                <a:solidFill>
                  <a:schemeClr val="tx1"/>
                </a:solidFill>
                <a:effectLst/>
                <a:latin typeface="+mn-lt"/>
                <a:ea typeface="+mn-ea"/>
                <a:cs typeface="+mn-cs"/>
              </a:rPr>
              <a:t> в значение-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атрибута</a:t>
            </a:r>
            <a:r>
              <a:rPr lang="ru-RU" sz="1200" b="0" i="0" kern="1200" dirty="0" smtClean="0">
                <a:solidFill>
                  <a:schemeClr val="tx1"/>
                </a:solidFill>
                <a:effectLst/>
                <a:latin typeface="+mn-lt"/>
                <a:ea typeface="+mn-ea"/>
                <a:cs typeface="+mn-cs"/>
              </a:rPr>
              <a:t> ОТДЕЛ </a:t>
            </a:r>
            <a:r>
              <a:rPr lang="ru-RU" sz="1200" b="0" i="1" kern="1200" dirty="0" smtClean="0">
                <a:solidFill>
                  <a:schemeClr val="tx1"/>
                </a:solidFill>
                <a:effectLst/>
                <a:latin typeface="+mn-lt"/>
                <a:ea typeface="+mn-ea"/>
                <a:cs typeface="+mn-cs"/>
              </a:rPr>
              <a:t>кортежа</a:t>
            </a:r>
            <a:r>
              <a:rPr lang="ru-RU" sz="1200" b="0" i="0" kern="1200" dirty="0" smtClean="0">
                <a:solidFill>
                  <a:schemeClr val="tx1"/>
                </a:solidFill>
                <a:effectLst/>
                <a:latin typeface="+mn-lt"/>
                <a:ea typeface="+mn-ea"/>
                <a:cs typeface="+mn-cs"/>
              </a:rPr>
              <a:t> с </a:t>
            </a:r>
            <a:r>
              <a:rPr lang="ru-RU" sz="1200" b="0" i="1" kern="1200" dirty="0" smtClean="0">
                <a:solidFill>
                  <a:schemeClr val="tx1"/>
                </a:solidFill>
                <a:effectLst/>
                <a:latin typeface="+mn-lt"/>
                <a:ea typeface="+mn-ea"/>
                <a:cs typeface="+mn-cs"/>
              </a:rPr>
              <a:t>первичным ключом</a:t>
            </a:r>
            <a:r>
              <a:rPr lang="ru-RU" sz="1200" b="0" i="0" kern="1200" dirty="0" smtClean="0">
                <a:solidFill>
                  <a:schemeClr val="tx1"/>
                </a:solidFill>
                <a:effectLst/>
                <a:latin typeface="+mn-lt"/>
                <a:ea typeface="+mn-ea"/>
                <a:cs typeface="+mn-cs"/>
              </a:rPr>
              <a:t> 310.</a:t>
            </a:r>
          </a:p>
          <a:p>
            <a:r>
              <a:rPr lang="ru-RU" sz="1200" b="0" i="0" kern="1200" dirty="0" smtClean="0">
                <a:solidFill>
                  <a:schemeClr val="tx1"/>
                </a:solidFill>
                <a:effectLst/>
                <a:latin typeface="+mn-lt"/>
                <a:ea typeface="+mn-ea"/>
                <a:cs typeface="+mn-cs"/>
              </a:rPr>
              <a:t>При работе с ненормализованными </a:t>
            </a:r>
            <a:r>
              <a:rPr lang="ru-RU" sz="1200" b="0" i="1" kern="1200" dirty="0" smtClean="0">
                <a:solidFill>
                  <a:schemeClr val="tx1"/>
                </a:solidFill>
                <a:effectLst/>
                <a:latin typeface="+mn-lt"/>
                <a:ea typeface="+mn-ea"/>
                <a:cs typeface="+mn-cs"/>
              </a:rPr>
              <a:t>отношениями</a:t>
            </a:r>
            <a:r>
              <a:rPr lang="ru-RU" sz="1200" b="0" i="0" kern="1200" dirty="0" smtClean="0">
                <a:solidFill>
                  <a:schemeClr val="tx1"/>
                </a:solidFill>
                <a:effectLst/>
                <a:latin typeface="+mn-lt"/>
                <a:ea typeface="+mn-ea"/>
                <a:cs typeface="+mn-cs"/>
              </a:rPr>
              <a:t> аналогичные затруднения возникают при выполнении операций удаления и модификации </a:t>
            </a:r>
            <a:r>
              <a:rPr lang="ru-RU" sz="1200" b="0" i="1" kern="1200" dirty="0" smtClean="0">
                <a:solidFill>
                  <a:schemeClr val="tx1"/>
                </a:solidFill>
                <a:effectLst/>
                <a:latin typeface="+mn-lt"/>
                <a:ea typeface="+mn-ea"/>
                <a:cs typeface="+mn-cs"/>
              </a:rPr>
              <a:t>кортежей</a:t>
            </a:r>
            <a:r>
              <a:rPr lang="ru-RU" sz="1200" b="0" i="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25</a:t>
            </a:fld>
            <a:endParaRPr lang="ru-RU"/>
          </a:p>
        </p:txBody>
      </p:sp>
    </p:spTree>
    <p:extLst>
      <p:ext uri="{BB962C8B-B14F-4D97-AF65-F5344CB8AC3E}">
        <p14:creationId xmlns:p14="http://schemas.microsoft.com/office/powerpoint/2010/main" xmlns="" val="3798921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26</a:t>
            </a:fld>
            <a:endParaRPr lang="ru-RU"/>
          </a:p>
        </p:txBody>
      </p:sp>
    </p:spTree>
    <p:extLst>
      <p:ext uri="{BB962C8B-B14F-4D97-AF65-F5344CB8AC3E}">
        <p14:creationId xmlns:p14="http://schemas.microsoft.com/office/powerpoint/2010/main" xmlns="" val="3078904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Если </a:t>
            </a:r>
            <a:r>
              <a:rPr lang="en-US" sz="1200" b="0" i="0" kern="1200" dirty="0" smtClean="0">
                <a:solidFill>
                  <a:schemeClr val="tx1"/>
                </a:solidFill>
                <a:effectLst/>
                <a:latin typeface="+mn-lt"/>
                <a:ea typeface="+mn-ea"/>
                <a:cs typeface="+mn-cs"/>
              </a:rPr>
              <a:t>a – </a:t>
            </a:r>
            <a:r>
              <a:rPr lang="ru-RU" sz="1200" b="0" i="0" kern="1200" dirty="0" smtClean="0">
                <a:solidFill>
                  <a:schemeClr val="tx1"/>
                </a:solidFill>
                <a:effectLst/>
                <a:latin typeface="+mn-lt"/>
                <a:ea typeface="+mn-ea"/>
                <a:cs typeface="+mn-cs"/>
              </a:rPr>
              <a:t>это значение некоторого </a:t>
            </a:r>
            <a:r>
              <a:rPr lang="ru-RU" sz="1200" b="0" i="1" kern="1200" dirty="0" smtClean="0">
                <a:solidFill>
                  <a:schemeClr val="tx1"/>
                </a:solidFill>
                <a:effectLst/>
                <a:latin typeface="+mn-lt"/>
                <a:ea typeface="+mn-ea"/>
                <a:cs typeface="+mn-cs"/>
              </a:rPr>
              <a:t>типа данных</a:t>
            </a:r>
            <a:r>
              <a:rPr lang="ru-RU" sz="1200" b="0" i="0" kern="1200" dirty="0" smtClean="0">
                <a:solidFill>
                  <a:schemeClr val="tx1"/>
                </a:solidFill>
                <a:effectLst/>
                <a:latin typeface="+mn-lt"/>
                <a:ea typeface="+mn-ea"/>
                <a:cs typeface="+mn-cs"/>
              </a:rPr>
              <a:t> или </a:t>
            </a:r>
            <a:r>
              <a:rPr lang="en-US" sz="1200" b="0" i="0" kern="1200" dirty="0" smtClean="0">
                <a:solidFill>
                  <a:schemeClr val="tx1"/>
                </a:solidFill>
                <a:effectLst/>
                <a:latin typeface="+mn-lt"/>
                <a:ea typeface="+mn-ea"/>
                <a:cs typeface="+mn-cs"/>
              </a:rPr>
              <a:t>NULL, op – </a:t>
            </a:r>
            <a:r>
              <a:rPr lang="ru-RU" sz="1200" b="0" i="0" kern="1200" dirty="0" smtClean="0">
                <a:solidFill>
                  <a:schemeClr val="tx1"/>
                </a:solidFill>
                <a:effectLst/>
                <a:latin typeface="+mn-lt"/>
                <a:ea typeface="+mn-ea"/>
                <a:cs typeface="+mn-cs"/>
              </a:rPr>
              <a:t>любая двуместная "арифметическая" операция этого </a:t>
            </a:r>
            <a:r>
              <a:rPr lang="ru-RU" sz="1200" b="0" i="1" kern="1200" dirty="0" smtClean="0">
                <a:solidFill>
                  <a:schemeClr val="tx1"/>
                </a:solidFill>
                <a:effectLst/>
                <a:latin typeface="+mn-lt"/>
                <a:ea typeface="+mn-ea"/>
                <a:cs typeface="+mn-cs"/>
              </a:rPr>
              <a:t>типа данных</a:t>
            </a:r>
            <a:r>
              <a:rPr lang="ru-RU" sz="1200" b="0" i="0" kern="1200" dirty="0" smtClean="0">
                <a:solidFill>
                  <a:schemeClr val="tx1"/>
                </a:solidFill>
                <a:effectLst/>
                <a:latin typeface="+mn-lt"/>
                <a:ea typeface="+mn-ea"/>
                <a:cs typeface="+mn-cs"/>
              </a:rPr>
              <a:t> (например, + ), а </a:t>
            </a:r>
            <a:r>
              <a:rPr lang="en-US" sz="1200" b="0" i="1" kern="1200" dirty="0" smtClean="0">
                <a:solidFill>
                  <a:schemeClr val="tx1"/>
                </a:solidFill>
                <a:effectLst/>
                <a:latin typeface="+mn-lt"/>
                <a:ea typeface="+mn-ea"/>
                <a:cs typeface="+mn-cs"/>
              </a:rPr>
              <a:t>lop</a:t>
            </a:r>
            <a:r>
              <a:rPr lang="en-US" sz="1200" b="0" i="0" kern="1200" dirty="0" smtClean="0">
                <a:solidFill>
                  <a:schemeClr val="tx1"/>
                </a:solidFill>
                <a:effectLst/>
                <a:latin typeface="+mn-lt"/>
                <a:ea typeface="+mn-ea"/>
                <a:cs typeface="+mn-cs"/>
              </a:rPr>
              <a:t> – </a:t>
            </a:r>
            <a:r>
              <a:rPr lang="ru-RU" sz="1200" b="0" i="0" kern="1200" dirty="0" smtClean="0">
                <a:solidFill>
                  <a:schemeClr val="tx1"/>
                </a:solidFill>
                <a:effectLst/>
                <a:latin typeface="+mn-lt"/>
                <a:ea typeface="+mn-ea"/>
                <a:cs typeface="+mn-cs"/>
              </a:rPr>
              <a:t>операция сравнения значений этого </a:t>
            </a:r>
            <a:r>
              <a:rPr lang="ru-RU" sz="1200" b="0" i="1" kern="1200" dirty="0" smtClean="0">
                <a:solidFill>
                  <a:schemeClr val="tx1"/>
                </a:solidFill>
                <a:effectLst/>
                <a:latin typeface="+mn-lt"/>
                <a:ea typeface="+mn-ea"/>
                <a:cs typeface="+mn-cs"/>
              </a:rPr>
              <a:t>типа</a:t>
            </a:r>
            <a:r>
              <a:rPr lang="ru-RU" sz="1200" b="0" i="0" kern="1200" dirty="0" smtClean="0">
                <a:solidFill>
                  <a:schemeClr val="tx1"/>
                </a:solidFill>
                <a:effectLst/>
                <a:latin typeface="+mn-lt"/>
                <a:ea typeface="+mn-ea"/>
                <a:cs typeface="+mn-cs"/>
              </a:rPr>
              <a:t> (например, = ), то по определению:</a:t>
            </a:r>
          </a:p>
          <a:p>
            <a:r>
              <a:rPr lang="en-US" sz="1200" b="0" i="0" kern="1200" dirty="0" smtClean="0">
                <a:solidFill>
                  <a:schemeClr val="tx1"/>
                </a:solidFill>
                <a:effectLst/>
                <a:latin typeface="+mn-lt"/>
                <a:ea typeface="+mn-ea"/>
                <a:cs typeface="+mn-cs"/>
              </a:rPr>
              <a:t>a op NULL = NULL </a:t>
            </a:r>
            <a:r>
              <a:rPr lang="en-US" sz="1200" b="0" i="0" kern="1200" dirty="0" err="1" smtClean="0">
                <a:solidFill>
                  <a:schemeClr val="tx1"/>
                </a:solidFill>
                <a:effectLst/>
                <a:latin typeface="+mn-lt"/>
                <a:ea typeface="+mn-ea"/>
                <a:cs typeface="+mn-cs"/>
              </a:rPr>
              <a:t>NULL</a:t>
            </a:r>
            <a:r>
              <a:rPr lang="en-US" sz="1200" b="0" i="0" kern="1200" dirty="0" smtClean="0">
                <a:solidFill>
                  <a:schemeClr val="tx1"/>
                </a:solidFill>
                <a:effectLst/>
                <a:latin typeface="+mn-lt"/>
                <a:ea typeface="+mn-ea"/>
                <a:cs typeface="+mn-cs"/>
              </a:rPr>
              <a:t> op a = NULL a lop NULL = unknown NULL lop a = unknown</a:t>
            </a:r>
          </a:p>
          <a:p>
            <a:r>
              <a:rPr lang="ru-RU" sz="1200" b="0" i="0" kern="1200" dirty="0" smtClean="0">
                <a:solidFill>
                  <a:schemeClr val="tx1"/>
                </a:solidFill>
                <a:effectLst/>
                <a:latin typeface="+mn-lt"/>
                <a:ea typeface="+mn-ea"/>
                <a:cs typeface="+mn-cs"/>
              </a:rPr>
              <a:t>Здесь </a:t>
            </a:r>
            <a:r>
              <a:rPr lang="en-US" sz="1200" b="0" i="0" kern="1200" dirty="0" smtClean="0">
                <a:solidFill>
                  <a:schemeClr val="tx1"/>
                </a:solidFill>
                <a:effectLst/>
                <a:latin typeface="+mn-lt"/>
                <a:ea typeface="+mn-ea"/>
                <a:cs typeface="+mn-cs"/>
              </a:rPr>
              <a:t>unknown – </a:t>
            </a:r>
            <a:r>
              <a:rPr lang="ru-RU" sz="1200" b="0" i="0" kern="1200" dirty="0" smtClean="0">
                <a:solidFill>
                  <a:schemeClr val="tx1"/>
                </a:solidFill>
                <a:effectLst/>
                <a:latin typeface="+mn-lt"/>
                <a:ea typeface="+mn-ea"/>
                <a:cs typeface="+mn-cs"/>
              </a:rPr>
              <a:t>это третье значение логического, или </a:t>
            </a:r>
            <a:r>
              <a:rPr lang="ru-RU" sz="1200" b="0" i="1" kern="1200" dirty="0" smtClean="0">
                <a:solidFill>
                  <a:schemeClr val="tx1"/>
                </a:solidFill>
                <a:effectLst/>
                <a:latin typeface="+mn-lt"/>
                <a:ea typeface="+mn-ea"/>
                <a:cs typeface="+mn-cs"/>
              </a:rPr>
              <a:t>булевского, типа</a:t>
            </a:r>
            <a:r>
              <a:rPr lang="ru-RU" sz="1200" b="0" i="0" kern="1200" dirty="0" smtClean="0">
                <a:solidFill>
                  <a:schemeClr val="tx1"/>
                </a:solidFill>
                <a:effectLst/>
                <a:latin typeface="+mn-lt"/>
                <a:ea typeface="+mn-ea"/>
                <a:cs typeface="+mn-cs"/>
              </a:rPr>
              <a:t>, обладающее следующими свойствами:</a:t>
            </a:r>
          </a:p>
          <a:p>
            <a:r>
              <a:rPr lang="en-US" sz="1200" b="0" i="0" kern="1200" dirty="0" smtClean="0">
                <a:solidFill>
                  <a:schemeClr val="tx1"/>
                </a:solidFill>
                <a:effectLst/>
                <a:latin typeface="+mn-lt"/>
                <a:ea typeface="+mn-ea"/>
                <a:cs typeface="+mn-cs"/>
              </a:rPr>
              <a:t>NOT unknown = unknown true AND unknown = unknown true OR unknown = true false AND unknown = false </a:t>
            </a:r>
            <a:r>
              <a:rPr lang="en-US" sz="1200" b="0" i="0" kern="1200" dirty="0" err="1" smtClean="0">
                <a:solidFill>
                  <a:schemeClr val="tx1"/>
                </a:solidFill>
                <a:effectLst/>
                <a:latin typeface="+mn-lt"/>
                <a:ea typeface="+mn-ea"/>
                <a:cs typeface="+mn-cs"/>
              </a:rPr>
              <a:t>false</a:t>
            </a:r>
            <a:r>
              <a:rPr lang="en-US" sz="1200" b="0" i="0" kern="1200" dirty="0" smtClean="0">
                <a:solidFill>
                  <a:schemeClr val="tx1"/>
                </a:solidFill>
                <a:effectLst/>
                <a:latin typeface="+mn-lt"/>
                <a:ea typeface="+mn-ea"/>
                <a:cs typeface="+mn-cs"/>
              </a:rPr>
              <a:t> OR unknown = unknown</a:t>
            </a:r>
          </a:p>
          <a:p>
            <a:r>
              <a:rPr lang="en-US" sz="1200" b="0"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напомним, что операции </a:t>
            </a:r>
            <a:r>
              <a:rPr lang="en-US" sz="1200" b="0" i="0" kern="1200" dirty="0" smtClean="0">
                <a:solidFill>
                  <a:schemeClr val="tx1"/>
                </a:solidFill>
                <a:effectLst/>
                <a:latin typeface="+mn-lt"/>
                <a:ea typeface="+mn-ea"/>
                <a:cs typeface="+mn-cs"/>
              </a:rPr>
              <a:t>AND </a:t>
            </a:r>
            <a:r>
              <a:rPr lang="ru-RU" sz="1200" b="0" i="0" kern="1200" dirty="0" smtClean="0">
                <a:solidFill>
                  <a:schemeClr val="tx1"/>
                </a:solidFill>
                <a:effectLst/>
                <a:latin typeface="+mn-lt"/>
                <a:ea typeface="+mn-ea"/>
                <a:cs typeface="+mn-cs"/>
              </a:rPr>
              <a:t>и </a:t>
            </a:r>
            <a:r>
              <a:rPr lang="en-US" sz="1200" b="0" i="0" kern="1200" dirty="0" smtClean="0">
                <a:solidFill>
                  <a:schemeClr val="tx1"/>
                </a:solidFill>
                <a:effectLst/>
                <a:latin typeface="+mn-lt"/>
                <a:ea typeface="+mn-ea"/>
                <a:cs typeface="+mn-cs"/>
              </a:rPr>
              <a:t>OR </a:t>
            </a:r>
            <a:r>
              <a:rPr lang="ru-RU" sz="1200" b="0" i="0" kern="1200" dirty="0" smtClean="0">
                <a:solidFill>
                  <a:schemeClr val="tx1"/>
                </a:solidFill>
                <a:effectLst/>
                <a:latin typeface="+mn-lt"/>
                <a:ea typeface="+mn-ea"/>
                <a:cs typeface="+mn-cs"/>
              </a:rPr>
              <a:t>являются коммутативными)</a:t>
            </a:r>
            <a:r>
              <a:rPr lang="ru-RU" sz="1200" b="0" i="0" kern="1200" baseline="30000" dirty="0" smtClean="0">
                <a:solidFill>
                  <a:schemeClr val="tx1"/>
                </a:solidFill>
                <a:effectLst/>
                <a:latin typeface="+mn-lt"/>
                <a:ea typeface="+mn-ea"/>
                <a:cs typeface="+mn-cs"/>
              </a:rPr>
              <a:t>8</a:t>
            </a:r>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ANDtruefalseORtruefalseNOTtruefalsetruetruefalsetruetruetruefalsetruefalsefalsefalsefalsetruefalse</a:t>
            </a:r>
          </a:p>
          <a:p>
            <a:r>
              <a:rPr lang="en-US" sz="1200" b="0"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В данной лекции нам достаточно приведенного краткого введения в </a:t>
            </a:r>
            <a:r>
              <a:rPr lang="ru-RU" sz="1200" b="0" i="1" kern="1200" dirty="0" smtClean="0">
                <a:solidFill>
                  <a:schemeClr val="tx1"/>
                </a:solidFill>
                <a:effectLst/>
                <a:latin typeface="+mn-lt"/>
                <a:ea typeface="+mn-ea"/>
                <a:cs typeface="+mn-cs"/>
              </a:rPr>
              <a:t>неопределенные значения</a:t>
            </a:r>
            <a:r>
              <a:rPr lang="ru-RU" sz="1200" b="0" i="0" kern="1200" dirty="0" smtClean="0">
                <a:solidFill>
                  <a:schemeClr val="tx1"/>
                </a:solidFill>
                <a:effectLst/>
                <a:latin typeface="+mn-lt"/>
                <a:ea typeface="+mn-ea"/>
                <a:cs typeface="+mn-cs"/>
              </a:rPr>
              <a:t>, но в следующих лекциях мы будем неоднократно возвращаться к этой теме.</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27</a:t>
            </a:fld>
            <a:endParaRPr lang="ru-RU"/>
          </a:p>
        </p:txBody>
      </p:sp>
    </p:spTree>
    <p:extLst>
      <p:ext uri="{BB962C8B-B14F-4D97-AF65-F5344CB8AC3E}">
        <p14:creationId xmlns:p14="http://schemas.microsoft.com/office/powerpoint/2010/main" xmlns="" val="3916331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Второе требование, которое называется </a:t>
            </a:r>
            <a:r>
              <a:rPr lang="ru-RU" sz="1200" b="1" i="0" kern="1200" dirty="0" smtClean="0">
                <a:solidFill>
                  <a:schemeClr val="tx1"/>
                </a:solidFill>
                <a:effectLst/>
                <a:latin typeface="+mn-lt"/>
                <a:ea typeface="+mn-ea"/>
                <a:cs typeface="+mn-cs"/>
              </a:rPr>
              <a:t>требованием целостности по ссылкам (</a:t>
            </a:r>
            <a:r>
              <a:rPr lang="ru-RU" sz="1200" b="1" i="0" kern="1200" dirty="0" err="1" smtClean="0">
                <a:solidFill>
                  <a:schemeClr val="tx1"/>
                </a:solidFill>
                <a:effectLst/>
                <a:latin typeface="+mn-lt"/>
                <a:ea typeface="+mn-ea"/>
                <a:cs typeface="+mn-cs"/>
              </a:rPr>
              <a:t>referential</a:t>
            </a:r>
            <a:r>
              <a:rPr lang="ru-RU" sz="1200" b="1" i="0" kern="1200" dirty="0" smtClean="0">
                <a:solidFill>
                  <a:schemeClr val="tx1"/>
                </a:solidFill>
                <a:effectLst/>
                <a:latin typeface="+mn-lt"/>
                <a:ea typeface="+mn-ea"/>
                <a:cs typeface="+mn-cs"/>
              </a:rPr>
              <a:t> </a:t>
            </a:r>
            <a:r>
              <a:rPr lang="ru-RU" sz="1200" b="1" i="0" kern="1200" dirty="0" err="1" smtClean="0">
                <a:solidFill>
                  <a:schemeClr val="tx1"/>
                </a:solidFill>
                <a:effectLst/>
                <a:latin typeface="+mn-lt"/>
                <a:ea typeface="+mn-ea"/>
                <a:cs typeface="+mn-cs"/>
              </a:rPr>
              <a:t>integrity</a:t>
            </a:r>
            <a:r>
              <a:rPr lang="ru-RU" sz="1200" b="1" i="0"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является более сложным. Очевидно, что при соблюдении </a:t>
            </a:r>
            <a:r>
              <a:rPr lang="ru-RU" sz="1200" b="0" i="0" kern="1200" dirty="0" err="1" smtClean="0">
                <a:solidFill>
                  <a:schemeClr val="tx1"/>
                </a:solidFill>
                <a:effectLst/>
                <a:latin typeface="+mn-lt"/>
                <a:ea typeface="+mn-ea"/>
                <a:cs typeface="+mn-cs"/>
              </a:rPr>
              <a:t>нормализованности</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отношений</a:t>
            </a:r>
            <a:r>
              <a:rPr lang="ru-RU" sz="1200" b="0" i="0" kern="1200" dirty="0" smtClean="0">
                <a:solidFill>
                  <a:schemeClr val="tx1"/>
                </a:solidFill>
                <a:effectLst/>
                <a:latin typeface="+mn-lt"/>
                <a:ea typeface="+mn-ea"/>
                <a:cs typeface="+mn-cs"/>
              </a:rPr>
              <a:t> сложные сущности реального мира представляются в реляционной БД в виде нескольких </a:t>
            </a:r>
            <a:r>
              <a:rPr lang="ru-RU" sz="1200" b="0" i="1" kern="1200" dirty="0" smtClean="0">
                <a:solidFill>
                  <a:schemeClr val="tx1"/>
                </a:solidFill>
                <a:effectLst/>
                <a:latin typeface="+mn-lt"/>
                <a:ea typeface="+mn-ea"/>
                <a:cs typeface="+mn-cs"/>
              </a:rPr>
              <a:t>кортежей</a:t>
            </a:r>
            <a:r>
              <a:rPr lang="ru-RU" sz="1200" b="0" i="0" kern="1200" dirty="0" smtClean="0">
                <a:solidFill>
                  <a:schemeClr val="tx1"/>
                </a:solidFill>
                <a:effectLst/>
                <a:latin typeface="+mn-lt"/>
                <a:ea typeface="+mn-ea"/>
                <a:cs typeface="+mn-cs"/>
              </a:rPr>
              <a:t> нескольких </a:t>
            </a:r>
            <a:r>
              <a:rPr lang="ru-RU" sz="1200" b="0" i="1" kern="1200" dirty="0" smtClean="0">
                <a:solidFill>
                  <a:schemeClr val="tx1"/>
                </a:solidFill>
                <a:effectLst/>
                <a:latin typeface="+mn-lt"/>
                <a:ea typeface="+mn-ea"/>
                <a:cs typeface="+mn-cs"/>
              </a:rPr>
              <a:t>отношений</a:t>
            </a:r>
            <a:r>
              <a:rPr lang="ru-RU" sz="1200" b="0" i="0" kern="1200" dirty="0" smtClean="0">
                <a:solidFill>
                  <a:schemeClr val="tx1"/>
                </a:solidFill>
                <a:effectLst/>
                <a:latin typeface="+mn-lt"/>
                <a:ea typeface="+mn-ea"/>
                <a:cs typeface="+mn-cs"/>
              </a:rPr>
              <a:t>. Например, представим, что требуется представить в </a:t>
            </a:r>
            <a:r>
              <a:rPr lang="ru-RU" sz="1200" b="0" i="1" kern="1200" dirty="0" smtClean="0">
                <a:solidFill>
                  <a:schemeClr val="tx1"/>
                </a:solidFill>
                <a:effectLst/>
                <a:latin typeface="+mn-lt"/>
                <a:ea typeface="+mn-ea"/>
                <a:cs typeface="+mn-cs"/>
              </a:rPr>
              <a:t>реляционной базе </a:t>
            </a:r>
            <a:r>
              <a:rPr lang="ru-RU" sz="1200" b="0" i="1" kern="1200" dirty="0" err="1" smtClean="0">
                <a:solidFill>
                  <a:schemeClr val="tx1"/>
                </a:solidFill>
                <a:effectLst/>
                <a:latin typeface="+mn-lt"/>
                <a:ea typeface="+mn-ea"/>
                <a:cs typeface="+mn-cs"/>
              </a:rPr>
              <a:t>данных</a:t>
            </a:r>
            <a:r>
              <a:rPr lang="ru-RU" sz="1200" b="0" i="0" kern="1200" dirty="0" err="1" smtClean="0">
                <a:solidFill>
                  <a:schemeClr val="tx1"/>
                </a:solidFill>
                <a:effectLst/>
                <a:latin typeface="+mn-lt"/>
                <a:ea typeface="+mn-ea"/>
                <a:cs typeface="+mn-cs"/>
              </a:rPr>
              <a:t>сущность</a:t>
            </a:r>
            <a:r>
              <a:rPr lang="ru-RU" sz="1200" b="0" i="0" kern="1200" dirty="0" smtClean="0">
                <a:solidFill>
                  <a:schemeClr val="tx1"/>
                </a:solidFill>
                <a:effectLst/>
                <a:latin typeface="+mn-lt"/>
                <a:ea typeface="+mn-ea"/>
                <a:cs typeface="+mn-cs"/>
              </a:rPr>
              <a:t> ОТДЕЛ с </a:t>
            </a:r>
            <a:r>
              <a:rPr lang="ru-RU" sz="1200" b="0" i="1" kern="1200" dirty="0" smtClean="0">
                <a:solidFill>
                  <a:schemeClr val="tx1"/>
                </a:solidFill>
                <a:effectLst/>
                <a:latin typeface="+mn-lt"/>
                <a:ea typeface="+mn-ea"/>
                <a:cs typeface="+mn-cs"/>
              </a:rPr>
              <a:t>атрибутами</a:t>
            </a:r>
            <a:r>
              <a:rPr lang="ru-RU" sz="1200" b="0" i="0" kern="1200" dirty="0" smtClean="0">
                <a:solidFill>
                  <a:schemeClr val="tx1"/>
                </a:solidFill>
                <a:effectLst/>
                <a:latin typeface="+mn-lt"/>
                <a:ea typeface="+mn-ea"/>
                <a:cs typeface="+mn-cs"/>
              </a:rPr>
              <a:t> ОТД_НОМЕР (номер отдела), ОТД_РАЗМ (количество служащих) и ОТД_СЛУ (множество служащих отдела). Для каждого служащего нужно хранить СЛУ_НОМЕР (номер служащего), СЛУ_ИМЯ (имя служащего) и СЛУ_ЗАРП(заработная плата служащего). Как мы увидим в лекции 7, при правильном проектировании соответствующей БД в ней появятся два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ОТДЕЛЫ {ОТД_НОМЕР, ОТД_РАЗМ} ( </a:t>
            </a:r>
            <a:r>
              <a:rPr lang="ru-RU" sz="1200" b="0" i="1" kern="1200" dirty="0" smtClean="0">
                <a:solidFill>
                  <a:schemeClr val="tx1"/>
                </a:solidFill>
                <a:effectLst/>
                <a:latin typeface="+mn-lt"/>
                <a:ea typeface="+mn-ea"/>
                <a:cs typeface="+mn-cs"/>
              </a:rPr>
              <a:t>первичный ключ</a:t>
            </a:r>
            <a:r>
              <a:rPr lang="ru-RU" sz="1200" b="0" i="0" kern="1200" dirty="0" smtClean="0">
                <a:solidFill>
                  <a:schemeClr val="tx1"/>
                </a:solidFill>
                <a:effectLst/>
                <a:latin typeface="+mn-lt"/>
                <a:ea typeface="+mn-ea"/>
                <a:cs typeface="+mn-cs"/>
              </a:rPr>
              <a:t> – {ОТД_НОМЕР} ) и СОТРУДНИКИ {СЛУ_НОМЕР, СЛУ_ИМЯ, СЛУ_ЗАРП, СЛУ_ОТД_НОМ} ( </a:t>
            </a:r>
            <a:r>
              <a:rPr lang="ru-RU" sz="1200" b="0" i="1" kern="1200" dirty="0" smtClean="0">
                <a:solidFill>
                  <a:schemeClr val="tx1"/>
                </a:solidFill>
                <a:effectLst/>
                <a:latin typeface="+mn-lt"/>
                <a:ea typeface="+mn-ea"/>
                <a:cs typeface="+mn-cs"/>
              </a:rPr>
              <a:t>первичный ключ</a:t>
            </a:r>
            <a:r>
              <a:rPr lang="ru-RU" sz="1200" b="0" i="0" kern="1200" dirty="0" smtClean="0">
                <a:solidFill>
                  <a:schemeClr val="tx1"/>
                </a:solidFill>
                <a:effectLst/>
                <a:latin typeface="+mn-lt"/>
                <a:ea typeface="+mn-ea"/>
                <a:cs typeface="+mn-cs"/>
              </a:rPr>
              <a:t> – {СЛУ_НОМЕР} ).</a:t>
            </a:r>
          </a:p>
          <a:p>
            <a:r>
              <a:rPr lang="ru-RU" sz="1200" b="0" i="0" kern="1200" dirty="0" smtClean="0">
                <a:solidFill>
                  <a:schemeClr val="tx1"/>
                </a:solidFill>
                <a:effectLst/>
                <a:latin typeface="+mn-lt"/>
                <a:ea typeface="+mn-ea"/>
                <a:cs typeface="+mn-cs"/>
              </a:rPr>
              <a:t>Как видно, </a:t>
            </a:r>
            <a:r>
              <a:rPr lang="ru-RU" sz="1200" b="0" i="1" kern="1200" dirty="0" smtClean="0">
                <a:solidFill>
                  <a:schemeClr val="tx1"/>
                </a:solidFill>
                <a:effectLst/>
                <a:latin typeface="+mn-lt"/>
                <a:ea typeface="+mn-ea"/>
                <a:cs typeface="+mn-cs"/>
              </a:rPr>
              <a:t>атрибут</a:t>
            </a:r>
            <a:r>
              <a:rPr lang="ru-RU" sz="1200" b="0" i="0" kern="1200" dirty="0" smtClean="0">
                <a:solidFill>
                  <a:schemeClr val="tx1"/>
                </a:solidFill>
                <a:effectLst/>
                <a:latin typeface="+mn-lt"/>
                <a:ea typeface="+mn-ea"/>
                <a:cs typeface="+mn-cs"/>
              </a:rPr>
              <a:t> СЛУ_ОТД_НОМ вводится в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СЛУЖАЩИЕ не потому, что номер отдела является собственным свойством служащего, а лишь для того, чтобы иметь возможность при необходимости восстановить полную сущность ОТДЕЛ. Значение </a:t>
            </a:r>
            <a:r>
              <a:rPr lang="ru-RU" sz="1200" b="0" i="1" kern="1200" dirty="0" smtClean="0">
                <a:solidFill>
                  <a:schemeClr val="tx1"/>
                </a:solidFill>
                <a:effectLst/>
                <a:latin typeface="+mn-lt"/>
                <a:ea typeface="+mn-ea"/>
                <a:cs typeface="+mn-cs"/>
              </a:rPr>
              <a:t>атрибута </a:t>
            </a:r>
            <a:r>
              <a:rPr lang="ru-RU" sz="1200" b="0" i="0" kern="1200" dirty="0" smtClean="0">
                <a:solidFill>
                  <a:schemeClr val="tx1"/>
                </a:solidFill>
                <a:effectLst/>
                <a:latin typeface="+mn-lt"/>
                <a:ea typeface="+mn-ea"/>
                <a:cs typeface="+mn-cs"/>
              </a:rPr>
              <a:t>СЛУ_ОТД_НОМ в любом </a:t>
            </a:r>
            <a:r>
              <a:rPr lang="ru-RU" sz="1200" b="0" i="1" kern="1200" dirty="0" smtClean="0">
                <a:solidFill>
                  <a:schemeClr val="tx1"/>
                </a:solidFill>
                <a:effectLst/>
                <a:latin typeface="+mn-lt"/>
                <a:ea typeface="+mn-ea"/>
                <a:cs typeface="+mn-cs"/>
              </a:rPr>
              <a:t>кортеже</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СЛУЖАЩИЕ должно соответствовать значению </a:t>
            </a:r>
            <a:r>
              <a:rPr lang="ru-RU" sz="1200" b="0" i="1" kern="1200" dirty="0" smtClean="0">
                <a:solidFill>
                  <a:schemeClr val="tx1"/>
                </a:solidFill>
                <a:effectLst/>
                <a:latin typeface="+mn-lt"/>
                <a:ea typeface="+mn-ea"/>
                <a:cs typeface="+mn-cs"/>
              </a:rPr>
              <a:t>атрибута</a:t>
            </a:r>
            <a:r>
              <a:rPr lang="ru-RU" sz="1200" b="0" i="0" kern="1200" dirty="0" smtClean="0">
                <a:solidFill>
                  <a:schemeClr val="tx1"/>
                </a:solidFill>
                <a:effectLst/>
                <a:latin typeface="+mn-lt"/>
                <a:ea typeface="+mn-ea"/>
                <a:cs typeface="+mn-cs"/>
              </a:rPr>
              <a:t> ОТД_НОМ в некотором </a:t>
            </a:r>
            <a:r>
              <a:rPr lang="ru-RU" sz="1200" b="0" i="1" kern="1200" dirty="0" smtClean="0">
                <a:solidFill>
                  <a:schemeClr val="tx1"/>
                </a:solidFill>
                <a:effectLst/>
                <a:latin typeface="+mn-lt"/>
                <a:ea typeface="+mn-ea"/>
                <a:cs typeface="+mn-cs"/>
              </a:rPr>
              <a:t>кортеже отношения</a:t>
            </a:r>
            <a:r>
              <a:rPr lang="ru-RU" sz="1200" b="0" i="0" kern="1200" dirty="0" smtClean="0">
                <a:solidFill>
                  <a:schemeClr val="tx1"/>
                </a:solidFill>
                <a:effectLst/>
                <a:latin typeface="+mn-lt"/>
                <a:ea typeface="+mn-ea"/>
                <a:cs typeface="+mn-cs"/>
              </a:rPr>
              <a:t> ОТДЕЛЫ. </a:t>
            </a:r>
            <a:r>
              <a:rPr lang="ru-RU" sz="1200" b="0" i="1" kern="1200" dirty="0" smtClean="0">
                <a:solidFill>
                  <a:schemeClr val="tx1"/>
                </a:solidFill>
                <a:effectLst/>
                <a:latin typeface="+mn-lt"/>
                <a:ea typeface="+mn-ea"/>
                <a:cs typeface="+mn-cs"/>
              </a:rPr>
              <a:t>Атрибут</a:t>
            </a:r>
            <a:r>
              <a:rPr lang="ru-RU" sz="1200" b="0" i="0" kern="1200" dirty="0" smtClean="0">
                <a:solidFill>
                  <a:schemeClr val="tx1"/>
                </a:solidFill>
                <a:effectLst/>
                <a:latin typeface="+mn-lt"/>
                <a:ea typeface="+mn-ea"/>
                <a:cs typeface="+mn-cs"/>
              </a:rPr>
              <a:t> такого рода (возможно, составной) называется </a:t>
            </a:r>
            <a:r>
              <a:rPr lang="ru-RU" sz="1200" b="1" i="1" kern="1200" dirty="0" smtClean="0">
                <a:solidFill>
                  <a:schemeClr val="tx1"/>
                </a:solidFill>
                <a:effectLst/>
                <a:latin typeface="+mn-lt"/>
                <a:ea typeface="+mn-ea"/>
                <a:cs typeface="+mn-cs"/>
              </a:rPr>
              <a:t>внешним ключом (</a:t>
            </a:r>
            <a:r>
              <a:rPr lang="ru-RU" sz="1200" b="1" i="1" kern="1200" dirty="0" err="1" smtClean="0">
                <a:solidFill>
                  <a:schemeClr val="tx1"/>
                </a:solidFill>
                <a:effectLst/>
                <a:latin typeface="+mn-lt"/>
                <a:ea typeface="+mn-ea"/>
                <a:cs typeface="+mn-cs"/>
              </a:rPr>
              <a:t>foreign</a:t>
            </a:r>
            <a:r>
              <a:rPr lang="ru-RU" sz="1200" b="1" i="1" kern="1200" dirty="0" smtClean="0">
                <a:solidFill>
                  <a:schemeClr val="tx1"/>
                </a:solidFill>
                <a:effectLst/>
                <a:latin typeface="+mn-lt"/>
                <a:ea typeface="+mn-ea"/>
                <a:cs typeface="+mn-cs"/>
              </a:rPr>
              <a:t> </a:t>
            </a:r>
            <a:r>
              <a:rPr lang="ru-RU" sz="1200" b="1" i="1" kern="1200" dirty="0" err="1" smtClean="0">
                <a:solidFill>
                  <a:schemeClr val="tx1"/>
                </a:solidFill>
                <a:effectLst/>
                <a:latin typeface="+mn-lt"/>
                <a:ea typeface="+mn-ea"/>
                <a:cs typeface="+mn-cs"/>
              </a:rPr>
              <a:t>key</a:t>
            </a:r>
            <a:r>
              <a:rPr lang="ru-RU" sz="1200" b="1" i="1" kern="120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 поскольку его значения однозначно характеризуют сущности, представленные </a:t>
            </a:r>
            <a:r>
              <a:rPr lang="ru-RU" sz="1200" b="0" i="1" kern="1200" dirty="0" smtClean="0">
                <a:solidFill>
                  <a:schemeClr val="tx1"/>
                </a:solidFill>
                <a:effectLst/>
                <a:latin typeface="+mn-lt"/>
                <a:ea typeface="+mn-ea"/>
                <a:cs typeface="+mn-cs"/>
              </a:rPr>
              <a:t>кортежами</a:t>
            </a:r>
            <a:r>
              <a:rPr lang="ru-RU" sz="1200" b="0" i="0" kern="1200" dirty="0" smtClean="0">
                <a:solidFill>
                  <a:schemeClr val="tx1"/>
                </a:solidFill>
                <a:effectLst/>
                <a:latin typeface="+mn-lt"/>
                <a:ea typeface="+mn-ea"/>
                <a:cs typeface="+mn-cs"/>
              </a:rPr>
              <a:t> некоторого другого </a:t>
            </a:r>
            <a:r>
              <a:rPr lang="ru-RU" sz="1200" b="0" i="1" kern="1200" dirty="0" smtClean="0">
                <a:solidFill>
                  <a:schemeClr val="tx1"/>
                </a:solidFill>
                <a:effectLst/>
                <a:latin typeface="+mn-lt"/>
                <a:ea typeface="+mn-ea"/>
                <a:cs typeface="+mn-cs"/>
              </a:rPr>
              <a:t>отношения</a:t>
            </a:r>
            <a:r>
              <a:rPr lang="ru-RU" sz="1200" b="0" i="0" kern="1200" dirty="0" smtClean="0">
                <a:solidFill>
                  <a:schemeClr val="tx1"/>
                </a:solidFill>
                <a:effectLst/>
                <a:latin typeface="+mn-lt"/>
                <a:ea typeface="+mn-ea"/>
                <a:cs typeface="+mn-cs"/>
              </a:rPr>
              <a:t> (т. е. задают значения их </a:t>
            </a:r>
            <a:r>
              <a:rPr lang="ru-RU" sz="1200" b="0" i="1" kern="1200" dirty="0" smtClean="0">
                <a:solidFill>
                  <a:schemeClr val="tx1"/>
                </a:solidFill>
                <a:effectLst/>
                <a:latin typeface="+mn-lt"/>
                <a:ea typeface="+mn-ea"/>
                <a:cs typeface="+mn-cs"/>
              </a:rPr>
              <a:t>первичного ключа</a:t>
            </a:r>
            <a:r>
              <a:rPr lang="ru-RU" sz="1200" b="0" i="0" kern="1200" dirty="0" smtClean="0">
                <a:solidFill>
                  <a:schemeClr val="tx1"/>
                </a:solidFill>
                <a:effectLst/>
                <a:latin typeface="+mn-lt"/>
                <a:ea typeface="+mn-ea"/>
                <a:cs typeface="+mn-cs"/>
              </a:rPr>
              <a:t> ). Конечно, </a:t>
            </a:r>
            <a:r>
              <a:rPr lang="ru-RU" sz="1200" b="0" i="1" kern="1200" dirty="0" smtClean="0">
                <a:solidFill>
                  <a:schemeClr val="tx1"/>
                </a:solidFill>
                <a:effectLst/>
                <a:latin typeface="+mn-lt"/>
                <a:ea typeface="+mn-ea"/>
                <a:cs typeface="+mn-cs"/>
              </a:rPr>
              <a:t>внешний ключ</a:t>
            </a:r>
            <a:r>
              <a:rPr lang="ru-RU" sz="1200" b="0" i="0" kern="1200" dirty="0" smtClean="0">
                <a:solidFill>
                  <a:schemeClr val="tx1"/>
                </a:solidFill>
                <a:effectLst/>
                <a:latin typeface="+mn-lt"/>
                <a:ea typeface="+mn-ea"/>
                <a:cs typeface="+mn-cs"/>
              </a:rPr>
              <a:t> может быть составным, т. е. состоять из нескольких </a:t>
            </a:r>
            <a:r>
              <a:rPr lang="ru-RU" sz="1200" b="0" i="1" kern="1200" dirty="0" smtClean="0">
                <a:solidFill>
                  <a:schemeClr val="tx1"/>
                </a:solidFill>
                <a:effectLst/>
                <a:latin typeface="+mn-lt"/>
                <a:ea typeface="+mn-ea"/>
                <a:cs typeface="+mn-cs"/>
              </a:rPr>
              <a:t>атрибутов</a:t>
            </a:r>
            <a:r>
              <a:rPr lang="ru-RU" sz="1200" b="0" i="0" kern="1200" dirty="0" smtClean="0">
                <a:solidFill>
                  <a:schemeClr val="tx1"/>
                </a:solidFill>
                <a:effectLst/>
                <a:latin typeface="+mn-lt"/>
                <a:ea typeface="+mn-ea"/>
                <a:cs typeface="+mn-cs"/>
              </a:rPr>
              <a:t>. Говорят, что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в котором определен </a:t>
            </a:r>
            <a:r>
              <a:rPr lang="ru-RU" sz="1200" b="0" i="1" kern="1200" dirty="0" smtClean="0">
                <a:solidFill>
                  <a:schemeClr val="tx1"/>
                </a:solidFill>
                <a:effectLst/>
                <a:latin typeface="+mn-lt"/>
                <a:ea typeface="+mn-ea"/>
                <a:cs typeface="+mn-cs"/>
              </a:rPr>
              <a:t>внешний ключ</a:t>
            </a:r>
            <a:r>
              <a:rPr lang="ru-RU" sz="1200" b="0" i="0" kern="1200" dirty="0" smtClean="0">
                <a:solidFill>
                  <a:schemeClr val="tx1"/>
                </a:solidFill>
                <a:effectLst/>
                <a:latin typeface="+mn-lt"/>
                <a:ea typeface="+mn-ea"/>
                <a:cs typeface="+mn-cs"/>
              </a:rPr>
              <a:t>, ссылается на соответствующее </a:t>
            </a:r>
            <a:r>
              <a:rPr lang="ru-RU" sz="1200" b="0" i="1" kern="1200" dirty="0" smtClean="0">
                <a:solidFill>
                  <a:schemeClr val="tx1"/>
                </a:solidFill>
                <a:effectLst/>
                <a:latin typeface="+mn-lt"/>
                <a:ea typeface="+mn-ea"/>
                <a:cs typeface="+mn-cs"/>
              </a:rPr>
              <a:t>отношение</a:t>
            </a:r>
            <a:r>
              <a:rPr lang="ru-RU" sz="1200" b="0" i="0" kern="1200" dirty="0" smtClean="0">
                <a:solidFill>
                  <a:schemeClr val="tx1"/>
                </a:solidFill>
                <a:effectLst/>
                <a:latin typeface="+mn-lt"/>
                <a:ea typeface="+mn-ea"/>
                <a:cs typeface="+mn-cs"/>
              </a:rPr>
              <a:t>, в котором такой же </a:t>
            </a:r>
            <a:r>
              <a:rPr lang="ru-RU" sz="1200" b="0" i="1" kern="1200" dirty="0" smtClean="0">
                <a:solidFill>
                  <a:schemeClr val="tx1"/>
                </a:solidFill>
                <a:effectLst/>
                <a:latin typeface="+mn-lt"/>
                <a:ea typeface="+mn-ea"/>
                <a:cs typeface="+mn-cs"/>
              </a:rPr>
              <a:t>атрибут</a:t>
            </a:r>
            <a:r>
              <a:rPr lang="ru-RU" sz="1200" b="0" i="0" kern="1200" dirty="0" smtClean="0">
                <a:solidFill>
                  <a:schemeClr val="tx1"/>
                </a:solidFill>
                <a:effectLst/>
                <a:latin typeface="+mn-lt"/>
                <a:ea typeface="+mn-ea"/>
                <a:cs typeface="+mn-cs"/>
              </a:rPr>
              <a:t> является </a:t>
            </a:r>
            <a:r>
              <a:rPr lang="ru-RU" sz="1200" b="0" i="1" kern="1200" dirty="0" smtClean="0">
                <a:solidFill>
                  <a:schemeClr val="tx1"/>
                </a:solidFill>
                <a:effectLst/>
                <a:latin typeface="+mn-lt"/>
                <a:ea typeface="+mn-ea"/>
                <a:cs typeface="+mn-cs"/>
              </a:rPr>
              <a:t>первичным ключом</a:t>
            </a:r>
            <a:r>
              <a:rPr lang="ru-RU" sz="1200" b="0" i="0" kern="1200" dirty="0" smtClean="0">
                <a:solidFill>
                  <a:schemeClr val="tx1"/>
                </a:solidFill>
                <a:effectLst/>
                <a:latin typeface="+mn-lt"/>
                <a:ea typeface="+mn-ea"/>
                <a:cs typeface="+mn-cs"/>
              </a:rPr>
              <a:t>.</a:t>
            </a:r>
          </a:p>
          <a:p>
            <a:endParaRPr lang="ru-RU" dirty="0" smtClean="0"/>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28</a:t>
            </a:fld>
            <a:endParaRPr lang="ru-RU"/>
          </a:p>
        </p:txBody>
      </p:sp>
    </p:spTree>
    <p:extLst>
      <p:ext uri="{BB962C8B-B14F-4D97-AF65-F5344CB8AC3E}">
        <p14:creationId xmlns:p14="http://schemas.microsoft.com/office/powerpoint/2010/main" xmlns="" val="79178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Существует много подходов к определению </a:t>
            </a:r>
            <a:r>
              <a:rPr lang="ru-RU" sz="1200" b="0" i="1" kern="1200" dirty="0" smtClean="0">
                <a:solidFill>
                  <a:schemeClr val="tx1"/>
                </a:solidFill>
                <a:effectLst/>
                <a:latin typeface="+mn-lt"/>
                <a:ea typeface="+mn-ea"/>
                <a:cs typeface="+mn-cs"/>
              </a:rPr>
              <a:t>реляционной алгебры</a:t>
            </a:r>
            <a:r>
              <a:rPr lang="ru-RU" sz="1200" b="0" i="0" kern="1200" dirty="0" smtClean="0">
                <a:solidFill>
                  <a:schemeClr val="tx1"/>
                </a:solidFill>
                <a:effectLst/>
                <a:latin typeface="+mn-lt"/>
                <a:ea typeface="+mn-ea"/>
                <a:cs typeface="+mn-cs"/>
              </a:rPr>
              <a:t>, которые различаются наборами операций и способами их интерпретации, но, в принципе, являются более или менее равносильными. В данном разделе мы опишем немного расширенный начальный вариант </a:t>
            </a:r>
            <a:r>
              <a:rPr lang="ru-RU" sz="1200" b="0" i="1" kern="1200" dirty="0" smtClean="0">
                <a:solidFill>
                  <a:schemeClr val="tx1"/>
                </a:solidFill>
                <a:effectLst/>
                <a:latin typeface="+mn-lt"/>
                <a:ea typeface="+mn-ea"/>
                <a:cs typeface="+mn-cs"/>
              </a:rPr>
              <a:t>алгебры</a:t>
            </a:r>
            <a:r>
              <a:rPr lang="ru-RU" sz="1200" b="0" i="0" kern="1200" dirty="0" smtClean="0">
                <a:solidFill>
                  <a:schemeClr val="tx1"/>
                </a:solidFill>
                <a:effectLst/>
                <a:latin typeface="+mn-lt"/>
                <a:ea typeface="+mn-ea"/>
                <a:cs typeface="+mn-cs"/>
              </a:rPr>
              <a:t>, который был предложен Коддом (будем называть ее " </a:t>
            </a:r>
            <a:r>
              <a:rPr lang="ru-RU" sz="1200" b="0" i="1" kern="1200" dirty="0" smtClean="0">
                <a:solidFill>
                  <a:schemeClr val="tx1"/>
                </a:solidFill>
                <a:effectLst/>
                <a:latin typeface="+mn-lt"/>
                <a:ea typeface="+mn-ea"/>
                <a:cs typeface="+mn-cs"/>
              </a:rPr>
              <a:t>алгеброй Кодда</a:t>
            </a:r>
            <a:r>
              <a:rPr lang="ru-RU" sz="1200" b="0" i="0" kern="1200" dirty="0" smtClean="0">
                <a:solidFill>
                  <a:schemeClr val="tx1"/>
                </a:solidFill>
                <a:effectLst/>
                <a:latin typeface="+mn-lt"/>
                <a:ea typeface="+mn-ea"/>
                <a:cs typeface="+mn-cs"/>
              </a:rPr>
              <a:t> "). В этом варианте набор основных алгебраических операций состоит из восьми операций, которые делятся на два класса – </a:t>
            </a:r>
            <a:r>
              <a:rPr lang="ru-RU" sz="1200" b="0" i="1" kern="1200" dirty="0" smtClean="0">
                <a:solidFill>
                  <a:schemeClr val="tx1"/>
                </a:solidFill>
                <a:effectLst/>
                <a:latin typeface="+mn-lt"/>
                <a:ea typeface="+mn-ea"/>
                <a:cs typeface="+mn-cs"/>
              </a:rPr>
              <a:t>теоретико-множественные операции</a:t>
            </a:r>
            <a:r>
              <a:rPr lang="ru-RU" sz="1200" b="0" i="0" kern="1200" dirty="0" smtClean="0">
                <a:solidFill>
                  <a:schemeClr val="tx1"/>
                </a:solidFill>
                <a:effectLst/>
                <a:latin typeface="+mn-lt"/>
                <a:ea typeface="+mn-ea"/>
                <a:cs typeface="+mn-cs"/>
              </a:rPr>
              <a:t> и специальные </a:t>
            </a:r>
            <a:r>
              <a:rPr lang="ru-RU" sz="1200" b="0" i="1" kern="1200" dirty="0" smtClean="0">
                <a:solidFill>
                  <a:schemeClr val="tx1"/>
                </a:solidFill>
                <a:effectLst/>
                <a:latin typeface="+mn-lt"/>
                <a:ea typeface="+mn-ea"/>
                <a:cs typeface="+mn-cs"/>
              </a:rPr>
              <a:t>реляционные операции</a:t>
            </a:r>
            <a:r>
              <a:rPr lang="ru-RU" sz="1200" b="0" i="0" kern="1200" dirty="0" smtClean="0">
                <a:solidFill>
                  <a:schemeClr val="tx1"/>
                </a:solidFill>
                <a:effectLst/>
                <a:latin typeface="+mn-lt"/>
                <a:ea typeface="+mn-ea"/>
                <a:cs typeface="+mn-cs"/>
              </a:rPr>
              <a:t>. В состав </a:t>
            </a:r>
            <a:r>
              <a:rPr lang="ru-RU" sz="1200" b="0" i="1" kern="1200" dirty="0" smtClean="0">
                <a:solidFill>
                  <a:schemeClr val="tx1"/>
                </a:solidFill>
                <a:effectLst/>
                <a:latin typeface="+mn-lt"/>
                <a:ea typeface="+mn-ea"/>
                <a:cs typeface="+mn-cs"/>
              </a:rPr>
              <a:t>теоретико-множественных операций</a:t>
            </a:r>
            <a:r>
              <a:rPr lang="ru-RU" sz="1200" b="0" i="0" kern="1200" dirty="0" smtClean="0">
                <a:solidFill>
                  <a:schemeClr val="tx1"/>
                </a:solidFill>
                <a:effectLst/>
                <a:latin typeface="+mn-lt"/>
                <a:ea typeface="+mn-ea"/>
                <a:cs typeface="+mn-cs"/>
              </a:rPr>
              <a:t> входят </a:t>
            </a:r>
            <a:r>
              <a:rPr lang="ru-RU" sz="1200" b="0" i="1" kern="1200" dirty="0" smtClean="0">
                <a:solidFill>
                  <a:schemeClr val="tx1"/>
                </a:solidFill>
                <a:effectLst/>
                <a:latin typeface="+mn-lt"/>
                <a:ea typeface="+mn-ea"/>
                <a:cs typeface="+mn-cs"/>
              </a:rPr>
              <a:t>операции</a:t>
            </a:r>
            <a:r>
              <a:rPr lang="ru-RU" sz="1200" b="0" i="0" kern="1200" dirty="0" smtClean="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33</a:t>
            </a:fld>
            <a:endParaRPr lang="ru-RU"/>
          </a:p>
        </p:txBody>
      </p:sp>
    </p:spTree>
    <p:extLst>
      <p:ext uri="{BB962C8B-B14F-4D97-AF65-F5344CB8AC3E}">
        <p14:creationId xmlns:p14="http://schemas.microsoft.com/office/powerpoint/2010/main" xmlns="" val="2481320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Определение</a:t>
            </a:r>
            <a:r>
              <a:rPr lang="en-US" dirty="0" smtClean="0"/>
              <a:t>:</a:t>
            </a:r>
            <a:r>
              <a:rPr lang="en-US" baseline="0" dirty="0" smtClean="0"/>
              <a:t> </a:t>
            </a:r>
            <a:r>
              <a:rPr lang="ru-RU" baseline="0" dirty="0" smtClean="0"/>
              <a:t>Подмножество </a:t>
            </a:r>
            <a:r>
              <a:rPr lang="en-US" baseline="0" dirty="0" smtClean="0"/>
              <a:t>B</a:t>
            </a:r>
            <a:r>
              <a:rPr lang="ru-RU" baseline="0" dirty="0" smtClean="0"/>
              <a:t> множества А    называется замкнутым относительно операции Т если для любых а и </a:t>
            </a:r>
            <a:r>
              <a:rPr lang="en-US" baseline="0" dirty="0" smtClean="0"/>
              <a:t>b </a:t>
            </a:r>
            <a:r>
              <a:rPr lang="ru-RU" baseline="0" dirty="0" smtClean="0"/>
              <a:t>из В элемент </a:t>
            </a:r>
            <a:r>
              <a:rPr lang="ru-RU" baseline="0" dirty="0" err="1" smtClean="0"/>
              <a:t>аТ</a:t>
            </a:r>
            <a:r>
              <a:rPr lang="en-US" baseline="0" dirty="0" smtClean="0"/>
              <a:t>b</a:t>
            </a:r>
            <a:r>
              <a:rPr lang="ru-RU" baseline="0" dirty="0" smtClean="0"/>
              <a:t> принадлежит В.</a:t>
            </a:r>
          </a:p>
          <a:p>
            <a:endParaRPr lang="ru-RU" baseline="0" dirty="0" smtClean="0"/>
          </a:p>
          <a:p>
            <a:endParaRPr lang="ru-RU" baseline="0" dirty="0" smtClean="0"/>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43</a:t>
            </a:fld>
            <a:endParaRPr lang="ru-RU"/>
          </a:p>
        </p:txBody>
      </p:sp>
    </p:spTree>
    <p:extLst>
      <p:ext uri="{BB962C8B-B14F-4D97-AF65-F5344CB8AC3E}">
        <p14:creationId xmlns:p14="http://schemas.microsoft.com/office/powerpoint/2010/main" xmlns="" val="700166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i="1" dirty="0" smtClean="0"/>
              <a:t>Операции объединения отношений</a:t>
            </a:r>
            <a:r>
              <a:rPr lang="ru-RU" dirty="0" smtClean="0"/>
              <a:t> (все, что будет сказано по поводу </a:t>
            </a:r>
            <a:r>
              <a:rPr lang="ru-RU" i="1" dirty="0" smtClean="0"/>
              <a:t>объединения</a:t>
            </a:r>
            <a:r>
              <a:rPr lang="ru-RU" dirty="0" smtClean="0"/>
              <a:t>, верно и для </a:t>
            </a:r>
            <a:r>
              <a:rPr lang="ru-RU" i="1" dirty="0" smtClean="0"/>
              <a:t>операций пересечения</a:t>
            </a:r>
            <a:r>
              <a:rPr lang="ru-RU" dirty="0" smtClean="0"/>
              <a:t> и </a:t>
            </a:r>
            <a:r>
              <a:rPr lang="ru-RU" i="1" dirty="0" smtClean="0"/>
              <a:t>взятия разности отношений</a:t>
            </a:r>
            <a:r>
              <a:rPr lang="ru-RU" dirty="0" smtClean="0"/>
              <a:t> ). </a:t>
            </a:r>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&lt;span class="</a:t>
            </a:r>
            <a:r>
              <a:rPr lang="en-US" sz="1200" b="0" i="0" kern="1200" dirty="0" err="1" smtClean="0">
                <a:solidFill>
                  <a:schemeClr val="tx1"/>
                </a:solidFill>
                <a:effectLst/>
                <a:latin typeface="+mn-lt"/>
                <a:ea typeface="+mn-ea"/>
                <a:cs typeface="+mn-cs"/>
              </a:rPr>
              <a:t>texample</a:t>
            </a:r>
            <a:r>
              <a:rPr lang="en-US" sz="1200" b="0" i="0" kern="1200" dirty="0" smtClean="0">
                <a:solidFill>
                  <a:schemeClr val="tx1"/>
                </a:solidFill>
                <a:effectLst/>
                <a:latin typeface="+mn-lt"/>
                <a:ea typeface="+mn-ea"/>
                <a:cs typeface="+mn-cs"/>
              </a:rPr>
              <a:t>"&gt;A INTERSECT B = A MINUS (A MINUS B) = B MINUS (B MINUS A)&lt;/span&gt;</a:t>
            </a:r>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результатом объединения двух множеств A{a} и B{b} является такое множество C{c}, что для каждого с либо существует такой элемент a, принадлежащий множеству A, что c=a, либо существует такой элемент b, принадлежащий множеству B, что c=b ;</a:t>
            </a:r>
          </a:p>
          <a:p>
            <a:r>
              <a:rPr lang="ru-RU" sz="1200" b="0" i="0" kern="1200" dirty="0" smtClean="0">
                <a:solidFill>
                  <a:schemeClr val="tx1"/>
                </a:solidFill>
                <a:effectLst/>
                <a:latin typeface="+mn-lt"/>
                <a:ea typeface="+mn-ea"/>
                <a:cs typeface="+mn-cs"/>
              </a:rPr>
              <a:t>пересечением множеств A и B является такое множество C{c}, что для любого c существуют такие элементы a, принадлежащий множеству A, и b, принадлежащий множеству B, что c=a=b ;</a:t>
            </a:r>
          </a:p>
          <a:p>
            <a:r>
              <a:rPr lang="ru-RU" sz="1200" b="0" i="1" kern="1200" dirty="0" smtClean="0">
                <a:solidFill>
                  <a:schemeClr val="tx1"/>
                </a:solidFill>
                <a:effectLst/>
                <a:latin typeface="+mn-lt"/>
                <a:ea typeface="+mn-ea"/>
                <a:cs typeface="+mn-cs"/>
              </a:rPr>
              <a:t>разностью множеств</a:t>
            </a:r>
            <a:r>
              <a:rPr lang="ru-RU" sz="1200" b="0" i="0" kern="1200" dirty="0" smtClean="0">
                <a:solidFill>
                  <a:schemeClr val="tx1"/>
                </a:solidFill>
                <a:effectLst/>
                <a:latin typeface="+mn-lt"/>
                <a:ea typeface="+mn-ea"/>
                <a:cs typeface="+mn-cs"/>
              </a:rPr>
              <a:t> A и B является такое множество C{c}, что для любого c существует такой элемент a, принадлежащий множеству A, что c=a, и не существует такой элемент b, принадлежащий B, что c=b.</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Тогда выполнение операции СЛУЖАЩИЕ_В_ПРОЕКТЕ_1 UNION СЛУЖАЩИЕ_В_ПРОЕКТЕ_2 позволит получить информацию обо всех служащих, участвующих в обоих проектах. Выполнение операции СЛУЖАЩИЕ_В_ПРОЕКТЕ_1 INTERSECT СЛУЖАЩИЕ_В_ПРОЕКТЕ_2позволит получить данные о служащих, которые одновременно участвуют в двух проектах. Наконец, операцияСЛУЖАЩИЕ_В_ПРОЕКТЕ_1 MINUS СЛУЖАЩИЕ_В_ПРОЕКТЕ_2 выработает отношение, содержащее кортежи служащих, которые участвуют только в первом проекте. Результаты этих операций показаны </a:t>
            </a: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endParaRPr lang="ru-RU"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Но если в теории множеств операция объединения осмысленна для любых двух множеств-операндов, то в случае </a:t>
            </a:r>
            <a:r>
              <a:rPr lang="ru-RU" sz="1200" b="0" i="1" kern="1200" dirty="0" smtClean="0">
                <a:solidFill>
                  <a:schemeClr val="tx1"/>
                </a:solidFill>
                <a:effectLst/>
                <a:latin typeface="+mn-lt"/>
                <a:ea typeface="+mn-ea"/>
                <a:cs typeface="+mn-cs"/>
              </a:rPr>
              <a:t>реляционной </a:t>
            </a:r>
            <a:r>
              <a:rPr lang="ru-RU" sz="1200" b="0" i="1" kern="1200" dirty="0" err="1" smtClean="0">
                <a:solidFill>
                  <a:schemeClr val="tx1"/>
                </a:solidFill>
                <a:effectLst/>
                <a:latin typeface="+mn-lt"/>
                <a:ea typeface="+mn-ea"/>
                <a:cs typeface="+mn-cs"/>
              </a:rPr>
              <a:t>алгебры</a:t>
            </a:r>
            <a:r>
              <a:rPr lang="ru-RU" sz="1200" b="0" i="0" kern="1200" dirty="0" err="1" smtClean="0">
                <a:solidFill>
                  <a:schemeClr val="tx1"/>
                </a:solidFill>
                <a:effectLst/>
                <a:latin typeface="+mn-lt"/>
                <a:ea typeface="+mn-ea"/>
                <a:cs typeface="+mn-cs"/>
              </a:rPr>
              <a:t>результатом</a:t>
            </a:r>
            <a:r>
              <a:rPr lang="ru-RU" sz="1200" b="0" i="0" kern="1200" dirty="0" smtClean="0">
                <a:solidFill>
                  <a:schemeClr val="tx1"/>
                </a:solidFill>
                <a:effectLst/>
                <a:latin typeface="+mn-lt"/>
                <a:ea typeface="+mn-ea"/>
                <a:cs typeface="+mn-cs"/>
              </a:rPr>
              <a:t> </a:t>
            </a:r>
            <a:r>
              <a:rPr lang="ru-RU" sz="1200" b="0" i="1" kern="1200" dirty="0" smtClean="0">
                <a:solidFill>
                  <a:schemeClr val="tx1"/>
                </a:solidFill>
                <a:effectLst/>
                <a:latin typeface="+mn-lt"/>
                <a:ea typeface="+mn-ea"/>
                <a:cs typeface="+mn-cs"/>
              </a:rPr>
              <a:t>операции объединения</a:t>
            </a:r>
            <a:r>
              <a:rPr lang="ru-RU" sz="1200" b="0" i="0" kern="1200" dirty="0" smtClean="0">
                <a:solidFill>
                  <a:schemeClr val="tx1"/>
                </a:solidFill>
                <a:effectLst/>
                <a:latin typeface="+mn-lt"/>
                <a:ea typeface="+mn-ea"/>
                <a:cs typeface="+mn-cs"/>
              </a:rPr>
              <a:t> должно являться отношение. Если в </a:t>
            </a:r>
            <a:r>
              <a:rPr lang="ru-RU" sz="1200" b="0" i="1" kern="1200" dirty="0" smtClean="0">
                <a:solidFill>
                  <a:schemeClr val="tx1"/>
                </a:solidFill>
                <a:effectLst/>
                <a:latin typeface="+mn-lt"/>
                <a:ea typeface="+mn-ea"/>
                <a:cs typeface="+mn-cs"/>
              </a:rPr>
              <a:t>реляционной алгебре</a:t>
            </a:r>
            <a:r>
              <a:rPr lang="ru-RU" sz="1200" b="0" i="0" kern="1200" dirty="0" smtClean="0">
                <a:solidFill>
                  <a:schemeClr val="tx1"/>
                </a:solidFill>
                <a:effectLst/>
                <a:latin typeface="+mn-lt"/>
                <a:ea typeface="+mn-ea"/>
                <a:cs typeface="+mn-cs"/>
              </a:rPr>
              <a:t> допустить возможность теоретико-множественного </a:t>
            </a:r>
            <a:r>
              <a:rPr lang="ru-RU" sz="1200" b="0" i="1" kern="1200" dirty="0" smtClean="0">
                <a:solidFill>
                  <a:schemeClr val="tx1"/>
                </a:solidFill>
                <a:effectLst/>
                <a:latin typeface="+mn-lt"/>
                <a:ea typeface="+mn-ea"/>
                <a:cs typeface="+mn-cs"/>
              </a:rPr>
              <a:t>объединения</a:t>
            </a:r>
            <a:r>
              <a:rPr lang="ru-RU" sz="1200" b="0" i="0" kern="1200" dirty="0" smtClean="0">
                <a:solidFill>
                  <a:schemeClr val="tx1"/>
                </a:solidFill>
                <a:effectLst/>
                <a:latin typeface="+mn-lt"/>
                <a:ea typeface="+mn-ea"/>
                <a:cs typeface="+mn-cs"/>
              </a:rPr>
              <a:t> двух произвольных отношений (с разными заголовками), то, конечно, результатом операции будет множество, но множество разнотипных кортежей, т. е. не отношение. Если исходить из требования </a:t>
            </a:r>
            <a:r>
              <a:rPr lang="ru-RU" sz="1200" b="0" i="1" kern="1200" dirty="0" smtClean="0">
                <a:solidFill>
                  <a:schemeClr val="tx1"/>
                </a:solidFill>
                <a:effectLst/>
                <a:latin typeface="+mn-lt"/>
                <a:ea typeface="+mn-ea"/>
                <a:cs typeface="+mn-cs"/>
              </a:rPr>
              <a:t>замкнутости реляционной </a:t>
            </a:r>
            <a:r>
              <a:rPr lang="ru-RU" sz="1200" b="0" i="1" kern="1200" dirty="0" err="1" smtClean="0">
                <a:solidFill>
                  <a:schemeClr val="tx1"/>
                </a:solidFill>
                <a:effectLst/>
                <a:latin typeface="+mn-lt"/>
                <a:ea typeface="+mn-ea"/>
                <a:cs typeface="+mn-cs"/>
              </a:rPr>
              <a:t>алгебры</a:t>
            </a:r>
            <a:r>
              <a:rPr lang="ru-RU" sz="1200" b="0" i="0" kern="1200" dirty="0" err="1" smtClean="0">
                <a:solidFill>
                  <a:schemeClr val="tx1"/>
                </a:solidFill>
                <a:effectLst/>
                <a:latin typeface="+mn-lt"/>
                <a:ea typeface="+mn-ea"/>
                <a:cs typeface="+mn-cs"/>
              </a:rPr>
              <a:t>относительно</a:t>
            </a:r>
            <a:r>
              <a:rPr lang="ru-RU" sz="1200" b="0" i="0" kern="1200" dirty="0" smtClean="0">
                <a:solidFill>
                  <a:schemeClr val="tx1"/>
                </a:solidFill>
                <a:effectLst/>
                <a:latin typeface="+mn-lt"/>
                <a:ea typeface="+mn-ea"/>
                <a:cs typeface="+mn-cs"/>
              </a:rPr>
              <a:t> понятия отношения, то такая </a:t>
            </a:r>
            <a:r>
              <a:rPr lang="ru-RU" sz="1200" b="0" i="1" kern="1200" dirty="0" smtClean="0">
                <a:solidFill>
                  <a:schemeClr val="tx1"/>
                </a:solidFill>
                <a:effectLst/>
                <a:latin typeface="+mn-lt"/>
                <a:ea typeface="+mn-ea"/>
                <a:cs typeface="+mn-cs"/>
              </a:rPr>
              <a:t>операция объединения</a:t>
            </a:r>
            <a:r>
              <a:rPr lang="ru-RU" sz="1200" b="0" i="0" kern="1200" dirty="0" smtClean="0">
                <a:solidFill>
                  <a:schemeClr val="tx1"/>
                </a:solidFill>
                <a:effectLst/>
                <a:latin typeface="+mn-lt"/>
                <a:ea typeface="+mn-ea"/>
                <a:cs typeface="+mn-cs"/>
              </a:rPr>
              <a:t> является бессмысленной.</a:t>
            </a:r>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45</a:t>
            </a:fld>
            <a:endParaRPr lang="ru-RU"/>
          </a:p>
        </p:txBody>
      </p:sp>
    </p:spTree>
    <p:extLst>
      <p:ext uri="{BB962C8B-B14F-4D97-AF65-F5344CB8AC3E}">
        <p14:creationId xmlns:p14="http://schemas.microsoft.com/office/powerpoint/2010/main" xmlns="" val="4143591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Привести примеры по </a:t>
            </a:r>
            <a:r>
              <a:rPr lang="ru-RU" dirty="0" err="1" smtClean="0"/>
              <a:t>служазим</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47</a:t>
            </a:fld>
            <a:endParaRPr lang="ru-RU"/>
          </a:p>
        </p:txBody>
      </p:sp>
    </p:spTree>
    <p:extLst>
      <p:ext uri="{BB962C8B-B14F-4D97-AF65-F5344CB8AC3E}">
        <p14:creationId xmlns:p14="http://schemas.microsoft.com/office/powerpoint/2010/main" xmlns="" val="1739171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Привести</a:t>
            </a:r>
            <a:r>
              <a:rPr lang="ru-RU" baseline="0" dirty="0" smtClean="0"/>
              <a:t> пример удалением дубликатов служебный номер</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54</a:t>
            </a:fld>
            <a:endParaRPr lang="ru-RU"/>
          </a:p>
        </p:txBody>
      </p:sp>
    </p:spTree>
    <p:extLst>
      <p:ext uri="{BB962C8B-B14F-4D97-AF65-F5344CB8AC3E}">
        <p14:creationId xmlns:p14="http://schemas.microsoft.com/office/powerpoint/2010/main" xmlns="" val="2398055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Для иллюстрации </a:t>
            </a:r>
            <a:r>
              <a:rPr lang="ru-RU" sz="1200" b="0" i="1" kern="1200" dirty="0" smtClean="0">
                <a:solidFill>
                  <a:schemeClr val="tx1"/>
                </a:solidFill>
                <a:effectLst/>
                <a:latin typeface="+mn-lt"/>
                <a:ea typeface="+mn-ea"/>
                <a:cs typeface="+mn-cs"/>
              </a:rPr>
              <a:t>операций соединения</a:t>
            </a:r>
            <a:r>
              <a:rPr lang="ru-RU" sz="1200" b="0" i="0" kern="1200" dirty="0" smtClean="0">
                <a:solidFill>
                  <a:schemeClr val="tx1"/>
                </a:solidFill>
                <a:effectLst/>
                <a:latin typeface="+mn-lt"/>
                <a:ea typeface="+mn-ea"/>
                <a:cs typeface="+mn-cs"/>
              </a:rPr>
              <a:t> мы немного изменим заголовки и тела отношений, которые использовались ранее в примерах этой лекции. Пусть теперь имеются отношения СЛУЖАЩИЕ {СЛУ_НОМЕР, СЛУ_ИМЯ, СЛУ_ЗАРП, ПРО_НОМ} (атрибут </a:t>
            </a:r>
            <a:r>
              <a:rPr lang="ru-RU" sz="1200" b="0" i="0" kern="1200" dirty="0" err="1" smtClean="0">
                <a:solidFill>
                  <a:schemeClr val="tx1"/>
                </a:solidFill>
                <a:effectLst/>
                <a:latin typeface="+mn-lt"/>
                <a:ea typeface="+mn-ea"/>
                <a:cs typeface="+mn-cs"/>
              </a:rPr>
              <a:t>ПРО_НОМсодержит</a:t>
            </a:r>
            <a:r>
              <a:rPr lang="ru-RU" sz="1200" b="0" i="0" kern="1200" dirty="0" smtClean="0">
                <a:solidFill>
                  <a:schemeClr val="tx1"/>
                </a:solidFill>
                <a:effectLst/>
                <a:latin typeface="+mn-lt"/>
                <a:ea typeface="+mn-ea"/>
                <a:cs typeface="+mn-cs"/>
              </a:rPr>
              <a:t> номера проектов, в которых участвует каждый служащий) и ПРОЕКТЫ {ПРО_НОМ, ПРОЕКТ_РУК, ПРО_ЗАРП} ( ПРО_НОМ– номер проекта, ПРОЕКТ_РУК – имя служащего-руководителя проекта, ПРО_ЗАРП – средняя заработная плата служащих, участвующих в проекте). Примерное содержимое </a:t>
            </a:r>
            <a:r>
              <a:rPr lang="ru-RU" sz="1200" b="0" i="1" kern="1200" dirty="0" smtClean="0">
                <a:solidFill>
                  <a:schemeClr val="tx1"/>
                </a:solidFill>
                <a:effectLst/>
                <a:latin typeface="+mn-lt"/>
                <a:ea typeface="+mn-ea"/>
                <a:cs typeface="+mn-cs"/>
              </a:rPr>
              <a:t>тел отношений</a:t>
            </a:r>
            <a:r>
              <a:rPr lang="ru-RU" sz="1200" b="0" i="0" kern="1200" dirty="0" smtClean="0">
                <a:solidFill>
                  <a:schemeClr val="tx1"/>
                </a:solidFill>
                <a:effectLst/>
                <a:latin typeface="+mn-lt"/>
                <a:ea typeface="+mn-ea"/>
                <a:cs typeface="+mn-cs"/>
              </a:rPr>
              <a:t> СЛУЖАЩИЕ и ПРОЕКТЫ показано на </a:t>
            </a:r>
            <a:r>
              <a:rPr lang="ru-RU" sz="1200" b="0" i="0" u="none" strike="noStrike" kern="1200" dirty="0" smtClean="0">
                <a:solidFill>
                  <a:schemeClr val="tx1"/>
                </a:solidFill>
                <a:effectLst/>
                <a:latin typeface="+mn-lt"/>
                <a:ea typeface="+mn-ea"/>
                <a:cs typeface="+mn-cs"/>
                <a:hlinkClick r:id="rId3"/>
              </a:rPr>
              <a:t>рис. 3.8</a:t>
            </a:r>
            <a:r>
              <a:rPr lang="ru-RU" sz="1200" b="0" i="0" kern="1200" dirty="0" smtClean="0">
                <a:solidFill>
                  <a:schemeClr val="tx1"/>
                </a:solidFill>
                <a:effectLst/>
                <a:latin typeface="+mn-lt"/>
                <a:ea typeface="+mn-ea"/>
                <a:cs typeface="+mn-cs"/>
              </a:rPr>
              <a:t>.</a:t>
            </a:r>
          </a:p>
          <a:p>
            <a:r>
              <a:rPr lang="ru-RU" sz="1200" b="0" i="0" kern="1200" dirty="0" smtClean="0">
                <a:solidFill>
                  <a:schemeClr val="tx1"/>
                </a:solidFill>
                <a:effectLst/>
                <a:latin typeface="+mn-lt"/>
                <a:ea typeface="+mn-ea"/>
                <a:cs typeface="+mn-cs"/>
              </a:rPr>
              <a:t>Тогда осмысленной </a:t>
            </a:r>
            <a:r>
              <a:rPr lang="ru-RU" sz="1200" b="0" i="1" kern="1200" dirty="0" smtClean="0">
                <a:solidFill>
                  <a:schemeClr val="tx1"/>
                </a:solidFill>
                <a:effectLst/>
                <a:latin typeface="+mn-lt"/>
                <a:ea typeface="+mn-ea"/>
                <a:cs typeface="+mn-cs"/>
              </a:rPr>
              <a:t>операцией соединения</a:t>
            </a:r>
            <a:r>
              <a:rPr lang="ru-RU" sz="1200" b="0" i="0" kern="1200" dirty="0" smtClean="0">
                <a:solidFill>
                  <a:schemeClr val="tx1"/>
                </a:solidFill>
                <a:effectLst/>
                <a:latin typeface="+mn-lt"/>
                <a:ea typeface="+mn-ea"/>
                <a:cs typeface="+mn-cs"/>
              </a:rPr>
              <a:t> общего вида будет СЛУЖАЩИЕ JOIN ПРОЕКТЫ WHERE (СЛУ_ЗАРП &gt; ПРО_ЗАРП) (выдать данные о служащих, получающих заработную плату, превышающую среднюю заработную плату любого проекта). Результаты этого запроса показаны на </a:t>
            </a:r>
            <a:r>
              <a:rPr lang="ru-RU" sz="1200" b="0" i="0" u="none" strike="noStrike" kern="1200" dirty="0" smtClean="0">
                <a:solidFill>
                  <a:schemeClr val="tx1"/>
                </a:solidFill>
                <a:effectLst/>
                <a:latin typeface="+mn-lt"/>
                <a:ea typeface="+mn-ea"/>
                <a:cs typeface="+mn-cs"/>
                <a:hlinkClick r:id="rId3"/>
              </a:rPr>
              <a:t>рис. 3.9</a:t>
            </a:r>
            <a:r>
              <a:rPr lang="ru-RU" sz="1200" b="0" i="0" kern="1200" dirty="0" smtClean="0">
                <a:solidFill>
                  <a:schemeClr val="tx1"/>
                </a:solidFill>
                <a:effectLst/>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56</a:t>
            </a:fld>
            <a:endParaRPr lang="ru-RU"/>
          </a:p>
        </p:txBody>
      </p:sp>
    </p:spTree>
    <p:extLst>
      <p:ext uri="{BB962C8B-B14F-4D97-AF65-F5344CB8AC3E}">
        <p14:creationId xmlns:p14="http://schemas.microsoft.com/office/powerpoint/2010/main" xmlns="" val="2504044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Для иллюстрации этой операции предположим, что в базе данных служащих поддерживаются следующие отношения: СЛУЖАЩИЕ, как оно было определено ранее, и унарное отношение НОМЕРА_ПРОЕКТОВ {ПРО_НОМ} (</a:t>
            </a:r>
            <a:r>
              <a:rPr lang="ru-RU" sz="1200" b="0" i="0" u="none" strike="noStrike" kern="1200" dirty="0" smtClean="0">
                <a:solidFill>
                  <a:schemeClr val="tx1"/>
                </a:solidFill>
                <a:effectLst/>
                <a:latin typeface="+mn-lt"/>
                <a:ea typeface="+mn-ea"/>
                <a:cs typeface="+mn-cs"/>
                <a:hlinkClick r:id="rId3"/>
              </a:rPr>
              <a:t>рис. 3.11</a:t>
            </a:r>
            <a:r>
              <a:rPr lang="ru-RU" sz="1200" b="0" i="0" kern="1200" dirty="0" smtClean="0">
                <a:solidFill>
                  <a:schemeClr val="tx1"/>
                </a:solidFill>
                <a:effectLst/>
                <a:latin typeface="+mn-lt"/>
                <a:ea typeface="+mn-ea"/>
                <a:cs typeface="+mn-cs"/>
              </a:rPr>
              <a:t>). Тогда запрос СЛУЖАЩИЕ DIVIDE BY НОМЕРА_ПРОЕКТОВ выдаст данные обо всех служащих, участвующих во всех проектах (результат операции приведен также на </a:t>
            </a:r>
            <a:r>
              <a:rPr lang="ru-RU" sz="1200" b="0" i="0" u="none" strike="noStrike" kern="1200" dirty="0" smtClean="0">
                <a:solidFill>
                  <a:schemeClr val="tx1"/>
                </a:solidFill>
                <a:effectLst/>
                <a:latin typeface="+mn-lt"/>
                <a:ea typeface="+mn-ea"/>
                <a:cs typeface="+mn-cs"/>
                <a:hlinkClick r:id="rId3"/>
              </a:rPr>
              <a:t>рис. 3.11</a:t>
            </a:r>
            <a:r>
              <a:rPr lang="ru-RU" sz="1200" b="0" i="0" kern="1200" dirty="0" smtClean="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58</a:t>
            </a:fld>
            <a:endParaRPr lang="ru-RU"/>
          </a:p>
        </p:txBody>
      </p:sp>
    </p:spTree>
    <p:extLst>
      <p:ext uri="{BB962C8B-B14F-4D97-AF65-F5344CB8AC3E}">
        <p14:creationId xmlns:p14="http://schemas.microsoft.com/office/powerpoint/2010/main" xmlns="" val="2525183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76</a:t>
            </a:fld>
            <a:endParaRPr lang="ru-RU"/>
          </a:p>
        </p:txBody>
      </p:sp>
    </p:spTree>
    <p:extLst>
      <p:ext uri="{BB962C8B-B14F-4D97-AF65-F5344CB8AC3E}">
        <p14:creationId xmlns:p14="http://schemas.microsoft.com/office/powerpoint/2010/main" xmlns="" val="3033952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85</a:t>
            </a:fld>
            <a:endParaRPr lang="ru-RU"/>
          </a:p>
        </p:txBody>
      </p:sp>
    </p:spTree>
    <p:extLst>
      <p:ext uri="{BB962C8B-B14F-4D97-AF65-F5344CB8AC3E}">
        <p14:creationId xmlns:p14="http://schemas.microsoft.com/office/powerpoint/2010/main" xmlns="" val="576247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86</a:t>
            </a:fld>
            <a:endParaRPr lang="ru-RU"/>
          </a:p>
        </p:txBody>
      </p:sp>
    </p:spTree>
    <p:extLst>
      <p:ext uri="{BB962C8B-B14F-4D97-AF65-F5344CB8AC3E}">
        <p14:creationId xmlns:p14="http://schemas.microsoft.com/office/powerpoint/2010/main" xmlns="" val="3357547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87</a:t>
            </a:fld>
            <a:endParaRPr lang="ru-RU"/>
          </a:p>
        </p:txBody>
      </p:sp>
    </p:spTree>
    <p:extLst>
      <p:ext uri="{BB962C8B-B14F-4D97-AF65-F5344CB8AC3E}">
        <p14:creationId xmlns:p14="http://schemas.microsoft.com/office/powerpoint/2010/main" xmlns="" val="3731831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147</a:t>
            </a:fld>
            <a:endParaRPr lang="ru-RU"/>
          </a:p>
        </p:txBody>
      </p:sp>
    </p:spTree>
    <p:extLst>
      <p:ext uri="{BB962C8B-B14F-4D97-AF65-F5344CB8AC3E}">
        <p14:creationId xmlns:p14="http://schemas.microsoft.com/office/powerpoint/2010/main" xmlns="" val="489918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150</a:t>
            </a:fld>
            <a:endParaRPr lang="ru-RU"/>
          </a:p>
        </p:txBody>
      </p:sp>
    </p:spTree>
    <p:extLst>
      <p:ext uri="{BB962C8B-B14F-4D97-AF65-F5344CB8AC3E}">
        <p14:creationId xmlns:p14="http://schemas.microsoft.com/office/powerpoint/2010/main" xmlns="" val="2195035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8CE0B1CA-660F-49E2-AAC1-E7C7EA218A26}" type="slidenum">
              <a:rPr lang="ru-RU" smtClean="0"/>
              <a:pPr/>
              <a:t>226</a:t>
            </a:fld>
            <a:endParaRPr lang="ru-RU"/>
          </a:p>
        </p:txBody>
      </p:sp>
    </p:spTree>
    <p:extLst>
      <p:ext uri="{BB962C8B-B14F-4D97-AF65-F5344CB8AC3E}">
        <p14:creationId xmlns:p14="http://schemas.microsoft.com/office/powerpoint/2010/main" xmlns="" val="112717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593258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2799046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173439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198494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708727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141583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1548355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677785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3511081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1121441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53464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E5662F-68C3-4184-9900-64B297704A49}" type="datetimeFigureOut">
              <a:rPr lang="ru-RU" smtClean="0"/>
              <a:pPr/>
              <a:t>28.04.2016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C5F67-5E4C-4ABB-99F4-36BCAC8BE885}" type="slidenum">
              <a:rPr lang="ru-RU" smtClean="0"/>
              <a:pPr/>
              <a:t>‹#›</a:t>
            </a:fld>
            <a:endParaRPr lang="ru-RU"/>
          </a:p>
        </p:txBody>
      </p:sp>
    </p:spTree>
    <p:extLst>
      <p:ext uri="{BB962C8B-B14F-4D97-AF65-F5344CB8AC3E}">
        <p14:creationId xmlns:p14="http://schemas.microsoft.com/office/powerpoint/2010/main" xmlns="" val="3850825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dirty="0"/>
          </a:p>
        </p:txBody>
      </p:sp>
      <p:sp>
        <p:nvSpPr>
          <p:cNvPr id="3" name="Подзаголовок 2"/>
          <p:cNvSpPr>
            <a:spLocks noGrp="1"/>
          </p:cNvSpPr>
          <p:nvPr>
            <p:ph type="subTitle" idx="1"/>
          </p:nvPr>
        </p:nvSpPr>
        <p:spPr/>
        <p:txBody>
          <a:bodyPr/>
          <a:lstStyle/>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a:t>
            </a:fld>
            <a:endParaRPr lang="ru-RU"/>
          </a:p>
        </p:txBody>
      </p:sp>
    </p:spTree>
    <p:extLst>
      <p:ext uri="{BB962C8B-B14F-4D97-AF65-F5344CB8AC3E}">
        <p14:creationId xmlns:p14="http://schemas.microsoft.com/office/powerpoint/2010/main" xmlns="" val="25184668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Базы данных и файловые системы</a:t>
            </a:r>
          </a:p>
        </p:txBody>
      </p:sp>
      <p:sp>
        <p:nvSpPr>
          <p:cNvPr id="3" name="Объект 2"/>
          <p:cNvSpPr>
            <a:spLocks noGrp="1"/>
          </p:cNvSpPr>
          <p:nvPr>
            <p:ph idx="1"/>
          </p:nvPr>
        </p:nvSpPr>
        <p:spPr/>
        <p:txBody>
          <a:bodyPr/>
          <a:lstStyle/>
          <a:p>
            <a:r>
              <a:rPr lang="ru-RU" dirty="0"/>
              <a:t>C самого начала развития вычислительной техники образовались два основных направления ее использования</a:t>
            </a:r>
            <a:r>
              <a:rPr lang="ru-RU" dirty="0" smtClean="0"/>
              <a:t>:</a:t>
            </a:r>
            <a:endParaRPr lang="en-US" dirty="0" smtClean="0"/>
          </a:p>
          <a:p>
            <a:r>
              <a:rPr lang="en-US" dirty="0" smtClean="0"/>
              <a:t>1).</a:t>
            </a:r>
            <a:r>
              <a:rPr lang="ru-RU" dirty="0"/>
              <a:t> П</a:t>
            </a:r>
            <a:r>
              <a:rPr lang="ru-RU" dirty="0" smtClean="0"/>
              <a:t>рименение </a:t>
            </a:r>
            <a:r>
              <a:rPr lang="ru-RU" dirty="0"/>
              <a:t>вычислительной техники для выполнения численных </a:t>
            </a:r>
            <a:r>
              <a:rPr lang="ru-RU" dirty="0" smtClean="0"/>
              <a:t>расчетов</a:t>
            </a:r>
          </a:p>
          <a:p>
            <a:r>
              <a:rPr lang="ru-RU" dirty="0"/>
              <a:t>2). Использование средств вычислительной техники в автоматических или автоматизированных информационных системах</a:t>
            </a:r>
            <a:r>
              <a:rPr lang="ru-RU" dirty="0" smtClean="0"/>
              <a:t>.</a:t>
            </a:r>
          </a:p>
          <a:p>
            <a:r>
              <a:rPr lang="ru-RU" dirty="0"/>
              <a:t>Второе направление возникло несколько позже первого.</a:t>
            </a:r>
          </a:p>
        </p:txBody>
      </p:sp>
      <p:sp>
        <p:nvSpPr>
          <p:cNvPr id="4" name="Номер слайда 3"/>
          <p:cNvSpPr>
            <a:spLocks noGrp="1"/>
          </p:cNvSpPr>
          <p:nvPr>
            <p:ph type="sldNum" sz="quarter" idx="12"/>
          </p:nvPr>
        </p:nvSpPr>
        <p:spPr/>
        <p:txBody>
          <a:bodyPr/>
          <a:lstStyle/>
          <a:p>
            <a:fld id="{590C5F67-5E4C-4ABB-99F4-36BCAC8BE885}" type="slidenum">
              <a:rPr lang="ru-RU" smtClean="0"/>
              <a:pPr/>
              <a:t>2</a:t>
            </a:fld>
            <a:endParaRPr lang="ru-RU"/>
          </a:p>
        </p:txBody>
      </p:sp>
    </p:spTree>
    <p:extLst>
      <p:ext uri="{BB962C8B-B14F-4D97-AF65-F5344CB8AC3E}">
        <p14:creationId xmlns:p14="http://schemas.microsoft.com/office/powerpoint/2010/main" xmlns="" val="31529046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20882"/>
            <a:ext cx="10515600" cy="5356081"/>
          </a:xfrm>
        </p:spPr>
        <p:txBody>
          <a:bodyPr/>
          <a:lstStyle/>
          <a:p>
            <a:r>
              <a:rPr lang="ru-RU" dirty="0"/>
              <a:t>На заре вычислительной техники компьютеры обладали ограниченными возможностями в части </a:t>
            </a:r>
            <a:r>
              <a:rPr lang="ru-RU" dirty="0" smtClean="0"/>
              <a:t>памяти.</a:t>
            </a:r>
          </a:p>
          <a:p>
            <a:r>
              <a:rPr lang="ru-RU" dirty="0"/>
              <a:t>Именно требования к вычислительной технике со стороны </a:t>
            </a:r>
            <a:r>
              <a:rPr lang="ru-RU" dirty="0" err="1"/>
              <a:t>нечисленных</a:t>
            </a:r>
            <a:r>
              <a:rPr lang="ru-RU" dirty="0"/>
              <a:t> приложений вызвали появление съемных магнитных дисков с подвижными головками, что явилось революцией в истории вычислительной техники.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3</a:t>
            </a:fld>
            <a:endParaRPr lang="ru-RU"/>
          </a:p>
        </p:txBody>
      </p:sp>
    </p:spTree>
    <p:extLst>
      <p:ext uri="{BB962C8B-B14F-4D97-AF65-F5344CB8AC3E}">
        <p14:creationId xmlns:p14="http://schemas.microsoft.com/office/powerpoint/2010/main" xmlns="" val="1984733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Файловые системы</a:t>
            </a:r>
          </a:p>
        </p:txBody>
      </p:sp>
      <p:sp>
        <p:nvSpPr>
          <p:cNvPr id="3" name="Объект 2"/>
          <p:cNvSpPr>
            <a:spLocks noGrp="1"/>
          </p:cNvSpPr>
          <p:nvPr>
            <p:ph idx="1"/>
          </p:nvPr>
        </p:nvSpPr>
        <p:spPr/>
        <p:txBody>
          <a:bodyPr/>
          <a:lstStyle/>
          <a:p>
            <a:r>
              <a:rPr lang="ru-RU" dirty="0"/>
              <a:t>Историческим шагом явился переход к использованию централизованных систем управления файлами</a:t>
            </a:r>
            <a:r>
              <a:rPr lang="ru-RU" dirty="0" smtClean="0"/>
              <a:t>.</a:t>
            </a:r>
          </a:p>
          <a:p>
            <a:r>
              <a:rPr lang="ru-RU" dirty="0"/>
              <a:t>С точки зрения прикладной программы файл - это именованная область внешней памяти, в которую можно записывать и из которой можно считывать данные</a:t>
            </a:r>
            <a:r>
              <a:rPr lang="ru-RU" dirty="0" smtClean="0"/>
              <a:t>.</a:t>
            </a:r>
            <a:endParaRPr lang="en-US" dirty="0" smtClean="0"/>
          </a:p>
          <a:p>
            <a:r>
              <a:rPr lang="ru-RU" dirty="0"/>
              <a:t>Первая развитая файловая система была разработана фирмой IBM для ее серии 360.</a:t>
            </a:r>
          </a:p>
        </p:txBody>
      </p:sp>
      <p:sp>
        <p:nvSpPr>
          <p:cNvPr id="4" name="Номер слайда 3"/>
          <p:cNvSpPr>
            <a:spLocks noGrp="1"/>
          </p:cNvSpPr>
          <p:nvPr>
            <p:ph type="sldNum" sz="quarter" idx="12"/>
          </p:nvPr>
        </p:nvSpPr>
        <p:spPr/>
        <p:txBody>
          <a:bodyPr/>
          <a:lstStyle/>
          <a:p>
            <a:fld id="{590C5F67-5E4C-4ABB-99F4-36BCAC8BE885}" type="slidenum">
              <a:rPr lang="ru-RU" smtClean="0"/>
              <a:pPr/>
              <a:t>4</a:t>
            </a:fld>
            <a:endParaRPr lang="ru-RU"/>
          </a:p>
        </p:txBody>
      </p:sp>
    </p:spTree>
    <p:extLst>
      <p:ext uri="{BB962C8B-B14F-4D97-AF65-F5344CB8AC3E}">
        <p14:creationId xmlns:p14="http://schemas.microsoft.com/office/powerpoint/2010/main" xmlns="" val="344834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Структуры файлов</a:t>
            </a:r>
          </a:p>
        </p:txBody>
      </p:sp>
      <p:sp>
        <p:nvSpPr>
          <p:cNvPr id="3" name="Объект 2"/>
          <p:cNvSpPr>
            <a:spLocks noGrp="1"/>
          </p:cNvSpPr>
          <p:nvPr>
            <p:ph idx="1"/>
          </p:nvPr>
        </p:nvSpPr>
        <p:spPr/>
        <p:txBody>
          <a:bodyPr/>
          <a:lstStyle/>
          <a:p>
            <a:r>
              <a:rPr lang="ru-RU" dirty="0"/>
              <a:t>Практически во всех современных компьютерах основными устройствами внешней памяти являются магнитные диски с подвижными </a:t>
            </a:r>
            <a:r>
              <a:rPr lang="ru-RU" dirty="0" smtClean="0"/>
              <a:t>головками.</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a:t>
            </a:fld>
            <a:endParaRPr lang="ru-RU"/>
          </a:p>
        </p:txBody>
      </p:sp>
    </p:spTree>
    <p:extLst>
      <p:ext uri="{BB962C8B-B14F-4D97-AF65-F5344CB8AC3E}">
        <p14:creationId xmlns:p14="http://schemas.microsoft.com/office/powerpoint/2010/main" xmlns="" val="6923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файлов</a:t>
            </a:r>
          </a:p>
        </p:txBody>
      </p:sp>
      <p:sp>
        <p:nvSpPr>
          <p:cNvPr id="3" name="Объект 2"/>
          <p:cNvSpPr>
            <a:spLocks noGrp="1"/>
          </p:cNvSpPr>
          <p:nvPr>
            <p:ph idx="1"/>
          </p:nvPr>
        </p:nvSpPr>
        <p:spPr/>
        <p:txBody>
          <a:bodyPr/>
          <a:lstStyle/>
          <a:p>
            <a:r>
              <a:rPr lang="ru-RU" dirty="0"/>
              <a:t>Все современные файловые системы поддерживают многоуровневое именование файлов за счет поддержания во внешней памяти дополнительных файлов со специальной структурой - каталогов.</a:t>
            </a:r>
          </a:p>
        </p:txBody>
      </p:sp>
      <p:sp>
        <p:nvSpPr>
          <p:cNvPr id="4" name="Номер слайда 3"/>
          <p:cNvSpPr>
            <a:spLocks noGrp="1"/>
          </p:cNvSpPr>
          <p:nvPr>
            <p:ph type="sldNum" sz="quarter" idx="12"/>
          </p:nvPr>
        </p:nvSpPr>
        <p:spPr/>
        <p:txBody>
          <a:bodyPr/>
          <a:lstStyle/>
          <a:p>
            <a:fld id="{590C5F67-5E4C-4ABB-99F4-36BCAC8BE885}" type="slidenum">
              <a:rPr lang="ru-RU" smtClean="0"/>
              <a:pPr/>
              <a:t>6</a:t>
            </a:fld>
            <a:endParaRPr lang="ru-RU"/>
          </a:p>
        </p:txBody>
      </p:sp>
    </p:spTree>
    <p:extLst>
      <p:ext uri="{BB962C8B-B14F-4D97-AF65-F5344CB8AC3E}">
        <p14:creationId xmlns:p14="http://schemas.microsoft.com/office/powerpoint/2010/main" xmlns="" val="2948112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Защита файлов</a:t>
            </a:r>
          </a:p>
        </p:txBody>
      </p:sp>
      <p:sp>
        <p:nvSpPr>
          <p:cNvPr id="3" name="Объект 2"/>
          <p:cNvSpPr>
            <a:spLocks noGrp="1"/>
          </p:cNvSpPr>
          <p:nvPr>
            <p:ph idx="1"/>
          </p:nvPr>
        </p:nvSpPr>
        <p:spPr/>
        <p:txBody>
          <a:bodyPr/>
          <a:lstStyle/>
          <a:p>
            <a:r>
              <a:rPr lang="ru-RU" dirty="0"/>
              <a:t>Поскольку файловые системы являются общим хранилищем файлов, системы управления файлами должны обеспечивать авторизацию доступа к файлам. В общем виде подход состоит в том, что по отношению к каждому зарегистрированному пользователю данной вычислительной системы для каждого существующего файла указываются действия, которые разрешены или запрещены данному пользователю.</a:t>
            </a:r>
          </a:p>
        </p:txBody>
      </p:sp>
      <p:sp>
        <p:nvSpPr>
          <p:cNvPr id="4" name="Номер слайда 3"/>
          <p:cNvSpPr>
            <a:spLocks noGrp="1"/>
          </p:cNvSpPr>
          <p:nvPr>
            <p:ph type="sldNum" sz="quarter" idx="12"/>
          </p:nvPr>
        </p:nvSpPr>
        <p:spPr/>
        <p:txBody>
          <a:bodyPr/>
          <a:lstStyle/>
          <a:p>
            <a:fld id="{590C5F67-5E4C-4ABB-99F4-36BCAC8BE885}" type="slidenum">
              <a:rPr lang="ru-RU" smtClean="0"/>
              <a:pPr/>
              <a:t>7</a:t>
            </a:fld>
            <a:endParaRPr lang="ru-RU"/>
          </a:p>
        </p:txBody>
      </p:sp>
    </p:spTree>
    <p:extLst>
      <p:ext uri="{BB962C8B-B14F-4D97-AF65-F5344CB8AC3E}">
        <p14:creationId xmlns:p14="http://schemas.microsoft.com/office/powerpoint/2010/main" xmlns="" val="41940078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Режим многопользовательского доступа</a:t>
            </a:r>
          </a:p>
        </p:txBody>
      </p:sp>
      <p:sp>
        <p:nvSpPr>
          <p:cNvPr id="3" name="Объект 2"/>
          <p:cNvSpPr>
            <a:spLocks noGrp="1"/>
          </p:cNvSpPr>
          <p:nvPr>
            <p:ph idx="1"/>
          </p:nvPr>
        </p:nvSpPr>
        <p:spPr/>
        <p:txBody>
          <a:bodyPr/>
          <a:lstStyle/>
          <a:p>
            <a:r>
              <a:rPr lang="ru-RU" dirty="0"/>
              <a:t>Если операционная система поддерживает многопользовательский режим, вполне реальна ситуация, когда два или более пользователей одновременно пытаются работать с одним и тем же файлом.</a:t>
            </a:r>
          </a:p>
        </p:txBody>
      </p:sp>
      <p:sp>
        <p:nvSpPr>
          <p:cNvPr id="4" name="Номер слайда 3"/>
          <p:cNvSpPr>
            <a:spLocks noGrp="1"/>
          </p:cNvSpPr>
          <p:nvPr>
            <p:ph type="sldNum" sz="quarter" idx="12"/>
          </p:nvPr>
        </p:nvSpPr>
        <p:spPr/>
        <p:txBody>
          <a:bodyPr/>
          <a:lstStyle/>
          <a:p>
            <a:fld id="{590C5F67-5E4C-4ABB-99F4-36BCAC8BE885}" type="slidenum">
              <a:rPr lang="ru-RU" smtClean="0"/>
              <a:pPr/>
              <a:t>8</a:t>
            </a:fld>
            <a:endParaRPr lang="ru-RU"/>
          </a:p>
        </p:txBody>
      </p:sp>
    </p:spTree>
    <p:extLst>
      <p:ext uri="{BB962C8B-B14F-4D97-AF65-F5344CB8AC3E}">
        <p14:creationId xmlns:p14="http://schemas.microsoft.com/office/powerpoint/2010/main" xmlns="" val="28776741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Области применения файлов</a:t>
            </a:r>
          </a:p>
        </p:txBody>
      </p:sp>
      <p:sp>
        <p:nvSpPr>
          <p:cNvPr id="3" name="Объект 2"/>
          <p:cNvSpPr>
            <a:spLocks noGrp="1"/>
          </p:cNvSpPr>
          <p:nvPr>
            <p:ph idx="1"/>
          </p:nvPr>
        </p:nvSpPr>
        <p:spPr/>
        <p:txBody>
          <a:bodyPr/>
          <a:lstStyle/>
          <a:p>
            <a:r>
              <a:rPr lang="ru-RU" dirty="0"/>
              <a:t>Прежде всего, файлы применяются для хранения текстовых данных: документов, текстов программ и т.д.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9</a:t>
            </a:fld>
            <a:endParaRPr lang="ru-RU"/>
          </a:p>
        </p:txBody>
      </p:sp>
    </p:spTree>
    <p:extLst>
      <p:ext uri="{BB962C8B-B14F-4D97-AF65-F5344CB8AC3E}">
        <p14:creationId xmlns:p14="http://schemas.microsoft.com/office/powerpoint/2010/main" xmlns="" val="900648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Потребности информационных систем</a:t>
            </a:r>
          </a:p>
        </p:txBody>
      </p:sp>
      <p:sp>
        <p:nvSpPr>
          <p:cNvPr id="3" name="Объект 2"/>
          <p:cNvSpPr>
            <a:spLocks noGrp="1"/>
          </p:cNvSpPr>
          <p:nvPr>
            <p:ph idx="1"/>
          </p:nvPr>
        </p:nvSpPr>
        <p:spPr/>
        <p:txBody>
          <a:bodyPr/>
          <a:lstStyle/>
          <a:p>
            <a:r>
              <a:rPr lang="ru-RU" dirty="0"/>
              <a:t>Информационные системы главным образом ориентированы на хранение, выбор и модификацию постоянно существующей информации. Структура информации зачастую очень сложна, и хотя структуры данных различны в разных информационных системах, между ними часто бывает много общего. На начальном этапе использования вычислительной техники для управления информацией проблемы структуризации данных решались индивидуально в каждой информационной системе. Производились необходимые надстройки над файловыми системами (библиотеки программ), подобно тому, как это делается в компиляторах, редакторах и т.д.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10</a:t>
            </a:fld>
            <a:endParaRPr lang="ru-RU"/>
          </a:p>
        </p:txBody>
      </p:sp>
    </p:spTree>
    <p:extLst>
      <p:ext uri="{BB962C8B-B14F-4D97-AF65-F5344CB8AC3E}">
        <p14:creationId xmlns:p14="http://schemas.microsoft.com/office/powerpoint/2010/main" xmlns="" val="36094990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96191"/>
            <a:ext cx="10515600" cy="5480772"/>
          </a:xfrm>
        </p:spPr>
        <p:txBody>
          <a:bodyPr/>
          <a:lstStyle/>
          <a:p>
            <a:r>
              <a:rPr lang="ru-RU" dirty="0"/>
              <a:t>Но поскольку информационные системы требуют сложных структур данных, эти дополнительные индивидуальные средства управления данными являлись существенной частью информационных систем и практически повторялись от одной системы к другой. Стремление выделить и обобщить общую часть информационных систем, ответственную за управление сложно структурированными данными, </a:t>
            </a:r>
            <a:r>
              <a:rPr lang="ru-RU" dirty="0" smtClean="0"/>
              <a:t>явилось первой </a:t>
            </a:r>
            <a:r>
              <a:rPr lang="ru-RU" dirty="0"/>
              <a:t>побудительной причиной создания СУБД.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11</a:t>
            </a:fld>
            <a:endParaRPr lang="ru-RU"/>
          </a:p>
        </p:txBody>
      </p:sp>
    </p:spTree>
    <p:extLst>
      <p:ext uri="{BB962C8B-B14F-4D97-AF65-F5344CB8AC3E}">
        <p14:creationId xmlns:p14="http://schemas.microsoft.com/office/powerpoint/2010/main" xmlns="" val="15467616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Функции СУБД. Типовая организация СУБД</a:t>
            </a:r>
          </a:p>
        </p:txBody>
      </p:sp>
      <p:sp>
        <p:nvSpPr>
          <p:cNvPr id="3" name="Объект 2"/>
          <p:cNvSpPr>
            <a:spLocks noGrp="1"/>
          </p:cNvSpPr>
          <p:nvPr>
            <p:ph idx="1"/>
          </p:nvPr>
        </p:nvSpPr>
        <p:spPr/>
        <p:txBody>
          <a:bodyPr/>
          <a:lstStyle/>
          <a:p>
            <a:r>
              <a:rPr lang="ru-RU" dirty="0"/>
              <a:t>Возможностей файловых систем оказывается недостаточно для построения даже простых информационных систем</a:t>
            </a:r>
            <a:r>
              <a:rPr lang="ru-RU" dirty="0" smtClean="0"/>
              <a:t>.</a:t>
            </a:r>
          </a:p>
          <a:p>
            <a:r>
              <a:rPr lang="ru-RU" dirty="0"/>
              <a:t>Если прикладная информационная система опирается на некоторую систему управления данными, обладающую  свойствами (поддержание логически согласованного набора файлов; обеспечение языка манипулирования данными; восстановление информации после разного рода сбоев; реально параллельная работа нескольких пользователей.), то эта система управления данными является системой управления базами данных (СУБД).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12</a:t>
            </a:fld>
            <a:endParaRPr lang="ru-RU"/>
          </a:p>
        </p:txBody>
      </p:sp>
    </p:spTree>
    <p:extLst>
      <p:ext uri="{BB962C8B-B14F-4D97-AF65-F5344CB8AC3E}">
        <p14:creationId xmlns:p14="http://schemas.microsoft.com/office/powerpoint/2010/main" xmlns="" val="35912446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Функции СУБД</a:t>
            </a:r>
            <a:endParaRPr lang="ru-RU" dirty="0"/>
          </a:p>
        </p:txBody>
      </p:sp>
      <p:sp>
        <p:nvSpPr>
          <p:cNvPr id="3" name="Объект 2"/>
          <p:cNvSpPr>
            <a:spLocks noGrp="1"/>
          </p:cNvSpPr>
          <p:nvPr>
            <p:ph idx="1"/>
          </p:nvPr>
        </p:nvSpPr>
        <p:spPr/>
        <p:txBody>
          <a:bodyPr>
            <a:normAutofit fontScale="92500" lnSpcReduction="10000"/>
          </a:bodyPr>
          <a:lstStyle/>
          <a:p>
            <a:r>
              <a:rPr lang="ru-RU" dirty="0" smtClean="0"/>
              <a:t>1).</a:t>
            </a:r>
            <a:r>
              <a:rPr lang="ru-RU" dirty="0"/>
              <a:t> Непосредственное управление данными во внешней </a:t>
            </a:r>
            <a:r>
              <a:rPr lang="ru-RU" dirty="0" smtClean="0"/>
              <a:t>памяти</a:t>
            </a:r>
          </a:p>
          <a:p>
            <a:r>
              <a:rPr lang="ru-RU" dirty="0"/>
              <a:t>2</a:t>
            </a:r>
            <a:r>
              <a:rPr lang="ru-RU" dirty="0" smtClean="0"/>
              <a:t>). </a:t>
            </a:r>
            <a:r>
              <a:rPr lang="ru-RU" dirty="0"/>
              <a:t>Управление буферами оперативной </a:t>
            </a:r>
            <a:r>
              <a:rPr lang="ru-RU" dirty="0" smtClean="0"/>
              <a:t>памяти</a:t>
            </a:r>
          </a:p>
          <a:p>
            <a:r>
              <a:rPr lang="ru-RU" dirty="0"/>
              <a:t>3). Управление </a:t>
            </a:r>
            <a:r>
              <a:rPr lang="ru-RU" dirty="0" smtClean="0"/>
              <a:t>транзакциями</a:t>
            </a:r>
          </a:p>
          <a:p>
            <a:r>
              <a:rPr lang="ru-RU" dirty="0"/>
              <a:t>Транзакция - это последовательность операций над БД, </a:t>
            </a:r>
            <a:r>
              <a:rPr lang="ru-RU" dirty="0" smtClean="0"/>
              <a:t>рассматриваемых </a:t>
            </a:r>
            <a:r>
              <a:rPr lang="ru-RU" dirty="0"/>
              <a:t>СУБД как единое целое</a:t>
            </a:r>
            <a:r>
              <a:rPr lang="ru-RU" dirty="0" smtClean="0"/>
              <a:t>.</a:t>
            </a:r>
          </a:p>
          <a:p>
            <a:r>
              <a:rPr lang="ru-RU" dirty="0"/>
              <a:t>4). </a:t>
            </a:r>
            <a:r>
              <a:rPr lang="ru-RU" dirty="0" smtClean="0"/>
              <a:t>Журнализация</a:t>
            </a:r>
          </a:p>
          <a:p>
            <a:r>
              <a:rPr lang="ru-RU" dirty="0"/>
              <a:t>Одним из основных требований к СУБД является надежность хранения данных во внешней памяти. Под надежностью хранения понимается то, что СУБД должна быть в состоянии восстановить последнее согласованное состояние БД после любого аппаратного или программного сбоя.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a:t>
            </a:fld>
            <a:endParaRPr lang="ru-RU"/>
          </a:p>
        </p:txBody>
      </p:sp>
    </p:spTree>
    <p:extLst>
      <p:ext uri="{BB962C8B-B14F-4D97-AF65-F5344CB8AC3E}">
        <p14:creationId xmlns:p14="http://schemas.microsoft.com/office/powerpoint/2010/main" xmlns="" val="39820086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571500"/>
            <a:ext cx="10515600" cy="5605463"/>
          </a:xfrm>
        </p:spPr>
        <p:txBody>
          <a:bodyPr/>
          <a:lstStyle/>
          <a:p>
            <a:r>
              <a:rPr lang="ru-RU" dirty="0"/>
              <a:t>5). Поддержка языков БД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a:t>
            </a:fld>
            <a:endParaRPr lang="ru-RU"/>
          </a:p>
        </p:txBody>
      </p:sp>
    </p:spTree>
    <p:extLst>
      <p:ext uri="{BB962C8B-B14F-4D97-AF65-F5344CB8AC3E}">
        <p14:creationId xmlns:p14="http://schemas.microsoft.com/office/powerpoint/2010/main" xmlns="" val="24633316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Введение в реляционную модель данных</a:t>
            </a:r>
          </a:p>
        </p:txBody>
      </p:sp>
      <p:sp>
        <p:nvSpPr>
          <p:cNvPr id="3" name="Объект 2"/>
          <p:cNvSpPr>
            <a:spLocks noGrp="1"/>
          </p:cNvSpPr>
          <p:nvPr>
            <p:ph idx="1"/>
          </p:nvPr>
        </p:nvSpPr>
        <p:spPr/>
        <p:txBody>
          <a:bodyPr/>
          <a:lstStyle/>
          <a:p>
            <a:r>
              <a:rPr lang="ru-RU" dirty="0"/>
              <a:t>Реляционный подход к организации баз данных был заложен в конце 1960-х гг. Эдгаром Коддом.</a:t>
            </a:r>
          </a:p>
        </p:txBody>
      </p:sp>
      <p:sp>
        <p:nvSpPr>
          <p:cNvPr id="4" name="Номер слайда 3"/>
          <p:cNvSpPr>
            <a:spLocks noGrp="1"/>
          </p:cNvSpPr>
          <p:nvPr>
            <p:ph type="sldNum" sz="quarter" idx="12"/>
          </p:nvPr>
        </p:nvSpPr>
        <p:spPr/>
        <p:txBody>
          <a:bodyPr/>
          <a:lstStyle/>
          <a:p>
            <a:fld id="{590C5F67-5E4C-4ABB-99F4-36BCAC8BE885}" type="slidenum">
              <a:rPr lang="ru-RU" smtClean="0"/>
              <a:pPr/>
              <a:t>15</a:t>
            </a:fld>
            <a:endParaRPr lang="ru-RU"/>
          </a:p>
        </p:txBody>
      </p:sp>
    </p:spTree>
    <p:extLst>
      <p:ext uri="{BB962C8B-B14F-4D97-AF65-F5344CB8AC3E}">
        <p14:creationId xmlns:p14="http://schemas.microsoft.com/office/powerpoint/2010/main" xmlns="" val="312887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Основные понятия реляционных баз данных</a:t>
            </a:r>
          </a:p>
        </p:txBody>
      </p:sp>
      <p:sp>
        <p:nvSpPr>
          <p:cNvPr id="3" name="Объект 2"/>
          <p:cNvSpPr>
            <a:spLocks noGrp="1"/>
          </p:cNvSpPr>
          <p:nvPr>
            <p:ph idx="1"/>
          </p:nvPr>
        </p:nvSpPr>
        <p:spPr/>
        <p:txBody>
          <a:bodyPr/>
          <a:lstStyle/>
          <a:p>
            <a:r>
              <a:rPr lang="ru-RU" b="1" dirty="0" smtClean="0"/>
              <a:t>Тип данных</a:t>
            </a:r>
          </a:p>
          <a:p>
            <a:r>
              <a:rPr lang="ru-RU" dirty="0" smtClean="0"/>
              <a:t>Понятие</a:t>
            </a:r>
            <a:r>
              <a:rPr lang="ru-RU" dirty="0"/>
              <a:t> </a:t>
            </a:r>
            <a:r>
              <a:rPr lang="ru-RU" i="1" dirty="0"/>
              <a:t>типа данных</a:t>
            </a:r>
            <a:r>
              <a:rPr lang="ru-RU" dirty="0"/>
              <a:t> в </a:t>
            </a:r>
            <a:r>
              <a:rPr lang="ru-RU" i="1" dirty="0"/>
              <a:t>реляционной модели данных</a:t>
            </a:r>
            <a:r>
              <a:rPr lang="ru-RU" dirty="0"/>
              <a:t> полностью соответствует понятию </a:t>
            </a:r>
            <a:r>
              <a:rPr lang="ru-RU" i="1" dirty="0"/>
              <a:t>типа данных</a:t>
            </a:r>
            <a:r>
              <a:rPr lang="ru-RU" dirty="0"/>
              <a:t> в языках программирования</a:t>
            </a:r>
            <a:r>
              <a:rPr lang="ru-RU" dirty="0" smtClean="0"/>
              <a:t>.</a:t>
            </a:r>
          </a:p>
          <a:p>
            <a:r>
              <a:rPr lang="ru-RU" dirty="0"/>
              <a:t>Нестрогое определение типа данных состоит из трех основных компонентов: определение множества значений данного типа; определение набора операций, применимых к значениям типа; определение способа внешнего представления значений типа (литералов).</a:t>
            </a:r>
          </a:p>
        </p:txBody>
      </p:sp>
      <p:sp>
        <p:nvSpPr>
          <p:cNvPr id="4" name="Номер слайда 3"/>
          <p:cNvSpPr>
            <a:spLocks noGrp="1"/>
          </p:cNvSpPr>
          <p:nvPr>
            <p:ph type="sldNum" sz="quarter" idx="12"/>
          </p:nvPr>
        </p:nvSpPr>
        <p:spPr/>
        <p:txBody>
          <a:bodyPr/>
          <a:lstStyle/>
          <a:p>
            <a:fld id="{590C5F67-5E4C-4ABB-99F4-36BCAC8BE885}" type="slidenum">
              <a:rPr lang="ru-RU" smtClean="0"/>
              <a:pPr/>
              <a:t>16</a:t>
            </a:fld>
            <a:endParaRPr lang="ru-RU"/>
          </a:p>
        </p:txBody>
      </p:sp>
    </p:spTree>
    <p:extLst>
      <p:ext uri="{BB962C8B-B14F-4D97-AF65-F5344CB8AC3E}">
        <p14:creationId xmlns:p14="http://schemas.microsoft.com/office/powerpoint/2010/main" xmlns="" val="778657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68927"/>
            <a:ext cx="10515600" cy="5408036"/>
          </a:xfrm>
        </p:spPr>
        <p:txBody>
          <a:bodyPr/>
          <a:lstStyle/>
          <a:p>
            <a:r>
              <a:rPr lang="ru-RU" b="1" dirty="0" smtClean="0"/>
              <a:t>Домен</a:t>
            </a:r>
          </a:p>
          <a:p>
            <a:r>
              <a:rPr lang="ru-RU" dirty="0"/>
              <a:t> В общем виде домен определяется путем задания некоторого базового типа данных, к которому относятся элементы домена, и произвольного логического выражения, применяемого к элементу этого типа данных ( ограничения домена </a:t>
            </a:r>
            <a:r>
              <a:rPr lang="ru-RU" dirty="0" smtClean="0"/>
              <a:t>)</a:t>
            </a:r>
          </a:p>
          <a:p>
            <a:r>
              <a:rPr lang="ru-RU" b="1" dirty="0" smtClean="0"/>
              <a:t>Заголовок отношения</a:t>
            </a:r>
          </a:p>
          <a:p>
            <a:r>
              <a:rPr lang="ru-RU" dirty="0"/>
              <a:t>Заголовком (или схемой) отношения r ( </a:t>
            </a:r>
            <a:r>
              <a:rPr lang="ru-RU" dirty="0" err="1"/>
              <a:t>Hr</a:t>
            </a:r>
            <a:r>
              <a:rPr lang="ru-RU" dirty="0"/>
              <a:t> ) называется конечное множество упорядоченных пар вида &lt;A, T&gt;, где A называется именем атрибута, а T обозначает имя некоторого базового типа или ранее определенного домена.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17</a:t>
            </a:fld>
            <a:endParaRPr lang="ru-RU"/>
          </a:p>
        </p:txBody>
      </p:sp>
    </p:spTree>
    <p:extLst>
      <p:ext uri="{BB962C8B-B14F-4D97-AF65-F5344CB8AC3E}">
        <p14:creationId xmlns:p14="http://schemas.microsoft.com/office/powerpoint/2010/main" xmlns="" val="4117202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70057"/>
          </a:xfrm>
        </p:spPr>
        <p:txBody>
          <a:bodyPr>
            <a:normAutofit fontScale="90000"/>
          </a:bodyPr>
          <a:lstStyle/>
          <a:p>
            <a:r>
              <a:rPr lang="ru-RU" dirty="0" smtClean="0"/>
              <a:t> </a:t>
            </a:r>
            <a:endParaRPr lang="ru-RU" dirty="0"/>
          </a:p>
        </p:txBody>
      </p:sp>
      <p:sp>
        <p:nvSpPr>
          <p:cNvPr id="3" name="Объект 2"/>
          <p:cNvSpPr>
            <a:spLocks noGrp="1"/>
          </p:cNvSpPr>
          <p:nvPr>
            <p:ph idx="1"/>
          </p:nvPr>
        </p:nvSpPr>
        <p:spPr>
          <a:xfrm>
            <a:off x="838200" y="613064"/>
            <a:ext cx="10515600" cy="5563899"/>
          </a:xfrm>
        </p:spPr>
        <p:txBody>
          <a:bodyPr/>
          <a:lstStyle/>
          <a:p>
            <a:r>
              <a:rPr lang="ru-RU" b="1" dirty="0" smtClean="0"/>
              <a:t>Кортеж</a:t>
            </a:r>
          </a:p>
          <a:p>
            <a:r>
              <a:rPr lang="ru-RU" dirty="0"/>
              <a:t>Кортежем </a:t>
            </a:r>
            <a:r>
              <a:rPr lang="ru-RU" dirty="0" err="1"/>
              <a:t>tr</a:t>
            </a:r>
            <a:r>
              <a:rPr lang="ru-RU" dirty="0"/>
              <a:t>, соответствующим заголовку </a:t>
            </a:r>
            <a:r>
              <a:rPr lang="ru-RU" dirty="0" err="1"/>
              <a:t>Hr</a:t>
            </a:r>
            <a:r>
              <a:rPr lang="ru-RU" dirty="0"/>
              <a:t>, называется множество упорядоченных триплетов вида &lt;A, T, v&gt;, по одному такому триплету для каждого атрибута в </a:t>
            </a:r>
            <a:r>
              <a:rPr lang="ru-RU" dirty="0" err="1"/>
              <a:t>Hr</a:t>
            </a:r>
            <a:r>
              <a:rPr lang="ru-RU" dirty="0"/>
              <a:t> . Третий элемент – v – триплета &lt;A, T, v&gt; должен являться допустимым значением типа данных или домена T</a:t>
            </a:r>
            <a:r>
              <a:rPr lang="ru-RU" dirty="0" smtClean="0"/>
              <a:t>.</a:t>
            </a:r>
          </a:p>
          <a:p>
            <a:r>
              <a:rPr lang="ru-RU" b="1" dirty="0"/>
              <a:t>Телом </a:t>
            </a:r>
            <a:r>
              <a:rPr lang="ru-RU" dirty="0" err="1"/>
              <a:t>Br</a:t>
            </a:r>
            <a:r>
              <a:rPr lang="ru-RU" dirty="0"/>
              <a:t> отношения r называется произвольное множество кортежей </a:t>
            </a:r>
            <a:r>
              <a:rPr lang="ru-RU" dirty="0" err="1" smtClean="0"/>
              <a:t>tr</a:t>
            </a:r>
            <a:endParaRPr lang="ru-RU" dirty="0" smtClean="0"/>
          </a:p>
          <a:p>
            <a:r>
              <a:rPr lang="ru-RU" b="1" dirty="0"/>
              <a:t>Значением</a:t>
            </a:r>
            <a:r>
              <a:rPr lang="ru-RU" dirty="0"/>
              <a:t> </a:t>
            </a:r>
            <a:r>
              <a:rPr lang="ru-RU" dirty="0" err="1"/>
              <a:t>Vr</a:t>
            </a:r>
            <a:r>
              <a:rPr lang="ru-RU" dirty="0"/>
              <a:t> отношения r называется пара множеств </a:t>
            </a:r>
            <a:r>
              <a:rPr lang="ru-RU" dirty="0" err="1"/>
              <a:t>Hr</a:t>
            </a:r>
            <a:r>
              <a:rPr lang="ru-RU" dirty="0"/>
              <a:t> и </a:t>
            </a:r>
            <a:r>
              <a:rPr lang="ru-RU" dirty="0" err="1"/>
              <a:t>Br</a:t>
            </a:r>
            <a:r>
              <a:rPr lang="ru-RU" dirty="0"/>
              <a:t> .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18</a:t>
            </a:fld>
            <a:endParaRPr lang="ru-RU"/>
          </a:p>
        </p:txBody>
      </p:sp>
    </p:spTree>
    <p:extLst>
      <p:ext uri="{BB962C8B-B14F-4D97-AF65-F5344CB8AC3E}">
        <p14:creationId xmlns:p14="http://schemas.microsoft.com/office/powerpoint/2010/main" xmlns="" val="17299670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768927"/>
            <a:ext cx="10515600" cy="5408036"/>
          </a:xfrm>
        </p:spPr>
        <p:txBody>
          <a:bodyPr/>
          <a:lstStyle/>
          <a:p>
            <a:r>
              <a:rPr lang="ru-RU" dirty="0"/>
              <a:t>Переменной </a:t>
            </a:r>
            <a:r>
              <a:rPr lang="ru-RU" dirty="0" err="1"/>
              <a:t>VARr</a:t>
            </a:r>
            <a:r>
              <a:rPr lang="ru-RU" dirty="0"/>
              <a:t> называется именованный контейнер, который может содержать любое допустимое значение </a:t>
            </a:r>
            <a:r>
              <a:rPr lang="ru-RU" dirty="0" err="1" smtClean="0"/>
              <a:t>Vr</a:t>
            </a:r>
            <a:endParaRPr lang="en-US" dirty="0" smtClean="0"/>
          </a:p>
          <a:p>
            <a:r>
              <a:rPr lang="ru-RU" dirty="0"/>
              <a:t> </a:t>
            </a:r>
            <a:r>
              <a:rPr lang="ru-RU" dirty="0" err="1"/>
              <a:t>Cтепенью</a:t>
            </a:r>
            <a:r>
              <a:rPr lang="ru-RU" dirty="0"/>
              <a:t>, или "арностью", заголовка отношения, кортежа, соответствующего этому заголовку, тела отношения, значения отношения и переменной отношения является мощность заголовка отношения </a:t>
            </a:r>
            <a:r>
              <a:rPr lang="ru-RU" dirty="0" smtClean="0"/>
              <a:t>.</a:t>
            </a:r>
            <a:endParaRPr lang="en-US" dirty="0" smtClean="0"/>
          </a:p>
          <a:p>
            <a:r>
              <a:rPr lang="ru-RU" dirty="0"/>
              <a:t> Реляционная база данных – это набор пар &lt;</a:t>
            </a:r>
            <a:r>
              <a:rPr lang="ru-RU" dirty="0" err="1"/>
              <a:t>VARr</a:t>
            </a:r>
            <a:r>
              <a:rPr lang="ru-RU" dirty="0"/>
              <a:t>, </a:t>
            </a:r>
            <a:r>
              <a:rPr lang="ru-RU" dirty="0" err="1"/>
              <a:t>Hr</a:t>
            </a:r>
            <a:r>
              <a:rPr lang="ru-RU" dirty="0"/>
              <a:t>&gt;</a:t>
            </a:r>
            <a:endParaRPr lang="en-US" dirty="0" smtClean="0"/>
          </a:p>
        </p:txBody>
      </p:sp>
      <p:sp>
        <p:nvSpPr>
          <p:cNvPr id="4" name="Номер слайда 3"/>
          <p:cNvSpPr>
            <a:spLocks noGrp="1"/>
          </p:cNvSpPr>
          <p:nvPr>
            <p:ph type="sldNum" sz="quarter" idx="12"/>
          </p:nvPr>
        </p:nvSpPr>
        <p:spPr/>
        <p:txBody>
          <a:bodyPr/>
          <a:lstStyle/>
          <a:p>
            <a:fld id="{590C5F67-5E4C-4ABB-99F4-36BCAC8BE885}" type="slidenum">
              <a:rPr lang="ru-RU" smtClean="0"/>
              <a:pPr/>
              <a:t>19</a:t>
            </a:fld>
            <a:endParaRPr lang="ru-RU"/>
          </a:p>
        </p:txBody>
      </p:sp>
    </p:spTree>
    <p:extLst>
      <p:ext uri="{BB962C8B-B14F-4D97-AF65-F5344CB8AC3E}">
        <p14:creationId xmlns:p14="http://schemas.microsoft.com/office/powerpoint/2010/main" xmlns="" val="10954287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518102"/>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365126"/>
            <a:ext cx="10515600" cy="5811837"/>
          </a:xfrm>
        </p:spPr>
        <p:txBody>
          <a:bodyPr/>
          <a:lstStyle/>
          <a:p>
            <a:r>
              <a:rPr lang="ru-RU" dirty="0"/>
              <a:t>Первичный ключ </a:t>
            </a:r>
            <a:endParaRPr lang="en-US" dirty="0"/>
          </a:p>
          <a:p>
            <a:r>
              <a:rPr lang="ru-RU" dirty="0"/>
              <a:t> П</a:t>
            </a:r>
            <a:r>
              <a:rPr lang="ru-RU" dirty="0" smtClean="0"/>
              <a:t>ервичным </a:t>
            </a:r>
            <a:r>
              <a:rPr lang="ru-RU" dirty="0"/>
              <a:t>ключом переменной отношения является такое </a:t>
            </a:r>
            <a:r>
              <a:rPr lang="ru-RU" dirty="0" smtClean="0"/>
              <a:t>подмножество </a:t>
            </a:r>
            <a:r>
              <a:rPr lang="ru-RU" dirty="0"/>
              <a:t>S множества атрибутов ее заголовка, что в любое время значение первичного ключа (составное, если в состав первичного ключа входит более одного атрибута ) в любом кортеже тела отношения отличается от значения первичного ключа в любом другом кортеже тела этого отношения, а никакое собственное </a:t>
            </a:r>
            <a:r>
              <a:rPr lang="ru-RU" dirty="0" smtClean="0"/>
              <a:t>подмножество</a:t>
            </a:r>
            <a:r>
              <a:rPr lang="en-US" dirty="0" smtClean="0"/>
              <a:t> </a:t>
            </a:r>
            <a:r>
              <a:rPr lang="ru-RU" dirty="0" smtClean="0"/>
              <a:t> </a:t>
            </a:r>
            <a:r>
              <a:rPr lang="ru-RU" dirty="0"/>
              <a:t>S этим свойством не обладает.</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a:t>
            </a:fld>
            <a:endParaRPr lang="ru-RU"/>
          </a:p>
        </p:txBody>
      </p:sp>
    </p:spTree>
    <p:extLst>
      <p:ext uri="{BB962C8B-B14F-4D97-AF65-F5344CB8AC3E}">
        <p14:creationId xmlns:p14="http://schemas.microsoft.com/office/powerpoint/2010/main" xmlns="" val="15530208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Arial" panose="020B0604020202020204" pitchFamily="34" charset="0"/>
                <a:cs typeface="Arial" panose="020B0604020202020204" pitchFamily="34" charset="0"/>
              </a:rPr>
              <a:t>Фундаментальные свойства отношений</a:t>
            </a:r>
            <a:endParaRPr lang="ru-RU" dirty="0">
              <a:latin typeface="Arial" panose="020B0604020202020204" pitchFamily="34" charset="0"/>
              <a:cs typeface="Arial" panose="020B0604020202020204" pitchFamily="34" charset="0"/>
            </a:endParaRPr>
          </a:p>
        </p:txBody>
      </p:sp>
      <p:sp>
        <p:nvSpPr>
          <p:cNvPr id="3" name="Объект 2"/>
          <p:cNvSpPr>
            <a:spLocks noGrp="1"/>
          </p:cNvSpPr>
          <p:nvPr>
            <p:ph idx="1"/>
          </p:nvPr>
        </p:nvSpPr>
        <p:spPr/>
        <p:txBody>
          <a:bodyPr/>
          <a:lstStyle/>
          <a:p>
            <a:r>
              <a:rPr lang="ru-RU" dirty="0" smtClean="0">
                <a:latin typeface="Arial" panose="020B0604020202020204" pitchFamily="34" charset="0"/>
                <a:cs typeface="Arial" panose="020B0604020202020204" pitchFamily="34" charset="0"/>
              </a:rPr>
              <a:t>1).</a:t>
            </a:r>
            <a:r>
              <a:rPr lang="ru-RU" dirty="0">
                <a:latin typeface="Arial" panose="020B0604020202020204" pitchFamily="34" charset="0"/>
                <a:cs typeface="Arial" panose="020B0604020202020204" pitchFamily="34" charset="0"/>
              </a:rPr>
              <a:t> Отсутствие </a:t>
            </a:r>
            <a:r>
              <a:rPr lang="ru-RU" dirty="0" smtClean="0">
                <a:latin typeface="Arial" panose="020B0604020202020204" pitchFamily="34" charset="0"/>
                <a:cs typeface="Arial" panose="020B0604020202020204" pitchFamily="34" charset="0"/>
              </a:rPr>
              <a:t>кортежей-дубликатов (первичный </a:t>
            </a:r>
            <a:r>
              <a:rPr lang="ru-RU" dirty="0">
                <a:latin typeface="Arial" panose="020B0604020202020204" pitchFamily="34" charset="0"/>
                <a:cs typeface="Arial" panose="020B0604020202020204" pitchFamily="34" charset="0"/>
              </a:rPr>
              <a:t>и возможные ключи </a:t>
            </a:r>
            <a:r>
              <a:rPr lang="ru-RU" dirty="0" smtClean="0">
                <a:latin typeface="Arial" panose="020B0604020202020204" pitchFamily="34" charset="0"/>
                <a:cs typeface="Arial" panose="020B0604020202020204" pitchFamily="34" charset="0"/>
              </a:rPr>
              <a:t>отношений)</a:t>
            </a:r>
          </a:p>
          <a:p>
            <a:r>
              <a:rPr lang="ru-RU" dirty="0" smtClean="0">
                <a:latin typeface="Arial" panose="020B0604020202020204" pitchFamily="34" charset="0"/>
                <a:cs typeface="Arial" panose="020B0604020202020204" pitchFamily="34" charset="0"/>
              </a:rPr>
              <a:t>2). </a:t>
            </a:r>
            <a:r>
              <a:rPr lang="ru-RU" dirty="0">
                <a:latin typeface="Arial" panose="020B0604020202020204" pitchFamily="34" charset="0"/>
                <a:cs typeface="Arial" panose="020B0604020202020204" pitchFamily="34" charset="0"/>
              </a:rPr>
              <a:t>Отсутствие упорядоченности кортежей</a:t>
            </a:r>
          </a:p>
          <a:p>
            <a:r>
              <a:rPr lang="ru-RU" dirty="0" smtClean="0">
                <a:latin typeface="Arial" panose="020B0604020202020204" pitchFamily="34" charset="0"/>
                <a:cs typeface="Arial" panose="020B0604020202020204" pitchFamily="34" charset="0"/>
              </a:rPr>
              <a:t>3). </a:t>
            </a:r>
            <a:r>
              <a:rPr lang="ru-RU" dirty="0">
                <a:latin typeface="Arial" panose="020B0604020202020204" pitchFamily="34" charset="0"/>
                <a:cs typeface="Arial" panose="020B0604020202020204" pitchFamily="34" charset="0"/>
              </a:rPr>
              <a:t>Отсутствие упорядоченности атрибутов</a:t>
            </a:r>
          </a:p>
          <a:p>
            <a:r>
              <a:rPr lang="ru-RU" dirty="0" smtClean="0">
                <a:latin typeface="Arial" panose="020B0604020202020204" pitchFamily="34" charset="0"/>
                <a:cs typeface="Arial" panose="020B0604020202020204" pitchFamily="34" charset="0"/>
              </a:rPr>
              <a:t>4). </a:t>
            </a:r>
            <a:r>
              <a:rPr lang="ru-RU" dirty="0">
                <a:latin typeface="Arial" panose="020B0604020202020204" pitchFamily="34" charset="0"/>
                <a:cs typeface="Arial" panose="020B0604020202020204" pitchFamily="34" charset="0"/>
              </a:rPr>
              <a:t>Атомарность значений </a:t>
            </a:r>
            <a:r>
              <a:rPr lang="ru-RU" dirty="0" smtClean="0">
                <a:latin typeface="Arial" panose="020B0604020202020204" pitchFamily="34" charset="0"/>
                <a:cs typeface="Arial" panose="020B0604020202020204" pitchFamily="34" charset="0"/>
              </a:rPr>
              <a:t>атрибутов (первая </a:t>
            </a:r>
            <a:r>
              <a:rPr lang="ru-RU" dirty="0">
                <a:latin typeface="Arial" panose="020B0604020202020204" pitchFamily="34" charset="0"/>
                <a:cs typeface="Arial" panose="020B0604020202020204" pitchFamily="34" charset="0"/>
              </a:rPr>
              <a:t>нормальная форма </a:t>
            </a:r>
            <a:r>
              <a:rPr lang="ru-RU" dirty="0" smtClean="0">
                <a:latin typeface="Arial" panose="020B0604020202020204" pitchFamily="34" charset="0"/>
                <a:cs typeface="Arial" panose="020B0604020202020204" pitchFamily="34" charset="0"/>
              </a:rPr>
              <a:t>отношения)</a:t>
            </a:r>
            <a:endParaRPr lang="ru-RU" dirty="0">
              <a:latin typeface="Arial" panose="020B0604020202020204" pitchFamily="34" charset="0"/>
              <a:cs typeface="Arial" panose="020B0604020202020204" pitchFamily="34" charset="0"/>
            </a:endParaRPr>
          </a:p>
          <a:p>
            <a:endParaRPr lang="ru-RU" dirty="0">
              <a:latin typeface="Arial" panose="020B0604020202020204" pitchFamily="34" charset="0"/>
              <a:cs typeface="Arial" panose="020B0604020202020204" pitchFamily="34" charset="0"/>
            </a:endParaRPr>
          </a:p>
        </p:txBody>
      </p:sp>
      <p:sp>
        <p:nvSpPr>
          <p:cNvPr id="4" name="Номер слайда 3"/>
          <p:cNvSpPr>
            <a:spLocks noGrp="1"/>
          </p:cNvSpPr>
          <p:nvPr>
            <p:ph type="sldNum" sz="quarter" idx="12"/>
          </p:nvPr>
        </p:nvSpPr>
        <p:spPr/>
        <p:txBody>
          <a:bodyPr/>
          <a:lstStyle/>
          <a:p>
            <a:fld id="{590C5F67-5E4C-4ABB-99F4-36BCAC8BE885}" type="slidenum">
              <a:rPr lang="ru-RU" smtClean="0"/>
              <a:pPr/>
              <a:t>21</a:t>
            </a:fld>
            <a:endParaRPr lang="ru-RU"/>
          </a:p>
        </p:txBody>
      </p:sp>
    </p:spTree>
    <p:extLst>
      <p:ext uri="{BB962C8B-B14F-4D97-AF65-F5344CB8AC3E}">
        <p14:creationId xmlns:p14="http://schemas.microsoft.com/office/powerpoint/2010/main" xmlns="" val="8154109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721252"/>
          </a:xfrm>
        </p:spPr>
        <p:txBody>
          <a:bodyPr>
            <a:normAutofit fontScale="90000"/>
          </a:bodyPr>
          <a:lstStyle/>
          <a:p>
            <a:r>
              <a:rPr lang="ru-RU" dirty="0" smtClean="0">
                <a:latin typeface="Arial" panose="020B0604020202020204" pitchFamily="34" charset="0"/>
                <a:cs typeface="Arial" panose="020B0604020202020204" pitchFamily="34" charset="0"/>
              </a:rPr>
              <a:t>Отсутствие кортежей-дубликатов, первичный и возможные ключи отношений</a:t>
            </a:r>
            <a:br>
              <a:rPr lang="ru-RU" dirty="0" smtClean="0">
                <a:latin typeface="Arial" panose="020B0604020202020204" pitchFamily="34" charset="0"/>
                <a:cs typeface="Arial" panose="020B0604020202020204" pitchFamily="34" charset="0"/>
              </a:rPr>
            </a:br>
            <a:endParaRPr lang="ru-RU" dirty="0"/>
          </a:p>
        </p:txBody>
      </p:sp>
      <p:sp>
        <p:nvSpPr>
          <p:cNvPr id="3" name="Объект 2"/>
          <p:cNvSpPr>
            <a:spLocks noGrp="1"/>
          </p:cNvSpPr>
          <p:nvPr>
            <p:ph idx="1"/>
          </p:nvPr>
        </p:nvSpPr>
        <p:spPr>
          <a:xfrm>
            <a:off x="838200" y="2331075"/>
            <a:ext cx="10515600" cy="3845887"/>
          </a:xfrm>
        </p:spPr>
        <p:txBody>
          <a:bodyPr/>
          <a:lstStyle/>
          <a:p>
            <a:r>
              <a:rPr lang="ru-RU" dirty="0" smtClean="0">
                <a:latin typeface="Arial" panose="020B0604020202020204" pitchFamily="34" charset="0"/>
                <a:cs typeface="Arial" panose="020B0604020202020204" pitchFamily="34" charset="0"/>
              </a:rPr>
              <a:t>Тело</a:t>
            </a:r>
            <a:r>
              <a:rPr lang="ru-RU" dirty="0">
                <a:latin typeface="Arial" panose="020B0604020202020204" pitchFamily="34" charset="0"/>
                <a:cs typeface="Arial" panose="020B0604020202020204" pitchFamily="34" charset="0"/>
              </a:rPr>
              <a:t> любого отношения никогда не содержит кортежей -дубликатов, следует из определения тела отношения как множества кортежей. В классической теории множеств по определению любое множество состоит из различных элементов.</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a:t>
            </a:fld>
            <a:endParaRPr lang="ru-RU"/>
          </a:p>
        </p:txBody>
      </p:sp>
    </p:spTree>
    <p:extLst>
      <p:ext uri="{BB962C8B-B14F-4D97-AF65-F5344CB8AC3E}">
        <p14:creationId xmlns:p14="http://schemas.microsoft.com/office/powerpoint/2010/main" xmlns="" val="41056358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Отсутствие упорядоченности </a:t>
            </a:r>
            <a:r>
              <a:rPr lang="ru-RU" b="1" dirty="0" smtClean="0"/>
              <a:t>кортежей</a:t>
            </a:r>
            <a:endParaRPr lang="ru-RU" dirty="0"/>
          </a:p>
        </p:txBody>
      </p:sp>
      <p:sp>
        <p:nvSpPr>
          <p:cNvPr id="3" name="Объект 2"/>
          <p:cNvSpPr>
            <a:spLocks noGrp="1"/>
          </p:cNvSpPr>
          <p:nvPr>
            <p:ph idx="1"/>
          </p:nvPr>
        </p:nvSpPr>
        <p:spPr/>
        <p:txBody>
          <a:bodyPr>
            <a:normAutofit/>
          </a:bodyPr>
          <a:lstStyle/>
          <a:p>
            <a:r>
              <a:rPr lang="ru-RU" dirty="0" smtClean="0">
                <a:latin typeface="Arial" panose="020B0604020202020204" pitchFamily="34" charset="0"/>
                <a:cs typeface="Arial" panose="020B0604020202020204" pitchFamily="34" charset="0"/>
              </a:rPr>
              <a:t>Свойство отсутствия упорядоченности</a:t>
            </a:r>
            <a:r>
              <a:rPr lang="ru-RU" dirty="0">
                <a:latin typeface="Arial" panose="020B0604020202020204" pitchFamily="34" charset="0"/>
                <a:cs typeface="Arial" panose="020B0604020202020204" pitchFamily="34" charset="0"/>
              </a:rPr>
              <a:t> </a:t>
            </a:r>
            <a:r>
              <a:rPr lang="ru-RU" i="1" dirty="0">
                <a:latin typeface="Arial" panose="020B0604020202020204" pitchFamily="34" charset="0"/>
                <a:cs typeface="Arial" panose="020B0604020202020204" pitchFamily="34" charset="0"/>
              </a:rPr>
              <a:t>кортежей</a:t>
            </a:r>
            <a:r>
              <a:rPr lang="ru-RU" dirty="0">
                <a:latin typeface="Arial" panose="020B0604020202020204" pitchFamily="34" charset="0"/>
                <a:cs typeface="Arial" panose="020B0604020202020204" pitchFamily="34" charset="0"/>
              </a:rPr>
              <a:t> в </a:t>
            </a:r>
            <a:r>
              <a:rPr lang="ru-RU" i="1" dirty="0">
                <a:latin typeface="Arial" panose="020B0604020202020204" pitchFamily="34" charset="0"/>
                <a:cs typeface="Arial" panose="020B0604020202020204" pitchFamily="34" charset="0"/>
              </a:rPr>
              <a:t>значении отношения</a:t>
            </a:r>
            <a:r>
              <a:rPr lang="ru-RU" dirty="0">
                <a:latin typeface="Arial" panose="020B0604020202020204" pitchFamily="34" charset="0"/>
                <a:cs typeface="Arial" panose="020B0604020202020204" pitchFamily="34" charset="0"/>
              </a:rPr>
              <a:t> также является следствием </a:t>
            </a:r>
            <a:r>
              <a:rPr lang="ru-RU" dirty="0" smtClean="0">
                <a:latin typeface="Arial" panose="020B0604020202020204" pitchFamily="34" charset="0"/>
                <a:cs typeface="Arial" panose="020B0604020202020204" pitchFamily="34" charset="0"/>
              </a:rPr>
              <a:t>определения </a:t>
            </a:r>
            <a:r>
              <a:rPr lang="ru-RU" i="1" dirty="0" smtClean="0">
                <a:latin typeface="Arial" panose="020B0604020202020204" pitchFamily="34" charset="0"/>
                <a:cs typeface="Arial" panose="020B0604020202020204" pitchFamily="34" charset="0"/>
              </a:rPr>
              <a:t>тела </a:t>
            </a:r>
            <a:r>
              <a:rPr lang="ru-RU" i="1" dirty="0">
                <a:latin typeface="Arial" panose="020B0604020202020204" pitchFamily="34" charset="0"/>
                <a:cs typeface="Arial" panose="020B0604020202020204" pitchFamily="34" charset="0"/>
              </a:rPr>
              <a:t>отношения</a:t>
            </a:r>
            <a:r>
              <a:rPr lang="ru-RU" dirty="0">
                <a:latin typeface="Arial" panose="020B0604020202020204" pitchFamily="34" charset="0"/>
                <a:cs typeface="Arial" panose="020B0604020202020204" pitchFamily="34" charset="0"/>
              </a:rPr>
              <a:t> как множества </a:t>
            </a:r>
            <a:r>
              <a:rPr lang="ru-RU" i="1" dirty="0">
                <a:latin typeface="Arial" panose="020B0604020202020204" pitchFamily="34" charset="0"/>
                <a:cs typeface="Arial" panose="020B0604020202020204" pitchFamily="34" charset="0"/>
              </a:rPr>
              <a:t>кортежей</a:t>
            </a:r>
            <a:r>
              <a:rPr lang="ru-RU" dirty="0" smtClean="0">
                <a:latin typeface="Arial" panose="020B0604020202020204" pitchFamily="34" charset="0"/>
                <a:cs typeface="Arial" panose="020B0604020202020204" pitchFamily="34" charset="0"/>
              </a:rPr>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23</a:t>
            </a:fld>
            <a:endParaRPr lang="ru-RU"/>
          </a:p>
        </p:txBody>
      </p:sp>
    </p:spTree>
    <p:extLst>
      <p:ext uri="{BB962C8B-B14F-4D97-AF65-F5344CB8AC3E}">
        <p14:creationId xmlns:p14="http://schemas.microsoft.com/office/powerpoint/2010/main" xmlns="" val="32653994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t/>
            </a:r>
            <a:br>
              <a:rPr lang="ru-RU" b="1" dirty="0" smtClean="0"/>
            </a:br>
            <a:r>
              <a:rPr lang="ru-RU" b="1" dirty="0" smtClean="0"/>
              <a:t>Отсутствие </a:t>
            </a:r>
            <a:r>
              <a:rPr lang="ru-RU" b="1" dirty="0"/>
              <a:t>упорядоченности атрибутов</a:t>
            </a:r>
            <a:br>
              <a:rPr lang="ru-RU" b="1" dirty="0"/>
            </a:br>
            <a:endParaRPr lang="ru-RU" dirty="0"/>
          </a:p>
        </p:txBody>
      </p:sp>
      <p:sp>
        <p:nvSpPr>
          <p:cNvPr id="3" name="Объект 2"/>
          <p:cNvSpPr>
            <a:spLocks noGrp="1"/>
          </p:cNvSpPr>
          <p:nvPr>
            <p:ph idx="1"/>
          </p:nvPr>
        </p:nvSpPr>
        <p:spPr/>
        <p:txBody>
          <a:bodyPr/>
          <a:lstStyle/>
          <a:p>
            <a:r>
              <a:rPr lang="ru-RU" dirty="0">
                <a:latin typeface="Arial" panose="020B0604020202020204" pitchFamily="34" charset="0"/>
                <a:cs typeface="Arial" panose="020B0604020202020204" pitchFamily="34" charset="0"/>
              </a:rPr>
              <a:t>Атрибуты отношений не упорядочены, поскольку по определению </a:t>
            </a:r>
            <a:r>
              <a:rPr lang="ru-RU" b="1" dirty="0">
                <a:latin typeface="Arial" panose="020B0604020202020204" pitchFamily="34" charset="0"/>
                <a:cs typeface="Arial" panose="020B0604020202020204" pitchFamily="34" charset="0"/>
              </a:rPr>
              <a:t>заголовок отношения</a:t>
            </a:r>
            <a:r>
              <a:rPr lang="ru-RU" dirty="0">
                <a:latin typeface="Arial" panose="020B0604020202020204" pitchFamily="34" charset="0"/>
                <a:cs typeface="Arial" panose="020B0604020202020204" pitchFamily="34" charset="0"/>
              </a:rPr>
              <a:t> есть множество пар &lt;имя атрибута, имя домена</a:t>
            </a:r>
            <a:r>
              <a:rPr lang="ru-RU" dirty="0" smtClean="0">
                <a:latin typeface="Arial" panose="020B0604020202020204" pitchFamily="34" charset="0"/>
                <a:cs typeface="Arial" panose="020B0604020202020204" pitchFamily="34" charset="0"/>
              </a:rPr>
              <a:t>&gt; (</a:t>
            </a:r>
            <a:r>
              <a:rPr lang="en-US" dirty="0" smtClean="0">
                <a:latin typeface="Arial" panose="020B0604020202020204" pitchFamily="34" charset="0"/>
                <a:cs typeface="Arial" panose="020B0604020202020204" pitchFamily="34" charset="0"/>
              </a:rPr>
              <a:t>&lt;A,T&gt;</a:t>
            </a:r>
            <a:r>
              <a:rPr lang="ru-RU"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 Для ссылки на значение атрибута в кортеже отношения всегда используется имя атрибута.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24</a:t>
            </a:fld>
            <a:endParaRPr lang="ru-RU"/>
          </a:p>
        </p:txBody>
      </p:sp>
    </p:spTree>
    <p:extLst>
      <p:ext uri="{BB962C8B-B14F-4D97-AF65-F5344CB8AC3E}">
        <p14:creationId xmlns:p14="http://schemas.microsoft.com/office/powerpoint/2010/main" xmlns="" val="22475478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Атомарность значений атрибутов, первая нормальная форма отношения</a:t>
            </a:r>
            <a:br>
              <a:rPr lang="ru-RU" b="1" dirty="0"/>
            </a:br>
            <a:endParaRPr lang="ru-RU" dirty="0"/>
          </a:p>
        </p:txBody>
      </p:sp>
      <p:sp>
        <p:nvSpPr>
          <p:cNvPr id="3" name="Объект 2"/>
          <p:cNvSpPr>
            <a:spLocks noGrp="1"/>
          </p:cNvSpPr>
          <p:nvPr>
            <p:ph idx="1"/>
          </p:nvPr>
        </p:nvSpPr>
        <p:spPr/>
        <p:txBody>
          <a:bodyPr/>
          <a:lstStyle/>
          <a:p>
            <a:r>
              <a:rPr lang="ru-RU" dirty="0"/>
              <a:t>Значения всех </a:t>
            </a:r>
            <a:r>
              <a:rPr lang="ru-RU" i="1" dirty="0"/>
              <a:t>атрибутов</a:t>
            </a:r>
            <a:r>
              <a:rPr lang="ru-RU" dirty="0"/>
              <a:t> являются атомарными (вернее, скалярными). Это следует из определения </a:t>
            </a:r>
            <a:r>
              <a:rPr lang="ru-RU" i="1" dirty="0"/>
              <a:t>домена</a:t>
            </a:r>
            <a:r>
              <a:rPr lang="ru-RU" dirty="0"/>
              <a:t> как </a:t>
            </a:r>
            <a:r>
              <a:rPr lang="ru-RU" dirty="0" smtClean="0"/>
              <a:t>множества </a:t>
            </a:r>
            <a:r>
              <a:rPr lang="ru-RU" dirty="0"/>
              <a:t>значений скалярного </a:t>
            </a:r>
            <a:r>
              <a:rPr lang="ru-RU" i="1" dirty="0"/>
              <a:t>типа </a:t>
            </a:r>
            <a:r>
              <a:rPr lang="ru-RU" i="1" dirty="0" smtClean="0"/>
              <a:t>данных</a:t>
            </a:r>
            <a:r>
              <a:rPr lang="en-US" i="1" dirty="0" smtClean="0"/>
              <a:t>, </a:t>
            </a:r>
            <a:r>
              <a:rPr lang="ru-RU" dirty="0"/>
              <a:t> т. е. среди значений </a:t>
            </a:r>
            <a:r>
              <a:rPr lang="ru-RU" i="1" dirty="0"/>
              <a:t>домена</a:t>
            </a:r>
            <a:r>
              <a:rPr lang="ru-RU" dirty="0"/>
              <a:t> не могут содержаться значения с видимой </a:t>
            </a:r>
            <a:r>
              <a:rPr lang="ru-RU" dirty="0" smtClean="0"/>
              <a:t>структурой</a:t>
            </a:r>
            <a:r>
              <a:rPr lang="ru-RU" dirty="0"/>
              <a:t>, в том числе множества значений ( </a:t>
            </a:r>
            <a:r>
              <a:rPr lang="ru-RU" i="1" dirty="0"/>
              <a:t>отношения</a:t>
            </a:r>
            <a:r>
              <a:rPr lang="ru-RU" dirty="0"/>
              <a:t> </a:t>
            </a:r>
            <a:r>
              <a:rPr lang="ru-RU" dirty="0" smtClean="0"/>
              <a:t>).</a:t>
            </a:r>
            <a:endParaRPr lang="en-US" dirty="0" smtClean="0"/>
          </a:p>
          <a:p>
            <a:r>
              <a:rPr lang="ru-RU" dirty="0"/>
              <a:t>В </a:t>
            </a:r>
            <a:r>
              <a:rPr lang="ru-RU" i="1" dirty="0"/>
              <a:t>реляционных базах данных</a:t>
            </a:r>
            <a:r>
              <a:rPr lang="ru-RU" dirty="0"/>
              <a:t> допускаются только нормализованные </a:t>
            </a:r>
            <a:r>
              <a:rPr lang="ru-RU" i="1" dirty="0"/>
              <a:t>отношения</a:t>
            </a:r>
            <a:r>
              <a:rPr lang="ru-RU" dirty="0"/>
              <a:t>, или </a:t>
            </a:r>
            <a:r>
              <a:rPr lang="ru-RU" i="1" dirty="0"/>
              <a:t>отношения</a:t>
            </a:r>
            <a:r>
              <a:rPr lang="ru-RU" dirty="0"/>
              <a:t>, представленные в </a:t>
            </a:r>
            <a:r>
              <a:rPr lang="ru-RU" i="1" dirty="0"/>
              <a:t>первой нормальной форме</a:t>
            </a:r>
            <a:r>
              <a:rPr lang="ru-RU" dirty="0" smtClean="0"/>
              <a:t>.</a:t>
            </a:r>
          </a:p>
          <a:p>
            <a:r>
              <a:rPr lang="ru-RU" dirty="0"/>
              <a:t>Нормализованные </a:t>
            </a:r>
            <a:r>
              <a:rPr lang="ru-RU" i="1" dirty="0"/>
              <a:t>отношения</a:t>
            </a:r>
            <a:r>
              <a:rPr lang="ru-RU" dirty="0"/>
              <a:t> составляют основу классического </a:t>
            </a:r>
            <a:r>
              <a:rPr lang="ru-RU" i="1" dirty="0"/>
              <a:t>реляционного подхода к организации баз данных</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25</a:t>
            </a:fld>
            <a:endParaRPr lang="ru-RU"/>
          </a:p>
        </p:txBody>
      </p:sp>
    </p:spTree>
    <p:extLst>
      <p:ext uri="{BB962C8B-B14F-4D97-AF65-F5344CB8AC3E}">
        <p14:creationId xmlns:p14="http://schemas.microsoft.com/office/powerpoint/2010/main" xmlns="" val="7251418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Целостность сущности и ссылок</a:t>
            </a:r>
            <a:br>
              <a:rPr lang="ru-RU" b="1" dirty="0"/>
            </a:br>
            <a:endParaRPr lang="ru-RU" dirty="0"/>
          </a:p>
        </p:txBody>
      </p:sp>
      <p:sp>
        <p:nvSpPr>
          <p:cNvPr id="3" name="Объект 2"/>
          <p:cNvSpPr>
            <a:spLocks noGrp="1"/>
          </p:cNvSpPr>
          <p:nvPr>
            <p:ph idx="1"/>
          </p:nvPr>
        </p:nvSpPr>
        <p:spPr/>
        <p:txBody>
          <a:bodyPr/>
          <a:lstStyle/>
          <a:p>
            <a:r>
              <a:rPr lang="ru-RU" dirty="0"/>
              <a:t> требование </a:t>
            </a:r>
            <a:r>
              <a:rPr lang="ru-RU" b="1" i="1" dirty="0"/>
              <a:t>целостности сущности</a:t>
            </a:r>
            <a:r>
              <a:rPr lang="ru-RU" dirty="0"/>
              <a:t> полностью звучит следующим образом: у любой </a:t>
            </a:r>
            <a:r>
              <a:rPr lang="ru-RU" i="1" dirty="0"/>
              <a:t>переменной отношения</a:t>
            </a:r>
            <a:r>
              <a:rPr lang="ru-RU" dirty="0"/>
              <a:t> должен существовать </a:t>
            </a:r>
            <a:r>
              <a:rPr lang="ru-RU" i="1" dirty="0"/>
              <a:t>первичный ключ</a:t>
            </a:r>
            <a:r>
              <a:rPr lang="ru-RU" dirty="0"/>
              <a:t>, и никакое значение </a:t>
            </a:r>
            <a:r>
              <a:rPr lang="ru-RU" i="1" dirty="0"/>
              <a:t>первичного ключа</a:t>
            </a:r>
            <a:r>
              <a:rPr lang="ru-RU" dirty="0"/>
              <a:t> в </a:t>
            </a:r>
            <a:r>
              <a:rPr lang="ru-RU" i="1" dirty="0"/>
              <a:t>кортежах</a:t>
            </a:r>
            <a:r>
              <a:rPr lang="ru-RU" dirty="0"/>
              <a:t> </a:t>
            </a:r>
            <a:r>
              <a:rPr lang="ru-RU" dirty="0" smtClean="0"/>
              <a:t>не должно содержать</a:t>
            </a:r>
            <a:r>
              <a:rPr lang="ru-RU" dirty="0"/>
              <a:t> </a:t>
            </a:r>
            <a:r>
              <a:rPr lang="ru-RU" i="1" dirty="0"/>
              <a:t>неопределенных значений</a:t>
            </a:r>
            <a:r>
              <a:rPr lang="ru-RU" dirty="0"/>
              <a:t> </a:t>
            </a:r>
            <a:r>
              <a:rPr lang="ru-RU" dirty="0" smtClean="0"/>
              <a:t> </a:t>
            </a:r>
            <a:r>
              <a:rPr lang="en-US" dirty="0"/>
              <a:t>( NULL )</a:t>
            </a:r>
            <a:r>
              <a:rPr lang="ru-RU" dirty="0" smtClean="0"/>
              <a:t>.</a:t>
            </a:r>
            <a:endParaRPr lang="en-US" dirty="0" smtClean="0"/>
          </a:p>
          <a:p>
            <a:r>
              <a:rPr lang="ru-RU" dirty="0"/>
              <a:t>требование </a:t>
            </a:r>
            <a:r>
              <a:rPr lang="ru-RU" b="1" i="1" dirty="0"/>
              <a:t>целостности сущности</a:t>
            </a:r>
            <a:r>
              <a:rPr lang="ru-RU" dirty="0"/>
              <a:t> — означает, что </a:t>
            </a:r>
            <a:r>
              <a:rPr lang="ru-RU" i="1" dirty="0"/>
              <a:t>первичный ключ</a:t>
            </a:r>
            <a:r>
              <a:rPr lang="ru-RU" dirty="0"/>
              <a:t> должен полностью идентифицировать каждую сущность, а поэтому в составе любого значения </a:t>
            </a:r>
            <a:r>
              <a:rPr lang="ru-RU" i="1" dirty="0"/>
              <a:t>первичного ключа</a:t>
            </a:r>
            <a:r>
              <a:rPr lang="ru-RU" dirty="0"/>
              <a:t> не допускается наличие </a:t>
            </a:r>
            <a:r>
              <a:rPr lang="ru-RU" i="1" dirty="0"/>
              <a:t>неопределенных значений</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26</a:t>
            </a:fld>
            <a:endParaRPr lang="ru-RU"/>
          </a:p>
        </p:txBody>
      </p:sp>
    </p:spTree>
    <p:extLst>
      <p:ext uri="{BB962C8B-B14F-4D97-AF65-F5344CB8AC3E}">
        <p14:creationId xmlns:p14="http://schemas.microsoft.com/office/powerpoint/2010/main" xmlns="" val="39131816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smtClean="0"/>
              <a:t>NULL</a:t>
            </a:r>
            <a:r>
              <a:rPr lang="ru-RU" b="1" dirty="0"/>
              <a:t/>
            </a:r>
            <a:br>
              <a:rPr lang="ru-RU" b="1" dirty="0"/>
            </a:br>
            <a:endParaRPr lang="ru-RU" dirty="0"/>
          </a:p>
        </p:txBody>
      </p:sp>
      <p:sp>
        <p:nvSpPr>
          <p:cNvPr id="3" name="Объект 2"/>
          <p:cNvSpPr>
            <a:spLocks noGrp="1"/>
          </p:cNvSpPr>
          <p:nvPr>
            <p:ph idx="1"/>
          </p:nvPr>
        </p:nvSpPr>
        <p:spPr/>
        <p:txBody>
          <a:bodyPr>
            <a:normAutofit/>
          </a:bodyPr>
          <a:lstStyle/>
          <a:p>
            <a:r>
              <a:rPr lang="ru-RU" dirty="0"/>
              <a:t> </a:t>
            </a:r>
            <a:r>
              <a:rPr lang="ru-RU" i="1" dirty="0"/>
              <a:t>Неопределенное значение</a:t>
            </a:r>
            <a:r>
              <a:rPr lang="ru-RU" dirty="0"/>
              <a:t> не принадлежит </a:t>
            </a:r>
            <a:r>
              <a:rPr lang="ru-RU" dirty="0" smtClean="0"/>
              <a:t>никакому</a:t>
            </a:r>
            <a:r>
              <a:rPr lang="en-US" dirty="0" smtClean="0"/>
              <a:t> </a:t>
            </a:r>
            <a:r>
              <a:rPr lang="ru-RU" i="1" dirty="0" smtClean="0"/>
              <a:t>типу </a:t>
            </a:r>
            <a:r>
              <a:rPr lang="ru-RU" i="1" dirty="0"/>
              <a:t>данных</a:t>
            </a:r>
            <a:r>
              <a:rPr lang="ru-RU" dirty="0"/>
              <a:t> и может присутствовать среди значений любого </a:t>
            </a:r>
            <a:r>
              <a:rPr lang="ru-RU" i="1" dirty="0"/>
              <a:t>атрибута</a:t>
            </a:r>
            <a:r>
              <a:rPr lang="ru-RU" dirty="0"/>
              <a:t>, определенного на любом </a:t>
            </a:r>
            <a:r>
              <a:rPr lang="ru-RU" i="1" dirty="0"/>
              <a:t>типе данных</a:t>
            </a:r>
            <a:r>
              <a:rPr lang="ru-RU" dirty="0"/>
              <a:t> (если это явно не запрещено при определении </a:t>
            </a:r>
            <a:r>
              <a:rPr lang="ru-RU" i="1" dirty="0"/>
              <a:t>атрибута</a:t>
            </a:r>
            <a:r>
              <a:rPr lang="ru-RU" dirty="0"/>
              <a:t> ).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27</a:t>
            </a:fld>
            <a:endParaRPr lang="ru-RU"/>
          </a:p>
        </p:txBody>
      </p:sp>
    </p:spTree>
    <p:extLst>
      <p:ext uri="{BB962C8B-B14F-4D97-AF65-F5344CB8AC3E}">
        <p14:creationId xmlns:p14="http://schemas.microsoft.com/office/powerpoint/2010/main" xmlns="" val="33081222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smtClean="0"/>
              <a:t>Целостность </a:t>
            </a:r>
            <a:r>
              <a:rPr lang="ru-RU" b="1" dirty="0"/>
              <a:t>по ссылкам</a:t>
            </a:r>
            <a:endParaRPr lang="ru-RU" dirty="0"/>
          </a:p>
        </p:txBody>
      </p:sp>
      <p:sp>
        <p:nvSpPr>
          <p:cNvPr id="3" name="Объект 2"/>
          <p:cNvSpPr>
            <a:spLocks noGrp="1"/>
          </p:cNvSpPr>
          <p:nvPr>
            <p:ph idx="1"/>
          </p:nvPr>
        </p:nvSpPr>
        <p:spPr/>
        <p:txBody>
          <a:bodyPr/>
          <a:lstStyle/>
          <a:p>
            <a:r>
              <a:rPr lang="ru-RU" dirty="0"/>
              <a:t>Требование </a:t>
            </a:r>
            <a:r>
              <a:rPr lang="ru-RU" b="1" i="1" dirty="0"/>
              <a:t>целостности по ссылкам</a:t>
            </a:r>
            <a:r>
              <a:rPr lang="ru-RU" dirty="0"/>
              <a:t>, или требование целостности </a:t>
            </a:r>
            <a:r>
              <a:rPr lang="ru-RU" i="1" dirty="0"/>
              <a:t>внешнего ключа</a:t>
            </a:r>
            <a:r>
              <a:rPr lang="ru-RU" dirty="0"/>
              <a:t>, состоит в том, что для каждого </a:t>
            </a:r>
            <a:r>
              <a:rPr lang="ru-RU" dirty="0" smtClean="0"/>
              <a:t>значения </a:t>
            </a:r>
            <a:r>
              <a:rPr lang="ru-RU" i="1" dirty="0" smtClean="0"/>
              <a:t>внешнего </a:t>
            </a:r>
            <a:r>
              <a:rPr lang="ru-RU" i="1" dirty="0"/>
              <a:t>ключа</a:t>
            </a:r>
            <a:r>
              <a:rPr lang="ru-RU" dirty="0"/>
              <a:t>, </a:t>
            </a:r>
            <a:r>
              <a:rPr lang="ru-RU" dirty="0" smtClean="0"/>
              <a:t>на </a:t>
            </a:r>
            <a:r>
              <a:rPr lang="ru-RU" dirty="0"/>
              <a:t>которую указывает ссылка, должен найтись </a:t>
            </a:r>
            <a:r>
              <a:rPr lang="ru-RU" i="1" dirty="0"/>
              <a:t>кортеж</a:t>
            </a:r>
            <a:r>
              <a:rPr lang="ru-RU" dirty="0"/>
              <a:t> с таким же значением </a:t>
            </a:r>
            <a:r>
              <a:rPr lang="ru-RU" i="1" dirty="0"/>
              <a:t>первичного ключа</a:t>
            </a:r>
            <a:r>
              <a:rPr lang="ru-RU" dirty="0"/>
              <a:t>, либо значение внешнего ключа должно быть полностью неопределенным (т. е. ни на что не </a:t>
            </a:r>
            <a:r>
              <a:rPr lang="ru-RU" dirty="0" smtClean="0"/>
              <a:t>указывать)</a:t>
            </a:r>
            <a:r>
              <a:rPr lang="ru-RU" dirty="0"/>
              <a:t> </a:t>
            </a:r>
            <a:r>
              <a:rPr lang="ru-RU" dirty="0" smtClean="0"/>
              <a: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a:t>
            </a:fld>
            <a:endParaRPr lang="ru-RU"/>
          </a:p>
        </p:txBody>
      </p:sp>
    </p:spTree>
    <p:extLst>
      <p:ext uri="{BB962C8B-B14F-4D97-AF65-F5344CB8AC3E}">
        <p14:creationId xmlns:p14="http://schemas.microsoft.com/office/powerpoint/2010/main" xmlns="" val="40254352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637674" y="365125"/>
            <a:ext cx="10716126" cy="5811838"/>
          </a:xfrm>
        </p:spPr>
        <p:txBody>
          <a:bodyPr/>
          <a:lstStyle/>
          <a:p>
            <a:r>
              <a:rPr lang="ru-RU" i="1" dirty="0"/>
              <a:t>Ограничения</a:t>
            </a:r>
            <a:r>
              <a:rPr lang="ru-RU" dirty="0"/>
              <a:t> </a:t>
            </a:r>
            <a:r>
              <a:rPr lang="ru-RU" i="1" dirty="0"/>
              <a:t>целостности сущности</a:t>
            </a:r>
            <a:r>
              <a:rPr lang="ru-RU" dirty="0"/>
              <a:t> и </a:t>
            </a:r>
            <a:r>
              <a:rPr lang="ru-RU" i="1" dirty="0"/>
              <a:t>по ссылкам</a:t>
            </a:r>
            <a:r>
              <a:rPr lang="ru-RU" dirty="0"/>
              <a:t> должны поддерживаться СУБД. Для соблюдения </a:t>
            </a:r>
            <a:r>
              <a:rPr lang="ru-RU" i="1" dirty="0"/>
              <a:t>целостности сущности</a:t>
            </a:r>
            <a:r>
              <a:rPr lang="ru-RU" dirty="0"/>
              <a:t> достаточно гарантировать отсутствие в любой </a:t>
            </a:r>
            <a:r>
              <a:rPr lang="ru-RU" i="1" dirty="0"/>
              <a:t>переменной отношения</a:t>
            </a:r>
            <a:r>
              <a:rPr lang="ru-RU" dirty="0"/>
              <a:t> значений- </a:t>
            </a:r>
            <a:r>
              <a:rPr lang="ru-RU" i="1" dirty="0"/>
              <a:t>отношений</a:t>
            </a:r>
            <a:r>
              <a:rPr lang="ru-RU" dirty="0"/>
              <a:t>, содержащих </a:t>
            </a:r>
            <a:r>
              <a:rPr lang="ru-RU" i="1" dirty="0"/>
              <a:t>кортежи</a:t>
            </a:r>
            <a:r>
              <a:rPr lang="ru-RU" dirty="0"/>
              <a:t> с одним и тем же </a:t>
            </a:r>
            <a:r>
              <a:rPr lang="ru-RU" dirty="0" smtClean="0"/>
              <a:t>значением </a:t>
            </a:r>
            <a:r>
              <a:rPr lang="ru-RU" i="1" dirty="0" smtClean="0"/>
              <a:t>первичного </a:t>
            </a:r>
            <a:r>
              <a:rPr lang="ru-RU" i="1" dirty="0"/>
              <a:t>ключа</a:t>
            </a:r>
            <a:r>
              <a:rPr lang="ru-RU" dirty="0"/>
              <a:t> (и запрещать вхождение в значение </a:t>
            </a:r>
            <a:r>
              <a:rPr lang="ru-RU" i="1" dirty="0"/>
              <a:t>первичного ключа</a:t>
            </a:r>
            <a:r>
              <a:rPr lang="ru-RU" dirty="0"/>
              <a:t> </a:t>
            </a:r>
            <a:r>
              <a:rPr lang="ru-RU" i="1" dirty="0"/>
              <a:t>неопределенных значений</a:t>
            </a:r>
            <a:r>
              <a:rPr lang="ru-RU" dirty="0"/>
              <a:t> ). С </a:t>
            </a:r>
            <a:r>
              <a:rPr lang="ru-RU" i="1" dirty="0"/>
              <a:t>целостностью по ссылкам</a:t>
            </a:r>
            <a:r>
              <a:rPr lang="ru-RU" dirty="0"/>
              <a:t> дело обстоит несколько сложнее</a:t>
            </a:r>
            <a:r>
              <a:rPr lang="ru-RU" dirty="0" smtClean="0"/>
              <a:t>.</a:t>
            </a:r>
          </a:p>
          <a:p>
            <a:r>
              <a:rPr lang="ru-RU" dirty="0"/>
              <a:t> </a:t>
            </a:r>
            <a:r>
              <a:rPr lang="ru-RU" dirty="0" smtClean="0"/>
              <a:t>При </a:t>
            </a:r>
            <a:r>
              <a:rPr lang="ru-RU" dirty="0"/>
              <a:t>обновлении ссылающегося </a:t>
            </a:r>
            <a:r>
              <a:rPr lang="ru-RU" i="1" dirty="0"/>
              <a:t>отношения</a:t>
            </a:r>
            <a:r>
              <a:rPr lang="ru-RU" dirty="0"/>
              <a:t> (вставке новых </a:t>
            </a:r>
            <a:r>
              <a:rPr lang="ru-RU" i="1" dirty="0"/>
              <a:t>кортежей</a:t>
            </a:r>
            <a:r>
              <a:rPr lang="ru-RU" dirty="0"/>
              <a:t> или модификации значения </a:t>
            </a:r>
            <a:r>
              <a:rPr lang="ru-RU" i="1" dirty="0"/>
              <a:t>внешнего ключа</a:t>
            </a:r>
            <a:r>
              <a:rPr lang="ru-RU" dirty="0"/>
              <a:t> в существующих </a:t>
            </a:r>
            <a:r>
              <a:rPr lang="ru-RU" i="1" dirty="0"/>
              <a:t>кортежах</a:t>
            </a:r>
            <a:r>
              <a:rPr lang="ru-RU" dirty="0"/>
              <a:t> ) достаточно следить за тем, чтобы не появлялись некорректные значения </a:t>
            </a:r>
            <a:r>
              <a:rPr lang="ru-RU" i="1" dirty="0"/>
              <a:t>внешнего ключа</a:t>
            </a:r>
            <a:r>
              <a:rPr lang="ru-RU" dirty="0"/>
              <a:t>. Но как быть при удалении </a:t>
            </a:r>
            <a:r>
              <a:rPr lang="ru-RU" i="1" dirty="0"/>
              <a:t>кортежа</a:t>
            </a:r>
            <a:r>
              <a:rPr lang="ru-RU" dirty="0"/>
              <a:t> из </a:t>
            </a:r>
            <a:r>
              <a:rPr lang="ru-RU" i="1" dirty="0"/>
              <a:t>отношения</a:t>
            </a:r>
            <a:r>
              <a:rPr lang="ru-RU" dirty="0"/>
              <a:t>, на которое ведет ссылка?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29</a:t>
            </a:fld>
            <a:endParaRPr lang="ru-RU"/>
          </a:p>
        </p:txBody>
      </p:sp>
    </p:spTree>
    <p:extLst>
      <p:ext uri="{BB962C8B-B14F-4D97-AF65-F5344CB8AC3E}">
        <p14:creationId xmlns:p14="http://schemas.microsoft.com/office/powerpoint/2010/main" xmlns="" val="2866637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505326"/>
            <a:ext cx="10515600" cy="5671637"/>
          </a:xfrm>
        </p:spPr>
        <p:txBody>
          <a:bodyPr/>
          <a:lstStyle/>
          <a:p>
            <a:r>
              <a:rPr lang="ru-RU" dirty="0"/>
              <a:t>Здесь существуют три подхода, каждый из которых поддерживает </a:t>
            </a:r>
            <a:r>
              <a:rPr lang="ru-RU" i="1" dirty="0"/>
              <a:t>целостность по ссылкам</a:t>
            </a:r>
            <a:r>
              <a:rPr lang="ru-RU" dirty="0" smtClean="0"/>
              <a:t>.</a:t>
            </a:r>
          </a:p>
          <a:p>
            <a:r>
              <a:rPr lang="ru-RU" dirty="0" smtClean="0"/>
              <a:t>1).</a:t>
            </a:r>
            <a:r>
              <a:rPr lang="ru-RU" dirty="0"/>
              <a:t> </a:t>
            </a:r>
            <a:r>
              <a:rPr lang="ru-RU" dirty="0" smtClean="0"/>
              <a:t>Вообще </a:t>
            </a:r>
            <a:r>
              <a:rPr lang="ru-RU" dirty="0"/>
              <a:t>запрещается производить удаление </a:t>
            </a:r>
            <a:r>
              <a:rPr lang="ru-RU" i="1" dirty="0"/>
              <a:t>кортежа</a:t>
            </a:r>
            <a:r>
              <a:rPr lang="ru-RU" dirty="0"/>
              <a:t>, для которого существуют ссылки (т. е. сначала нужно либо удалить </a:t>
            </a:r>
            <a:r>
              <a:rPr lang="ru-RU" dirty="0" smtClean="0"/>
              <a:t>ссылающиеся </a:t>
            </a:r>
            <a:r>
              <a:rPr lang="ru-RU" i="1" dirty="0" smtClean="0"/>
              <a:t>кортежи</a:t>
            </a:r>
            <a:r>
              <a:rPr lang="ru-RU" dirty="0"/>
              <a:t>, либо соответствующим образом изменить значения их </a:t>
            </a:r>
            <a:r>
              <a:rPr lang="ru-RU" i="1" dirty="0"/>
              <a:t>внешнего ключа</a:t>
            </a:r>
            <a:r>
              <a:rPr lang="ru-RU" dirty="0"/>
              <a:t> ). </a:t>
            </a:r>
            <a:endParaRPr lang="ru-RU" dirty="0" smtClean="0"/>
          </a:p>
          <a:p>
            <a:r>
              <a:rPr lang="ru-RU" dirty="0" smtClean="0"/>
              <a:t>2). При </a:t>
            </a:r>
            <a:r>
              <a:rPr lang="ru-RU" dirty="0"/>
              <a:t>удалении </a:t>
            </a:r>
            <a:r>
              <a:rPr lang="ru-RU" i="1" dirty="0"/>
              <a:t>кортежа</a:t>
            </a:r>
            <a:r>
              <a:rPr lang="ru-RU" dirty="0"/>
              <a:t>, на который имеются ссылки, во всех ссылающихся </a:t>
            </a:r>
            <a:r>
              <a:rPr lang="ru-RU" i="1" dirty="0"/>
              <a:t>кортежах</a:t>
            </a:r>
            <a:r>
              <a:rPr lang="ru-RU" dirty="0"/>
              <a:t> значение </a:t>
            </a:r>
            <a:r>
              <a:rPr lang="ru-RU" i="1" dirty="0"/>
              <a:t>внешнего ключа</a:t>
            </a:r>
            <a:r>
              <a:rPr lang="ru-RU" dirty="0"/>
              <a:t> автоматически становится </a:t>
            </a:r>
            <a:r>
              <a:rPr lang="ru-RU" dirty="0" smtClean="0"/>
              <a:t>полностью </a:t>
            </a:r>
            <a:r>
              <a:rPr lang="ru-RU" i="1" dirty="0" smtClean="0"/>
              <a:t>неопределенным</a:t>
            </a:r>
            <a:r>
              <a:rPr lang="ru-RU" dirty="0"/>
              <a:t>. </a:t>
            </a:r>
            <a:endParaRPr lang="ru-RU" dirty="0" smtClean="0"/>
          </a:p>
          <a:p>
            <a:r>
              <a:rPr lang="ru-RU" dirty="0" smtClean="0"/>
              <a:t>3). </a:t>
            </a:r>
            <a:r>
              <a:rPr lang="ru-RU" dirty="0"/>
              <a:t> </a:t>
            </a:r>
            <a:r>
              <a:rPr lang="ru-RU" dirty="0" smtClean="0"/>
              <a:t>Каскадное удаление </a:t>
            </a:r>
            <a:r>
              <a:rPr lang="ru-RU" dirty="0"/>
              <a:t>состоит в том, что при удалении </a:t>
            </a:r>
            <a:r>
              <a:rPr lang="ru-RU" i="1" dirty="0"/>
              <a:t>кортежа</a:t>
            </a:r>
            <a:r>
              <a:rPr lang="ru-RU" dirty="0"/>
              <a:t> из </a:t>
            </a:r>
            <a:r>
              <a:rPr lang="ru-RU" i="1" dirty="0"/>
              <a:t>отношения</a:t>
            </a:r>
            <a:r>
              <a:rPr lang="ru-RU" dirty="0"/>
              <a:t>, на которое ведет ссылка, из ссылающегося </a:t>
            </a:r>
            <a:r>
              <a:rPr lang="ru-RU" i="1" dirty="0"/>
              <a:t>отношения</a:t>
            </a:r>
            <a:r>
              <a:rPr lang="ru-RU" dirty="0"/>
              <a:t> автоматически удаляются все ссылающиеся </a:t>
            </a:r>
            <a:r>
              <a:rPr lang="ru-RU" i="1" dirty="0"/>
              <a:t>кортежи</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30</a:t>
            </a:fld>
            <a:endParaRPr lang="ru-RU"/>
          </a:p>
        </p:txBody>
      </p:sp>
    </p:spTree>
    <p:extLst>
      <p:ext uri="{BB962C8B-B14F-4D97-AF65-F5344CB8AC3E}">
        <p14:creationId xmlns:p14="http://schemas.microsoft.com/office/powerpoint/2010/main" xmlns="" val="4172456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601579" y="553454"/>
            <a:ext cx="10752221" cy="5623510"/>
          </a:xfrm>
        </p:spPr>
        <p:txBody>
          <a:bodyPr/>
          <a:lstStyle/>
          <a:p>
            <a:r>
              <a:rPr lang="ru-RU" dirty="0"/>
              <a:t>В развитых реляционных СУБД обычно можно выбрать способ поддержания </a:t>
            </a:r>
            <a:r>
              <a:rPr lang="ru-RU" i="1" dirty="0"/>
              <a:t>целостности по ссылкам</a:t>
            </a:r>
            <a:r>
              <a:rPr lang="ru-RU" dirty="0"/>
              <a:t> для каждого случая </a:t>
            </a:r>
            <a:r>
              <a:rPr lang="ru-RU" dirty="0" smtClean="0"/>
              <a:t>определения </a:t>
            </a:r>
            <a:r>
              <a:rPr lang="ru-RU" i="1" dirty="0" smtClean="0"/>
              <a:t>внешнего </a:t>
            </a:r>
            <a:r>
              <a:rPr lang="ru-RU" i="1" dirty="0"/>
              <a:t>ключа</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31</a:t>
            </a:fld>
            <a:endParaRPr lang="ru-RU"/>
          </a:p>
        </p:txBody>
      </p:sp>
    </p:spTree>
    <p:extLst>
      <p:ext uri="{BB962C8B-B14F-4D97-AF65-F5344CB8AC3E}">
        <p14:creationId xmlns:p14="http://schemas.microsoft.com/office/powerpoint/2010/main" xmlns="" val="1718639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650664"/>
          </a:xfrm>
        </p:spPr>
        <p:txBody>
          <a:bodyPr>
            <a:normAutofit/>
          </a:bodyPr>
          <a:lstStyle/>
          <a:p>
            <a:r>
              <a:rPr lang="ru-RU" b="1" dirty="0"/>
              <a:t>Базисные средства манипулирования реляционными данными: реляционная алгебра Кодда</a:t>
            </a:r>
            <a:endParaRPr lang="ru-RU" dirty="0"/>
          </a:p>
        </p:txBody>
      </p:sp>
      <p:sp>
        <p:nvSpPr>
          <p:cNvPr id="3" name="Объект 2"/>
          <p:cNvSpPr>
            <a:spLocks noGrp="1"/>
          </p:cNvSpPr>
          <p:nvPr>
            <p:ph idx="1"/>
          </p:nvPr>
        </p:nvSpPr>
        <p:spPr/>
        <p:txBody>
          <a:bodyPr/>
          <a:lstStyle/>
          <a:p>
            <a:r>
              <a:rPr lang="ru-RU" dirty="0" smtClean="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32</a:t>
            </a:fld>
            <a:endParaRPr lang="ru-RU"/>
          </a:p>
        </p:txBody>
      </p:sp>
    </p:spTree>
    <p:extLst>
      <p:ext uri="{BB962C8B-B14F-4D97-AF65-F5344CB8AC3E}">
        <p14:creationId xmlns:p14="http://schemas.microsoft.com/office/powerpoint/2010/main" xmlns="" val="1927115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457200"/>
            <a:ext cx="10515600" cy="5719763"/>
          </a:xfrm>
        </p:spPr>
        <p:txBody>
          <a:bodyPr/>
          <a:lstStyle/>
          <a:p>
            <a:r>
              <a:rPr lang="ru-RU" dirty="0"/>
              <a:t>Основная идея </a:t>
            </a:r>
            <a:r>
              <a:rPr lang="ru-RU" i="1" dirty="0"/>
              <a:t>реляционной алгебры</a:t>
            </a:r>
            <a:r>
              <a:rPr lang="ru-RU" dirty="0"/>
              <a:t> состоит в том, </a:t>
            </a:r>
            <a:r>
              <a:rPr lang="ru-RU" dirty="0" smtClean="0"/>
              <a:t> что отношения </a:t>
            </a:r>
            <a:r>
              <a:rPr lang="ru-RU" dirty="0"/>
              <a:t>являются множествами, средства манипулирования отношениями могут базироваться на традиционных теоретико-множественных </a:t>
            </a:r>
            <a:r>
              <a:rPr lang="ru-RU" i="1" dirty="0"/>
              <a:t>операциях, дополненных</a:t>
            </a:r>
            <a:r>
              <a:rPr lang="ru-RU" dirty="0"/>
              <a:t> некоторыми специальными операциями, специфичными для реляционных баз данных.</a:t>
            </a:r>
          </a:p>
        </p:txBody>
      </p:sp>
      <p:sp>
        <p:nvSpPr>
          <p:cNvPr id="4" name="Номер слайда 3"/>
          <p:cNvSpPr>
            <a:spLocks noGrp="1"/>
          </p:cNvSpPr>
          <p:nvPr>
            <p:ph type="sldNum" sz="quarter" idx="12"/>
          </p:nvPr>
        </p:nvSpPr>
        <p:spPr/>
        <p:txBody>
          <a:bodyPr/>
          <a:lstStyle/>
          <a:p>
            <a:fld id="{590C5F67-5E4C-4ABB-99F4-36BCAC8BE885}" type="slidenum">
              <a:rPr lang="ru-RU" smtClean="0"/>
              <a:pPr/>
              <a:t>33</a:t>
            </a:fld>
            <a:endParaRPr lang="ru-RU"/>
          </a:p>
        </p:txBody>
      </p:sp>
    </p:spTree>
    <p:extLst>
      <p:ext uri="{BB962C8B-B14F-4D97-AF65-F5344CB8AC3E}">
        <p14:creationId xmlns:p14="http://schemas.microsoft.com/office/powerpoint/2010/main" xmlns="" val="3676839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smtClean="0"/>
              <a:t>Алгебра </a:t>
            </a:r>
            <a:r>
              <a:rPr lang="ru-RU" b="1" dirty="0"/>
              <a:t>Кодда</a:t>
            </a:r>
            <a:br>
              <a:rPr lang="ru-RU" b="1" dirty="0"/>
            </a:br>
            <a:endParaRPr lang="ru-RU" dirty="0"/>
          </a:p>
        </p:txBody>
      </p:sp>
      <p:sp>
        <p:nvSpPr>
          <p:cNvPr id="3" name="Объект 2"/>
          <p:cNvSpPr>
            <a:spLocks noGrp="1"/>
          </p:cNvSpPr>
          <p:nvPr>
            <p:ph idx="1"/>
          </p:nvPr>
        </p:nvSpPr>
        <p:spPr/>
        <p:txBody>
          <a:bodyPr/>
          <a:lstStyle/>
          <a:p>
            <a:r>
              <a:rPr lang="ru-RU" dirty="0" smtClean="0"/>
              <a:t>Набор </a:t>
            </a:r>
            <a:r>
              <a:rPr lang="ru-RU" dirty="0"/>
              <a:t>основных алгебраических операций состоит из восьми операций, которые делятся на два класса – </a:t>
            </a:r>
            <a:r>
              <a:rPr lang="ru-RU" i="1" dirty="0"/>
              <a:t>теоретико-множественные операции</a:t>
            </a:r>
            <a:r>
              <a:rPr lang="ru-RU" dirty="0"/>
              <a:t> и специальные </a:t>
            </a:r>
            <a:r>
              <a:rPr lang="ru-RU" i="1" dirty="0"/>
              <a:t>реляционные операции</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a:t>
            </a:fld>
            <a:endParaRPr lang="ru-RU"/>
          </a:p>
        </p:txBody>
      </p:sp>
    </p:spTree>
    <p:extLst>
      <p:ext uri="{BB962C8B-B14F-4D97-AF65-F5344CB8AC3E}">
        <p14:creationId xmlns:p14="http://schemas.microsoft.com/office/powerpoint/2010/main" xmlns="" val="4279385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Теоретико-множественные операции</a:t>
            </a:r>
            <a:endParaRPr lang="ru-RU" dirty="0"/>
          </a:p>
        </p:txBody>
      </p:sp>
      <p:sp>
        <p:nvSpPr>
          <p:cNvPr id="3" name="Объект 2"/>
          <p:cNvSpPr>
            <a:spLocks noGrp="1"/>
          </p:cNvSpPr>
          <p:nvPr>
            <p:ph idx="1"/>
          </p:nvPr>
        </p:nvSpPr>
        <p:spPr/>
        <p:txBody>
          <a:bodyPr/>
          <a:lstStyle/>
          <a:p>
            <a:r>
              <a:rPr lang="ru-RU" dirty="0" smtClean="0"/>
              <a:t>1). </a:t>
            </a:r>
            <a:r>
              <a:rPr lang="ru-RU" i="1" dirty="0" smtClean="0"/>
              <a:t>Объединения отношений</a:t>
            </a:r>
          </a:p>
          <a:p>
            <a:r>
              <a:rPr lang="ru-RU" i="1" dirty="0" smtClean="0"/>
              <a:t>2). Пересечения отношений</a:t>
            </a:r>
          </a:p>
          <a:p>
            <a:r>
              <a:rPr lang="ru-RU" i="1" dirty="0" smtClean="0"/>
              <a:t>3). Взятия </a:t>
            </a:r>
            <a:r>
              <a:rPr lang="ru-RU" i="1" dirty="0"/>
              <a:t>разности </a:t>
            </a:r>
            <a:r>
              <a:rPr lang="ru-RU" i="1" dirty="0" smtClean="0"/>
              <a:t>отношений</a:t>
            </a:r>
          </a:p>
          <a:p>
            <a:r>
              <a:rPr lang="ru-RU" i="1" dirty="0" smtClean="0"/>
              <a:t>4). Взятия </a:t>
            </a:r>
            <a:r>
              <a:rPr lang="ru-RU" i="1" dirty="0"/>
              <a:t>декартова произведения отношений</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35</a:t>
            </a:fld>
            <a:endParaRPr lang="ru-RU"/>
          </a:p>
        </p:txBody>
      </p:sp>
    </p:spTree>
    <p:extLst>
      <p:ext uri="{BB962C8B-B14F-4D97-AF65-F5344CB8AC3E}">
        <p14:creationId xmlns:p14="http://schemas.microsoft.com/office/powerpoint/2010/main" xmlns="" val="28580183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Реляционные </a:t>
            </a:r>
            <a:r>
              <a:rPr lang="ru-RU" dirty="0"/>
              <a:t>операции</a:t>
            </a:r>
          </a:p>
        </p:txBody>
      </p:sp>
      <p:sp>
        <p:nvSpPr>
          <p:cNvPr id="3" name="Объект 2"/>
          <p:cNvSpPr>
            <a:spLocks noGrp="1"/>
          </p:cNvSpPr>
          <p:nvPr>
            <p:ph idx="1"/>
          </p:nvPr>
        </p:nvSpPr>
        <p:spPr/>
        <p:txBody>
          <a:bodyPr/>
          <a:lstStyle/>
          <a:p>
            <a:r>
              <a:rPr lang="ru-RU" dirty="0" smtClean="0"/>
              <a:t>1). </a:t>
            </a:r>
            <a:r>
              <a:rPr lang="ru-RU" i="1" dirty="0" smtClean="0"/>
              <a:t>Ограничение отношения</a:t>
            </a:r>
          </a:p>
          <a:p>
            <a:r>
              <a:rPr lang="ru-RU" i="1" dirty="0" smtClean="0"/>
              <a:t>2). Проекция отношения</a:t>
            </a:r>
          </a:p>
          <a:p>
            <a:r>
              <a:rPr lang="ru-RU" i="1" dirty="0" smtClean="0"/>
              <a:t>3). Соединение отношений</a:t>
            </a:r>
          </a:p>
          <a:p>
            <a:r>
              <a:rPr lang="ru-RU" i="1" dirty="0" smtClean="0"/>
              <a:t>4). Деление </a:t>
            </a:r>
            <a:r>
              <a:rPr lang="ru-RU" i="1" dirty="0"/>
              <a:t>отношений</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36</a:t>
            </a:fld>
            <a:endParaRPr lang="ru-RU"/>
          </a:p>
        </p:txBody>
      </p:sp>
    </p:spTree>
    <p:extLst>
      <p:ext uri="{BB962C8B-B14F-4D97-AF65-F5344CB8AC3E}">
        <p14:creationId xmlns:p14="http://schemas.microsoft.com/office/powerpoint/2010/main" xmlns="" val="2147157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Кроме того, в состав </a:t>
            </a:r>
            <a:r>
              <a:rPr lang="ru-RU" i="1" dirty="0"/>
              <a:t>алгебры</a:t>
            </a:r>
            <a:r>
              <a:rPr lang="ru-RU" dirty="0"/>
              <a:t> включается </a:t>
            </a:r>
            <a:r>
              <a:rPr lang="ru-RU" i="1" dirty="0"/>
              <a:t>операция присваивания</a:t>
            </a:r>
            <a:r>
              <a:rPr lang="ru-RU" dirty="0"/>
              <a:t>, позволяющая сохранить в базе данных результаты вычисления алгебраических выражений, и </a:t>
            </a:r>
            <a:r>
              <a:rPr lang="ru-RU" i="1" dirty="0"/>
              <a:t>операция переименования атрибутов</a:t>
            </a:r>
            <a:r>
              <a:rPr lang="ru-RU" dirty="0"/>
              <a:t>, дающая возможность корректно сформировать заголовок (схему) результирующего отношения.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37</a:t>
            </a:fld>
            <a:endParaRPr lang="ru-RU"/>
          </a:p>
        </p:txBody>
      </p:sp>
    </p:spTree>
    <p:extLst>
      <p:ext uri="{BB962C8B-B14F-4D97-AF65-F5344CB8AC3E}">
        <p14:creationId xmlns:p14="http://schemas.microsoft.com/office/powerpoint/2010/main" xmlns="" val="4057546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Общая интерпретация реляционных операций</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a:t>При выполнении </a:t>
            </a:r>
            <a:r>
              <a:rPr lang="ru-RU" i="1" dirty="0"/>
              <a:t>операции объединения</a:t>
            </a:r>
            <a:r>
              <a:rPr lang="ru-RU" dirty="0"/>
              <a:t> ( UNION ) двух отношений с одинаковыми заголовками производится отношение, включающее все кортежи, которые входят хотя бы в одно из отношений-операндов.</a:t>
            </a:r>
          </a:p>
          <a:p>
            <a:r>
              <a:rPr lang="ru-RU" i="1" dirty="0"/>
              <a:t>Операция пересечения</a:t>
            </a:r>
            <a:r>
              <a:rPr lang="ru-RU" dirty="0"/>
              <a:t> ( INTERSECT ) двух отношений с одинаковыми заголовками производит отношение, включающее все кортежи, которые входят в оба отношения-операнда.</a:t>
            </a:r>
          </a:p>
          <a:p>
            <a:r>
              <a:rPr lang="ru-RU" dirty="0"/>
              <a:t>Отношение, являющееся </a:t>
            </a:r>
            <a:r>
              <a:rPr lang="ru-RU" i="1" dirty="0"/>
              <a:t>разностью</a:t>
            </a:r>
            <a:r>
              <a:rPr lang="ru-RU" dirty="0"/>
              <a:t> ( MINUS ) двух отношений с одинаковыми заголовками, включает все кортежи, входящие в отношение-первый операнд, такие, что ни один из них не входит в отношение, которое является вторым операндом.</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38</a:t>
            </a:fld>
            <a:endParaRPr lang="ru-RU"/>
          </a:p>
        </p:txBody>
      </p:sp>
    </p:spTree>
    <p:extLst>
      <p:ext uri="{BB962C8B-B14F-4D97-AF65-F5344CB8AC3E}">
        <p14:creationId xmlns:p14="http://schemas.microsoft.com/office/powerpoint/2010/main" xmlns="" val="1510005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6"/>
            <a:ext cx="10515600" cy="5811838"/>
          </a:xfrm>
        </p:spPr>
        <p:txBody>
          <a:bodyPr>
            <a:normAutofit lnSpcReduction="10000"/>
          </a:bodyPr>
          <a:lstStyle/>
          <a:p>
            <a:r>
              <a:rPr lang="ru-RU" dirty="0"/>
              <a:t>При выполнении </a:t>
            </a:r>
            <a:r>
              <a:rPr lang="ru-RU" i="1" dirty="0"/>
              <a:t>декартова произведения</a:t>
            </a:r>
            <a:r>
              <a:rPr lang="ru-RU" dirty="0"/>
              <a:t> ( TIMES ) двух отношений, пересечение заголовков которых пусто, производится отношение, кортежи которого производятся путем объединения кортежей первого и второго операндов</a:t>
            </a:r>
            <a:r>
              <a:rPr lang="ru-RU" dirty="0" smtClean="0"/>
              <a:t>.</a:t>
            </a:r>
          </a:p>
          <a:p>
            <a:r>
              <a:rPr lang="ru-RU" dirty="0"/>
              <a:t>Результатом </a:t>
            </a:r>
            <a:r>
              <a:rPr lang="ru-RU" i="1" dirty="0"/>
              <a:t>ограничения</a:t>
            </a:r>
            <a:r>
              <a:rPr lang="ru-RU" dirty="0"/>
              <a:t> ( WHERE ) отношения по некоторому условию является отношение, включающее </a:t>
            </a:r>
            <a:r>
              <a:rPr lang="ru-RU" i="1" dirty="0"/>
              <a:t>кортежи отношения</a:t>
            </a:r>
            <a:r>
              <a:rPr lang="ru-RU" dirty="0"/>
              <a:t>-операнда, удовлетворяющее этому условию.</a:t>
            </a:r>
          </a:p>
          <a:p>
            <a:r>
              <a:rPr lang="ru-RU" dirty="0"/>
              <a:t>При выполнении </a:t>
            </a:r>
            <a:r>
              <a:rPr lang="ru-RU" i="1" dirty="0"/>
              <a:t>проекции</a:t>
            </a:r>
            <a:r>
              <a:rPr lang="ru-RU" dirty="0"/>
              <a:t> ( PROJECT ) отношения на заданное подмножество множества его атрибутов производится отношение, кортежи которого являются соответствующими подмножествами </a:t>
            </a:r>
            <a:r>
              <a:rPr lang="ru-RU" i="1" dirty="0"/>
              <a:t>кортежей отношения</a:t>
            </a:r>
            <a:r>
              <a:rPr lang="ru-RU" dirty="0"/>
              <a:t>-операнда.</a:t>
            </a:r>
          </a:p>
          <a:p>
            <a:r>
              <a:rPr lang="ru-RU" dirty="0"/>
              <a:t>При </a:t>
            </a:r>
            <a:r>
              <a:rPr lang="ru-RU" i="1" dirty="0"/>
              <a:t>соединении</a:t>
            </a:r>
            <a:r>
              <a:rPr lang="ru-RU" dirty="0"/>
              <a:t> ( JOIN ) двух отношений по некоторому условию образуется результирующее отношение, кортежи которого производятся путем объединения кортежей первого и второго отношений и удовлетворяют этому условию.</a:t>
            </a:r>
          </a:p>
          <a:p>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39</a:t>
            </a:fld>
            <a:endParaRPr lang="ru-RU"/>
          </a:p>
        </p:txBody>
      </p:sp>
    </p:spTree>
    <p:extLst>
      <p:ext uri="{BB962C8B-B14F-4D97-AF65-F5344CB8AC3E}">
        <p14:creationId xmlns:p14="http://schemas.microsoft.com/office/powerpoint/2010/main" xmlns="" val="2946798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lstStyle/>
          <a:p>
            <a:r>
              <a:rPr lang="ru-RU" dirty="0"/>
              <a:t>У </a:t>
            </a:r>
            <a:r>
              <a:rPr lang="ru-RU" i="1" dirty="0"/>
              <a:t>операции реляционного деления</a:t>
            </a:r>
            <a:r>
              <a:rPr lang="ru-RU" dirty="0"/>
              <a:t> ( DIVIDE BY ) два операнда – бинарное и унарное отношения. Результирующее отношение состоит из унарных кортежей, включающих значения первого атрибута кортежей первого операнда таких, что множество значений второго атрибута (при фиксированном значении первого атрибута) включает множество значений второго операнда.</a:t>
            </a:r>
          </a:p>
          <a:p>
            <a:r>
              <a:rPr lang="ru-RU" i="1" dirty="0"/>
              <a:t>Операция переименования</a:t>
            </a:r>
            <a:r>
              <a:rPr lang="ru-RU" dirty="0"/>
              <a:t> ( RENAME ) производит отношение, тело которого совпадает с телом операнда, но имена атрибутов изменены.</a:t>
            </a:r>
          </a:p>
          <a:p>
            <a:r>
              <a:rPr lang="ru-RU" i="1" dirty="0"/>
              <a:t>Операция присваивания</a:t>
            </a:r>
            <a:r>
              <a:rPr lang="ru-RU" dirty="0"/>
              <a:t> ( := ) позволяет сохранить результат вычисления реляционного выражения в существующем отношении БД.</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40</a:t>
            </a:fld>
            <a:endParaRPr lang="ru-RU"/>
          </a:p>
        </p:txBody>
      </p:sp>
    </p:spTree>
    <p:extLst>
      <p:ext uri="{BB962C8B-B14F-4D97-AF65-F5344CB8AC3E}">
        <p14:creationId xmlns:p14="http://schemas.microsoft.com/office/powerpoint/2010/main" xmlns="" val="92140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1026" name="Picture 2" descr="Таблица приоритетов операций традиционной реляционной алгебры"/>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71800" y="458141"/>
            <a:ext cx="5269831" cy="5976513"/>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41</a:t>
            </a:fld>
            <a:endParaRPr lang="ru-RU"/>
          </a:p>
        </p:txBody>
      </p:sp>
    </p:spTree>
    <p:extLst>
      <p:ext uri="{BB962C8B-B14F-4D97-AF65-F5344CB8AC3E}">
        <p14:creationId xmlns:p14="http://schemas.microsoft.com/office/powerpoint/2010/main" xmlns="" val="298190681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Лекция №3</a:t>
            </a:r>
            <a:endParaRPr lang="ru-RU" dirty="0"/>
          </a:p>
        </p:txBody>
      </p:sp>
      <p:sp>
        <p:nvSpPr>
          <p:cNvPr id="3" name="Объект 2"/>
          <p:cNvSpPr>
            <a:spLocks noGrp="1"/>
          </p:cNvSpPr>
          <p:nvPr>
            <p:ph idx="1"/>
          </p:nvPr>
        </p:nvSpPr>
        <p:spPr/>
        <p:txBody>
          <a:bodyPr/>
          <a:lstStyle/>
          <a:p>
            <a:pPr marL="0" indent="0">
              <a:buNone/>
            </a:pPr>
            <a:endParaRPr lang="ru-RU" dirty="0"/>
          </a:p>
          <a:p>
            <a:pPr marL="0" indent="0">
              <a:buNone/>
            </a:pPr>
            <a:endParaRPr lang="ru-RU" dirty="0"/>
          </a:p>
        </p:txBody>
      </p:sp>
    </p:spTree>
    <p:extLst>
      <p:ext uri="{BB962C8B-B14F-4D97-AF65-F5344CB8AC3E}">
        <p14:creationId xmlns:p14="http://schemas.microsoft.com/office/powerpoint/2010/main" xmlns="" val="11282405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Замкнутость реляционной </a:t>
            </a:r>
            <a:r>
              <a:rPr lang="ru-RU" b="1" dirty="0" smtClean="0"/>
              <a:t>алгебры</a:t>
            </a:r>
            <a:r>
              <a:rPr lang="ru-RU" b="1" dirty="0"/>
              <a:t/>
            </a:r>
            <a:br>
              <a:rPr lang="ru-RU" b="1" dirty="0"/>
            </a:br>
            <a:endParaRPr lang="ru-RU" dirty="0"/>
          </a:p>
        </p:txBody>
      </p:sp>
      <p:sp>
        <p:nvSpPr>
          <p:cNvPr id="3" name="Объект 2"/>
          <p:cNvSpPr>
            <a:spLocks noGrp="1"/>
          </p:cNvSpPr>
          <p:nvPr>
            <p:ph idx="1"/>
          </p:nvPr>
        </p:nvSpPr>
        <p:spPr/>
        <p:txBody>
          <a:bodyPr/>
          <a:lstStyle/>
          <a:p>
            <a:r>
              <a:rPr lang="ru-RU" dirty="0" smtClean="0"/>
              <a:t>Каждое значение-отношение </a:t>
            </a:r>
            <a:r>
              <a:rPr lang="ru-RU" dirty="0"/>
              <a:t>характеризуется заголовком (или схемой) и телом (или множеством кортежей). Поэтому, если нам действительно нужна </a:t>
            </a:r>
            <a:r>
              <a:rPr lang="ru-RU" i="1" dirty="0"/>
              <a:t>алгебра</a:t>
            </a:r>
            <a:r>
              <a:rPr lang="ru-RU" dirty="0"/>
              <a:t>, операции которой замкнуты относительно понятия отношения, то каждая операция должна производить отношение в полном смысле, т. е. оно должно обладать и телом, и заголовком. Только в этом случае можно будет строить вложенные выражения.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43</a:t>
            </a:fld>
            <a:endParaRPr lang="ru-RU"/>
          </a:p>
        </p:txBody>
      </p:sp>
    </p:spTree>
    <p:extLst>
      <p:ext uri="{BB962C8B-B14F-4D97-AF65-F5344CB8AC3E}">
        <p14:creationId xmlns:p14="http://schemas.microsoft.com/office/powerpoint/2010/main" xmlns="" val="7329022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Особенности теоретико-множественных операций реляционной алгебры</a:t>
            </a:r>
            <a:br>
              <a:rPr lang="ru-RU" b="1" dirty="0"/>
            </a:br>
            <a:endParaRPr lang="ru-RU" dirty="0"/>
          </a:p>
        </p:txBody>
      </p:sp>
      <p:sp>
        <p:nvSpPr>
          <p:cNvPr id="3" name="Объект 2"/>
          <p:cNvSpPr>
            <a:spLocks noGrp="1"/>
          </p:cNvSpPr>
          <p:nvPr>
            <p:ph idx="1"/>
          </p:nvPr>
        </p:nvSpPr>
        <p:spPr/>
        <p:txBody>
          <a:bodyPr/>
          <a:lstStyle/>
          <a:p>
            <a:r>
              <a:rPr lang="ru-RU" dirty="0"/>
              <a:t>Хотя в основе теоретико-множественной части </a:t>
            </a:r>
            <a:r>
              <a:rPr lang="ru-RU" i="1" dirty="0"/>
              <a:t>реляционной алгебры Кодда</a:t>
            </a:r>
            <a:r>
              <a:rPr lang="ru-RU" dirty="0"/>
              <a:t> лежит классическая теория множеств, </a:t>
            </a:r>
            <a:r>
              <a:rPr lang="ru-RU" dirty="0" smtClean="0"/>
              <a:t>соответствующие </a:t>
            </a:r>
            <a:r>
              <a:rPr lang="ru-RU" i="1" dirty="0" smtClean="0"/>
              <a:t>операции</a:t>
            </a:r>
            <a:r>
              <a:rPr lang="ru-RU" dirty="0"/>
              <a:t> </a:t>
            </a:r>
            <a:r>
              <a:rPr lang="ru-RU" i="1" dirty="0"/>
              <a:t>реляционной алгебры</a:t>
            </a:r>
            <a:r>
              <a:rPr lang="ru-RU" dirty="0"/>
              <a:t> обладают некоторыми особенностями.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44</a:t>
            </a:fld>
            <a:endParaRPr lang="ru-RU"/>
          </a:p>
        </p:txBody>
      </p:sp>
    </p:spTree>
    <p:extLst>
      <p:ext uri="{BB962C8B-B14F-4D97-AF65-F5344CB8AC3E}">
        <p14:creationId xmlns:p14="http://schemas.microsoft.com/office/powerpoint/2010/main" xmlns="" val="37914131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Операции объединения, пересечения, взятия разности.</a:t>
            </a:r>
            <a:br>
              <a:rPr lang="ru-RU" b="1" dirty="0"/>
            </a:br>
            <a:endParaRPr lang="ru-RU" dirty="0"/>
          </a:p>
        </p:txBody>
      </p:sp>
      <p:sp>
        <p:nvSpPr>
          <p:cNvPr id="3" name="Объект 2"/>
          <p:cNvSpPr>
            <a:spLocks noGrp="1"/>
          </p:cNvSpPr>
          <p:nvPr>
            <p:ph idx="1"/>
          </p:nvPr>
        </p:nvSpPr>
        <p:spPr/>
        <p:txBody>
          <a:bodyPr/>
          <a:lstStyle/>
          <a:p>
            <a:r>
              <a:rPr lang="ru-RU" dirty="0" smtClean="0"/>
              <a:t>Смысл</a:t>
            </a:r>
            <a:r>
              <a:rPr lang="ru-RU" dirty="0"/>
              <a:t> </a:t>
            </a:r>
            <a:r>
              <a:rPr lang="ru-RU" i="1" dirty="0"/>
              <a:t>операции </a:t>
            </a:r>
            <a:r>
              <a:rPr lang="ru-RU" i="1" dirty="0" smtClean="0"/>
              <a:t>объединения</a:t>
            </a:r>
            <a:r>
              <a:rPr lang="en-US" i="1" dirty="0" smtClean="0"/>
              <a:t>,</a:t>
            </a:r>
            <a:r>
              <a:rPr lang="ru-RU" i="1" dirty="0" smtClean="0"/>
              <a:t>пересечения и взятия разности</a:t>
            </a:r>
            <a:r>
              <a:rPr lang="ru-RU" dirty="0"/>
              <a:t> в </a:t>
            </a:r>
            <a:r>
              <a:rPr lang="ru-RU" i="1" dirty="0"/>
              <a:t>реляционной алгебре</a:t>
            </a:r>
            <a:r>
              <a:rPr lang="ru-RU" dirty="0"/>
              <a:t> в целом остается теоретико-множественным. </a:t>
            </a:r>
            <a:endParaRPr lang="ru-RU" dirty="0" smtClean="0"/>
          </a:p>
          <a:p>
            <a:r>
              <a:rPr lang="ru-RU" dirty="0"/>
              <a:t>Заметим, что включение в состав операций </a:t>
            </a:r>
            <a:r>
              <a:rPr lang="ru-RU" i="1" dirty="0"/>
              <a:t>реляционной алгебры</a:t>
            </a:r>
            <a:r>
              <a:rPr lang="ru-RU" dirty="0"/>
              <a:t> трех </a:t>
            </a:r>
            <a:r>
              <a:rPr lang="ru-RU" i="1" dirty="0" smtClean="0"/>
              <a:t>операций - </a:t>
            </a:r>
            <a:r>
              <a:rPr lang="ru-RU" i="1" dirty="0"/>
              <a:t>объединения</a:t>
            </a:r>
            <a:r>
              <a:rPr lang="ru-RU" dirty="0"/>
              <a:t>, </a:t>
            </a:r>
            <a:r>
              <a:rPr lang="ru-RU" i="1" dirty="0"/>
              <a:t>пересечения</a:t>
            </a:r>
            <a:r>
              <a:rPr lang="ru-RU" dirty="0"/>
              <a:t> и </a:t>
            </a:r>
            <a:r>
              <a:rPr lang="ru-RU" i="1" dirty="0"/>
              <a:t>взятия разности</a:t>
            </a:r>
            <a:r>
              <a:rPr lang="ru-RU" dirty="0"/>
              <a:t> является, очевидно, избыточным, поскольку, например, операция пересечения выражается через операцию взятия разности</a:t>
            </a:r>
            <a:endParaRPr lang="ru-RU" dirty="0" smtClean="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45</a:t>
            </a:fld>
            <a:endParaRPr lang="ru-RU"/>
          </a:p>
        </p:txBody>
      </p:sp>
    </p:spTree>
    <p:extLst>
      <p:ext uri="{BB962C8B-B14F-4D97-AF65-F5344CB8AC3E}">
        <p14:creationId xmlns:p14="http://schemas.microsoft.com/office/powerpoint/2010/main" xmlns="" val="2398263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3074" name="Picture 2" descr="Иллюстрация результатов теоретико-множественных операций"/>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30137" y="1690688"/>
            <a:ext cx="9645850" cy="270083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46</a:t>
            </a:fld>
            <a:endParaRPr lang="ru-RU"/>
          </a:p>
        </p:txBody>
      </p:sp>
    </p:spTree>
    <p:extLst>
      <p:ext uri="{BB962C8B-B14F-4D97-AF65-F5344CB8AC3E}">
        <p14:creationId xmlns:p14="http://schemas.microsoft.com/office/powerpoint/2010/main" xmlns="" val="25322062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Совместимости </a:t>
            </a:r>
            <a:r>
              <a:rPr lang="ru-RU" dirty="0"/>
              <a:t>отношений по объединению</a:t>
            </a:r>
          </a:p>
        </p:txBody>
      </p:sp>
      <p:sp>
        <p:nvSpPr>
          <p:cNvPr id="3" name="Объект 2"/>
          <p:cNvSpPr>
            <a:spLocks noGrp="1"/>
          </p:cNvSpPr>
          <p:nvPr>
            <p:ph idx="1"/>
          </p:nvPr>
        </p:nvSpPr>
        <p:spPr/>
        <p:txBody>
          <a:bodyPr/>
          <a:lstStyle/>
          <a:p>
            <a:r>
              <a:rPr lang="ru-RU" dirty="0" smtClean="0"/>
              <a:t>Два </a:t>
            </a:r>
            <a:r>
              <a:rPr lang="ru-RU" dirty="0"/>
              <a:t>отношения </a:t>
            </a:r>
            <a:r>
              <a:rPr lang="ru-RU" i="1" dirty="0"/>
              <a:t>совместимы по объединению</a:t>
            </a:r>
            <a:r>
              <a:rPr lang="ru-RU" dirty="0"/>
              <a:t> в том и только в том случае, когда обладают одинаковыми заголовками. В развернутой форме это означает, что в заголовках обоих отношений содержится один и тот же набор имен атрибутов, и одноименные атрибуты определены на одном и том же домене</a:t>
            </a:r>
          </a:p>
        </p:txBody>
      </p:sp>
      <p:sp>
        <p:nvSpPr>
          <p:cNvPr id="4" name="Номер слайда 3"/>
          <p:cNvSpPr>
            <a:spLocks noGrp="1"/>
          </p:cNvSpPr>
          <p:nvPr>
            <p:ph type="sldNum" sz="quarter" idx="12"/>
          </p:nvPr>
        </p:nvSpPr>
        <p:spPr/>
        <p:txBody>
          <a:bodyPr/>
          <a:lstStyle/>
          <a:p>
            <a:fld id="{590C5F67-5E4C-4ABB-99F4-36BCAC8BE885}" type="slidenum">
              <a:rPr lang="ru-RU" smtClean="0"/>
              <a:pPr/>
              <a:t>47</a:t>
            </a:fld>
            <a:endParaRPr lang="ru-RU"/>
          </a:p>
        </p:txBody>
      </p:sp>
    </p:spTree>
    <p:extLst>
      <p:ext uri="{BB962C8B-B14F-4D97-AF65-F5344CB8AC3E}">
        <p14:creationId xmlns:p14="http://schemas.microsoft.com/office/powerpoint/2010/main" xmlns="" val="3942130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Ассоциативность</a:t>
            </a:r>
            <a:endParaRPr lang="ru-RU" dirty="0"/>
          </a:p>
        </p:txBody>
      </p:sp>
      <p:sp>
        <p:nvSpPr>
          <p:cNvPr id="3" name="Объект 2"/>
          <p:cNvSpPr>
            <a:spLocks noGrp="1"/>
          </p:cNvSpPr>
          <p:nvPr>
            <p:ph idx="1"/>
          </p:nvPr>
        </p:nvSpPr>
        <p:spPr/>
        <p:txBody>
          <a:bodyPr/>
          <a:lstStyle/>
          <a:p>
            <a:r>
              <a:rPr lang="ru-RU" dirty="0"/>
              <a:t>OP </a:t>
            </a:r>
            <a:r>
              <a:rPr lang="ru-RU" dirty="0" smtClean="0"/>
              <a:t>любая </a:t>
            </a:r>
            <a:r>
              <a:rPr lang="ru-RU" dirty="0"/>
              <a:t>из четырех </a:t>
            </a:r>
            <a:r>
              <a:rPr lang="ru-RU" dirty="0" smtClean="0"/>
              <a:t>операций то</a:t>
            </a:r>
          </a:p>
          <a:p>
            <a:r>
              <a:rPr lang="nl-NL" dirty="0"/>
              <a:t>(A OP B) OP C = A OP (B OP C)</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48</a:t>
            </a:fld>
            <a:endParaRPr lang="ru-RU"/>
          </a:p>
        </p:txBody>
      </p:sp>
    </p:spTree>
    <p:extLst>
      <p:ext uri="{BB962C8B-B14F-4D97-AF65-F5344CB8AC3E}">
        <p14:creationId xmlns:p14="http://schemas.microsoft.com/office/powerpoint/2010/main" xmlns="" val="622012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Коммутативность</a:t>
            </a:r>
            <a:endParaRPr lang="ru-RU" dirty="0"/>
          </a:p>
        </p:txBody>
      </p:sp>
      <p:sp>
        <p:nvSpPr>
          <p:cNvPr id="3" name="Объект 2"/>
          <p:cNvSpPr>
            <a:spLocks noGrp="1"/>
          </p:cNvSpPr>
          <p:nvPr>
            <p:ph idx="1"/>
          </p:nvPr>
        </p:nvSpPr>
        <p:spPr/>
        <p:txBody>
          <a:bodyPr/>
          <a:lstStyle/>
          <a:p>
            <a:r>
              <a:rPr lang="ru-RU" dirty="0"/>
              <a:t>Все операции, кроме </a:t>
            </a:r>
            <a:r>
              <a:rPr lang="ru-RU" i="1" dirty="0"/>
              <a:t>взятия разности</a:t>
            </a:r>
            <a:r>
              <a:rPr lang="ru-RU" dirty="0"/>
              <a:t>, являются коммутативными, т. е. A OP B = B OP A.</a:t>
            </a:r>
          </a:p>
        </p:txBody>
      </p:sp>
      <p:sp>
        <p:nvSpPr>
          <p:cNvPr id="4" name="Номер слайда 3"/>
          <p:cNvSpPr>
            <a:spLocks noGrp="1"/>
          </p:cNvSpPr>
          <p:nvPr>
            <p:ph type="sldNum" sz="quarter" idx="12"/>
          </p:nvPr>
        </p:nvSpPr>
        <p:spPr/>
        <p:txBody>
          <a:bodyPr/>
          <a:lstStyle/>
          <a:p>
            <a:fld id="{590C5F67-5E4C-4ABB-99F4-36BCAC8BE885}" type="slidenum">
              <a:rPr lang="ru-RU" smtClean="0"/>
              <a:pPr/>
              <a:t>49</a:t>
            </a:fld>
            <a:endParaRPr lang="ru-RU"/>
          </a:p>
        </p:txBody>
      </p:sp>
    </p:spTree>
    <p:extLst>
      <p:ext uri="{BB962C8B-B14F-4D97-AF65-F5344CB8AC3E}">
        <p14:creationId xmlns:p14="http://schemas.microsoft.com/office/powerpoint/2010/main" xmlns="" val="22350092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
            </a:r>
            <a:br>
              <a:rPr lang="ru-RU" b="1" dirty="0"/>
            </a:br>
            <a:endParaRPr lang="ru-RU" dirty="0"/>
          </a:p>
        </p:txBody>
      </p:sp>
      <p:sp>
        <p:nvSpPr>
          <p:cNvPr id="3" name="Объект 2"/>
          <p:cNvSpPr>
            <a:spLocks noGrp="1"/>
          </p:cNvSpPr>
          <p:nvPr>
            <p:ph idx="1"/>
          </p:nvPr>
        </p:nvSpPr>
        <p:spPr/>
        <p:txBody>
          <a:bodyPr>
            <a:normAutofit/>
          </a:bodyPr>
          <a:lstStyle/>
          <a:p>
            <a:r>
              <a:rPr lang="ru-RU" sz="4400" b="1" dirty="0"/>
              <a:t>Специальные реляционные операции</a:t>
            </a:r>
            <a:endParaRPr lang="ru-RU" sz="4400"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50</a:t>
            </a:fld>
            <a:endParaRPr lang="ru-RU"/>
          </a:p>
        </p:txBody>
      </p:sp>
    </p:spTree>
    <p:extLst>
      <p:ext uri="{BB962C8B-B14F-4D97-AF65-F5344CB8AC3E}">
        <p14:creationId xmlns:p14="http://schemas.microsoft.com/office/powerpoint/2010/main" xmlns="" val="558172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Операция ограничения</a:t>
            </a:r>
            <a:br>
              <a:rPr lang="ru-RU" b="1" dirty="0"/>
            </a:br>
            <a:endParaRPr lang="ru-RU" dirty="0"/>
          </a:p>
        </p:txBody>
      </p:sp>
      <p:sp>
        <p:nvSpPr>
          <p:cNvPr id="3" name="Объект 2"/>
          <p:cNvSpPr>
            <a:spLocks noGrp="1"/>
          </p:cNvSpPr>
          <p:nvPr>
            <p:ph idx="1"/>
          </p:nvPr>
        </p:nvSpPr>
        <p:spPr/>
        <p:txBody>
          <a:bodyPr/>
          <a:lstStyle/>
          <a:p>
            <a:r>
              <a:rPr lang="ru-RU" i="1" dirty="0"/>
              <a:t>Операция ограничения </a:t>
            </a:r>
            <a:r>
              <a:rPr lang="ru-RU" dirty="0"/>
              <a:t>WHERE требует наличия двух операндов: ограничиваемого отношения и простого условия ограничения. Простое условие ограничения может иметь</a:t>
            </a:r>
            <a:r>
              <a:rPr lang="ru-RU" dirty="0" smtClean="0"/>
              <a:t>:</a:t>
            </a:r>
          </a:p>
          <a:p>
            <a:r>
              <a:rPr lang="ru-RU" dirty="0"/>
              <a:t>вид ( a </a:t>
            </a:r>
            <a:r>
              <a:rPr lang="ru-RU" dirty="0" err="1"/>
              <a:t>comp-op</a:t>
            </a:r>
            <a:r>
              <a:rPr lang="ru-RU" dirty="0"/>
              <a:t> b ), где а и b – имена атрибутов ограничиваемого отношения; атрибуты a и b должны быть определены на одном и том же </a:t>
            </a:r>
            <a:r>
              <a:rPr lang="ru-RU" dirty="0" smtClean="0"/>
              <a:t>домене и для базового </a:t>
            </a:r>
            <a:r>
              <a:rPr lang="ru-RU" dirty="0"/>
              <a:t>типа данных </a:t>
            </a:r>
            <a:r>
              <a:rPr lang="ru-RU" dirty="0" smtClean="0"/>
              <a:t>поддерживается </a:t>
            </a:r>
            <a:r>
              <a:rPr lang="ru-RU" dirty="0"/>
              <a:t>операция сравнения </a:t>
            </a:r>
            <a:r>
              <a:rPr lang="ru-RU" dirty="0" err="1" smtClean="0"/>
              <a:t>comp_op</a:t>
            </a:r>
            <a:r>
              <a:rPr lang="ru-RU" dirty="0" smtClean="0"/>
              <a:t>;</a:t>
            </a:r>
            <a:endParaRPr lang="ru-RU" dirty="0"/>
          </a:p>
          <a:p>
            <a:r>
              <a:rPr lang="ru-RU" dirty="0"/>
              <a:t>или вид ( a </a:t>
            </a:r>
            <a:r>
              <a:rPr lang="ru-RU" dirty="0" err="1"/>
              <a:t>comp-op</a:t>
            </a:r>
            <a:r>
              <a:rPr lang="ru-RU" dirty="0"/>
              <a:t> </a:t>
            </a:r>
            <a:r>
              <a:rPr lang="ru-RU" dirty="0" err="1"/>
              <a:t>const</a:t>
            </a:r>
            <a:r>
              <a:rPr lang="ru-RU" dirty="0"/>
              <a:t> )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51</a:t>
            </a:fld>
            <a:endParaRPr lang="ru-RU"/>
          </a:p>
        </p:txBody>
      </p:sp>
    </p:spTree>
    <p:extLst>
      <p:ext uri="{BB962C8B-B14F-4D97-AF65-F5344CB8AC3E}">
        <p14:creationId xmlns:p14="http://schemas.microsoft.com/office/powerpoint/2010/main" xmlns="" val="4250227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600199"/>
            <a:ext cx="10515600" cy="4576763"/>
          </a:xfrm>
        </p:spPr>
        <p:txBody>
          <a:bodyPr>
            <a:normAutofit/>
          </a:bodyPr>
          <a:lstStyle/>
          <a:p>
            <a:r>
              <a:rPr lang="ru-RU" dirty="0" smtClean="0"/>
              <a:t>Операцией </a:t>
            </a:r>
            <a:r>
              <a:rPr lang="ru-RU" dirty="0"/>
              <a:t>сравнения </a:t>
            </a:r>
            <a:r>
              <a:rPr lang="ru-RU" dirty="0" err="1"/>
              <a:t>comp-op</a:t>
            </a:r>
            <a:r>
              <a:rPr lang="ru-RU" dirty="0"/>
              <a:t> могут </a:t>
            </a:r>
            <a:r>
              <a:rPr lang="ru-RU" dirty="0" smtClean="0"/>
              <a:t>быть =,</a:t>
            </a:r>
            <a:r>
              <a:rPr lang="en-US" dirty="0" smtClean="0"/>
              <a:t>&lt;&gt;, &lt;,&gt; =&gt;,&lt;=</a:t>
            </a:r>
            <a:endParaRPr lang="ru-RU" dirty="0"/>
          </a:p>
          <a:p>
            <a:r>
              <a:rPr lang="ru-RU" dirty="0"/>
              <a:t>Для обозначения вызова </a:t>
            </a:r>
            <a:r>
              <a:rPr lang="ru-RU" i="1" dirty="0"/>
              <a:t>операции ограничения</a:t>
            </a:r>
            <a:r>
              <a:rPr lang="ru-RU" dirty="0"/>
              <a:t> будем использовать конструкцию A WHERE </a:t>
            </a:r>
            <a:r>
              <a:rPr lang="ru-RU" dirty="0" err="1"/>
              <a:t>comp</a:t>
            </a:r>
            <a:r>
              <a:rPr lang="ru-RU" dirty="0"/>
              <a:t>, где A – ограничиваемое отношение, а </a:t>
            </a:r>
            <a:r>
              <a:rPr lang="ru-RU" dirty="0" err="1"/>
              <a:t>comp</a:t>
            </a:r>
            <a:r>
              <a:rPr lang="ru-RU" dirty="0"/>
              <a:t> – простое условие сравнения. </a:t>
            </a:r>
          </a:p>
        </p:txBody>
      </p:sp>
      <p:sp>
        <p:nvSpPr>
          <p:cNvPr id="4" name="Номер слайда 3"/>
          <p:cNvSpPr>
            <a:spLocks noGrp="1"/>
          </p:cNvSpPr>
          <p:nvPr>
            <p:ph type="sldNum" sz="quarter" idx="12"/>
          </p:nvPr>
        </p:nvSpPr>
        <p:spPr/>
        <p:txBody>
          <a:bodyPr/>
          <a:lstStyle/>
          <a:p>
            <a:fld id="{590C5F67-5E4C-4ABB-99F4-36BCAC8BE885}" type="slidenum">
              <a:rPr lang="ru-RU" smtClean="0"/>
              <a:pPr/>
              <a:t>52</a:t>
            </a:fld>
            <a:endParaRPr lang="ru-RU"/>
          </a:p>
        </p:txBody>
      </p:sp>
    </p:spTree>
    <p:extLst>
      <p:ext uri="{BB962C8B-B14F-4D97-AF65-F5344CB8AC3E}">
        <p14:creationId xmlns:p14="http://schemas.microsoft.com/office/powerpoint/2010/main" xmlns="" val="31255553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794084"/>
            <a:ext cx="10515600" cy="5382879"/>
          </a:xfrm>
        </p:spPr>
        <p:txBody>
          <a:bodyPr/>
          <a:lstStyle/>
          <a:p>
            <a:r>
              <a:rPr lang="ru-RU" dirty="0"/>
              <a:t>Пусть comp1 и comp2 – два простых условия ограничения. </a:t>
            </a:r>
            <a:endParaRPr lang="ru-RU" dirty="0" smtClean="0"/>
          </a:p>
          <a:p>
            <a:r>
              <a:rPr lang="ru-RU" dirty="0" smtClean="0"/>
              <a:t>Тогда:</a:t>
            </a:r>
          </a:p>
          <a:p>
            <a:r>
              <a:rPr lang="en-US" dirty="0" smtClean="0"/>
              <a:t>A </a:t>
            </a:r>
            <a:r>
              <a:rPr lang="en-US" dirty="0"/>
              <a:t>WHERE (comp1 AND comp2) </a:t>
            </a:r>
            <a:r>
              <a:rPr lang="en-US" dirty="0" err="1"/>
              <a:t>обозначает</a:t>
            </a:r>
            <a:r>
              <a:rPr lang="en-US" dirty="0"/>
              <a:t> </a:t>
            </a:r>
            <a:r>
              <a:rPr lang="en-US" dirty="0" err="1"/>
              <a:t>то</a:t>
            </a:r>
            <a:r>
              <a:rPr lang="en-US" dirty="0"/>
              <a:t> </a:t>
            </a:r>
            <a:r>
              <a:rPr lang="en-US" dirty="0" err="1"/>
              <a:t>же</a:t>
            </a:r>
            <a:r>
              <a:rPr lang="en-US" dirty="0"/>
              <a:t> </a:t>
            </a:r>
            <a:r>
              <a:rPr lang="en-US" dirty="0" err="1"/>
              <a:t>самое</a:t>
            </a:r>
            <a:r>
              <a:rPr lang="en-US" dirty="0"/>
              <a:t>, </a:t>
            </a:r>
            <a:r>
              <a:rPr lang="en-US" dirty="0" err="1"/>
              <a:t>что</a:t>
            </a:r>
            <a:r>
              <a:rPr lang="en-US" dirty="0"/>
              <a:t> и (A WHERE comp1) INTERSECT (A WHERE comp2) ;</a:t>
            </a:r>
          </a:p>
          <a:p>
            <a:r>
              <a:rPr lang="en-US" dirty="0"/>
              <a:t>A WHERE (comp1 OR comp2) </a:t>
            </a:r>
            <a:r>
              <a:rPr lang="en-US" dirty="0" err="1"/>
              <a:t>обозначает</a:t>
            </a:r>
            <a:r>
              <a:rPr lang="en-US" dirty="0"/>
              <a:t> </a:t>
            </a:r>
            <a:r>
              <a:rPr lang="en-US" dirty="0" err="1"/>
              <a:t>то</a:t>
            </a:r>
            <a:r>
              <a:rPr lang="en-US" dirty="0"/>
              <a:t> </a:t>
            </a:r>
            <a:r>
              <a:rPr lang="en-US" dirty="0" err="1"/>
              <a:t>же</a:t>
            </a:r>
            <a:r>
              <a:rPr lang="en-US" dirty="0"/>
              <a:t> </a:t>
            </a:r>
            <a:r>
              <a:rPr lang="en-US" dirty="0" err="1"/>
              <a:t>самое</a:t>
            </a:r>
            <a:r>
              <a:rPr lang="en-US" dirty="0"/>
              <a:t>, </a:t>
            </a:r>
            <a:r>
              <a:rPr lang="en-US" dirty="0" err="1"/>
              <a:t>что</a:t>
            </a:r>
            <a:r>
              <a:rPr lang="en-US" dirty="0"/>
              <a:t> и (A WHERE comp1) UNION (A WHERE comp2) ;</a:t>
            </a:r>
          </a:p>
          <a:p>
            <a:r>
              <a:rPr lang="ru-RU" dirty="0"/>
              <a:t>A WHERE NOT comp1 обозначает то же самое, что и A MINUS (A WHERE comp1)</a:t>
            </a:r>
          </a:p>
        </p:txBody>
      </p:sp>
      <p:sp>
        <p:nvSpPr>
          <p:cNvPr id="4" name="Номер слайда 3"/>
          <p:cNvSpPr>
            <a:spLocks noGrp="1"/>
          </p:cNvSpPr>
          <p:nvPr>
            <p:ph type="sldNum" sz="quarter" idx="12"/>
          </p:nvPr>
        </p:nvSpPr>
        <p:spPr/>
        <p:txBody>
          <a:bodyPr/>
          <a:lstStyle/>
          <a:p>
            <a:fld id="{590C5F67-5E4C-4ABB-99F4-36BCAC8BE885}" type="slidenum">
              <a:rPr lang="ru-RU" smtClean="0"/>
              <a:pPr/>
              <a:t>53</a:t>
            </a:fld>
            <a:endParaRPr lang="ru-RU"/>
          </a:p>
        </p:txBody>
      </p:sp>
    </p:spTree>
    <p:extLst>
      <p:ext uri="{BB962C8B-B14F-4D97-AF65-F5344CB8AC3E}">
        <p14:creationId xmlns:p14="http://schemas.microsoft.com/office/powerpoint/2010/main" xmlns="" val="516128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Операция взятия проекции</a:t>
            </a:r>
            <a:br>
              <a:rPr lang="ru-RU" b="1" dirty="0"/>
            </a:br>
            <a:endParaRPr lang="ru-RU" dirty="0"/>
          </a:p>
        </p:txBody>
      </p:sp>
      <p:sp>
        <p:nvSpPr>
          <p:cNvPr id="3" name="Объект 2"/>
          <p:cNvSpPr>
            <a:spLocks noGrp="1"/>
          </p:cNvSpPr>
          <p:nvPr>
            <p:ph idx="1"/>
          </p:nvPr>
        </p:nvSpPr>
        <p:spPr/>
        <p:txBody>
          <a:bodyPr>
            <a:normAutofit fontScale="92500" lnSpcReduction="10000"/>
          </a:bodyPr>
          <a:lstStyle/>
          <a:p>
            <a:r>
              <a:rPr lang="ru-RU" i="1" dirty="0"/>
              <a:t>Операция взятия проекции</a:t>
            </a:r>
            <a:r>
              <a:rPr lang="ru-RU" dirty="0"/>
              <a:t> также требует наличия двух операндов – проецируемого отношения A и подмножества множества имен атрибутов, входящих в </a:t>
            </a:r>
            <a:r>
              <a:rPr lang="ru-RU" i="1" dirty="0"/>
              <a:t>заголовок отношения</a:t>
            </a:r>
            <a:r>
              <a:rPr lang="ru-RU" dirty="0"/>
              <a:t> A.</a:t>
            </a:r>
          </a:p>
          <a:p>
            <a:r>
              <a:rPr lang="ru-RU" dirty="0"/>
              <a:t>Результатом </a:t>
            </a:r>
            <a:r>
              <a:rPr lang="ru-RU" i="1" dirty="0"/>
              <a:t>проекции отношения </a:t>
            </a:r>
            <a:r>
              <a:rPr lang="ru-RU" dirty="0"/>
              <a:t>A на множество атрибутов {a</a:t>
            </a:r>
            <a:r>
              <a:rPr lang="ru-RU" baseline="-25000" dirty="0"/>
              <a:t>1</a:t>
            </a:r>
            <a:r>
              <a:rPr lang="ru-RU" dirty="0"/>
              <a:t>, a</a:t>
            </a:r>
            <a:r>
              <a:rPr lang="ru-RU" baseline="-25000" dirty="0"/>
              <a:t>2</a:t>
            </a:r>
            <a:r>
              <a:rPr lang="ru-RU" dirty="0"/>
              <a:t>, ..., </a:t>
            </a:r>
            <a:r>
              <a:rPr lang="ru-RU" dirty="0" err="1"/>
              <a:t>a</a:t>
            </a:r>
            <a:r>
              <a:rPr lang="ru-RU" baseline="-25000" dirty="0" err="1"/>
              <a:t>n</a:t>
            </a:r>
            <a:r>
              <a:rPr lang="ru-RU" dirty="0"/>
              <a:t>}(PROJECT A {a</a:t>
            </a:r>
            <a:r>
              <a:rPr lang="ru-RU" baseline="-25000" dirty="0"/>
              <a:t>1</a:t>
            </a:r>
            <a:r>
              <a:rPr lang="ru-RU" dirty="0"/>
              <a:t>, a</a:t>
            </a:r>
            <a:r>
              <a:rPr lang="ru-RU" baseline="-25000" dirty="0"/>
              <a:t>2</a:t>
            </a:r>
            <a:r>
              <a:rPr lang="ru-RU" dirty="0"/>
              <a:t>, ..., </a:t>
            </a:r>
            <a:r>
              <a:rPr lang="ru-RU" dirty="0" err="1"/>
              <a:t>a</a:t>
            </a:r>
            <a:r>
              <a:rPr lang="ru-RU" baseline="-25000" dirty="0" err="1"/>
              <a:t>n</a:t>
            </a:r>
            <a:r>
              <a:rPr lang="ru-RU" dirty="0"/>
              <a:t>}) является отношение с заголовком, определяемым множеством атрибутов {a</a:t>
            </a:r>
            <a:r>
              <a:rPr lang="ru-RU" baseline="-25000" dirty="0"/>
              <a:t>1</a:t>
            </a:r>
            <a:r>
              <a:rPr lang="ru-RU" dirty="0"/>
              <a:t>, a</a:t>
            </a:r>
            <a:r>
              <a:rPr lang="ru-RU" baseline="-25000" dirty="0"/>
              <a:t>2</a:t>
            </a:r>
            <a:r>
              <a:rPr lang="ru-RU" dirty="0"/>
              <a:t>, ..., </a:t>
            </a:r>
            <a:r>
              <a:rPr lang="ru-RU" dirty="0" err="1"/>
              <a:t>a</a:t>
            </a:r>
            <a:r>
              <a:rPr lang="ru-RU" baseline="-25000" dirty="0" err="1"/>
              <a:t>n</a:t>
            </a:r>
            <a:r>
              <a:rPr lang="ru-RU" dirty="0"/>
              <a:t>}, и с телом, состоящим из кортежей вида&lt;a</a:t>
            </a:r>
            <a:r>
              <a:rPr lang="ru-RU" baseline="-25000" dirty="0"/>
              <a:t>1</a:t>
            </a:r>
            <a:r>
              <a:rPr lang="ru-RU" dirty="0"/>
              <a:t>:v</a:t>
            </a:r>
            <a:r>
              <a:rPr lang="ru-RU" baseline="-25000" dirty="0"/>
              <a:t>1</a:t>
            </a:r>
            <a:r>
              <a:rPr lang="ru-RU" dirty="0"/>
              <a:t>, a</a:t>
            </a:r>
            <a:r>
              <a:rPr lang="ru-RU" baseline="-25000" dirty="0"/>
              <a:t>2</a:t>
            </a:r>
            <a:r>
              <a:rPr lang="ru-RU" dirty="0"/>
              <a:t>:v</a:t>
            </a:r>
            <a:r>
              <a:rPr lang="ru-RU" baseline="-25000" dirty="0"/>
              <a:t>2</a:t>
            </a:r>
            <a:r>
              <a:rPr lang="ru-RU" dirty="0"/>
              <a:t>, ..., </a:t>
            </a:r>
            <a:r>
              <a:rPr lang="ru-RU" dirty="0" err="1"/>
              <a:t>a</a:t>
            </a:r>
            <a:r>
              <a:rPr lang="ru-RU" baseline="-25000" dirty="0" err="1"/>
              <a:t>n</a:t>
            </a:r>
            <a:r>
              <a:rPr lang="ru-RU" dirty="0" err="1"/>
              <a:t>:v</a:t>
            </a:r>
            <a:r>
              <a:rPr lang="ru-RU" baseline="-25000" dirty="0" err="1"/>
              <a:t>n</a:t>
            </a:r>
            <a:r>
              <a:rPr lang="ru-RU" dirty="0"/>
              <a:t>&gt; таких, что в отношении A имеется кортеж, атрибут a</a:t>
            </a:r>
            <a:r>
              <a:rPr lang="ru-RU" baseline="-25000" dirty="0"/>
              <a:t>1</a:t>
            </a:r>
            <a:r>
              <a:rPr lang="ru-RU" dirty="0"/>
              <a:t> которого имеет значение v</a:t>
            </a:r>
            <a:r>
              <a:rPr lang="ru-RU" baseline="-25000" dirty="0"/>
              <a:t>1</a:t>
            </a:r>
            <a:r>
              <a:rPr lang="ru-RU" dirty="0"/>
              <a:t>, атрибут a</a:t>
            </a:r>
            <a:r>
              <a:rPr lang="ru-RU" baseline="-25000" dirty="0"/>
              <a:t>2</a:t>
            </a:r>
            <a:r>
              <a:rPr lang="ru-RU" dirty="0"/>
              <a:t>имеет значение v</a:t>
            </a:r>
            <a:r>
              <a:rPr lang="ru-RU" baseline="-25000" dirty="0"/>
              <a:t>2</a:t>
            </a:r>
            <a:r>
              <a:rPr lang="ru-RU" dirty="0"/>
              <a:t>, ..., атрибут </a:t>
            </a:r>
            <a:r>
              <a:rPr lang="ru-RU" dirty="0" err="1"/>
              <a:t>a</a:t>
            </a:r>
            <a:r>
              <a:rPr lang="ru-RU" baseline="-25000" dirty="0" err="1"/>
              <a:t>n</a:t>
            </a:r>
            <a:r>
              <a:rPr lang="ru-RU" dirty="0"/>
              <a:t> имеет значение </a:t>
            </a:r>
            <a:r>
              <a:rPr lang="ru-RU" dirty="0" err="1"/>
              <a:t>v</a:t>
            </a:r>
            <a:r>
              <a:rPr lang="ru-RU" baseline="-25000" dirty="0" err="1"/>
              <a:t>n</a:t>
            </a:r>
            <a:r>
              <a:rPr lang="ru-RU" dirty="0"/>
              <a:t>. Тем самым, при выполнении </a:t>
            </a:r>
            <a:r>
              <a:rPr lang="ru-RU" i="1" dirty="0"/>
              <a:t>операции проекции</a:t>
            </a:r>
            <a:r>
              <a:rPr lang="ru-RU" dirty="0"/>
              <a:t> выделяется "вертикальная" вырезка отношения-операнда с естественным уничтожением потенциально возникающих кортежей-дубликатов.</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54</a:t>
            </a:fld>
            <a:endParaRPr lang="ru-RU"/>
          </a:p>
        </p:txBody>
      </p:sp>
    </p:spTree>
    <p:extLst>
      <p:ext uri="{BB962C8B-B14F-4D97-AF65-F5344CB8AC3E}">
        <p14:creationId xmlns:p14="http://schemas.microsoft.com/office/powerpoint/2010/main" xmlns="" val="3188373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Операция соединения отношений</a:t>
            </a:r>
            <a:br>
              <a:rPr lang="ru-RU" b="1" dirty="0"/>
            </a:br>
            <a:endParaRPr lang="ru-RU" dirty="0"/>
          </a:p>
        </p:txBody>
      </p:sp>
      <p:sp>
        <p:nvSpPr>
          <p:cNvPr id="3" name="Объект 2"/>
          <p:cNvSpPr>
            <a:spLocks noGrp="1"/>
          </p:cNvSpPr>
          <p:nvPr>
            <p:ph idx="1"/>
          </p:nvPr>
        </p:nvSpPr>
        <p:spPr/>
        <p:txBody>
          <a:bodyPr>
            <a:normAutofit fontScale="92500" lnSpcReduction="10000"/>
          </a:bodyPr>
          <a:lstStyle/>
          <a:p>
            <a:r>
              <a:rPr lang="ru-RU" dirty="0"/>
              <a:t>Общая </a:t>
            </a:r>
            <a:r>
              <a:rPr lang="ru-RU" i="1" dirty="0"/>
              <a:t>операция соединения</a:t>
            </a:r>
            <a:r>
              <a:rPr lang="ru-RU" dirty="0"/>
              <a:t> (называемая также </a:t>
            </a:r>
            <a:r>
              <a:rPr lang="ru-RU" i="1" dirty="0"/>
              <a:t>соединением</a:t>
            </a:r>
            <a:r>
              <a:rPr lang="ru-RU" dirty="0"/>
              <a:t> по условию) требует наличия двух операндов – соединяемых отношений и третьего операнда – простого условия. Пусть соединяются отношения A и B. Как и в случае </a:t>
            </a:r>
            <a:r>
              <a:rPr lang="ru-RU" i="1" dirty="0"/>
              <a:t>операции ограничения</a:t>
            </a:r>
            <a:r>
              <a:rPr lang="ru-RU" dirty="0"/>
              <a:t>, условие соединения </a:t>
            </a:r>
            <a:r>
              <a:rPr lang="ru-RU" dirty="0" err="1"/>
              <a:t>comp</a:t>
            </a:r>
            <a:r>
              <a:rPr lang="ru-RU" dirty="0"/>
              <a:t> имеет вид либо ( a </a:t>
            </a:r>
            <a:r>
              <a:rPr lang="ru-RU" dirty="0" err="1"/>
              <a:t>comp-op</a:t>
            </a:r>
            <a:r>
              <a:rPr lang="ru-RU" dirty="0"/>
              <a:t> b ), либо ( a </a:t>
            </a:r>
            <a:r>
              <a:rPr lang="ru-RU" dirty="0" err="1"/>
              <a:t>comp-op</a:t>
            </a:r>
            <a:r>
              <a:rPr lang="ru-RU" dirty="0"/>
              <a:t> </a:t>
            </a:r>
            <a:r>
              <a:rPr lang="ru-RU" dirty="0" err="1"/>
              <a:t>const</a:t>
            </a:r>
            <a:r>
              <a:rPr lang="ru-RU" dirty="0"/>
              <a:t> ), где a и b – имена атрибутов отношений A </a:t>
            </a:r>
            <a:r>
              <a:rPr lang="ru-RU" dirty="0" smtClean="0"/>
              <a:t>и</a:t>
            </a:r>
            <a:r>
              <a:rPr lang="en-US" dirty="0" smtClean="0"/>
              <a:t> </a:t>
            </a:r>
            <a:r>
              <a:rPr lang="ru-RU" dirty="0" smtClean="0"/>
              <a:t>B</a:t>
            </a:r>
            <a:r>
              <a:rPr lang="ru-RU" dirty="0"/>
              <a:t>, </a:t>
            </a:r>
            <a:r>
              <a:rPr lang="ru-RU" dirty="0" err="1"/>
              <a:t>const</a:t>
            </a:r>
            <a:r>
              <a:rPr lang="ru-RU" dirty="0"/>
              <a:t> – литерально заданная константа, и </a:t>
            </a:r>
            <a:r>
              <a:rPr lang="ru-RU" dirty="0" err="1"/>
              <a:t>comp-op</a:t>
            </a:r>
            <a:r>
              <a:rPr lang="ru-RU" dirty="0"/>
              <a:t> – допустимая в данном контексте операция сравнения.</a:t>
            </a:r>
          </a:p>
          <a:p>
            <a:r>
              <a:rPr lang="ru-RU" dirty="0" smtClean="0"/>
              <a:t>Тогда по определению результатом </a:t>
            </a:r>
            <a:r>
              <a:rPr lang="ru-RU" i="1" dirty="0" smtClean="0"/>
              <a:t>операции соединения </a:t>
            </a:r>
            <a:r>
              <a:rPr lang="ru-RU" dirty="0" smtClean="0"/>
              <a:t>A JOIN B WHERE </a:t>
            </a:r>
            <a:r>
              <a:rPr lang="ru-RU" dirty="0" err="1" smtClean="0"/>
              <a:t>comp</a:t>
            </a:r>
            <a:r>
              <a:rPr lang="ru-RU" dirty="0" smtClean="0"/>
              <a:t> </a:t>
            </a:r>
            <a:r>
              <a:rPr lang="ru-RU" i="1" dirty="0" smtClean="0"/>
              <a:t>совместимых по взятию декартова произведения отношений </a:t>
            </a:r>
            <a:r>
              <a:rPr lang="ru-RU" dirty="0" smtClean="0"/>
              <a:t>A и B является отношение, получаемое путем выполнения </a:t>
            </a:r>
            <a:r>
              <a:rPr lang="ru-RU" i="1" dirty="0" smtClean="0"/>
              <a:t>операции ограничения</a:t>
            </a:r>
            <a:r>
              <a:rPr lang="ru-RU" dirty="0" smtClean="0"/>
              <a:t> по условию </a:t>
            </a:r>
            <a:r>
              <a:rPr lang="ru-RU" dirty="0" err="1" smtClean="0"/>
              <a:t>comp</a:t>
            </a:r>
            <a:r>
              <a:rPr lang="ru-RU" dirty="0" smtClean="0"/>
              <a:t> декартова произведения отношений A и B</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55</a:t>
            </a:fld>
            <a:endParaRPr lang="ru-RU"/>
          </a:p>
        </p:txBody>
      </p:sp>
    </p:spTree>
    <p:extLst>
      <p:ext uri="{BB962C8B-B14F-4D97-AF65-F5344CB8AC3E}">
        <p14:creationId xmlns:p14="http://schemas.microsoft.com/office/powerpoint/2010/main" xmlns="" val="29756438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2050" name="Picture 2" descr="(A \ JOIN \ B \ WHERE \ comp \equiv  (A \ TIMES \ B) WHERE \ comp)"/>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684668" y="2165683"/>
            <a:ext cx="10581324" cy="445169"/>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56</a:t>
            </a:fld>
            <a:endParaRPr lang="ru-RU"/>
          </a:p>
        </p:txBody>
      </p:sp>
    </p:spTree>
    <p:extLst>
      <p:ext uri="{BB962C8B-B14F-4D97-AF65-F5344CB8AC3E}">
        <p14:creationId xmlns:p14="http://schemas.microsoft.com/office/powerpoint/2010/main" xmlns="" val="30907715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Операция деления отношений</a:t>
            </a:r>
            <a:br>
              <a:rPr lang="ru-RU" b="1" dirty="0"/>
            </a:br>
            <a:endParaRPr lang="ru-RU" dirty="0"/>
          </a:p>
        </p:txBody>
      </p:sp>
      <p:sp>
        <p:nvSpPr>
          <p:cNvPr id="3" name="Объект 2"/>
          <p:cNvSpPr>
            <a:spLocks noGrp="1"/>
          </p:cNvSpPr>
          <p:nvPr>
            <p:ph idx="1"/>
          </p:nvPr>
        </p:nvSpPr>
        <p:spPr/>
        <p:txBody>
          <a:bodyPr/>
          <a:lstStyle/>
          <a:p>
            <a:r>
              <a:rPr lang="ru-RU" dirty="0"/>
              <a:t>Пусть заданы два отношения – A с заголовком {a</a:t>
            </a:r>
            <a:r>
              <a:rPr lang="ru-RU" baseline="-25000" dirty="0"/>
              <a:t>1</a:t>
            </a:r>
            <a:r>
              <a:rPr lang="ru-RU" dirty="0"/>
              <a:t>, a</a:t>
            </a:r>
            <a:r>
              <a:rPr lang="ru-RU" baseline="-25000" dirty="0"/>
              <a:t>2</a:t>
            </a:r>
            <a:r>
              <a:rPr lang="ru-RU" dirty="0"/>
              <a:t>, ..., </a:t>
            </a:r>
            <a:r>
              <a:rPr lang="ru-RU" dirty="0" err="1"/>
              <a:t>a</a:t>
            </a:r>
            <a:r>
              <a:rPr lang="ru-RU" baseline="-25000" dirty="0" err="1"/>
              <a:t>n</a:t>
            </a:r>
            <a:r>
              <a:rPr lang="ru-RU" dirty="0"/>
              <a:t>, b</a:t>
            </a:r>
            <a:r>
              <a:rPr lang="ru-RU" baseline="-25000" dirty="0"/>
              <a:t>1</a:t>
            </a:r>
            <a:r>
              <a:rPr lang="ru-RU" dirty="0"/>
              <a:t>, b</a:t>
            </a:r>
            <a:r>
              <a:rPr lang="ru-RU" baseline="-25000" dirty="0"/>
              <a:t>2</a:t>
            </a:r>
            <a:r>
              <a:rPr lang="ru-RU" dirty="0"/>
              <a:t>, ..., </a:t>
            </a:r>
            <a:r>
              <a:rPr lang="ru-RU" dirty="0" err="1"/>
              <a:t>b</a:t>
            </a:r>
            <a:r>
              <a:rPr lang="ru-RU" baseline="-25000" dirty="0" err="1"/>
              <a:t>m</a:t>
            </a:r>
            <a:r>
              <a:rPr lang="ru-RU" dirty="0"/>
              <a:t>} и B с заголовком {b</a:t>
            </a:r>
            <a:r>
              <a:rPr lang="ru-RU" baseline="-25000" dirty="0"/>
              <a:t>1</a:t>
            </a:r>
            <a:r>
              <a:rPr lang="ru-RU" dirty="0"/>
              <a:t>, b</a:t>
            </a:r>
            <a:r>
              <a:rPr lang="ru-RU" baseline="-25000" dirty="0"/>
              <a:t>2</a:t>
            </a:r>
            <a:r>
              <a:rPr lang="ru-RU" dirty="0"/>
              <a:t>, ..., </a:t>
            </a:r>
            <a:r>
              <a:rPr lang="ru-RU" dirty="0" err="1"/>
              <a:t>b</a:t>
            </a:r>
            <a:r>
              <a:rPr lang="ru-RU" baseline="-25000" dirty="0" err="1"/>
              <a:t>m</a:t>
            </a:r>
            <a:r>
              <a:rPr lang="ru-RU" dirty="0"/>
              <a:t>}. Будем считать, что атрибут </a:t>
            </a:r>
            <a:r>
              <a:rPr lang="ru-RU" dirty="0" err="1"/>
              <a:t>b</a:t>
            </a:r>
            <a:r>
              <a:rPr lang="ru-RU" baseline="-25000" dirty="0" err="1"/>
              <a:t>i</a:t>
            </a:r>
            <a:r>
              <a:rPr lang="ru-RU" dirty="0"/>
              <a:t> отношения A и атрибут </a:t>
            </a:r>
            <a:r>
              <a:rPr lang="ru-RU" dirty="0" err="1"/>
              <a:t>b</a:t>
            </a:r>
            <a:r>
              <a:rPr lang="ru-RU" baseline="-25000" dirty="0" err="1"/>
              <a:t>i</a:t>
            </a:r>
            <a:r>
              <a:rPr lang="ru-RU" dirty="0"/>
              <a:t> отношения B (i = 1, 2, …, m) не только обладают одним и тем же именем, но и определены на одном и том же домене. Назовем множество атрибутов {</a:t>
            </a:r>
            <a:r>
              <a:rPr lang="ru-RU" dirty="0" err="1"/>
              <a:t>a</a:t>
            </a:r>
            <a:r>
              <a:rPr lang="ru-RU" baseline="-25000" dirty="0" err="1"/>
              <a:t>j</a:t>
            </a:r>
            <a:r>
              <a:rPr lang="ru-RU" dirty="0"/>
              <a:t>} составным атрибутом a, а множество атрибутов {</a:t>
            </a:r>
            <a:r>
              <a:rPr lang="ru-RU" dirty="0" err="1"/>
              <a:t>b</a:t>
            </a:r>
            <a:r>
              <a:rPr lang="ru-RU" baseline="-25000" dirty="0" err="1"/>
              <a:t>j</a:t>
            </a:r>
            <a:r>
              <a:rPr lang="ru-RU" dirty="0"/>
              <a:t>} – составным атрибутом b. После этого будем говорить о реляционном </a:t>
            </a:r>
            <a:r>
              <a:rPr lang="ru-RU" i="1" dirty="0"/>
              <a:t>делении</a:t>
            </a:r>
            <a:r>
              <a:rPr lang="ru-RU" dirty="0"/>
              <a:t> "бинарного" </a:t>
            </a:r>
            <a:r>
              <a:rPr lang="ru-RU" dirty="0" smtClean="0"/>
              <a:t>отношения</a:t>
            </a:r>
            <a:r>
              <a:rPr lang="en-US" dirty="0" smtClean="0"/>
              <a:t> </a:t>
            </a:r>
            <a:r>
              <a:rPr lang="ru-RU" dirty="0" smtClean="0"/>
              <a:t>A{a</a:t>
            </a:r>
            <a:r>
              <a:rPr lang="ru-RU" dirty="0"/>
              <a:t>, b} на унарное отношение B{b}.</a:t>
            </a:r>
          </a:p>
        </p:txBody>
      </p:sp>
      <p:sp>
        <p:nvSpPr>
          <p:cNvPr id="4" name="Номер слайда 3"/>
          <p:cNvSpPr>
            <a:spLocks noGrp="1"/>
          </p:cNvSpPr>
          <p:nvPr>
            <p:ph type="sldNum" sz="quarter" idx="12"/>
          </p:nvPr>
        </p:nvSpPr>
        <p:spPr/>
        <p:txBody>
          <a:bodyPr/>
          <a:lstStyle/>
          <a:p>
            <a:fld id="{590C5F67-5E4C-4ABB-99F4-36BCAC8BE885}" type="slidenum">
              <a:rPr lang="ru-RU" smtClean="0"/>
              <a:pPr/>
              <a:t>57</a:t>
            </a:fld>
            <a:endParaRPr lang="ru-RU"/>
          </a:p>
        </p:txBody>
      </p:sp>
    </p:spTree>
    <p:extLst>
      <p:ext uri="{BB962C8B-B14F-4D97-AF65-F5344CB8AC3E}">
        <p14:creationId xmlns:p14="http://schemas.microsoft.com/office/powerpoint/2010/main" xmlns="" val="2926657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По определению, результатом </a:t>
            </a:r>
            <a:r>
              <a:rPr lang="ru-RU" i="1" dirty="0"/>
              <a:t>деления </a:t>
            </a:r>
            <a:r>
              <a:rPr lang="ru-RU" dirty="0"/>
              <a:t>A на B (A DIVIDE BY B) является </a:t>
            </a:r>
            <a:r>
              <a:rPr lang="ru-RU" dirty="0" smtClean="0"/>
              <a:t> </a:t>
            </a:r>
            <a:r>
              <a:rPr lang="ru-RU" dirty="0"/>
              <a:t>отношение C{a}, тело которого состоит из кортежей v таких, что в теле отношения A содержатся кортежи v UNION w такие, что </a:t>
            </a:r>
            <a:r>
              <a:rPr lang="ru-RU" dirty="0" smtClean="0"/>
              <a:t>множество</a:t>
            </a:r>
            <a:r>
              <a:rPr lang="ru-RU" dirty="0"/>
              <a:t> {w} включает тело отношения B. </a:t>
            </a:r>
          </a:p>
        </p:txBody>
      </p:sp>
      <p:sp>
        <p:nvSpPr>
          <p:cNvPr id="4" name="Номер слайда 3"/>
          <p:cNvSpPr>
            <a:spLocks noGrp="1"/>
          </p:cNvSpPr>
          <p:nvPr>
            <p:ph type="sldNum" sz="quarter" idx="12"/>
          </p:nvPr>
        </p:nvSpPr>
        <p:spPr/>
        <p:txBody>
          <a:bodyPr/>
          <a:lstStyle/>
          <a:p>
            <a:fld id="{590C5F67-5E4C-4ABB-99F4-36BCAC8BE885}" type="slidenum">
              <a:rPr lang="ru-RU" smtClean="0"/>
              <a:pPr/>
              <a:t>58</a:t>
            </a:fld>
            <a:endParaRPr lang="ru-RU"/>
          </a:p>
        </p:txBody>
      </p:sp>
    </p:spTree>
    <p:extLst>
      <p:ext uri="{BB962C8B-B14F-4D97-AF65-F5344CB8AC3E}">
        <p14:creationId xmlns:p14="http://schemas.microsoft.com/office/powerpoint/2010/main" xmlns="" val="2266203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Базисные средства манипулирования реляционными данными: реляционное исчисление</a:t>
            </a:r>
            <a:endParaRPr lang="ru-RU" dirty="0"/>
          </a:p>
        </p:txBody>
      </p:sp>
      <p:sp>
        <p:nvSpPr>
          <p:cNvPr id="3" name="Объект 2"/>
          <p:cNvSpPr>
            <a:spLocks noGrp="1"/>
          </p:cNvSpPr>
          <p:nvPr>
            <p:ph idx="1"/>
          </p:nvPr>
        </p:nvSpPr>
        <p:spPr/>
        <p:txBody>
          <a:bodyPr/>
          <a:lstStyle/>
          <a:p>
            <a:endParaRPr lang="en-US" dirty="0" smtClean="0"/>
          </a:p>
          <a:p>
            <a:r>
              <a:rPr lang="ru-RU" dirty="0" smtClean="0"/>
              <a:t>Различают</a:t>
            </a:r>
            <a:r>
              <a:rPr lang="en-US" dirty="0" smtClean="0"/>
              <a:t>:</a:t>
            </a:r>
          </a:p>
          <a:p>
            <a:r>
              <a:rPr lang="en-US" dirty="0" smtClean="0"/>
              <a:t>1) </a:t>
            </a:r>
            <a:r>
              <a:rPr lang="ru-RU" i="1" dirty="0"/>
              <a:t>исчисление </a:t>
            </a:r>
            <a:r>
              <a:rPr lang="ru-RU" i="1" dirty="0" smtClean="0"/>
              <a:t>кортежей</a:t>
            </a:r>
            <a:endParaRPr lang="en-US" i="1" dirty="0" smtClean="0"/>
          </a:p>
          <a:p>
            <a:r>
              <a:rPr lang="en-US" i="1" dirty="0" smtClean="0"/>
              <a:t>2) </a:t>
            </a:r>
            <a:r>
              <a:rPr lang="ru-RU" i="1" dirty="0"/>
              <a:t>исчисление доменов</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59</a:t>
            </a:fld>
            <a:endParaRPr lang="ru-RU"/>
          </a:p>
        </p:txBody>
      </p:sp>
    </p:spTree>
    <p:extLst>
      <p:ext uri="{BB962C8B-B14F-4D97-AF65-F5344CB8AC3E}">
        <p14:creationId xmlns:p14="http://schemas.microsoft.com/office/powerpoint/2010/main" xmlns="" val="3755711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Исчисление кортежей</a:t>
            </a:r>
            <a:endParaRPr lang="ru-RU" dirty="0"/>
          </a:p>
        </p:txBody>
      </p:sp>
      <p:sp>
        <p:nvSpPr>
          <p:cNvPr id="3" name="Объект 2"/>
          <p:cNvSpPr>
            <a:spLocks noGrp="1"/>
          </p:cNvSpPr>
          <p:nvPr>
            <p:ph idx="1"/>
          </p:nvPr>
        </p:nvSpPr>
        <p:spPr/>
        <p:txBody>
          <a:bodyPr/>
          <a:lstStyle/>
          <a:p>
            <a:r>
              <a:rPr lang="ru-RU" dirty="0"/>
              <a:t>Для определения </a:t>
            </a:r>
            <a:r>
              <a:rPr lang="ru-RU" i="1" dirty="0"/>
              <a:t>кортежной переменной</a:t>
            </a:r>
            <a:r>
              <a:rPr lang="ru-RU" dirty="0"/>
              <a:t> используется </a:t>
            </a:r>
            <a:r>
              <a:rPr lang="ru-RU" i="1" dirty="0"/>
              <a:t>оператор RANGE</a:t>
            </a:r>
            <a:r>
              <a:rPr lang="ru-RU" dirty="0"/>
              <a:t>. Например, для того чтобы определить </a:t>
            </a:r>
            <a:r>
              <a:rPr lang="ru-RU" dirty="0" smtClean="0"/>
              <a:t>переменную СЛУЖАЩИЙ</a:t>
            </a:r>
            <a:r>
              <a:rPr lang="ru-RU" dirty="0"/>
              <a:t>, областью определения которой является </a:t>
            </a:r>
            <a:r>
              <a:rPr lang="ru-RU" i="1" dirty="0"/>
              <a:t>отношение</a:t>
            </a:r>
            <a:r>
              <a:rPr lang="ru-RU" dirty="0"/>
              <a:t> СЛУЖАЩИЕ, нужно употребить конструкцию</a:t>
            </a:r>
          </a:p>
          <a:p>
            <a:r>
              <a:rPr lang="ru-RU" i="1" dirty="0"/>
              <a:t>RANGE</a:t>
            </a:r>
            <a:r>
              <a:rPr lang="ru-RU" dirty="0"/>
              <a:t> СЛУЖАЩИЙ IS СЛУЖАЩИЕ</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60</a:t>
            </a:fld>
            <a:endParaRPr lang="ru-RU"/>
          </a:p>
        </p:txBody>
      </p:sp>
    </p:spTree>
    <p:extLst>
      <p:ext uri="{BB962C8B-B14F-4D97-AF65-F5344CB8AC3E}">
        <p14:creationId xmlns:p14="http://schemas.microsoft.com/office/powerpoint/2010/main" xmlns="" val="38491861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Правильно построенные формулы</a:t>
            </a:r>
            <a:br>
              <a:rPr lang="ru-RU" b="1" dirty="0"/>
            </a:br>
            <a:endParaRPr lang="ru-RU" dirty="0"/>
          </a:p>
        </p:txBody>
      </p:sp>
      <p:sp>
        <p:nvSpPr>
          <p:cNvPr id="3" name="Объект 2"/>
          <p:cNvSpPr>
            <a:spLocks noGrp="1"/>
          </p:cNvSpPr>
          <p:nvPr>
            <p:ph idx="1"/>
          </p:nvPr>
        </p:nvSpPr>
        <p:spPr/>
        <p:txBody>
          <a:bodyPr/>
          <a:lstStyle/>
          <a:p>
            <a:r>
              <a:rPr lang="ru-RU" i="1" dirty="0"/>
              <a:t>Правильно построенная формула (</a:t>
            </a:r>
            <a:r>
              <a:rPr lang="ru-RU" i="1" dirty="0" err="1"/>
              <a:t>Well-Formed</a:t>
            </a:r>
            <a:r>
              <a:rPr lang="ru-RU" i="1" dirty="0"/>
              <a:t> </a:t>
            </a:r>
            <a:r>
              <a:rPr lang="ru-RU" i="1" dirty="0" err="1"/>
              <a:t>Formula</a:t>
            </a:r>
            <a:r>
              <a:rPr lang="ru-RU" i="1" dirty="0"/>
              <a:t>, WFF)</a:t>
            </a:r>
            <a:r>
              <a:rPr lang="ru-RU" dirty="0"/>
              <a:t> служит для выражения условий, накладываемых на </a:t>
            </a:r>
            <a:r>
              <a:rPr lang="ru-RU" i="1" dirty="0"/>
              <a:t>кортежные переменные</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61</a:t>
            </a:fld>
            <a:endParaRPr lang="ru-RU"/>
          </a:p>
        </p:txBody>
      </p:sp>
    </p:spTree>
    <p:extLst>
      <p:ext uri="{BB962C8B-B14F-4D97-AF65-F5344CB8AC3E}">
        <p14:creationId xmlns:p14="http://schemas.microsoft.com/office/powerpoint/2010/main" xmlns="" val="35499893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Простые условия</a:t>
            </a:r>
            <a:br>
              <a:rPr lang="ru-RU" b="1" dirty="0"/>
            </a:br>
            <a:endParaRPr lang="ru-RU" dirty="0"/>
          </a:p>
        </p:txBody>
      </p:sp>
      <p:sp>
        <p:nvSpPr>
          <p:cNvPr id="3" name="Объект 2"/>
          <p:cNvSpPr>
            <a:spLocks noGrp="1"/>
          </p:cNvSpPr>
          <p:nvPr>
            <p:ph idx="1"/>
          </p:nvPr>
        </p:nvSpPr>
        <p:spPr/>
        <p:txBody>
          <a:bodyPr/>
          <a:lstStyle/>
          <a:p>
            <a:r>
              <a:rPr lang="ru-RU" dirty="0"/>
              <a:t>Например, конструкции</a:t>
            </a:r>
          </a:p>
          <a:p>
            <a:r>
              <a:rPr lang="ru-RU" dirty="0"/>
              <a:t>СЛУЖАЩИЙ.СЛУ_НОМ = 2934 и</a:t>
            </a:r>
          </a:p>
          <a:p>
            <a:r>
              <a:rPr lang="ru-RU" dirty="0"/>
              <a:t>СЛУЖАЩИЙ.СЛУ_НОМ = ПРОЕКТ.ПРОЕКТ_РУК</a:t>
            </a:r>
          </a:p>
          <a:p>
            <a:r>
              <a:rPr lang="ru-RU" dirty="0"/>
              <a:t>Более сложные варианты </a:t>
            </a:r>
            <a:r>
              <a:rPr lang="ru-RU" i="1" dirty="0"/>
              <a:t>WFF</a:t>
            </a:r>
            <a:r>
              <a:rPr lang="ru-RU" dirty="0"/>
              <a:t> строятся с помощью логических связок NOT, AND, OR и IF ... </a:t>
            </a:r>
            <a:r>
              <a:rPr lang="ru-RU" dirty="0" smtClean="0"/>
              <a:t>THEN</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62</a:t>
            </a:fld>
            <a:endParaRPr lang="ru-RU"/>
          </a:p>
        </p:txBody>
      </p:sp>
    </p:spTree>
    <p:extLst>
      <p:ext uri="{BB962C8B-B14F-4D97-AF65-F5344CB8AC3E}">
        <p14:creationId xmlns:p14="http://schemas.microsoft.com/office/powerpoint/2010/main" xmlns="" val="22560215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Кванторы, свободные и связанные переменные</a:t>
            </a:r>
            <a:br>
              <a:rPr lang="ru-RU" b="1" dirty="0"/>
            </a:br>
            <a:endParaRPr lang="ru-RU" dirty="0"/>
          </a:p>
        </p:txBody>
      </p:sp>
      <p:sp>
        <p:nvSpPr>
          <p:cNvPr id="3" name="Объект 2"/>
          <p:cNvSpPr>
            <a:spLocks noGrp="1"/>
          </p:cNvSpPr>
          <p:nvPr>
            <p:ph idx="1"/>
          </p:nvPr>
        </p:nvSpPr>
        <p:spPr/>
        <p:txBody>
          <a:bodyPr/>
          <a:lstStyle/>
          <a:p>
            <a:r>
              <a:rPr lang="ru-RU" dirty="0"/>
              <a:t>При построении </a:t>
            </a:r>
            <a:r>
              <a:rPr lang="ru-RU" i="1" dirty="0"/>
              <a:t>WFF</a:t>
            </a:r>
            <a:r>
              <a:rPr lang="ru-RU" dirty="0"/>
              <a:t> допускается использование </a:t>
            </a:r>
            <a:r>
              <a:rPr lang="ru-RU" i="1" dirty="0"/>
              <a:t>кванторов существования (EXISTS)</a:t>
            </a:r>
            <a:r>
              <a:rPr lang="ru-RU" dirty="0"/>
              <a:t> и </a:t>
            </a:r>
            <a:r>
              <a:rPr lang="ru-RU" i="1" dirty="0"/>
              <a:t>всеобщности (FORALL)</a:t>
            </a:r>
            <a:r>
              <a:rPr lang="ru-RU" dirty="0"/>
              <a:t>. Если </a:t>
            </a:r>
            <a:r>
              <a:rPr lang="ru-RU" dirty="0" err="1"/>
              <a:t>form</a:t>
            </a:r>
            <a:r>
              <a:rPr lang="ru-RU" dirty="0"/>
              <a:t> – это </a:t>
            </a:r>
            <a:r>
              <a:rPr lang="ru-RU" i="1" dirty="0"/>
              <a:t>WFF</a:t>
            </a:r>
            <a:r>
              <a:rPr lang="ru-RU" dirty="0"/>
              <a:t>, в которой участвует переменная </a:t>
            </a:r>
            <a:r>
              <a:rPr lang="ru-RU" dirty="0" err="1"/>
              <a:t>var</a:t>
            </a:r>
            <a:r>
              <a:rPr lang="ru-RU" dirty="0"/>
              <a:t>, то конструкции </a:t>
            </a:r>
            <a:r>
              <a:rPr lang="ru-RU" i="1" dirty="0"/>
              <a:t>EXISTS</a:t>
            </a:r>
            <a:r>
              <a:rPr lang="ru-RU" dirty="0"/>
              <a:t> </a:t>
            </a:r>
            <a:r>
              <a:rPr lang="ru-RU" dirty="0" err="1"/>
              <a:t>var</a:t>
            </a:r>
            <a:r>
              <a:rPr lang="ru-RU" dirty="0"/>
              <a:t> (</a:t>
            </a:r>
            <a:r>
              <a:rPr lang="ru-RU" dirty="0" err="1"/>
              <a:t>form</a:t>
            </a:r>
            <a:r>
              <a:rPr lang="ru-RU" dirty="0"/>
              <a:t>) и FORALL </a:t>
            </a:r>
            <a:r>
              <a:rPr lang="ru-RU" dirty="0" err="1"/>
              <a:t>var</a:t>
            </a:r>
            <a:r>
              <a:rPr lang="ru-RU" dirty="0"/>
              <a:t> (</a:t>
            </a:r>
            <a:r>
              <a:rPr lang="ru-RU" dirty="0" err="1"/>
              <a:t>form</a:t>
            </a:r>
            <a:r>
              <a:rPr lang="ru-RU" dirty="0"/>
              <a:t>) представляют собой </a:t>
            </a:r>
            <a:r>
              <a:rPr lang="ru-RU" i="1" dirty="0"/>
              <a:t>WFF</a:t>
            </a:r>
            <a:r>
              <a:rPr lang="ru-RU" dirty="0"/>
              <a:t>. По определению, формула </a:t>
            </a:r>
            <a:r>
              <a:rPr lang="ru-RU" i="1" dirty="0"/>
              <a:t>EXISTS</a:t>
            </a:r>
            <a:r>
              <a:rPr lang="ru-RU" dirty="0"/>
              <a:t> </a:t>
            </a:r>
            <a:r>
              <a:rPr lang="ru-RU" dirty="0" err="1"/>
              <a:t>var</a:t>
            </a:r>
            <a:r>
              <a:rPr lang="ru-RU" dirty="0"/>
              <a:t> (</a:t>
            </a:r>
            <a:r>
              <a:rPr lang="ru-RU" dirty="0" err="1"/>
              <a:t>form</a:t>
            </a:r>
            <a:r>
              <a:rPr lang="ru-RU" dirty="0"/>
              <a:t>) принимает значение </a:t>
            </a:r>
            <a:r>
              <a:rPr lang="ru-RU" dirty="0" err="1"/>
              <a:t>true</a:t>
            </a:r>
            <a:r>
              <a:rPr lang="ru-RU" dirty="0"/>
              <a:t> в том и только в том случае, если в области определения переменной </a:t>
            </a:r>
            <a:r>
              <a:rPr lang="ru-RU" dirty="0" err="1"/>
              <a:t>var</a:t>
            </a:r>
            <a:r>
              <a:rPr lang="ru-RU" dirty="0"/>
              <a:t> найдется хотя бы одно значение (кортеж), для которого </a:t>
            </a:r>
            <a:r>
              <a:rPr lang="ru-RU" i="1" dirty="0"/>
              <a:t>WFF </a:t>
            </a:r>
            <a:r>
              <a:rPr lang="ru-RU" dirty="0" err="1"/>
              <a:t>form</a:t>
            </a:r>
            <a:r>
              <a:rPr lang="ru-RU" dirty="0"/>
              <a:t> принимает значение </a:t>
            </a:r>
            <a:r>
              <a:rPr lang="ru-RU" dirty="0" err="1"/>
              <a:t>true</a:t>
            </a:r>
            <a:r>
              <a:rPr lang="ru-RU" dirty="0"/>
              <a:t>. Формула </a:t>
            </a:r>
            <a:r>
              <a:rPr lang="ru-RU" i="1" dirty="0" smtClean="0"/>
              <a:t>FORALL </a:t>
            </a:r>
            <a:r>
              <a:rPr lang="ru-RU" dirty="0" err="1" smtClean="0"/>
              <a:t>var</a:t>
            </a:r>
            <a:r>
              <a:rPr lang="ru-RU" dirty="0" smtClean="0"/>
              <a:t> </a:t>
            </a:r>
            <a:r>
              <a:rPr lang="ru-RU" dirty="0"/>
              <a:t>(</a:t>
            </a:r>
            <a:r>
              <a:rPr lang="ru-RU" dirty="0" err="1"/>
              <a:t>form</a:t>
            </a:r>
            <a:r>
              <a:rPr lang="ru-RU" dirty="0"/>
              <a:t>) принимает значение </a:t>
            </a:r>
            <a:r>
              <a:rPr lang="ru-RU" dirty="0" err="1"/>
              <a:t>true</a:t>
            </a:r>
            <a:r>
              <a:rPr lang="ru-RU" dirty="0"/>
              <a:t>, если для всех значений переменной </a:t>
            </a:r>
            <a:r>
              <a:rPr lang="ru-RU" dirty="0" err="1"/>
              <a:t>var</a:t>
            </a:r>
            <a:r>
              <a:rPr lang="ru-RU" dirty="0"/>
              <a:t> из ее области определения </a:t>
            </a:r>
            <a:r>
              <a:rPr lang="ru-RU" i="1" dirty="0"/>
              <a:t>WFF </a:t>
            </a:r>
            <a:r>
              <a:rPr lang="ru-RU" dirty="0" err="1" smtClean="0"/>
              <a:t>form</a:t>
            </a:r>
            <a:r>
              <a:rPr lang="ru-RU" dirty="0" smtClean="0"/>
              <a:t> принимает </a:t>
            </a:r>
            <a:r>
              <a:rPr lang="ru-RU" dirty="0"/>
              <a:t>значение </a:t>
            </a:r>
            <a:r>
              <a:rPr lang="ru-RU" dirty="0" err="1"/>
              <a:t>true</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63</a:t>
            </a:fld>
            <a:endParaRPr lang="ru-RU"/>
          </a:p>
        </p:txBody>
      </p:sp>
    </p:spTree>
    <p:extLst>
      <p:ext uri="{BB962C8B-B14F-4D97-AF65-F5344CB8AC3E}">
        <p14:creationId xmlns:p14="http://schemas.microsoft.com/office/powerpoint/2010/main" xmlns="" val="38639671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Переменные, входящие в </a:t>
            </a:r>
            <a:r>
              <a:rPr lang="ru-RU" i="1" dirty="0"/>
              <a:t>WFF</a:t>
            </a:r>
            <a:r>
              <a:rPr lang="ru-RU" dirty="0"/>
              <a:t>, могут быть </a:t>
            </a:r>
            <a:r>
              <a:rPr lang="ru-RU" i="1" dirty="0"/>
              <a:t>свободными</a:t>
            </a:r>
            <a:r>
              <a:rPr lang="ru-RU" dirty="0"/>
              <a:t> или </a:t>
            </a:r>
            <a:r>
              <a:rPr lang="ru-RU" i="1" dirty="0"/>
              <a:t>связанными</a:t>
            </a:r>
            <a:r>
              <a:rPr lang="ru-RU" dirty="0"/>
              <a:t>. По определению, все переменные, входящие в </a:t>
            </a:r>
            <a:r>
              <a:rPr lang="ru-RU" i="1" dirty="0"/>
              <a:t>WFF</a:t>
            </a:r>
            <a:r>
              <a:rPr lang="ru-RU" dirty="0"/>
              <a:t>, при построении которой не использовались кванторы, являются </a:t>
            </a:r>
            <a:r>
              <a:rPr lang="ru-RU" b="1" i="1" dirty="0"/>
              <a:t>свободными</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64</a:t>
            </a:fld>
            <a:endParaRPr lang="ru-RU"/>
          </a:p>
        </p:txBody>
      </p:sp>
    </p:spTree>
    <p:extLst>
      <p:ext uri="{BB962C8B-B14F-4D97-AF65-F5344CB8AC3E}">
        <p14:creationId xmlns:p14="http://schemas.microsoft.com/office/powerpoint/2010/main" xmlns="" val="27226017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Исчисление доменов</a:t>
            </a:r>
            <a:br>
              <a:rPr lang="ru-RU" b="1" dirty="0"/>
            </a:br>
            <a:endParaRPr lang="ru-RU" dirty="0"/>
          </a:p>
        </p:txBody>
      </p:sp>
      <p:sp>
        <p:nvSpPr>
          <p:cNvPr id="3" name="Объект 2"/>
          <p:cNvSpPr>
            <a:spLocks noGrp="1"/>
          </p:cNvSpPr>
          <p:nvPr>
            <p:ph idx="1"/>
          </p:nvPr>
        </p:nvSpPr>
        <p:spPr/>
        <p:txBody>
          <a:bodyPr/>
          <a:lstStyle/>
          <a:p>
            <a:r>
              <a:rPr lang="ru-RU" dirty="0"/>
              <a:t>В </a:t>
            </a:r>
            <a:r>
              <a:rPr lang="ru-RU" i="1" dirty="0"/>
              <a:t>исчислении доменов</a:t>
            </a:r>
            <a:r>
              <a:rPr lang="ru-RU" dirty="0"/>
              <a:t> областью определения переменных являются не отношения, а домены. Применительно к базе данных</a:t>
            </a:r>
          </a:p>
        </p:txBody>
      </p:sp>
      <p:sp>
        <p:nvSpPr>
          <p:cNvPr id="4" name="Номер слайда 3"/>
          <p:cNvSpPr>
            <a:spLocks noGrp="1"/>
          </p:cNvSpPr>
          <p:nvPr>
            <p:ph type="sldNum" sz="quarter" idx="12"/>
          </p:nvPr>
        </p:nvSpPr>
        <p:spPr/>
        <p:txBody>
          <a:bodyPr/>
          <a:lstStyle/>
          <a:p>
            <a:fld id="{590C5F67-5E4C-4ABB-99F4-36BCAC8BE885}" type="slidenum">
              <a:rPr lang="ru-RU" smtClean="0"/>
              <a:pPr/>
              <a:t>65</a:t>
            </a:fld>
            <a:endParaRPr lang="ru-RU"/>
          </a:p>
        </p:txBody>
      </p:sp>
    </p:spTree>
    <p:extLst>
      <p:ext uri="{BB962C8B-B14F-4D97-AF65-F5344CB8AC3E}">
        <p14:creationId xmlns:p14="http://schemas.microsoft.com/office/powerpoint/2010/main" xmlns="" val="24755814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Функциональные зависимости</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a:t>Пусть задана </a:t>
            </a:r>
            <a:r>
              <a:rPr lang="ru-RU" i="1" dirty="0"/>
              <a:t>переменная отношения</a:t>
            </a:r>
            <a:r>
              <a:rPr lang="ru-RU" dirty="0"/>
              <a:t> r, и X и Y являются произвольными подмножествами заголовка r ("составными" атрибутами).</a:t>
            </a:r>
          </a:p>
          <a:p>
            <a:r>
              <a:rPr lang="ru-RU" dirty="0"/>
              <a:t>В значении </a:t>
            </a:r>
            <a:r>
              <a:rPr lang="ru-RU" i="1" dirty="0"/>
              <a:t>переменной отношения</a:t>
            </a:r>
            <a:r>
              <a:rPr lang="ru-RU" dirty="0"/>
              <a:t> r </a:t>
            </a:r>
            <a:r>
              <a:rPr lang="ru-RU" b="1" i="1" dirty="0"/>
              <a:t>атрибут Y функционально </a:t>
            </a:r>
            <a:r>
              <a:rPr lang="ru-RU" b="1" i="1" dirty="0" smtClean="0"/>
              <a:t>зависит</a:t>
            </a:r>
            <a:r>
              <a:rPr lang="en-US" i="1" dirty="0"/>
              <a:t>(Functional Dependency – FD) </a:t>
            </a:r>
            <a:r>
              <a:rPr lang="ru-RU" b="1" i="1" dirty="0" smtClean="0"/>
              <a:t> </a:t>
            </a:r>
            <a:r>
              <a:rPr lang="ru-RU" b="1" i="1" dirty="0"/>
              <a:t>от атрибута X</a:t>
            </a:r>
            <a:r>
              <a:rPr lang="ru-RU" dirty="0"/>
              <a:t> в том и только в том случае, если каждому значению X соответствует в точности одно значение Y. В этом случае говорят также, что атрибут X </a:t>
            </a:r>
            <a:r>
              <a:rPr lang="ru-RU" b="1" dirty="0"/>
              <a:t>функционально определяет</a:t>
            </a:r>
            <a:r>
              <a:rPr lang="ru-RU" dirty="0"/>
              <a:t> атрибут Y ( X является </a:t>
            </a:r>
            <a:r>
              <a:rPr lang="ru-RU" i="1" dirty="0"/>
              <a:t>детерминантом</a:t>
            </a:r>
            <a:r>
              <a:rPr lang="ru-RU" dirty="0"/>
              <a:t> ( </a:t>
            </a:r>
            <a:r>
              <a:rPr lang="ru-RU" b="1" dirty="0"/>
              <a:t>определителем</a:t>
            </a:r>
            <a:r>
              <a:rPr lang="ru-RU" dirty="0"/>
              <a:t> ) для Y, а Y является зависимым от X ). Будем обозначать это как </a:t>
            </a:r>
            <a:r>
              <a:rPr lang="ru-RU" dirty="0" err="1"/>
              <a:t>r.X</a:t>
            </a:r>
            <a:r>
              <a:rPr lang="ru-RU" dirty="0"/>
              <a:t>-&gt;</a:t>
            </a:r>
            <a:r>
              <a:rPr lang="ru-RU" dirty="0" err="1"/>
              <a:t>r.Y</a:t>
            </a:r>
            <a:r>
              <a:rPr lang="ru-RU" dirty="0"/>
              <a: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66</a:t>
            </a:fld>
            <a:endParaRPr lang="ru-RU"/>
          </a:p>
        </p:txBody>
      </p:sp>
    </p:spTree>
    <p:extLst>
      <p:ext uri="{BB962C8B-B14F-4D97-AF65-F5344CB8AC3E}">
        <p14:creationId xmlns:p14="http://schemas.microsoft.com/office/powerpoint/2010/main" xmlns="" val="27958531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724766" y="1690689"/>
            <a:ext cx="8610343" cy="4164348"/>
          </a:xfrm>
        </p:spPr>
      </p:pic>
    </p:spTree>
    <p:extLst>
      <p:ext uri="{BB962C8B-B14F-4D97-AF65-F5344CB8AC3E}">
        <p14:creationId xmlns:p14="http://schemas.microsoft.com/office/powerpoint/2010/main" xmlns="" val="1967424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Е</a:t>
            </a:r>
            <a:r>
              <a:rPr lang="ru-RU" dirty="0" smtClean="0"/>
              <a:t>сли </a:t>
            </a:r>
            <a:r>
              <a:rPr lang="ru-RU" dirty="0"/>
              <a:t>атрибут A отношения r является возможным ключом, то для любого атрибута B этого отношения всегда выполняется </a:t>
            </a:r>
            <a:r>
              <a:rPr lang="ru-RU" i="1" dirty="0"/>
              <a:t>FD </a:t>
            </a:r>
            <a:r>
              <a:rPr lang="ru-RU" dirty="0"/>
              <a:t>A-&gt;B</a:t>
            </a:r>
          </a:p>
        </p:txBody>
      </p:sp>
      <p:sp>
        <p:nvSpPr>
          <p:cNvPr id="4" name="Номер слайда 3"/>
          <p:cNvSpPr>
            <a:spLocks noGrp="1"/>
          </p:cNvSpPr>
          <p:nvPr>
            <p:ph type="sldNum" sz="quarter" idx="12"/>
          </p:nvPr>
        </p:nvSpPr>
        <p:spPr/>
        <p:txBody>
          <a:bodyPr/>
          <a:lstStyle/>
          <a:p>
            <a:fld id="{590C5F67-5E4C-4ABB-99F4-36BCAC8BE885}" type="slidenum">
              <a:rPr lang="ru-RU" smtClean="0"/>
              <a:pPr/>
              <a:t>68</a:t>
            </a:fld>
            <a:endParaRPr lang="ru-RU"/>
          </a:p>
        </p:txBody>
      </p:sp>
    </p:spTree>
    <p:extLst>
      <p:ext uri="{BB962C8B-B14F-4D97-AF65-F5344CB8AC3E}">
        <p14:creationId xmlns:p14="http://schemas.microsoft.com/office/powerpoint/2010/main" xmlns="" val="15465892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Проектирование реляционных баз данных на основе принципов нормализации</a:t>
            </a:r>
            <a:endParaRPr lang="ru-RU" dirty="0"/>
          </a:p>
        </p:txBody>
      </p:sp>
      <p:sp>
        <p:nvSpPr>
          <p:cNvPr id="3" name="Объект 2"/>
          <p:cNvSpPr>
            <a:spLocks noGrp="1"/>
          </p:cNvSpPr>
          <p:nvPr>
            <p:ph idx="1"/>
          </p:nvPr>
        </p:nvSpPr>
        <p:spPr/>
        <p:txBody>
          <a:bodyPr/>
          <a:lstStyle/>
          <a:p>
            <a:r>
              <a:rPr lang="ru-RU" dirty="0"/>
              <a:t>В </a:t>
            </a:r>
            <a:r>
              <a:rPr lang="ru-RU" i="1" dirty="0"/>
              <a:t>теории реляционных баз данных</a:t>
            </a:r>
            <a:r>
              <a:rPr lang="ru-RU" dirty="0"/>
              <a:t> обычно выделяется следующая последовательность нормальных форм:</a:t>
            </a:r>
          </a:p>
          <a:p>
            <a:r>
              <a:rPr lang="ru-RU" i="1" dirty="0"/>
              <a:t>первая нормальная форма (1NF)</a:t>
            </a:r>
            <a:r>
              <a:rPr lang="ru-RU" dirty="0"/>
              <a:t> ;</a:t>
            </a:r>
          </a:p>
          <a:p>
            <a:r>
              <a:rPr lang="ru-RU" i="1" dirty="0"/>
              <a:t>вторая нормальная форма (2NF)</a:t>
            </a:r>
            <a:r>
              <a:rPr lang="ru-RU" dirty="0"/>
              <a:t> ;</a:t>
            </a:r>
          </a:p>
          <a:p>
            <a:r>
              <a:rPr lang="ru-RU" i="1" dirty="0"/>
              <a:t>третья нормальная форма (3NF)</a:t>
            </a:r>
            <a:r>
              <a:rPr lang="ru-RU" dirty="0"/>
              <a:t> ;</a:t>
            </a:r>
          </a:p>
          <a:p>
            <a:r>
              <a:rPr lang="ru-RU" i="1" dirty="0"/>
              <a:t>нормальная форма </a:t>
            </a:r>
            <a:r>
              <a:rPr lang="ru-RU" i="1" dirty="0" err="1"/>
              <a:t>Бойса</a:t>
            </a:r>
            <a:r>
              <a:rPr lang="ru-RU" i="1" dirty="0"/>
              <a:t>-Кодда (BCNF)</a:t>
            </a:r>
            <a:r>
              <a:rPr lang="ru-RU" dirty="0"/>
              <a:t> ;</a:t>
            </a:r>
          </a:p>
          <a:p>
            <a:r>
              <a:rPr lang="ru-RU" i="1" dirty="0"/>
              <a:t>четвертая нормальная форма</a:t>
            </a:r>
            <a:r>
              <a:rPr lang="ru-RU" dirty="0"/>
              <a:t> (</a:t>
            </a:r>
            <a:r>
              <a:rPr lang="ru-RU" i="1" dirty="0"/>
              <a:t>4NF</a:t>
            </a:r>
            <a:r>
              <a:rPr lang="ru-RU" dirty="0"/>
              <a:t>);</a:t>
            </a:r>
          </a:p>
          <a:p>
            <a:r>
              <a:rPr lang="ru-RU" dirty="0"/>
              <a:t>пятая нормальная форма, или </a:t>
            </a:r>
            <a:r>
              <a:rPr lang="ru-RU" i="1" dirty="0"/>
              <a:t>нормальная форма проекции-соединения</a:t>
            </a:r>
            <a:r>
              <a:rPr lang="ru-RU" dirty="0"/>
              <a:t> (</a:t>
            </a:r>
            <a:r>
              <a:rPr lang="ru-RU" i="1" dirty="0"/>
              <a:t>5NF</a:t>
            </a:r>
            <a:r>
              <a:rPr lang="ru-RU" dirty="0"/>
              <a:t> или PJ/NF).</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69</a:t>
            </a:fld>
            <a:endParaRPr lang="ru-RU"/>
          </a:p>
        </p:txBody>
      </p:sp>
    </p:spTree>
    <p:extLst>
      <p:ext uri="{BB962C8B-B14F-4D97-AF65-F5344CB8AC3E}">
        <p14:creationId xmlns:p14="http://schemas.microsoft.com/office/powerpoint/2010/main" xmlns="" val="624636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a:t>
            </a:r>
            <a:r>
              <a:rPr lang="ru-RU" dirty="0" smtClean="0"/>
              <a:t>войства </a:t>
            </a:r>
            <a:r>
              <a:rPr lang="ru-RU" dirty="0"/>
              <a:t>нормальных форм</a:t>
            </a:r>
          </a:p>
        </p:txBody>
      </p:sp>
      <p:sp>
        <p:nvSpPr>
          <p:cNvPr id="3" name="Объект 2"/>
          <p:cNvSpPr>
            <a:spLocks noGrp="1"/>
          </p:cNvSpPr>
          <p:nvPr>
            <p:ph idx="1"/>
          </p:nvPr>
        </p:nvSpPr>
        <p:spPr/>
        <p:txBody>
          <a:bodyPr/>
          <a:lstStyle/>
          <a:p>
            <a:r>
              <a:rPr lang="ru-RU" dirty="0"/>
              <a:t>каждая следующая нормальная форма в некотором смысле лучше предыдущей нормальной формы;</a:t>
            </a:r>
          </a:p>
          <a:p>
            <a:r>
              <a:rPr lang="ru-RU" dirty="0"/>
              <a:t>при переходе к следующей нормальной форме свойства предыдущих нормальных форм сохраняются</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70</a:t>
            </a:fld>
            <a:endParaRPr lang="ru-RU"/>
          </a:p>
        </p:txBody>
      </p:sp>
    </p:spTree>
    <p:extLst>
      <p:ext uri="{BB962C8B-B14F-4D97-AF65-F5344CB8AC3E}">
        <p14:creationId xmlns:p14="http://schemas.microsoft.com/office/powerpoint/2010/main" xmlns="" val="4054523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a:t>
            </a:r>
            <a:endParaRPr lang="ru-RU" dirty="0"/>
          </a:p>
        </p:txBody>
      </p:sp>
      <p:sp>
        <p:nvSpPr>
          <p:cNvPr id="3" name="Объект 2"/>
          <p:cNvSpPr>
            <a:spLocks noGrp="1"/>
          </p:cNvSpPr>
          <p:nvPr>
            <p:ph idx="1"/>
          </p:nvPr>
        </p:nvSpPr>
        <p:spPr/>
        <p:txBody>
          <a:bodyPr/>
          <a:lstStyle/>
          <a:p>
            <a:r>
              <a:rPr lang="ru-RU" dirty="0"/>
              <a:t>В основе процесса проектирования лежит метод нормализации, т. е. декомпозиции отношения, находящегося в предыдущей нормальной форме, на два или более отношений, которые удовлетворяют требованиям следующей нормальной формы.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71</a:t>
            </a:fld>
            <a:endParaRPr lang="ru-RU"/>
          </a:p>
        </p:txBody>
      </p:sp>
    </p:spTree>
    <p:extLst>
      <p:ext uri="{BB962C8B-B14F-4D97-AF65-F5344CB8AC3E}">
        <p14:creationId xmlns:p14="http://schemas.microsoft.com/office/powerpoint/2010/main" xmlns="" val="17307421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i="1" dirty="0" smtClean="0"/>
              <a:t>Первая нормальная форма</a:t>
            </a:r>
            <a:endParaRPr lang="ru-RU" dirty="0"/>
          </a:p>
        </p:txBody>
      </p:sp>
      <p:sp>
        <p:nvSpPr>
          <p:cNvPr id="3" name="Объект 2"/>
          <p:cNvSpPr>
            <a:spLocks noGrp="1"/>
          </p:cNvSpPr>
          <p:nvPr>
            <p:ph idx="1"/>
          </p:nvPr>
        </p:nvSpPr>
        <p:spPr/>
        <p:txBody>
          <a:bodyPr/>
          <a:lstStyle/>
          <a:p>
            <a:r>
              <a:rPr lang="ru-RU" dirty="0"/>
              <a:t> </a:t>
            </a:r>
            <a:r>
              <a:rPr lang="ru-RU" dirty="0" smtClean="0"/>
              <a:t>значения </a:t>
            </a:r>
            <a:r>
              <a:rPr lang="ru-RU" dirty="0"/>
              <a:t>всех атрибутов отношения </a:t>
            </a:r>
            <a:r>
              <a:rPr lang="ru-RU" dirty="0" err="1"/>
              <a:t>атомарны</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72</a:t>
            </a:fld>
            <a:endParaRPr lang="ru-RU"/>
          </a:p>
        </p:txBody>
      </p:sp>
    </p:spTree>
    <p:extLst>
      <p:ext uri="{BB962C8B-B14F-4D97-AF65-F5344CB8AC3E}">
        <p14:creationId xmlns:p14="http://schemas.microsoft.com/office/powerpoint/2010/main" xmlns="" val="22057515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Минимальные функциональные зависимости и вторая нормальная форма</a:t>
            </a:r>
            <a:br>
              <a:rPr lang="ru-RU" b="1" dirty="0"/>
            </a:br>
            <a:endParaRPr lang="ru-RU" dirty="0"/>
          </a:p>
        </p:txBody>
      </p:sp>
      <p:sp>
        <p:nvSpPr>
          <p:cNvPr id="3" name="Объект 2"/>
          <p:cNvSpPr>
            <a:spLocks noGrp="1"/>
          </p:cNvSpPr>
          <p:nvPr>
            <p:ph idx="1"/>
          </p:nvPr>
        </p:nvSpPr>
        <p:spPr/>
        <p:txBody>
          <a:bodyPr/>
          <a:lstStyle/>
          <a:p>
            <a:r>
              <a:rPr lang="ru-RU" dirty="0"/>
              <a:t>Переменная отношения находится во </a:t>
            </a:r>
            <a:r>
              <a:rPr lang="ru-RU" b="1" i="1" dirty="0"/>
              <a:t>второй нормальной форме (2NF)</a:t>
            </a:r>
            <a:r>
              <a:rPr lang="ru-RU" dirty="0"/>
              <a:t> тогда и только тогда, когда она находится в </a:t>
            </a:r>
            <a:r>
              <a:rPr lang="ru-RU" i="1" dirty="0"/>
              <a:t>первой нормальной форме</a:t>
            </a:r>
            <a:r>
              <a:rPr lang="ru-RU" dirty="0"/>
              <a:t>, и каждый </a:t>
            </a:r>
            <a:r>
              <a:rPr lang="ru-RU" dirty="0" err="1"/>
              <a:t>неключевой</a:t>
            </a:r>
            <a:r>
              <a:rPr lang="ru-RU" dirty="0"/>
              <a:t> </a:t>
            </a:r>
            <a:r>
              <a:rPr lang="ru-RU" dirty="0" smtClean="0"/>
              <a:t>атрибут</a:t>
            </a:r>
            <a:r>
              <a:rPr lang="ru-RU" dirty="0"/>
              <a:t> минимально функционально зависит от первичного </a:t>
            </a:r>
            <a:r>
              <a:rPr lang="ru-RU" dirty="0" smtClean="0"/>
              <a:t>ключа</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73</a:t>
            </a:fld>
            <a:endParaRPr lang="ru-RU"/>
          </a:p>
        </p:txBody>
      </p:sp>
    </p:spTree>
    <p:extLst>
      <p:ext uri="{BB962C8B-B14F-4D97-AF65-F5344CB8AC3E}">
        <p14:creationId xmlns:p14="http://schemas.microsoft.com/office/powerpoint/2010/main" xmlns="" val="31887474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pic>
        <p:nvPicPr>
          <p:cNvPr id="1026" name="Picture 2" descr="Возможное значение переменной отношения СЛУЖАЩИЕ_ПРОЕКТЫ_ЗАДАНИЯ"/>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07375" y="670779"/>
            <a:ext cx="11030761" cy="536074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74</a:t>
            </a:fld>
            <a:endParaRPr lang="ru-RU"/>
          </a:p>
        </p:txBody>
      </p:sp>
    </p:spTree>
    <p:extLst>
      <p:ext uri="{BB962C8B-B14F-4D97-AF65-F5344CB8AC3E}">
        <p14:creationId xmlns:p14="http://schemas.microsoft.com/office/powerpoint/2010/main" xmlns="" val="38033922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920875"/>
          </a:xfrm>
        </p:spPr>
        <p:txBody>
          <a:bodyPr>
            <a:normAutofit fontScale="90000"/>
          </a:bodyPr>
          <a:lstStyle/>
          <a:p>
            <a:r>
              <a:rPr lang="ru-RU" b="1" dirty="0"/>
              <a:t>Аномалии обновления, возникающие из-за наличия </a:t>
            </a:r>
            <a:r>
              <a:rPr lang="ru-RU" b="1" dirty="0" err="1"/>
              <a:t>неминимальных</a:t>
            </a:r>
            <a:r>
              <a:rPr lang="ru-RU" b="1" dirty="0"/>
              <a:t> функциональных зависимостей</a:t>
            </a:r>
            <a:br>
              <a:rPr lang="ru-RU" b="1" dirty="0"/>
            </a:br>
            <a:endParaRPr lang="ru-RU" dirty="0"/>
          </a:p>
        </p:txBody>
      </p:sp>
      <p:sp>
        <p:nvSpPr>
          <p:cNvPr id="3" name="Объект 2"/>
          <p:cNvSpPr>
            <a:spLocks noGrp="1"/>
          </p:cNvSpPr>
          <p:nvPr>
            <p:ph idx="1"/>
          </p:nvPr>
        </p:nvSpPr>
        <p:spPr>
          <a:xfrm>
            <a:off x="838200" y="1987061"/>
            <a:ext cx="10515600" cy="4189901"/>
          </a:xfrm>
        </p:spPr>
        <p:txBody>
          <a:bodyPr>
            <a:normAutofit fontScale="92500" lnSpcReduction="10000"/>
          </a:bodyPr>
          <a:lstStyle/>
          <a:p>
            <a:r>
              <a:rPr lang="ru-RU" b="1" dirty="0"/>
              <a:t>Добавление кортежей</a:t>
            </a:r>
            <a:r>
              <a:rPr lang="ru-RU" dirty="0"/>
              <a:t>. Мы не можем дополнить отношение СЛУЖАЩИЕ_ПРОЕКТЫ_ЗАДАНИЯ данными о служащем, который в данное время еще не участвует ни в одном </a:t>
            </a:r>
            <a:r>
              <a:rPr lang="ru-RU" dirty="0" smtClean="0"/>
              <a:t>проекте</a:t>
            </a:r>
            <a:endParaRPr lang="en-US" dirty="0" smtClean="0"/>
          </a:p>
          <a:p>
            <a:r>
              <a:rPr lang="ru-RU" b="1" dirty="0"/>
              <a:t>Удаление кортежей</a:t>
            </a:r>
            <a:r>
              <a:rPr lang="ru-RU" dirty="0"/>
              <a:t>. Мы не можем сохранить в отношении СЛУЖАЩИЕ_ПРОЕКТЫ_ЗАДАНИЯ данные о служащем, завершившем участие в своем последнем проекте </a:t>
            </a:r>
            <a:endParaRPr lang="en-US" dirty="0" smtClean="0"/>
          </a:p>
          <a:p>
            <a:r>
              <a:rPr lang="ru-RU" b="1" dirty="0"/>
              <a:t>Модификация кортежей</a:t>
            </a:r>
            <a:r>
              <a:rPr lang="ru-RU" dirty="0"/>
              <a:t>. Чтобы изменить разряд служащего, мы будем вынуждены модифицировать все кортежи с соответствующим значением атрибута СЛУ_НОМ. В противном случае будет нарушена естественная FD СЛУ_НОМ-&gt;СЛУ_УРОВ (у одного служащего имеется только один разряд).</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75</a:t>
            </a:fld>
            <a:endParaRPr lang="ru-RU"/>
          </a:p>
        </p:txBody>
      </p:sp>
    </p:spTree>
    <p:extLst>
      <p:ext uri="{BB962C8B-B14F-4D97-AF65-F5344CB8AC3E}">
        <p14:creationId xmlns:p14="http://schemas.microsoft.com/office/powerpoint/2010/main" xmlns="" val="43057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408598"/>
          </a:xfrm>
        </p:spPr>
        <p:txBody>
          <a:bodyPr>
            <a:normAutofit fontScale="90000"/>
          </a:bodyPr>
          <a:lstStyle/>
          <a:p>
            <a:r>
              <a:rPr lang="en-US" dirty="0" smtClean="0"/>
              <a:t> </a:t>
            </a:r>
            <a:endParaRPr lang="ru-RU" dirty="0"/>
          </a:p>
        </p:txBody>
      </p:sp>
      <p:pic>
        <p:nvPicPr>
          <p:cNvPr id="2050" name="Picture 2" descr="Значения переменных отношений"/>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2012619" y="365126"/>
            <a:ext cx="7676505" cy="642100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76</a:t>
            </a:fld>
            <a:endParaRPr lang="ru-RU"/>
          </a:p>
        </p:txBody>
      </p:sp>
    </p:spTree>
    <p:extLst>
      <p:ext uri="{BB962C8B-B14F-4D97-AF65-F5344CB8AC3E}">
        <p14:creationId xmlns:p14="http://schemas.microsoft.com/office/powerpoint/2010/main" xmlns="" val="40247684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720969"/>
            <a:ext cx="10515600" cy="5455994"/>
          </a:xfrm>
        </p:spPr>
        <p:txBody>
          <a:bodyPr>
            <a:normAutofit/>
          </a:bodyPr>
          <a:lstStyle/>
          <a:p>
            <a:r>
              <a:rPr lang="ru-RU" b="1" dirty="0"/>
              <a:t>Добавление кортежей</a:t>
            </a:r>
            <a:r>
              <a:rPr lang="ru-RU" dirty="0"/>
              <a:t>. Чтобы сохранить данные о принятом на работу служащем, который еще не участвует ни в каком проекте, достаточно добавить соответствующий кортеж в отношение СЛУЖ.</a:t>
            </a:r>
          </a:p>
          <a:p>
            <a:r>
              <a:rPr lang="ru-RU" b="1" dirty="0"/>
              <a:t>Удаление кортежей</a:t>
            </a:r>
            <a:r>
              <a:rPr lang="ru-RU" dirty="0"/>
              <a:t>. Если кто-то из служащих прекращает работу над проектом, достаточно удалить соответствующий кортеж из отношения СЛУЖ_ПРО_ЗАДАН. При увольнении служащего нужно удалить кортежи с соответствующим значением </a:t>
            </a:r>
            <a:r>
              <a:rPr lang="ru-RU" dirty="0" smtClean="0"/>
              <a:t>атрибута</a:t>
            </a:r>
            <a:r>
              <a:rPr lang="en-US" dirty="0" smtClean="0"/>
              <a:t> </a:t>
            </a:r>
            <a:r>
              <a:rPr lang="ru-RU" dirty="0" smtClean="0"/>
              <a:t>СЛУ_НОМ</a:t>
            </a:r>
            <a:r>
              <a:rPr lang="ru-RU" dirty="0"/>
              <a:t> из отношений СЛУЖ и СЛУЖ_ПРО_ЗАДАН.</a:t>
            </a:r>
          </a:p>
          <a:p>
            <a:r>
              <a:rPr lang="ru-RU" b="1" dirty="0"/>
              <a:t>Модификация кортежей</a:t>
            </a:r>
            <a:r>
              <a:rPr lang="ru-RU" dirty="0"/>
              <a:t>. Если у служащего меняется разряд (и, следовательно, размер зарплаты), достаточно модифицировать один кортеж в отношении СЛУЖ.</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77</a:t>
            </a:fld>
            <a:endParaRPr lang="ru-RU"/>
          </a:p>
        </p:txBody>
      </p:sp>
    </p:spTree>
    <p:extLst>
      <p:ext uri="{BB962C8B-B14F-4D97-AF65-F5344CB8AC3E}">
        <p14:creationId xmlns:p14="http://schemas.microsoft.com/office/powerpoint/2010/main" xmlns="" val="3932965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err="1"/>
              <a:t>Нетранзитивные</a:t>
            </a:r>
            <a:r>
              <a:rPr lang="ru-RU" b="1" dirty="0"/>
              <a:t> функциональные зависимости и третья нормальная форма</a:t>
            </a:r>
            <a:br>
              <a:rPr lang="ru-RU" b="1" dirty="0"/>
            </a:br>
            <a:endParaRPr lang="ru-RU" dirty="0"/>
          </a:p>
        </p:txBody>
      </p:sp>
      <p:sp>
        <p:nvSpPr>
          <p:cNvPr id="3" name="Объект 2"/>
          <p:cNvSpPr>
            <a:spLocks noGrp="1"/>
          </p:cNvSpPr>
          <p:nvPr>
            <p:ph idx="1"/>
          </p:nvPr>
        </p:nvSpPr>
        <p:spPr/>
        <p:txBody>
          <a:bodyPr/>
          <a:lstStyle/>
          <a:p>
            <a:r>
              <a:rPr lang="ru-RU" dirty="0"/>
              <a:t>Переменная отношения находится в </a:t>
            </a:r>
            <a:r>
              <a:rPr lang="ru-RU" b="1" i="1" dirty="0"/>
              <a:t>третьей нормальной форме (3NF)</a:t>
            </a:r>
            <a:r>
              <a:rPr lang="ru-RU" dirty="0"/>
              <a:t> в том и только в том случае, когда она находится во </a:t>
            </a:r>
            <a:r>
              <a:rPr lang="ru-RU" i="1" dirty="0"/>
              <a:t>второй нормальной форме</a:t>
            </a:r>
            <a:r>
              <a:rPr lang="ru-RU" dirty="0"/>
              <a:t>, и каждый </a:t>
            </a:r>
            <a:r>
              <a:rPr lang="ru-RU" dirty="0" err="1"/>
              <a:t>неключевой</a:t>
            </a:r>
            <a:r>
              <a:rPr lang="ru-RU" dirty="0"/>
              <a:t> атрибут </a:t>
            </a:r>
            <a:r>
              <a:rPr lang="ru-RU" dirty="0" err="1" smtClean="0"/>
              <a:t>нетранзитивно</a:t>
            </a:r>
            <a:r>
              <a:rPr lang="ru-RU" dirty="0"/>
              <a:t> функционально зависит от первичного </a:t>
            </a:r>
            <a:r>
              <a:rPr lang="ru-RU" dirty="0" smtClean="0"/>
              <a:t>ключа</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78</a:t>
            </a:fld>
            <a:endParaRPr lang="ru-RU"/>
          </a:p>
        </p:txBody>
      </p:sp>
    </p:spTree>
    <p:extLst>
      <p:ext uri="{BB962C8B-B14F-4D97-AF65-F5344CB8AC3E}">
        <p14:creationId xmlns:p14="http://schemas.microsoft.com/office/powerpoint/2010/main" xmlns="" val="27662660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Аномалии обновлений</a:t>
            </a:r>
            <a:br>
              <a:rPr lang="ru-RU" b="1" dirty="0"/>
            </a:br>
            <a:endParaRPr lang="ru-RU" dirty="0"/>
          </a:p>
        </p:txBody>
      </p:sp>
      <p:sp>
        <p:nvSpPr>
          <p:cNvPr id="3" name="Объект 2"/>
          <p:cNvSpPr>
            <a:spLocks noGrp="1"/>
          </p:cNvSpPr>
          <p:nvPr>
            <p:ph idx="1"/>
          </p:nvPr>
        </p:nvSpPr>
        <p:spPr/>
        <p:txBody>
          <a:bodyPr>
            <a:normAutofit fontScale="92500" lnSpcReduction="10000"/>
          </a:bodyPr>
          <a:lstStyle/>
          <a:p>
            <a:r>
              <a:rPr lang="ru-RU" b="1" dirty="0"/>
              <a:t>Добавление кортежей</a:t>
            </a:r>
            <a:r>
              <a:rPr lang="ru-RU" dirty="0"/>
              <a:t>. Невозможно сохранить данные о новом разряде (и соответствующем ему размере зарплаты), пока не появится служащий с новым разрядом. (Первичный ключ не может содержать неопределенные значения.)</a:t>
            </a:r>
          </a:p>
          <a:p>
            <a:r>
              <a:rPr lang="ru-RU" b="1" dirty="0"/>
              <a:t>Удаление кортежей</a:t>
            </a:r>
            <a:r>
              <a:rPr lang="ru-RU" dirty="0"/>
              <a:t>. При увольнении последнего служащего с данным разрядом мы утратим информацию о наличии такого разряда и соответствующем размере зарплаты.</a:t>
            </a:r>
          </a:p>
          <a:p>
            <a:r>
              <a:rPr lang="ru-RU" b="1" dirty="0"/>
              <a:t>Модификация кортежей</a:t>
            </a:r>
            <a:r>
              <a:rPr lang="ru-RU" dirty="0"/>
              <a:t>. При изменении размера зарплаты, соответствующей некоторому разряду, мы будем вынуждены изменить значение атрибута СЛУ_ЗАРП в кортежах всех служащих, которым назначен этот разряд (иначе не будет выполняться FDСЛУ_УРОВ-&gt;СЛУ_ЗАРП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79</a:t>
            </a:fld>
            <a:endParaRPr lang="ru-RU"/>
          </a:p>
        </p:txBody>
      </p:sp>
    </p:spTree>
    <p:extLst>
      <p:ext uri="{BB962C8B-B14F-4D97-AF65-F5344CB8AC3E}">
        <p14:creationId xmlns:p14="http://schemas.microsoft.com/office/powerpoint/2010/main" xmlns="" val="30964313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Возможная декомпозиция</a:t>
            </a:r>
            <a:br>
              <a:rPr lang="ru-RU" b="1" dirty="0"/>
            </a:br>
            <a:endParaRPr lang="ru-RU" dirty="0"/>
          </a:p>
        </p:txBody>
      </p:sp>
      <p:pic>
        <p:nvPicPr>
          <p:cNvPr id="3074" name="Picture 2" descr="Тела отношений СЛУЖ1 и УР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32955" y="1690688"/>
            <a:ext cx="8036459" cy="480685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80</a:t>
            </a:fld>
            <a:endParaRPr lang="ru-RU"/>
          </a:p>
        </p:txBody>
      </p:sp>
    </p:spTree>
    <p:extLst>
      <p:ext uri="{BB962C8B-B14F-4D97-AF65-F5344CB8AC3E}">
        <p14:creationId xmlns:p14="http://schemas.microsoft.com/office/powerpoint/2010/main" xmlns="" val="8321679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408598"/>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773724"/>
            <a:ext cx="10515600" cy="5403239"/>
          </a:xfrm>
        </p:spPr>
        <p:txBody>
          <a:bodyPr/>
          <a:lstStyle/>
          <a:p>
            <a:r>
              <a:rPr lang="ru-RU" b="1" dirty="0"/>
              <a:t>Добавление кортежей</a:t>
            </a:r>
            <a:r>
              <a:rPr lang="ru-RU" dirty="0"/>
              <a:t>. Чтобы сохранить данные о новом разряде, достаточно добавить соответствующий кортеж к </a:t>
            </a:r>
            <a:r>
              <a:rPr lang="ru-RU" dirty="0" smtClean="0"/>
              <a:t>отношению</a:t>
            </a:r>
            <a:r>
              <a:rPr lang="en-US" dirty="0" smtClean="0"/>
              <a:t> </a:t>
            </a:r>
            <a:r>
              <a:rPr lang="ru-RU" dirty="0" smtClean="0"/>
              <a:t>УРОВ</a:t>
            </a:r>
            <a:r>
              <a:rPr lang="ru-RU" dirty="0"/>
              <a:t>.</a:t>
            </a:r>
          </a:p>
          <a:p>
            <a:r>
              <a:rPr lang="ru-RU" b="1" dirty="0"/>
              <a:t>Удаление кортежей</a:t>
            </a:r>
            <a:r>
              <a:rPr lang="ru-RU" dirty="0"/>
              <a:t>. При увольнении последнего служащего, обладающего данным разрядом, удаляется соответствующий кортеж из отношения СЛУЖ1, и данные о разряде сохраняются в отношении УРОВ.</a:t>
            </a:r>
          </a:p>
          <a:p>
            <a:r>
              <a:rPr lang="ru-RU" b="1" dirty="0"/>
              <a:t>Модификация кортежей</a:t>
            </a:r>
            <a:r>
              <a:rPr lang="ru-RU" dirty="0"/>
              <a:t>. При изменении размера зарплаты, соответствующей некоторому разряду, изменяется значение атрибута СЛУ_ЗАРП ровно в одном кортеже отношения УРОВ.</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81</a:t>
            </a:fld>
            <a:endParaRPr lang="ru-RU"/>
          </a:p>
        </p:txBody>
      </p:sp>
    </p:spTree>
    <p:extLst>
      <p:ext uri="{BB962C8B-B14F-4D97-AF65-F5344CB8AC3E}">
        <p14:creationId xmlns:p14="http://schemas.microsoft.com/office/powerpoint/2010/main" xmlns="" val="8318215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НФБК (Нормальная Форма </a:t>
            </a:r>
            <a:r>
              <a:rPr lang="ru-RU" b="1" dirty="0" err="1"/>
              <a:t>Бойса</a:t>
            </a:r>
            <a:r>
              <a:rPr lang="ru-RU" b="1" dirty="0"/>
              <a:t>-Кодда)</a:t>
            </a:r>
            <a:br>
              <a:rPr lang="ru-RU" b="1" dirty="0"/>
            </a:br>
            <a:endParaRPr lang="ru-RU" dirty="0"/>
          </a:p>
        </p:txBody>
      </p:sp>
      <p:sp>
        <p:nvSpPr>
          <p:cNvPr id="3" name="Объект 2"/>
          <p:cNvSpPr>
            <a:spLocks noGrp="1"/>
          </p:cNvSpPr>
          <p:nvPr>
            <p:ph idx="1"/>
          </p:nvPr>
        </p:nvSpPr>
        <p:spPr/>
        <p:txBody>
          <a:bodyPr/>
          <a:lstStyle/>
          <a:p>
            <a:r>
              <a:rPr lang="ru-RU" dirty="0"/>
              <a:t>Переменная отношения находится в </a:t>
            </a:r>
            <a:r>
              <a:rPr lang="ru-RU" b="1" i="1" dirty="0"/>
              <a:t>нормальной форме </a:t>
            </a:r>
            <a:r>
              <a:rPr lang="ru-RU" b="1" i="1" dirty="0" err="1"/>
              <a:t>Бойса</a:t>
            </a:r>
            <a:r>
              <a:rPr lang="ru-RU" b="1" i="1" dirty="0"/>
              <a:t>-Кодда (BCNF)</a:t>
            </a:r>
            <a:r>
              <a:rPr lang="ru-RU" dirty="0"/>
              <a:t> в том и только в том случае, когда любая выполняемая для этой </a:t>
            </a:r>
            <a:r>
              <a:rPr lang="ru-RU" i="1" dirty="0"/>
              <a:t>переменной отношения</a:t>
            </a:r>
            <a:r>
              <a:rPr lang="ru-RU" dirty="0"/>
              <a:t> </a:t>
            </a:r>
            <a:r>
              <a:rPr lang="ru-RU" dirty="0" smtClean="0"/>
              <a:t>минимальная </a:t>
            </a:r>
            <a:r>
              <a:rPr lang="ru-RU" dirty="0"/>
              <a:t>FD имеет в качестве детерминанта некоторый возможный ключ данного отношения.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82</a:t>
            </a:fld>
            <a:endParaRPr lang="ru-RU"/>
          </a:p>
        </p:txBody>
      </p:sp>
    </p:spTree>
    <p:extLst>
      <p:ext uri="{BB962C8B-B14F-4D97-AF65-F5344CB8AC3E}">
        <p14:creationId xmlns:p14="http://schemas.microsoft.com/office/powerpoint/2010/main" xmlns="" val="2099840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a:t>
            </a:r>
            <a:endParaRPr lang="ru-RU" dirty="0"/>
          </a:p>
        </p:txBody>
      </p:sp>
      <p:pic>
        <p:nvPicPr>
          <p:cNvPr id="1026" name="Picture 2" descr="Возможное значение переменной отношения СЛУЖ_ПРО_ЗАДАН1"/>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81211" y="2215662"/>
            <a:ext cx="10772589" cy="3221709"/>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83</a:t>
            </a:fld>
            <a:endParaRPr lang="ru-RU"/>
          </a:p>
        </p:txBody>
      </p:sp>
    </p:spTree>
    <p:extLst>
      <p:ext uri="{BB962C8B-B14F-4D97-AF65-F5344CB8AC3E}">
        <p14:creationId xmlns:p14="http://schemas.microsoft.com/office/powerpoint/2010/main" xmlns="" val="7028131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Многозначные зависимости и четвертая нормальная форма</a:t>
            </a:r>
            <a:br>
              <a:rPr lang="ru-RU" b="1" dirty="0"/>
            </a:br>
            <a:endParaRPr lang="ru-RU" dirty="0"/>
          </a:p>
        </p:txBody>
      </p:sp>
      <p:sp>
        <p:nvSpPr>
          <p:cNvPr id="3" name="Объект 2"/>
          <p:cNvSpPr>
            <a:spLocks noGrp="1"/>
          </p:cNvSpPr>
          <p:nvPr>
            <p:ph idx="1"/>
          </p:nvPr>
        </p:nvSpPr>
        <p:spPr/>
        <p:txBody>
          <a:bodyPr/>
          <a:lstStyle/>
          <a:p>
            <a:r>
              <a:rPr lang="ru-RU" i="1" dirty="0"/>
              <a:t>Переменная отношения</a:t>
            </a:r>
            <a:r>
              <a:rPr lang="ru-RU" dirty="0"/>
              <a:t> r находится в </a:t>
            </a:r>
            <a:r>
              <a:rPr lang="ru-RU" b="1" i="1" dirty="0"/>
              <a:t>четвертой нормальной форме (4NF)</a:t>
            </a:r>
            <a:r>
              <a:rPr lang="ru-RU" dirty="0"/>
              <a:t> в том и только в том случае, когда она находится в </a:t>
            </a:r>
            <a:r>
              <a:rPr lang="ru-RU" i="1" dirty="0"/>
              <a:t>BCNF</a:t>
            </a:r>
            <a:r>
              <a:rPr lang="ru-RU" dirty="0"/>
              <a:t>, и   </a:t>
            </a:r>
            <a:r>
              <a:rPr lang="ru-RU" i="1" dirty="0"/>
              <a:t>не содержит </a:t>
            </a:r>
            <a:r>
              <a:rPr lang="ru-RU" i="1" dirty="0" smtClean="0"/>
              <a:t>многозначных </a:t>
            </a:r>
            <a:r>
              <a:rPr lang="ru-RU" i="1" dirty="0"/>
              <a:t>зависимостей</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84</a:t>
            </a:fld>
            <a:endParaRPr lang="ru-RU"/>
          </a:p>
        </p:txBody>
      </p:sp>
    </p:spTree>
    <p:extLst>
      <p:ext uri="{BB962C8B-B14F-4D97-AF65-F5344CB8AC3E}">
        <p14:creationId xmlns:p14="http://schemas.microsoft.com/office/powerpoint/2010/main" xmlns="" val="26872913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a:t>
            </a:r>
            <a:endParaRPr lang="ru-RU" dirty="0"/>
          </a:p>
        </p:txBody>
      </p:sp>
      <p:pic>
        <p:nvPicPr>
          <p:cNvPr id="2050" name="Picture 2" descr="Возможное значение переменной отношения СЛУЖ_ПРО_ЗАДАН (четвертый вариант)"/>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870453" y="1690688"/>
            <a:ext cx="10202210" cy="425291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85</a:t>
            </a:fld>
            <a:endParaRPr lang="ru-RU"/>
          </a:p>
        </p:txBody>
      </p:sp>
    </p:spTree>
    <p:extLst>
      <p:ext uri="{BB962C8B-B14F-4D97-AF65-F5344CB8AC3E}">
        <p14:creationId xmlns:p14="http://schemas.microsoft.com/office/powerpoint/2010/main" xmlns="" val="40258882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Аномалии обновления</a:t>
            </a:r>
            <a:endParaRPr lang="ru-RU" dirty="0"/>
          </a:p>
        </p:txBody>
      </p:sp>
      <p:sp>
        <p:nvSpPr>
          <p:cNvPr id="3" name="Объект 2"/>
          <p:cNvSpPr>
            <a:spLocks noGrp="1"/>
          </p:cNvSpPr>
          <p:nvPr>
            <p:ph idx="1"/>
          </p:nvPr>
        </p:nvSpPr>
        <p:spPr/>
        <p:txBody>
          <a:bodyPr>
            <a:normAutofit lnSpcReduction="10000"/>
          </a:bodyPr>
          <a:lstStyle/>
          <a:p>
            <a:r>
              <a:rPr lang="ru-RU" b="1" dirty="0"/>
              <a:t>Добавление кортежа</a:t>
            </a:r>
            <a:r>
              <a:rPr lang="ru-RU" dirty="0"/>
              <a:t>. Если уже участвующий в проектах служащий присоединяется к новому проекту, то к телу </a:t>
            </a:r>
            <a:r>
              <a:rPr lang="ru-RU" dirty="0" smtClean="0"/>
              <a:t>значения </a:t>
            </a:r>
            <a:r>
              <a:rPr lang="ru-RU" i="1" dirty="0" smtClean="0"/>
              <a:t>переменной </a:t>
            </a:r>
            <a:r>
              <a:rPr lang="ru-RU" i="1" dirty="0"/>
              <a:t>отношения</a:t>
            </a:r>
            <a:r>
              <a:rPr lang="ru-RU" dirty="0"/>
              <a:t> СЛУЖ_ПРО_ЗАДАН требуется добавить столько кортежей, сколько заданий выполняет этот служащий.</a:t>
            </a:r>
          </a:p>
          <a:p>
            <a:r>
              <a:rPr lang="ru-RU" b="1" dirty="0"/>
              <a:t>Удаление кортежей</a:t>
            </a:r>
            <a:r>
              <a:rPr lang="ru-RU" dirty="0"/>
              <a:t>. Если служащий прекращает участие в проектах, то отсутствует возможность сохранить данные о заданиях, которые он может выполнять.</a:t>
            </a:r>
          </a:p>
          <a:p>
            <a:r>
              <a:rPr lang="ru-RU" b="1" dirty="0"/>
              <a:t>Модификация кортежей</a:t>
            </a:r>
            <a:r>
              <a:rPr lang="ru-RU" dirty="0"/>
              <a:t>. При изменении одного из заданий служащего необходимо изменить значение атрибута СЛУ_ЗАДАН в стольких кортежах, в скольких проектах участвует служащий.</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86</a:t>
            </a:fld>
            <a:endParaRPr lang="ru-RU"/>
          </a:p>
        </p:txBody>
      </p:sp>
    </p:spTree>
    <p:extLst>
      <p:ext uri="{BB962C8B-B14F-4D97-AF65-F5344CB8AC3E}">
        <p14:creationId xmlns:p14="http://schemas.microsoft.com/office/powerpoint/2010/main" xmlns="" val="27343354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Декомпозиция отношения</a:t>
            </a:r>
            <a:endParaRPr lang="ru-RU" dirty="0"/>
          </a:p>
        </p:txBody>
      </p:sp>
      <p:pic>
        <p:nvPicPr>
          <p:cNvPr id="3074" name="Picture 2" descr="Значения переменных отношений СЛУЖ_ПРО_НОМ и СЛУЖ_ЗАДАНИЕ"/>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2051110" y="1497257"/>
            <a:ext cx="7708351" cy="511488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87</a:t>
            </a:fld>
            <a:endParaRPr lang="ru-RU"/>
          </a:p>
        </p:txBody>
      </p:sp>
    </p:spTree>
    <p:extLst>
      <p:ext uri="{BB962C8B-B14F-4D97-AF65-F5344CB8AC3E}">
        <p14:creationId xmlns:p14="http://schemas.microsoft.com/office/powerpoint/2010/main" xmlns="" val="13080996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33046"/>
            <a:ext cx="10515600" cy="5543917"/>
          </a:xfrm>
        </p:spPr>
        <p:txBody>
          <a:bodyPr>
            <a:normAutofit/>
          </a:bodyPr>
          <a:lstStyle/>
          <a:p>
            <a:r>
              <a:rPr lang="ru-RU" b="1" dirty="0"/>
              <a:t>Добавление кортежа</a:t>
            </a:r>
            <a:r>
              <a:rPr lang="ru-RU" dirty="0"/>
              <a:t>. Если некоторый уже участвующий в проектах служащий присоединяется к новому проекту, то к телу значения </a:t>
            </a:r>
            <a:r>
              <a:rPr lang="ru-RU" i="1" dirty="0"/>
              <a:t>переменной отношения</a:t>
            </a:r>
            <a:r>
              <a:rPr lang="ru-RU" dirty="0"/>
              <a:t> СЛУЖ_ПРО_НОМ требуется добавить один кортеж, соответствующий новому проекту.</a:t>
            </a:r>
          </a:p>
          <a:p>
            <a:r>
              <a:rPr lang="ru-RU" b="1" dirty="0"/>
              <a:t>Удаление кортежей</a:t>
            </a:r>
            <a:r>
              <a:rPr lang="ru-RU" dirty="0"/>
              <a:t>. Если служащий прекращает участие в проектах, то данные о заданиях, которые он может выполнять, остаются в отношении СЛУЖ_ЗАДАНИЕ.</a:t>
            </a:r>
          </a:p>
          <a:p>
            <a:r>
              <a:rPr lang="ru-RU" b="1" dirty="0"/>
              <a:t>Модификация кортежей</a:t>
            </a:r>
            <a:r>
              <a:rPr lang="ru-RU" dirty="0"/>
              <a:t>. При изменении одного из заданий служащего необходимо изменить значение атрибута СЛУ_ЗАДАН в одном </a:t>
            </a:r>
            <a:r>
              <a:rPr lang="ru-RU" i="1" dirty="0"/>
              <a:t>кортеже отношения</a:t>
            </a:r>
            <a:r>
              <a:rPr lang="ru-RU" dirty="0"/>
              <a:t> СЛУЖ_ЗАДАНИЕ.</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88</a:t>
            </a:fld>
            <a:endParaRPr lang="ru-RU"/>
          </a:p>
        </p:txBody>
      </p:sp>
    </p:spTree>
    <p:extLst>
      <p:ext uri="{BB962C8B-B14F-4D97-AF65-F5344CB8AC3E}">
        <p14:creationId xmlns:p14="http://schemas.microsoft.com/office/powerpoint/2010/main" xmlns="" val="6325605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Многозначные зависимости</a:t>
            </a:r>
            <a:br>
              <a:rPr lang="ru-RU" b="1" dirty="0"/>
            </a:br>
            <a:endParaRPr lang="ru-RU" dirty="0"/>
          </a:p>
        </p:txBody>
      </p:sp>
      <p:sp>
        <p:nvSpPr>
          <p:cNvPr id="3" name="Объект 2"/>
          <p:cNvSpPr>
            <a:spLocks noGrp="1"/>
          </p:cNvSpPr>
          <p:nvPr>
            <p:ph idx="1"/>
          </p:nvPr>
        </p:nvSpPr>
        <p:spPr/>
        <p:txBody>
          <a:bodyPr/>
          <a:lstStyle/>
          <a:p>
            <a:r>
              <a:rPr lang="ru-RU" dirty="0"/>
              <a:t>В </a:t>
            </a:r>
            <a:r>
              <a:rPr lang="ru-RU" i="1" dirty="0"/>
              <a:t>переменной отношения</a:t>
            </a:r>
            <a:r>
              <a:rPr lang="ru-RU" dirty="0"/>
              <a:t> r с атрибутами A, B, C (в общем случае, составными) имеется </a:t>
            </a:r>
            <a:r>
              <a:rPr lang="ru-RU" b="1" i="1" dirty="0"/>
              <a:t>многозначная зависимость </a:t>
            </a:r>
            <a:r>
              <a:rPr lang="ru-RU" dirty="0"/>
              <a:t>B от A (A-&gt;-&gt;B) в том и только в том случае, когда множество значений атрибута B, соответствующее паре значений атрибутов A и C, зависит от значения A и не зависит от значения C .</a:t>
            </a:r>
          </a:p>
        </p:txBody>
      </p:sp>
      <p:sp>
        <p:nvSpPr>
          <p:cNvPr id="4" name="Номер слайда 3"/>
          <p:cNvSpPr>
            <a:spLocks noGrp="1"/>
          </p:cNvSpPr>
          <p:nvPr>
            <p:ph type="sldNum" sz="quarter" idx="12"/>
          </p:nvPr>
        </p:nvSpPr>
        <p:spPr/>
        <p:txBody>
          <a:bodyPr/>
          <a:lstStyle/>
          <a:p>
            <a:fld id="{590C5F67-5E4C-4ABB-99F4-36BCAC8BE885}" type="slidenum">
              <a:rPr lang="ru-RU" smtClean="0"/>
              <a:pPr/>
              <a:t>89</a:t>
            </a:fld>
            <a:endParaRPr lang="ru-RU"/>
          </a:p>
        </p:txBody>
      </p:sp>
    </p:spTree>
    <p:extLst>
      <p:ext uri="{BB962C8B-B14F-4D97-AF65-F5344CB8AC3E}">
        <p14:creationId xmlns:p14="http://schemas.microsoft.com/office/powerpoint/2010/main" xmlns="" val="531539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Зависимости проекции/соединения и пятая нормальная форма</a:t>
            </a:r>
            <a:br>
              <a:rPr lang="ru-RU" b="1" dirty="0"/>
            </a:br>
            <a:endParaRPr lang="ru-RU" dirty="0"/>
          </a:p>
        </p:txBody>
      </p:sp>
      <p:sp>
        <p:nvSpPr>
          <p:cNvPr id="3" name="Объект 2"/>
          <p:cNvSpPr>
            <a:spLocks noGrp="1"/>
          </p:cNvSpPr>
          <p:nvPr>
            <p:ph idx="1"/>
          </p:nvPr>
        </p:nvSpPr>
        <p:spPr/>
        <p:txBody>
          <a:bodyPr>
            <a:normAutofit/>
          </a:bodyPr>
          <a:lstStyle/>
          <a:p>
            <a:endParaRPr lang="en-US" dirty="0"/>
          </a:p>
          <a:p>
            <a:r>
              <a:rPr lang="ru-RU" dirty="0"/>
              <a:t>Пусть задана </a:t>
            </a:r>
            <a:r>
              <a:rPr lang="ru-RU" i="1" dirty="0"/>
              <a:t>переменная отношения</a:t>
            </a:r>
            <a:r>
              <a:rPr lang="ru-RU" dirty="0"/>
              <a:t> r, и A, B, …, Z являются произвольными подмножествами заголовка r (составными, перекрывающимися атрибутами). В </a:t>
            </a:r>
            <a:r>
              <a:rPr lang="ru-RU" i="1" dirty="0"/>
              <a:t>переменной отношения</a:t>
            </a:r>
            <a:r>
              <a:rPr lang="ru-RU" dirty="0"/>
              <a:t> r </a:t>
            </a:r>
            <a:r>
              <a:rPr lang="ru-RU" dirty="0" smtClean="0"/>
              <a:t>удовлетворяется</a:t>
            </a:r>
            <a:r>
              <a:rPr lang="en-US" dirty="0" smtClean="0"/>
              <a:t> </a:t>
            </a:r>
            <a:r>
              <a:rPr lang="ru-RU" b="1" i="1" dirty="0" smtClean="0"/>
              <a:t>зависимость </a:t>
            </a:r>
            <a:r>
              <a:rPr lang="ru-RU" b="1" i="1" dirty="0"/>
              <a:t>проекции/соединения (</a:t>
            </a:r>
            <a:r>
              <a:rPr lang="ru-RU" b="1" i="1" dirty="0" err="1"/>
              <a:t>Project-Join</a:t>
            </a:r>
            <a:r>
              <a:rPr lang="ru-RU" b="1" i="1" dirty="0"/>
              <a:t> </a:t>
            </a:r>
            <a:r>
              <a:rPr lang="ru-RU" b="1" i="1" dirty="0" err="1"/>
              <a:t>Dependency</a:t>
            </a:r>
            <a:r>
              <a:rPr lang="ru-RU" b="1" i="1" dirty="0"/>
              <a:t> – PJD) </a:t>
            </a:r>
            <a:r>
              <a:rPr lang="ru-RU" dirty="0"/>
              <a:t>*( A, B, …, Z) тогда и только тогда, когда любое допустимое значение r можно получить путем </a:t>
            </a:r>
            <a:r>
              <a:rPr lang="ru-RU" i="1" dirty="0" smtClean="0"/>
              <a:t> соединения</a:t>
            </a:r>
            <a:r>
              <a:rPr lang="en-US" i="1" dirty="0" smtClean="0"/>
              <a:t> </a:t>
            </a:r>
            <a:r>
              <a:rPr lang="ru-RU" dirty="0" smtClean="0"/>
              <a:t>проекций </a:t>
            </a:r>
            <a:r>
              <a:rPr lang="ru-RU" dirty="0"/>
              <a:t>этого значения на атрибуты A, B, …, Z .</a:t>
            </a:r>
          </a:p>
        </p:txBody>
      </p:sp>
      <p:sp>
        <p:nvSpPr>
          <p:cNvPr id="4" name="Номер слайда 3"/>
          <p:cNvSpPr>
            <a:spLocks noGrp="1"/>
          </p:cNvSpPr>
          <p:nvPr>
            <p:ph type="sldNum" sz="quarter" idx="12"/>
          </p:nvPr>
        </p:nvSpPr>
        <p:spPr/>
        <p:txBody>
          <a:bodyPr/>
          <a:lstStyle/>
          <a:p>
            <a:fld id="{590C5F67-5E4C-4ABB-99F4-36BCAC8BE885}" type="slidenum">
              <a:rPr lang="ru-RU" smtClean="0"/>
              <a:pPr/>
              <a:t>90</a:t>
            </a:fld>
            <a:endParaRPr lang="ru-RU"/>
          </a:p>
        </p:txBody>
      </p:sp>
    </p:spTree>
    <p:extLst>
      <p:ext uri="{BB962C8B-B14F-4D97-AF65-F5344CB8AC3E}">
        <p14:creationId xmlns:p14="http://schemas.microsoft.com/office/powerpoint/2010/main" xmlns="" val="28820518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r>
              <a:rPr lang="ru-RU" dirty="0" smtClean="0"/>
              <a:t>5</a:t>
            </a:r>
            <a:r>
              <a:rPr lang="en-US" dirty="0" smtClean="0"/>
              <a:t>NF</a:t>
            </a:r>
            <a:endParaRPr lang="ru-RU" dirty="0"/>
          </a:p>
        </p:txBody>
      </p:sp>
      <p:sp>
        <p:nvSpPr>
          <p:cNvPr id="3" name="Объект 2"/>
          <p:cNvSpPr>
            <a:spLocks noGrp="1"/>
          </p:cNvSpPr>
          <p:nvPr>
            <p:ph idx="1"/>
          </p:nvPr>
        </p:nvSpPr>
        <p:spPr/>
        <p:txBody>
          <a:bodyPr/>
          <a:lstStyle/>
          <a:p>
            <a:r>
              <a:rPr lang="ru-RU" dirty="0"/>
              <a:t>Отношение R находится в пятой нормальной форме (нормальной форме проекции-соединения - PJ/NF) в том и только в том случае, когда любая зависимость соединения в R следует из существования некоторого возможного ключа в R.</a:t>
            </a:r>
          </a:p>
        </p:txBody>
      </p:sp>
      <p:sp>
        <p:nvSpPr>
          <p:cNvPr id="4" name="Номер слайда 3"/>
          <p:cNvSpPr>
            <a:spLocks noGrp="1"/>
          </p:cNvSpPr>
          <p:nvPr>
            <p:ph type="sldNum" sz="quarter" idx="12"/>
          </p:nvPr>
        </p:nvSpPr>
        <p:spPr/>
        <p:txBody>
          <a:bodyPr/>
          <a:lstStyle/>
          <a:p>
            <a:fld id="{590C5F67-5E4C-4ABB-99F4-36BCAC8BE885}" type="slidenum">
              <a:rPr lang="ru-RU" smtClean="0"/>
              <a:pPr/>
              <a:t>91</a:t>
            </a:fld>
            <a:endParaRPr lang="ru-RU"/>
          </a:p>
        </p:txBody>
      </p:sp>
    </p:spTree>
    <p:extLst>
      <p:ext uri="{BB962C8B-B14F-4D97-AF65-F5344CB8AC3E}">
        <p14:creationId xmlns:p14="http://schemas.microsoft.com/office/powerpoint/2010/main" xmlns="" val="20797996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657106"/>
          </a:xfrm>
        </p:spPr>
        <p:txBody>
          <a:bodyPr>
            <a:normAutofit fontScale="90000"/>
          </a:bodyPr>
          <a:lstStyle/>
          <a:p>
            <a:r>
              <a:rPr lang="ru-RU" b="1" dirty="0"/>
              <a:t>Проектирование реляционных баз данных с использованием семантических моделей: ER-диаграммы</a:t>
            </a:r>
            <a:endParaRPr lang="ru-RU" dirty="0"/>
          </a:p>
        </p:txBody>
      </p:sp>
      <p:sp>
        <p:nvSpPr>
          <p:cNvPr id="3" name="Объект 2"/>
          <p:cNvSpPr>
            <a:spLocks noGrp="1"/>
          </p:cNvSpPr>
          <p:nvPr>
            <p:ph idx="1"/>
          </p:nvPr>
        </p:nvSpPr>
        <p:spPr>
          <a:xfrm>
            <a:off x="838200" y="2180491"/>
            <a:ext cx="10515600" cy="3996471"/>
          </a:xfrm>
        </p:spPr>
        <p:txBody>
          <a:bodyPr/>
          <a:lstStyle/>
          <a:p>
            <a:r>
              <a:rPr lang="ru-RU" dirty="0"/>
              <a:t>Основными понятиями </a:t>
            </a:r>
            <a:r>
              <a:rPr lang="ru-RU" i="1" dirty="0" smtClean="0"/>
              <a:t>ER  - модели</a:t>
            </a:r>
            <a:r>
              <a:rPr lang="ru-RU" dirty="0"/>
              <a:t> </a:t>
            </a:r>
            <a:r>
              <a:rPr lang="ru-RU" dirty="0" smtClean="0"/>
              <a:t>являются</a:t>
            </a:r>
            <a:r>
              <a:rPr lang="ru-RU" dirty="0"/>
              <a:t> </a:t>
            </a:r>
            <a:r>
              <a:rPr lang="ru-RU" i="1" dirty="0"/>
              <a:t>сущность</a:t>
            </a:r>
            <a:r>
              <a:rPr lang="ru-RU" dirty="0"/>
              <a:t>, </a:t>
            </a:r>
            <a:r>
              <a:rPr lang="ru-RU" i="1" dirty="0"/>
              <a:t>связь</a:t>
            </a:r>
            <a:r>
              <a:rPr lang="ru-RU" dirty="0"/>
              <a:t> и </a:t>
            </a:r>
            <a:r>
              <a:rPr lang="ru-RU" i="1" dirty="0"/>
              <a:t>атрибут</a:t>
            </a:r>
            <a:r>
              <a:rPr lang="ru-RU" dirty="0" smtClean="0"/>
              <a:t>.</a:t>
            </a:r>
          </a:p>
          <a:p>
            <a:r>
              <a:rPr lang="ru-RU" b="1" i="1" dirty="0"/>
              <a:t>Сущность</a:t>
            </a:r>
            <a:r>
              <a:rPr lang="ru-RU" dirty="0"/>
              <a:t> – это реальный или представляемый объект, информация о котором должна сохраняться и быть доступной</a:t>
            </a:r>
            <a:r>
              <a:rPr lang="ru-RU" dirty="0" smtClean="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92</a:t>
            </a:fld>
            <a:endParaRPr lang="ru-RU"/>
          </a:p>
        </p:txBody>
      </p:sp>
    </p:spTree>
    <p:extLst>
      <p:ext uri="{BB962C8B-B14F-4D97-AF65-F5344CB8AC3E}">
        <p14:creationId xmlns:p14="http://schemas.microsoft.com/office/powerpoint/2010/main" xmlns="" val="3983333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1026" name="Picture 2" descr="Пример типа сущност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27664" y="1690688"/>
            <a:ext cx="5079223" cy="2748756"/>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93</a:t>
            </a:fld>
            <a:endParaRPr lang="ru-RU"/>
          </a:p>
        </p:txBody>
      </p:sp>
    </p:spTree>
    <p:extLst>
      <p:ext uri="{BB962C8B-B14F-4D97-AF65-F5344CB8AC3E}">
        <p14:creationId xmlns:p14="http://schemas.microsoft.com/office/powerpoint/2010/main" xmlns="" val="3971658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При определении </a:t>
            </a:r>
            <a:r>
              <a:rPr lang="ru-RU" i="1" dirty="0"/>
              <a:t>типа сущности</a:t>
            </a:r>
            <a:r>
              <a:rPr lang="ru-RU" dirty="0"/>
              <a:t> необходимо гарантировать, что каждый </a:t>
            </a:r>
            <a:r>
              <a:rPr lang="ru-RU" i="1" dirty="0"/>
              <a:t>экземпляр сущности</a:t>
            </a:r>
            <a:r>
              <a:rPr lang="ru-RU" dirty="0"/>
              <a:t> может быть отличим от любого </a:t>
            </a:r>
            <a:r>
              <a:rPr lang="ru-RU" dirty="0" smtClean="0"/>
              <a:t>другого </a:t>
            </a:r>
            <a:r>
              <a:rPr lang="ru-RU" i="1" dirty="0" smtClean="0"/>
              <a:t>экземпляра</a:t>
            </a:r>
            <a:r>
              <a:rPr lang="ru-RU" dirty="0"/>
              <a:t> той же </a:t>
            </a:r>
            <a:r>
              <a:rPr lang="ru-RU" i="1" dirty="0"/>
              <a:t>сущности</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94</a:t>
            </a:fld>
            <a:endParaRPr lang="ru-RU"/>
          </a:p>
        </p:txBody>
      </p:sp>
    </p:spTree>
    <p:extLst>
      <p:ext uri="{BB962C8B-B14F-4D97-AF65-F5344CB8AC3E}">
        <p14:creationId xmlns:p14="http://schemas.microsoft.com/office/powerpoint/2010/main" xmlns="" val="22671602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b="1" i="1" dirty="0"/>
              <a:t>Связь</a:t>
            </a:r>
            <a:r>
              <a:rPr lang="ru-RU" dirty="0"/>
              <a:t> – это графически изображаемая ассоциация, устанавливаемая между двумя </a:t>
            </a:r>
            <a:r>
              <a:rPr lang="ru-RU" i="1" dirty="0"/>
              <a:t>типами сущностей</a:t>
            </a:r>
            <a:r>
              <a:rPr lang="ru-RU" dirty="0"/>
              <a:t> . </a:t>
            </a:r>
          </a:p>
        </p:txBody>
      </p:sp>
      <p:sp>
        <p:nvSpPr>
          <p:cNvPr id="4" name="Номер слайда 3"/>
          <p:cNvSpPr>
            <a:spLocks noGrp="1"/>
          </p:cNvSpPr>
          <p:nvPr>
            <p:ph type="sldNum" sz="quarter" idx="12"/>
          </p:nvPr>
        </p:nvSpPr>
        <p:spPr/>
        <p:txBody>
          <a:bodyPr/>
          <a:lstStyle/>
          <a:p>
            <a:fld id="{590C5F67-5E4C-4ABB-99F4-36BCAC8BE885}" type="slidenum">
              <a:rPr lang="ru-RU" smtClean="0"/>
              <a:pPr/>
              <a:t>95</a:t>
            </a:fld>
            <a:endParaRPr lang="ru-RU"/>
          </a:p>
        </p:txBody>
      </p:sp>
    </p:spTree>
    <p:extLst>
      <p:ext uri="{BB962C8B-B14F-4D97-AF65-F5344CB8AC3E}">
        <p14:creationId xmlns:p14="http://schemas.microsoft.com/office/powerpoint/2010/main" xmlns="" val="9438045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179998"/>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365126"/>
            <a:ext cx="10515600" cy="5811837"/>
          </a:xfrm>
        </p:spPr>
        <p:txBody>
          <a:bodyPr/>
          <a:lstStyle/>
          <a:p>
            <a:r>
              <a:rPr lang="ru-RU" dirty="0" smtClean="0"/>
              <a:t>В </a:t>
            </a:r>
            <a:r>
              <a:rPr lang="ru-RU" dirty="0"/>
              <a:t>месте "стыковки" </a:t>
            </a:r>
            <a:r>
              <a:rPr lang="ru-RU" i="1" dirty="0"/>
              <a:t>связи</a:t>
            </a:r>
            <a:r>
              <a:rPr lang="ru-RU" dirty="0"/>
              <a:t> с </a:t>
            </a:r>
            <a:r>
              <a:rPr lang="ru-RU" i="1" dirty="0"/>
              <a:t>сущностью</a:t>
            </a:r>
            <a:r>
              <a:rPr lang="ru-RU" dirty="0"/>
              <a:t> используются</a:t>
            </a:r>
            <a:r>
              <a:rPr lang="ru-RU" dirty="0" smtClean="0"/>
              <a:t>:</a:t>
            </a:r>
            <a:endParaRPr lang="en-US" dirty="0" smtClean="0"/>
          </a:p>
          <a:p>
            <a:r>
              <a:rPr lang="ru-RU" dirty="0"/>
              <a:t>трехточечный вход в прямоугольник </a:t>
            </a:r>
            <a:r>
              <a:rPr lang="ru-RU" i="1" dirty="0"/>
              <a:t>сущности</a:t>
            </a:r>
            <a:r>
              <a:rPr lang="ru-RU" dirty="0"/>
              <a:t>, если для этой </a:t>
            </a:r>
            <a:r>
              <a:rPr lang="ru-RU" i="1" dirty="0"/>
              <a:t>сущности</a:t>
            </a:r>
            <a:r>
              <a:rPr lang="ru-RU" dirty="0"/>
              <a:t> в </a:t>
            </a:r>
            <a:r>
              <a:rPr lang="ru-RU" i="1" dirty="0"/>
              <a:t>связи</a:t>
            </a:r>
            <a:r>
              <a:rPr lang="ru-RU" dirty="0"/>
              <a:t> могут (или должны) использоваться много ( </a:t>
            </a:r>
            <a:r>
              <a:rPr lang="ru-RU" b="1" dirty="0" err="1"/>
              <a:t>many</a:t>
            </a:r>
            <a:r>
              <a:rPr lang="ru-RU" dirty="0"/>
              <a:t> )</a:t>
            </a:r>
            <a:r>
              <a:rPr lang="ru-RU" i="1" dirty="0"/>
              <a:t>экземпляров сущности</a:t>
            </a:r>
            <a:r>
              <a:rPr lang="ru-RU" dirty="0"/>
              <a:t> ;</a:t>
            </a:r>
          </a:p>
          <a:p>
            <a:r>
              <a:rPr lang="ru-RU" dirty="0"/>
              <a:t>одноточечный вход, если в </a:t>
            </a:r>
            <a:r>
              <a:rPr lang="ru-RU" i="1" dirty="0"/>
              <a:t>связи</a:t>
            </a:r>
            <a:r>
              <a:rPr lang="ru-RU" dirty="0"/>
              <a:t> может (или должен) участвовать только один </a:t>
            </a:r>
            <a:r>
              <a:rPr lang="ru-RU" i="1" dirty="0"/>
              <a:t>экземпляр сущности</a:t>
            </a:r>
            <a:r>
              <a:rPr lang="ru-RU" dirty="0" smtClean="0"/>
              <a:t>.</a:t>
            </a:r>
            <a:endParaRPr lang="en-US" dirty="0" smtClean="0"/>
          </a:p>
          <a:p>
            <a:r>
              <a:rPr lang="ru-RU" dirty="0"/>
              <a:t>Обязательный </a:t>
            </a:r>
            <a:r>
              <a:rPr lang="ru-RU" i="1" dirty="0"/>
              <a:t>конец связи</a:t>
            </a:r>
            <a:r>
              <a:rPr lang="ru-RU" dirty="0"/>
              <a:t> изображается сплошной линией, а необязательный – прерывистой линией.</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96</a:t>
            </a:fld>
            <a:endParaRPr lang="ru-RU"/>
          </a:p>
        </p:txBody>
      </p:sp>
    </p:spTree>
    <p:extLst>
      <p:ext uri="{BB962C8B-B14F-4D97-AF65-F5344CB8AC3E}">
        <p14:creationId xmlns:p14="http://schemas.microsoft.com/office/powerpoint/2010/main" xmlns="" val="12753267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pic>
        <p:nvPicPr>
          <p:cNvPr id="2052" name="Picture 4" descr="Пример типа связ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5011" y="2233246"/>
            <a:ext cx="11741977" cy="1975033"/>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97</a:t>
            </a:fld>
            <a:endParaRPr lang="ru-RU"/>
          </a:p>
        </p:txBody>
      </p:sp>
    </p:spTree>
    <p:extLst>
      <p:ext uri="{BB962C8B-B14F-4D97-AF65-F5344CB8AC3E}">
        <p14:creationId xmlns:p14="http://schemas.microsoft.com/office/powerpoint/2010/main" xmlns="" val="10157002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каждый БИЛЕТ предназначен для одного и только одного ПАССАЖИРА ;</a:t>
            </a:r>
          </a:p>
          <a:p>
            <a:r>
              <a:rPr lang="ru-RU" dirty="0"/>
              <a:t>каждый ПАССАЖИР может иметь один или более БИЛЕТОВ </a:t>
            </a:r>
            <a:r>
              <a:rPr lang="ru-RU" dirty="0" smtClean="0"/>
              <a:t>или не иметь вовсе.</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98</a:t>
            </a:fld>
            <a:endParaRPr lang="ru-RU"/>
          </a:p>
        </p:txBody>
      </p:sp>
    </p:spTree>
    <p:extLst>
      <p:ext uri="{BB962C8B-B14F-4D97-AF65-F5344CB8AC3E}">
        <p14:creationId xmlns:p14="http://schemas.microsoft.com/office/powerpoint/2010/main" xmlns="" val="20936873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smtClean="0"/>
              <a:t>Рекурсивная </a:t>
            </a:r>
            <a:r>
              <a:rPr lang="ru-RU" b="1" dirty="0"/>
              <a:t>связь</a:t>
            </a:r>
          </a:p>
        </p:txBody>
      </p:sp>
      <p:pic>
        <p:nvPicPr>
          <p:cNvPr id="3074" name="Picture 2" descr="Пример рекурсивного типа связ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94641" y="2004646"/>
            <a:ext cx="7494481" cy="353585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99</a:t>
            </a:fld>
            <a:endParaRPr lang="ru-RU"/>
          </a:p>
        </p:txBody>
      </p:sp>
    </p:spTree>
    <p:extLst>
      <p:ext uri="{BB962C8B-B14F-4D97-AF65-F5344CB8AC3E}">
        <p14:creationId xmlns:p14="http://schemas.microsoft.com/office/powerpoint/2010/main" xmlns="" val="15967427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каждый МУЖЧИНА является сыном одного и только одного МУЖЧИНЫ ;</a:t>
            </a:r>
          </a:p>
          <a:p>
            <a:r>
              <a:rPr lang="ru-RU" dirty="0"/>
              <a:t>каждый МУЖЧИНА может являться отцом одного или более МУЖЧИН.</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100</a:t>
            </a:fld>
            <a:endParaRPr lang="ru-RU"/>
          </a:p>
        </p:txBody>
      </p:sp>
    </p:spTree>
    <p:extLst>
      <p:ext uri="{BB962C8B-B14F-4D97-AF65-F5344CB8AC3E}">
        <p14:creationId xmlns:p14="http://schemas.microsoft.com/office/powerpoint/2010/main" xmlns="" val="4126841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i="1" dirty="0" smtClean="0"/>
              <a:t>Атрибут </a:t>
            </a:r>
            <a:r>
              <a:rPr lang="ru-RU" b="1" i="1" dirty="0"/>
              <a:t>сущности</a:t>
            </a:r>
            <a:endParaRPr lang="ru-RU" dirty="0"/>
          </a:p>
        </p:txBody>
      </p:sp>
      <p:sp>
        <p:nvSpPr>
          <p:cNvPr id="3" name="Объект 2"/>
          <p:cNvSpPr>
            <a:spLocks noGrp="1"/>
          </p:cNvSpPr>
          <p:nvPr>
            <p:ph idx="1"/>
          </p:nvPr>
        </p:nvSpPr>
        <p:spPr/>
        <p:txBody>
          <a:bodyPr/>
          <a:lstStyle/>
          <a:p>
            <a:r>
              <a:rPr lang="ru-RU" b="1" i="1" dirty="0"/>
              <a:t>Атрибутом сущности</a:t>
            </a:r>
            <a:r>
              <a:rPr lang="ru-RU" dirty="0"/>
              <a:t> является любая деталь, которая служит для уточнения, идентификации, классификации, числовой характеристики или выражения состояния </a:t>
            </a:r>
            <a:r>
              <a:rPr lang="ru-RU" i="1" dirty="0"/>
              <a:t>сущности</a:t>
            </a:r>
            <a:r>
              <a:rPr lang="ru-RU" dirty="0"/>
              <a:t> . Имена </a:t>
            </a:r>
            <a:r>
              <a:rPr lang="ru-RU" i="1" dirty="0"/>
              <a:t>атрибутов</a:t>
            </a:r>
            <a:r>
              <a:rPr lang="ru-RU" dirty="0"/>
              <a:t> заносятся в прямоугольник, изображающий </a:t>
            </a:r>
            <a:r>
              <a:rPr lang="ru-RU" i="1" dirty="0"/>
              <a:t>сущность</a:t>
            </a:r>
            <a:r>
              <a:rPr lang="ru-RU" dirty="0"/>
              <a:t>, под именем </a:t>
            </a:r>
            <a:r>
              <a:rPr lang="ru-RU" i="1" dirty="0"/>
              <a:t>сущности</a:t>
            </a:r>
            <a:r>
              <a:rPr lang="ru-RU" dirty="0"/>
              <a:t> и изображаются малыми буквами, возможно, с примерами.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101</a:t>
            </a:fld>
            <a:endParaRPr lang="ru-RU"/>
          </a:p>
        </p:txBody>
      </p:sp>
    </p:spTree>
    <p:extLst>
      <p:ext uri="{BB962C8B-B14F-4D97-AF65-F5344CB8AC3E}">
        <p14:creationId xmlns:p14="http://schemas.microsoft.com/office/powerpoint/2010/main" xmlns="" val="2989900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4098" name="Picture 2" descr="Пример типа сущности с атрибутам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95954" y="1027906"/>
            <a:ext cx="6310225" cy="451276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102</a:t>
            </a:fld>
            <a:endParaRPr lang="ru-RU"/>
          </a:p>
        </p:txBody>
      </p:sp>
    </p:spTree>
    <p:extLst>
      <p:ext uri="{BB962C8B-B14F-4D97-AF65-F5344CB8AC3E}">
        <p14:creationId xmlns:p14="http://schemas.microsoft.com/office/powerpoint/2010/main" xmlns="" val="12907541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Уникальные идентификаторы типов сущности</a:t>
            </a:r>
            <a:br>
              <a:rPr lang="ru-RU" b="1" dirty="0"/>
            </a:br>
            <a:endParaRPr lang="ru-RU" dirty="0"/>
          </a:p>
        </p:txBody>
      </p:sp>
      <p:sp>
        <p:nvSpPr>
          <p:cNvPr id="3" name="Объект 2"/>
          <p:cNvSpPr>
            <a:spLocks noGrp="1"/>
          </p:cNvSpPr>
          <p:nvPr>
            <p:ph idx="1"/>
          </p:nvPr>
        </p:nvSpPr>
        <p:spPr/>
        <p:txBody>
          <a:bodyPr/>
          <a:lstStyle/>
          <a:p>
            <a:r>
              <a:rPr lang="ru-RU" dirty="0" smtClean="0"/>
              <a:t>При </a:t>
            </a:r>
            <a:r>
              <a:rPr lang="ru-RU" dirty="0"/>
              <a:t>определении </a:t>
            </a:r>
            <a:r>
              <a:rPr lang="ru-RU" i="1" dirty="0"/>
              <a:t>типа сущности</a:t>
            </a:r>
            <a:r>
              <a:rPr lang="ru-RU" dirty="0"/>
              <a:t> необходимо гарантировать, что каждый </a:t>
            </a:r>
            <a:r>
              <a:rPr lang="ru-RU" i="1" dirty="0"/>
              <a:t>экземпляр сущности</a:t>
            </a:r>
            <a:r>
              <a:rPr lang="ru-RU" dirty="0"/>
              <a:t> является отличимым от любого другого </a:t>
            </a:r>
            <a:r>
              <a:rPr lang="ru-RU" i="1" dirty="0"/>
              <a:t>экземпляра</a:t>
            </a:r>
            <a:r>
              <a:rPr lang="ru-RU" dirty="0"/>
              <a:t> той же </a:t>
            </a:r>
            <a:r>
              <a:rPr lang="ru-RU" i="1" dirty="0"/>
              <a:t>сущности</a:t>
            </a:r>
            <a:r>
              <a:rPr lang="ru-RU" dirty="0" smtClean="0"/>
              <a:t>.</a:t>
            </a:r>
          </a:p>
          <a:p>
            <a:r>
              <a:rPr lang="ru-RU" dirty="0" smtClean="0"/>
              <a:t>Пример книги хранящиеся на книжном складе и книги в библиотеке.</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103</a:t>
            </a:fld>
            <a:endParaRPr lang="ru-RU"/>
          </a:p>
        </p:txBody>
      </p:sp>
    </p:spTree>
    <p:extLst>
      <p:ext uri="{BB962C8B-B14F-4D97-AF65-F5344CB8AC3E}">
        <p14:creationId xmlns:p14="http://schemas.microsoft.com/office/powerpoint/2010/main" xmlns="" val="4605734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5122" name="Picture 2" descr="Тип сущности, экземпляры которого идентифицируются атрибутам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70547" y="1027906"/>
            <a:ext cx="6127268" cy="446626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104</a:t>
            </a:fld>
            <a:endParaRPr lang="ru-RU"/>
          </a:p>
        </p:txBody>
      </p:sp>
    </p:spTree>
    <p:extLst>
      <p:ext uri="{BB962C8B-B14F-4D97-AF65-F5344CB8AC3E}">
        <p14:creationId xmlns:p14="http://schemas.microsoft.com/office/powerpoint/2010/main" xmlns="" val="5537013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Нормальные формы </a:t>
            </a:r>
            <a:r>
              <a:rPr lang="en-US" b="1" dirty="0"/>
              <a:t>ER-</a:t>
            </a:r>
            <a:r>
              <a:rPr lang="ru-RU" b="1" dirty="0"/>
              <a:t>диаграмм</a:t>
            </a:r>
            <a:br>
              <a:rPr lang="ru-RU" b="1" dirty="0"/>
            </a:br>
            <a:endParaRPr lang="ru-RU" dirty="0"/>
          </a:p>
        </p:txBody>
      </p:sp>
      <p:sp>
        <p:nvSpPr>
          <p:cNvPr id="3" name="Объект 2"/>
          <p:cNvSpPr>
            <a:spLocks noGrp="1"/>
          </p:cNvSpPr>
          <p:nvPr>
            <p:ph idx="1"/>
          </p:nvPr>
        </p:nvSpPr>
        <p:spPr/>
        <p:txBody>
          <a:bodyPr/>
          <a:lstStyle/>
          <a:p>
            <a:r>
              <a:rPr lang="ru-RU" dirty="0"/>
              <a:t>В </a:t>
            </a:r>
            <a:r>
              <a:rPr lang="ru-RU" i="1" dirty="0"/>
              <a:t>первой нормальной форме ER-диаграммы</a:t>
            </a:r>
            <a:r>
              <a:rPr lang="ru-RU" dirty="0"/>
              <a:t> устраняются </a:t>
            </a:r>
            <a:r>
              <a:rPr lang="ru-RU" i="1" dirty="0"/>
              <a:t>атрибуты</a:t>
            </a:r>
            <a:r>
              <a:rPr lang="ru-RU" dirty="0"/>
              <a:t>, содержащие множественные значения, т. е. производится выявление неявных </a:t>
            </a:r>
            <a:r>
              <a:rPr lang="ru-RU" i="1" dirty="0"/>
              <a:t>сущностей</a:t>
            </a:r>
            <a:r>
              <a:rPr lang="ru-RU" dirty="0"/>
              <a:t>, "замаскированных" под </a:t>
            </a:r>
            <a:r>
              <a:rPr lang="ru-RU" i="1" dirty="0"/>
              <a:t>атрибуты</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105</a:t>
            </a:fld>
            <a:endParaRPr lang="ru-RU"/>
          </a:p>
        </p:txBody>
      </p:sp>
    </p:spTree>
    <p:extLst>
      <p:ext uri="{BB962C8B-B14F-4D97-AF65-F5344CB8AC3E}">
        <p14:creationId xmlns:p14="http://schemas.microsoft.com/office/powerpoint/2010/main" xmlns="" val="15182330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38200" y="1879874"/>
            <a:ext cx="10193060" cy="3038316"/>
          </a:xfrm>
        </p:spPr>
      </p:pic>
      <p:sp>
        <p:nvSpPr>
          <p:cNvPr id="3" name="Номер слайда 2"/>
          <p:cNvSpPr>
            <a:spLocks noGrp="1"/>
          </p:cNvSpPr>
          <p:nvPr>
            <p:ph type="sldNum" sz="quarter" idx="12"/>
          </p:nvPr>
        </p:nvSpPr>
        <p:spPr/>
        <p:txBody>
          <a:bodyPr/>
          <a:lstStyle/>
          <a:p>
            <a:fld id="{590C5F67-5E4C-4ABB-99F4-36BCAC8BE885}" type="slidenum">
              <a:rPr lang="ru-RU" smtClean="0"/>
              <a:pPr/>
              <a:t>106</a:t>
            </a:fld>
            <a:endParaRPr lang="ru-RU"/>
          </a:p>
        </p:txBody>
      </p:sp>
    </p:spTree>
    <p:extLst>
      <p:ext uri="{BB962C8B-B14F-4D97-AF65-F5344CB8AC3E}">
        <p14:creationId xmlns:p14="http://schemas.microsoft.com/office/powerpoint/2010/main" xmlns="" val="23377360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p>
        </p:txBody>
      </p:sp>
      <p:sp>
        <p:nvSpPr>
          <p:cNvPr id="3" name="Объект 2"/>
          <p:cNvSpPr>
            <a:spLocks noGrp="1"/>
          </p:cNvSpPr>
          <p:nvPr>
            <p:ph idx="1"/>
          </p:nvPr>
        </p:nvSpPr>
        <p:spPr/>
        <p:txBody>
          <a:bodyPr/>
          <a:lstStyle/>
          <a:p>
            <a:r>
              <a:rPr lang="ru-RU" dirty="0" smtClean="0"/>
              <a:t> </a:t>
            </a:r>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128345" y="1667785"/>
            <a:ext cx="7371896" cy="3550766"/>
          </a:xfrm>
          <a:prstGeom prst="rect">
            <a:avLst/>
          </a:prstGeom>
        </p:spPr>
      </p:pic>
      <p:sp>
        <p:nvSpPr>
          <p:cNvPr id="5" name="Номер слайда 4"/>
          <p:cNvSpPr>
            <a:spLocks noGrp="1"/>
          </p:cNvSpPr>
          <p:nvPr>
            <p:ph type="sldNum" sz="quarter" idx="12"/>
          </p:nvPr>
        </p:nvSpPr>
        <p:spPr/>
        <p:txBody>
          <a:bodyPr/>
          <a:lstStyle/>
          <a:p>
            <a:fld id="{590C5F67-5E4C-4ABB-99F4-36BCAC8BE885}" type="slidenum">
              <a:rPr lang="ru-RU" smtClean="0"/>
              <a:pPr/>
              <a:t>107</a:t>
            </a:fld>
            <a:endParaRPr lang="ru-RU"/>
          </a:p>
        </p:txBody>
      </p:sp>
    </p:spTree>
    <p:extLst>
      <p:ext uri="{BB962C8B-B14F-4D97-AF65-F5344CB8AC3E}">
        <p14:creationId xmlns:p14="http://schemas.microsoft.com/office/powerpoint/2010/main" xmlns="" val="18842148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Вторая нормальная форма </a:t>
            </a:r>
            <a:r>
              <a:rPr lang="en-US" b="1" dirty="0"/>
              <a:t>ER-</a:t>
            </a:r>
            <a:r>
              <a:rPr lang="ru-RU" b="1" dirty="0"/>
              <a:t>диаграммы</a:t>
            </a:r>
            <a:br>
              <a:rPr lang="ru-RU" b="1" dirty="0"/>
            </a:br>
            <a:endParaRPr lang="ru-RU" dirty="0"/>
          </a:p>
        </p:txBody>
      </p:sp>
      <p:sp>
        <p:nvSpPr>
          <p:cNvPr id="3" name="Объект 2"/>
          <p:cNvSpPr>
            <a:spLocks noGrp="1"/>
          </p:cNvSpPr>
          <p:nvPr>
            <p:ph idx="1"/>
          </p:nvPr>
        </p:nvSpPr>
        <p:spPr/>
        <p:txBody>
          <a:bodyPr/>
          <a:lstStyle/>
          <a:p>
            <a:r>
              <a:rPr lang="ru-RU" dirty="0"/>
              <a:t>Во </a:t>
            </a:r>
            <a:r>
              <a:rPr lang="ru-RU" i="1" dirty="0"/>
              <a:t>второй нормальной форме</a:t>
            </a:r>
            <a:r>
              <a:rPr lang="ru-RU" dirty="0"/>
              <a:t> устраняются </a:t>
            </a:r>
            <a:r>
              <a:rPr lang="ru-RU" i="1" dirty="0"/>
              <a:t>атрибуты</a:t>
            </a:r>
            <a:r>
              <a:rPr lang="ru-RU" dirty="0"/>
              <a:t>, зависящие только от части </a:t>
            </a:r>
            <a:r>
              <a:rPr lang="ru-RU" i="1" dirty="0"/>
              <a:t>уникального идентификатора</a:t>
            </a:r>
            <a:r>
              <a:rPr lang="ru-RU" dirty="0"/>
              <a:t>. Эта часть </a:t>
            </a:r>
            <a:r>
              <a:rPr lang="ru-RU" i="1" dirty="0"/>
              <a:t>уникального идентификатора</a:t>
            </a:r>
            <a:r>
              <a:rPr lang="ru-RU" dirty="0"/>
              <a:t> определяет отдельную </a:t>
            </a:r>
            <a:r>
              <a:rPr lang="ru-RU" i="1" dirty="0"/>
              <a:t>сущность</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108</a:t>
            </a:fld>
            <a:endParaRPr lang="ru-RU"/>
          </a:p>
        </p:txBody>
      </p:sp>
    </p:spTree>
    <p:extLst>
      <p:ext uri="{BB962C8B-B14F-4D97-AF65-F5344CB8AC3E}">
        <p14:creationId xmlns:p14="http://schemas.microsoft.com/office/powerpoint/2010/main" xmlns="" val="20057598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429407" y="1690688"/>
            <a:ext cx="10711034" cy="3115469"/>
          </a:xfrm>
        </p:spPr>
      </p:pic>
      <p:sp>
        <p:nvSpPr>
          <p:cNvPr id="3" name="Номер слайда 2"/>
          <p:cNvSpPr>
            <a:spLocks noGrp="1"/>
          </p:cNvSpPr>
          <p:nvPr>
            <p:ph type="sldNum" sz="quarter" idx="12"/>
          </p:nvPr>
        </p:nvSpPr>
        <p:spPr/>
        <p:txBody>
          <a:bodyPr/>
          <a:lstStyle/>
          <a:p>
            <a:fld id="{590C5F67-5E4C-4ABB-99F4-36BCAC8BE885}" type="slidenum">
              <a:rPr lang="ru-RU" smtClean="0"/>
              <a:pPr/>
              <a:t>109</a:t>
            </a:fld>
            <a:endParaRPr lang="ru-RU"/>
          </a:p>
        </p:txBody>
      </p:sp>
    </p:spTree>
    <p:extLst>
      <p:ext uri="{BB962C8B-B14F-4D97-AF65-F5344CB8AC3E}">
        <p14:creationId xmlns:p14="http://schemas.microsoft.com/office/powerpoint/2010/main" xmlns="" val="4880598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096240" y="1690688"/>
            <a:ext cx="8891676" cy="3908901"/>
          </a:xfrm>
        </p:spPr>
      </p:pic>
      <p:sp>
        <p:nvSpPr>
          <p:cNvPr id="3" name="Номер слайда 2"/>
          <p:cNvSpPr>
            <a:spLocks noGrp="1"/>
          </p:cNvSpPr>
          <p:nvPr>
            <p:ph type="sldNum" sz="quarter" idx="12"/>
          </p:nvPr>
        </p:nvSpPr>
        <p:spPr/>
        <p:txBody>
          <a:bodyPr/>
          <a:lstStyle/>
          <a:p>
            <a:fld id="{590C5F67-5E4C-4ABB-99F4-36BCAC8BE885}" type="slidenum">
              <a:rPr lang="ru-RU" smtClean="0"/>
              <a:pPr/>
              <a:t>110</a:t>
            </a:fld>
            <a:endParaRPr lang="ru-RU"/>
          </a:p>
        </p:txBody>
      </p:sp>
    </p:spTree>
    <p:extLst>
      <p:ext uri="{BB962C8B-B14F-4D97-AF65-F5344CB8AC3E}">
        <p14:creationId xmlns:p14="http://schemas.microsoft.com/office/powerpoint/2010/main" xmlns="" val="10586370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Третья нормальная форма </a:t>
            </a:r>
            <a:r>
              <a:rPr lang="en-US" b="1" dirty="0"/>
              <a:t>ER-</a:t>
            </a:r>
            <a:r>
              <a:rPr lang="ru-RU" b="1" dirty="0"/>
              <a:t>диаграммы</a:t>
            </a:r>
            <a:br>
              <a:rPr lang="ru-RU" b="1" dirty="0"/>
            </a:br>
            <a:endParaRPr lang="ru-RU" dirty="0"/>
          </a:p>
        </p:txBody>
      </p:sp>
      <p:sp>
        <p:nvSpPr>
          <p:cNvPr id="3" name="Объект 2"/>
          <p:cNvSpPr>
            <a:spLocks noGrp="1"/>
          </p:cNvSpPr>
          <p:nvPr>
            <p:ph idx="1"/>
          </p:nvPr>
        </p:nvSpPr>
        <p:spPr/>
        <p:txBody>
          <a:bodyPr/>
          <a:lstStyle/>
          <a:p>
            <a:r>
              <a:rPr lang="ru-RU" dirty="0"/>
              <a:t>В третьей нормальной форме устраняются атрибуты, которые зависят от атрибутов, не входящих в уникальный идентификатор. Эти атрибуты являются основой отдельной сущности.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111</a:t>
            </a:fld>
            <a:endParaRPr lang="ru-RU"/>
          </a:p>
        </p:txBody>
      </p:sp>
    </p:spTree>
    <p:extLst>
      <p:ext uri="{BB962C8B-B14F-4D97-AF65-F5344CB8AC3E}">
        <p14:creationId xmlns:p14="http://schemas.microsoft.com/office/powerpoint/2010/main" xmlns="" val="29624490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897380" y="1657242"/>
            <a:ext cx="8707756" cy="3828047"/>
          </a:xfrm>
        </p:spPr>
      </p:pic>
      <p:sp>
        <p:nvSpPr>
          <p:cNvPr id="3" name="Номер слайда 2"/>
          <p:cNvSpPr>
            <a:spLocks noGrp="1"/>
          </p:cNvSpPr>
          <p:nvPr>
            <p:ph type="sldNum" sz="quarter" idx="12"/>
          </p:nvPr>
        </p:nvSpPr>
        <p:spPr/>
        <p:txBody>
          <a:bodyPr/>
          <a:lstStyle/>
          <a:p>
            <a:fld id="{590C5F67-5E4C-4ABB-99F4-36BCAC8BE885}" type="slidenum">
              <a:rPr lang="ru-RU" smtClean="0"/>
              <a:pPr/>
              <a:t>112</a:t>
            </a:fld>
            <a:endParaRPr lang="ru-RU"/>
          </a:p>
        </p:txBody>
      </p:sp>
    </p:spTree>
    <p:extLst>
      <p:ext uri="{BB962C8B-B14F-4D97-AF65-F5344CB8AC3E}">
        <p14:creationId xmlns:p14="http://schemas.microsoft.com/office/powerpoint/2010/main" xmlns="" val="10473161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87729" y="1690688"/>
            <a:ext cx="10466072" cy="4572793"/>
          </a:xfrm>
        </p:spPr>
      </p:pic>
      <p:sp>
        <p:nvSpPr>
          <p:cNvPr id="3" name="Номер слайда 2"/>
          <p:cNvSpPr>
            <a:spLocks noGrp="1"/>
          </p:cNvSpPr>
          <p:nvPr>
            <p:ph type="sldNum" sz="quarter" idx="12"/>
          </p:nvPr>
        </p:nvSpPr>
        <p:spPr/>
        <p:txBody>
          <a:bodyPr/>
          <a:lstStyle/>
          <a:p>
            <a:fld id="{590C5F67-5E4C-4ABB-99F4-36BCAC8BE885}" type="slidenum">
              <a:rPr lang="ru-RU" smtClean="0"/>
              <a:pPr/>
              <a:t>113</a:t>
            </a:fld>
            <a:endParaRPr lang="ru-RU"/>
          </a:p>
        </p:txBody>
      </p:sp>
    </p:spTree>
    <p:extLst>
      <p:ext uri="{BB962C8B-B14F-4D97-AF65-F5344CB8AC3E}">
        <p14:creationId xmlns:p14="http://schemas.microsoft.com/office/powerpoint/2010/main" xmlns="" val="38530503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Более сложные элементы </a:t>
            </a:r>
            <a:r>
              <a:rPr lang="en-US" b="1" dirty="0"/>
              <a:t>ER-</a:t>
            </a:r>
            <a:r>
              <a:rPr lang="ru-RU" b="1" dirty="0"/>
              <a:t>модели</a:t>
            </a:r>
            <a:br>
              <a:rPr lang="ru-RU" b="1" dirty="0"/>
            </a:br>
            <a:endParaRPr lang="ru-RU" dirty="0"/>
          </a:p>
        </p:txBody>
      </p:sp>
      <p:sp>
        <p:nvSpPr>
          <p:cNvPr id="3" name="Объект 2"/>
          <p:cNvSpPr>
            <a:spLocks noGrp="1"/>
          </p:cNvSpPr>
          <p:nvPr>
            <p:ph idx="1"/>
          </p:nvPr>
        </p:nvSpPr>
        <p:spPr/>
        <p:txBody>
          <a:bodyPr/>
          <a:lstStyle/>
          <a:p>
            <a:r>
              <a:rPr lang="ru-RU" b="1" dirty="0"/>
              <a:t>Подтипы и </a:t>
            </a:r>
            <a:r>
              <a:rPr lang="ru-RU" b="1" dirty="0" err="1"/>
              <a:t>супертипы</a:t>
            </a:r>
            <a:r>
              <a:rPr lang="ru-RU" b="1" dirty="0"/>
              <a:t> сущностей</a:t>
            </a:r>
            <a:r>
              <a:rPr lang="ru-RU" dirty="0"/>
              <a:t>. Подобно тому как это делается в языках программирования с развитыми типовыми системами (например, в языках объектно-ориентированного программирования), в </a:t>
            </a:r>
            <a:r>
              <a:rPr lang="ru-RU" i="1" dirty="0"/>
              <a:t>ER-модели</a:t>
            </a:r>
            <a:r>
              <a:rPr lang="ru-RU" dirty="0"/>
              <a:t> поддерживается возможность определения нового типа сущности путем наследования некоторого </a:t>
            </a:r>
            <a:r>
              <a:rPr lang="ru-RU" i="1" dirty="0" err="1"/>
              <a:t>супертипа</a:t>
            </a:r>
            <a:r>
              <a:rPr lang="ru-RU" i="1" dirty="0"/>
              <a:t> сущности</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114</a:t>
            </a:fld>
            <a:endParaRPr lang="ru-RU"/>
          </a:p>
        </p:txBody>
      </p:sp>
    </p:spTree>
    <p:extLst>
      <p:ext uri="{BB962C8B-B14F-4D97-AF65-F5344CB8AC3E}">
        <p14:creationId xmlns:p14="http://schemas.microsoft.com/office/powerpoint/2010/main" xmlns="" val="22302951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594360"/>
            <a:ext cx="10515600" cy="5582603"/>
          </a:xfrm>
        </p:spPr>
        <p:txBody>
          <a:bodyPr>
            <a:normAutofit/>
          </a:bodyPr>
          <a:lstStyle/>
          <a:p>
            <a:r>
              <a:rPr lang="ru-RU" dirty="0"/>
              <a:t>Если у </a:t>
            </a:r>
            <a:r>
              <a:rPr lang="ru-RU" i="1" dirty="0"/>
              <a:t>типа сущности</a:t>
            </a:r>
            <a:r>
              <a:rPr lang="ru-RU" dirty="0"/>
              <a:t>   A имеются </a:t>
            </a:r>
            <a:r>
              <a:rPr lang="ru-RU" i="1" dirty="0"/>
              <a:t>подтипы</a:t>
            </a:r>
            <a:r>
              <a:rPr lang="ru-RU" dirty="0"/>
              <a:t>   B</a:t>
            </a:r>
            <a:r>
              <a:rPr lang="ru-RU" baseline="-25000" dirty="0"/>
              <a:t>1</a:t>
            </a:r>
            <a:r>
              <a:rPr lang="ru-RU" dirty="0"/>
              <a:t>, B</a:t>
            </a:r>
            <a:r>
              <a:rPr lang="ru-RU" baseline="-25000" dirty="0"/>
              <a:t>2</a:t>
            </a:r>
            <a:r>
              <a:rPr lang="ru-RU" dirty="0"/>
              <a:t>,..., </a:t>
            </a:r>
            <a:r>
              <a:rPr lang="ru-RU" dirty="0" err="1"/>
              <a:t>B</a:t>
            </a:r>
            <a:r>
              <a:rPr lang="ru-RU" baseline="-25000" dirty="0" err="1"/>
              <a:t>n</a:t>
            </a:r>
            <a:r>
              <a:rPr lang="ru-RU" dirty="0"/>
              <a:t>, то:</a:t>
            </a:r>
          </a:p>
          <a:p>
            <a:r>
              <a:rPr lang="ru-RU" dirty="0"/>
              <a:t>(a) любой </a:t>
            </a:r>
            <a:r>
              <a:rPr lang="ru-RU" i="1" dirty="0"/>
              <a:t>экземпляр типа сущности</a:t>
            </a:r>
            <a:r>
              <a:rPr lang="ru-RU" dirty="0"/>
              <a:t>   B</a:t>
            </a:r>
            <a:r>
              <a:rPr lang="ru-RU" baseline="-25000" dirty="0"/>
              <a:t>1</a:t>
            </a:r>
            <a:r>
              <a:rPr lang="ru-RU" dirty="0"/>
              <a:t>, B</a:t>
            </a:r>
            <a:r>
              <a:rPr lang="ru-RU" baseline="-25000" dirty="0"/>
              <a:t>2</a:t>
            </a:r>
            <a:r>
              <a:rPr lang="ru-RU" dirty="0"/>
              <a:t>,..., </a:t>
            </a:r>
            <a:r>
              <a:rPr lang="ru-RU" dirty="0" err="1"/>
              <a:t>B</a:t>
            </a:r>
            <a:r>
              <a:rPr lang="ru-RU" baseline="-25000" dirty="0" err="1"/>
              <a:t>n</a:t>
            </a:r>
            <a:r>
              <a:rPr lang="ru-RU" dirty="0"/>
              <a:t> является </a:t>
            </a:r>
            <a:r>
              <a:rPr lang="ru-RU" i="1" dirty="0"/>
              <a:t>экземпляром типа сущности</a:t>
            </a:r>
            <a:r>
              <a:rPr lang="ru-RU" dirty="0"/>
              <a:t>   A (включение);</a:t>
            </a:r>
          </a:p>
          <a:p>
            <a:r>
              <a:rPr lang="ru-RU" dirty="0"/>
              <a:t>(b) если a является </a:t>
            </a:r>
            <a:r>
              <a:rPr lang="ru-RU" i="1" dirty="0"/>
              <a:t>экземпляром типа сущности</a:t>
            </a:r>
            <a:r>
              <a:rPr lang="ru-RU" dirty="0"/>
              <a:t>   A, то a является </a:t>
            </a:r>
            <a:r>
              <a:rPr lang="ru-RU" i="1" dirty="0"/>
              <a:t>экземпляром</a:t>
            </a:r>
            <a:r>
              <a:rPr lang="ru-RU" dirty="0"/>
              <a:t> некоторого </a:t>
            </a:r>
            <a:r>
              <a:rPr lang="ru-RU" i="1" dirty="0"/>
              <a:t>подтипа</a:t>
            </a:r>
            <a:r>
              <a:rPr lang="ru-RU" dirty="0"/>
              <a:t>   </a:t>
            </a:r>
            <a:r>
              <a:rPr lang="ru-RU" i="1" dirty="0"/>
              <a:t>сущности</a:t>
            </a:r>
            <a:r>
              <a:rPr lang="ru-RU" dirty="0"/>
              <a:t>   </a:t>
            </a:r>
            <a:r>
              <a:rPr lang="ru-RU" dirty="0" err="1"/>
              <a:t>B</a:t>
            </a:r>
            <a:r>
              <a:rPr lang="ru-RU" baseline="-25000" dirty="0" err="1"/>
              <a:t>i</a:t>
            </a:r>
            <a:r>
              <a:rPr lang="ru-RU" dirty="0"/>
              <a:t> (i = 1, 2, ..., n) (отсутствие собственных </a:t>
            </a:r>
            <a:r>
              <a:rPr lang="ru-RU" i="1" dirty="0"/>
              <a:t>экземпляров</a:t>
            </a:r>
            <a:r>
              <a:rPr lang="ru-RU" dirty="0"/>
              <a:t> у </a:t>
            </a:r>
            <a:r>
              <a:rPr lang="ru-RU" i="1" dirty="0" err="1"/>
              <a:t>супертипа</a:t>
            </a:r>
            <a:r>
              <a:rPr lang="ru-RU" i="1" dirty="0"/>
              <a:t> сущности</a:t>
            </a:r>
            <a:r>
              <a:rPr lang="ru-RU" dirty="0"/>
              <a:t> );</a:t>
            </a:r>
          </a:p>
          <a:p>
            <a:r>
              <a:rPr lang="ru-RU" dirty="0"/>
              <a:t>(c) ни для каких </a:t>
            </a:r>
            <a:r>
              <a:rPr lang="ru-RU" i="1" dirty="0"/>
              <a:t>подтипов</a:t>
            </a:r>
            <a:r>
              <a:rPr lang="ru-RU" dirty="0"/>
              <a:t>   </a:t>
            </a:r>
            <a:r>
              <a:rPr lang="ru-RU" dirty="0" err="1"/>
              <a:t>B</a:t>
            </a:r>
            <a:r>
              <a:rPr lang="ru-RU" baseline="-25000" dirty="0" err="1"/>
              <a:t>i</a:t>
            </a:r>
            <a:r>
              <a:rPr lang="ru-RU" dirty="0"/>
              <a:t> и </a:t>
            </a:r>
            <a:r>
              <a:rPr lang="ru-RU" dirty="0" err="1"/>
              <a:t>B</a:t>
            </a:r>
            <a:r>
              <a:rPr lang="ru-RU" baseline="-25000" dirty="0" err="1"/>
              <a:t>j</a:t>
            </a:r>
            <a:r>
              <a:rPr lang="ru-RU" dirty="0"/>
              <a:t> (i, j = 1, 2, ..., n) не существует </a:t>
            </a:r>
            <a:r>
              <a:rPr lang="ru-RU" i="1" dirty="0"/>
              <a:t>экземпляра</a:t>
            </a:r>
            <a:r>
              <a:rPr lang="ru-RU" dirty="0"/>
              <a:t>, </a:t>
            </a:r>
            <a:r>
              <a:rPr lang="ru-RU" i="1" dirty="0"/>
              <a:t>типом</a:t>
            </a:r>
            <a:r>
              <a:rPr lang="ru-RU" dirty="0"/>
              <a:t> которого одновременно являются </a:t>
            </a:r>
            <a:r>
              <a:rPr lang="ru-RU" i="1" dirty="0"/>
              <a:t>типы сущности</a:t>
            </a:r>
            <a:r>
              <a:rPr lang="ru-RU" dirty="0"/>
              <a:t>   </a:t>
            </a:r>
            <a:r>
              <a:rPr lang="ru-RU" dirty="0" err="1"/>
              <a:t>B</a:t>
            </a:r>
            <a:r>
              <a:rPr lang="ru-RU" baseline="-25000" dirty="0" err="1"/>
              <a:t>i</a:t>
            </a:r>
            <a:r>
              <a:rPr lang="ru-RU" dirty="0"/>
              <a:t> и </a:t>
            </a:r>
            <a:r>
              <a:rPr lang="ru-RU" dirty="0" err="1"/>
              <a:t>B</a:t>
            </a:r>
            <a:r>
              <a:rPr lang="ru-RU" baseline="-25000" dirty="0" err="1"/>
              <a:t>j</a:t>
            </a:r>
            <a:r>
              <a:rPr lang="ru-RU" dirty="0"/>
              <a:t> (разъединенность </a:t>
            </a:r>
            <a:r>
              <a:rPr lang="ru-RU" i="1" dirty="0"/>
              <a:t>подтипов</a:t>
            </a:r>
            <a:r>
              <a:rPr lang="ru-RU" dirty="0"/>
              <a:t> ).</a:t>
            </a:r>
          </a:p>
          <a:p>
            <a:r>
              <a:rPr lang="ru-RU" i="1" dirty="0"/>
              <a:t>Тип сущности</a:t>
            </a:r>
            <a:r>
              <a:rPr lang="ru-RU" dirty="0"/>
              <a:t>, на основе которого определяются </a:t>
            </a:r>
            <a:r>
              <a:rPr lang="ru-RU" i="1" dirty="0"/>
              <a:t>подтипы</a:t>
            </a:r>
            <a:r>
              <a:rPr lang="ru-RU" dirty="0"/>
              <a:t>, называется </a:t>
            </a:r>
            <a:r>
              <a:rPr lang="ru-RU" b="1" i="1" dirty="0" err="1"/>
              <a:t>супертипом</a:t>
            </a:r>
            <a:r>
              <a:rPr lang="ru-RU" dirty="0"/>
              <a: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115</a:t>
            </a:fld>
            <a:endParaRPr lang="ru-RU"/>
          </a:p>
        </p:txBody>
      </p:sp>
    </p:spTree>
    <p:extLst>
      <p:ext uri="{BB962C8B-B14F-4D97-AF65-F5344CB8AC3E}">
        <p14:creationId xmlns:p14="http://schemas.microsoft.com/office/powerpoint/2010/main" xmlns="" val="28311715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b="1" dirty="0"/>
              <a:t>Уточняемые степени связи</a:t>
            </a:r>
            <a:r>
              <a:rPr lang="ru-RU" dirty="0"/>
              <a:t>. </a:t>
            </a:r>
            <a:endParaRPr lang="ru-RU" dirty="0" smtClean="0"/>
          </a:p>
          <a:p>
            <a:r>
              <a:rPr lang="ru-RU" dirty="0" smtClean="0"/>
              <a:t>Для </a:t>
            </a:r>
            <a:r>
              <a:rPr lang="ru-RU" dirty="0"/>
              <a:t>выражения этого семантического ограничения разрешается указывать на </a:t>
            </a:r>
            <a:r>
              <a:rPr lang="ru-RU" i="1" dirty="0"/>
              <a:t>конце связи</a:t>
            </a:r>
            <a:r>
              <a:rPr lang="ru-RU" dirty="0"/>
              <a:t> ее максимально допустимую или обязательную степень.</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116</a:t>
            </a:fld>
            <a:endParaRPr lang="ru-RU"/>
          </a:p>
        </p:txBody>
      </p:sp>
    </p:spTree>
    <p:extLst>
      <p:ext uri="{BB962C8B-B14F-4D97-AF65-F5344CB8AC3E}">
        <p14:creationId xmlns:p14="http://schemas.microsoft.com/office/powerpoint/2010/main" xmlns="" val="25045329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b="1" dirty="0"/>
              <a:t>Взаимно исключающие связи</a:t>
            </a:r>
            <a:r>
              <a:rPr lang="ru-RU" dirty="0"/>
              <a:t>. Для заданного </a:t>
            </a:r>
            <a:r>
              <a:rPr lang="ru-RU" i="1" dirty="0"/>
              <a:t>типа сущности</a:t>
            </a:r>
            <a:r>
              <a:rPr lang="ru-RU" dirty="0"/>
              <a:t> можно определить такой набор </a:t>
            </a:r>
            <a:r>
              <a:rPr lang="ru-RU" i="1" dirty="0"/>
              <a:t>типов связи</a:t>
            </a:r>
            <a:r>
              <a:rPr lang="ru-RU" dirty="0"/>
              <a:t> с другими </a:t>
            </a:r>
            <a:r>
              <a:rPr lang="ru-RU" i="1" dirty="0"/>
              <a:t>типами сущности</a:t>
            </a:r>
            <a:r>
              <a:rPr lang="ru-RU" dirty="0"/>
              <a:t>, что для каждого </a:t>
            </a:r>
            <a:r>
              <a:rPr lang="ru-RU" i="1" dirty="0"/>
              <a:t>экземпляра</a:t>
            </a:r>
            <a:r>
              <a:rPr lang="ru-RU" dirty="0"/>
              <a:t> заданного </a:t>
            </a:r>
            <a:r>
              <a:rPr lang="ru-RU" i="1" dirty="0"/>
              <a:t>типа сущности</a:t>
            </a:r>
            <a:r>
              <a:rPr lang="ru-RU" dirty="0"/>
              <a:t> может (если набор </a:t>
            </a:r>
            <a:r>
              <a:rPr lang="ru-RU" i="1" dirty="0"/>
              <a:t>связей</a:t>
            </a:r>
            <a:r>
              <a:rPr lang="ru-RU" dirty="0"/>
              <a:t> является необязательным) или должен (если набор </a:t>
            </a:r>
            <a:r>
              <a:rPr lang="ru-RU" i="1" dirty="0"/>
              <a:t>связей</a:t>
            </a:r>
            <a:r>
              <a:rPr lang="ru-RU" dirty="0"/>
              <a:t> обязателен) существовать экземпляр только одной </a:t>
            </a:r>
            <a:r>
              <a:rPr lang="ru-RU" i="1" dirty="0"/>
              <a:t>связи</a:t>
            </a:r>
            <a:r>
              <a:rPr lang="ru-RU" dirty="0"/>
              <a:t> из этого набора.</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117</a:t>
            </a:fld>
            <a:endParaRPr lang="ru-RU"/>
          </a:p>
        </p:txBody>
      </p:sp>
    </p:spTree>
    <p:extLst>
      <p:ext uri="{BB962C8B-B14F-4D97-AF65-F5344CB8AC3E}">
        <p14:creationId xmlns:p14="http://schemas.microsoft.com/office/powerpoint/2010/main" xmlns="" val="10707039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Получение реляционной схемы из ER-диаграммы</a:t>
            </a:r>
            <a:br>
              <a:rPr lang="ru-RU" b="1" dirty="0"/>
            </a:br>
            <a:endParaRPr lang="ru-RU" dirty="0"/>
          </a:p>
        </p:txBody>
      </p:sp>
      <p:sp>
        <p:nvSpPr>
          <p:cNvPr id="3" name="Объект 2"/>
          <p:cNvSpPr>
            <a:spLocks noGrp="1"/>
          </p:cNvSpPr>
          <p:nvPr>
            <p:ph idx="1"/>
          </p:nvPr>
        </p:nvSpPr>
        <p:spPr/>
        <p:txBody>
          <a:bodyPr>
            <a:normAutofit lnSpcReduction="10000"/>
          </a:bodyPr>
          <a:lstStyle/>
          <a:p>
            <a:r>
              <a:rPr lang="en-US" dirty="0" smtClean="0"/>
              <a:t>1).</a:t>
            </a:r>
            <a:r>
              <a:rPr lang="ru-RU" dirty="0"/>
              <a:t> Каждый простой </a:t>
            </a:r>
            <a:r>
              <a:rPr lang="ru-RU" i="1" dirty="0"/>
              <a:t>тип сущности</a:t>
            </a:r>
            <a:r>
              <a:rPr lang="ru-RU" dirty="0"/>
              <a:t> превращается в таблицу. (Простым </a:t>
            </a:r>
            <a:r>
              <a:rPr lang="ru-RU" i="1" dirty="0"/>
              <a:t>типом сущности</a:t>
            </a:r>
            <a:r>
              <a:rPr lang="ru-RU" dirty="0"/>
              <a:t> называется </a:t>
            </a:r>
            <a:r>
              <a:rPr lang="ru-RU" i="1" dirty="0"/>
              <a:t>тип сущности</a:t>
            </a:r>
            <a:r>
              <a:rPr lang="ru-RU" dirty="0"/>
              <a:t>, не являющийся </a:t>
            </a:r>
            <a:r>
              <a:rPr lang="ru-RU" i="1" dirty="0"/>
              <a:t>подтипом</a:t>
            </a:r>
            <a:r>
              <a:rPr lang="ru-RU" dirty="0"/>
              <a:t> и не имеющий </a:t>
            </a:r>
            <a:r>
              <a:rPr lang="ru-RU" i="1" dirty="0"/>
              <a:t>подтипов</a:t>
            </a:r>
            <a:r>
              <a:rPr lang="ru-RU" dirty="0"/>
              <a:t>.) Имя </a:t>
            </a:r>
            <a:r>
              <a:rPr lang="ru-RU" i="1" dirty="0"/>
              <a:t>сущности</a:t>
            </a:r>
            <a:r>
              <a:rPr lang="ru-RU" dirty="0"/>
              <a:t> становится именем таблицы. </a:t>
            </a:r>
            <a:r>
              <a:rPr lang="ru-RU" i="1" dirty="0"/>
              <a:t>Экземплярам типа </a:t>
            </a:r>
            <a:r>
              <a:rPr lang="ru-RU" i="1" dirty="0" smtClean="0"/>
              <a:t>сущности</a:t>
            </a:r>
            <a:r>
              <a:rPr lang="ru-RU" dirty="0"/>
              <a:t> соответствуют </a:t>
            </a:r>
            <a:r>
              <a:rPr lang="ru-RU" b="1" dirty="0"/>
              <a:t>строки</a:t>
            </a:r>
            <a:r>
              <a:rPr lang="ru-RU" dirty="0"/>
              <a:t> соответствующей таблицы</a:t>
            </a:r>
            <a:r>
              <a:rPr lang="ru-RU" dirty="0" smtClean="0"/>
              <a:t>.</a:t>
            </a:r>
            <a:endParaRPr lang="en-US" dirty="0" smtClean="0"/>
          </a:p>
          <a:p>
            <a:r>
              <a:rPr lang="en-US" dirty="0" smtClean="0"/>
              <a:t>2).</a:t>
            </a:r>
            <a:r>
              <a:rPr lang="ru-RU" dirty="0"/>
              <a:t> Каждый </a:t>
            </a:r>
            <a:r>
              <a:rPr lang="ru-RU" i="1" dirty="0"/>
              <a:t>атрибут</a:t>
            </a:r>
            <a:r>
              <a:rPr lang="ru-RU" dirty="0"/>
              <a:t> становится столбцом таблицы с тем же именем; может выбираться более точный формат представления данных. Столбцы, соответствующие необязательным </a:t>
            </a:r>
            <a:r>
              <a:rPr lang="ru-RU" i="1" dirty="0"/>
              <a:t>атрибутам</a:t>
            </a:r>
            <a:r>
              <a:rPr lang="ru-RU" dirty="0"/>
              <a:t>, могут содержать неопределенные значения; столбцы, соответствующие обязательным </a:t>
            </a:r>
            <a:r>
              <a:rPr lang="ru-RU" i="1" dirty="0"/>
              <a:t>атрибутам</a:t>
            </a:r>
            <a:r>
              <a:rPr lang="ru-RU" dirty="0"/>
              <a:t>, – не могут.</a:t>
            </a:r>
          </a:p>
        </p:txBody>
      </p:sp>
      <p:sp>
        <p:nvSpPr>
          <p:cNvPr id="4" name="Номер слайда 3"/>
          <p:cNvSpPr>
            <a:spLocks noGrp="1"/>
          </p:cNvSpPr>
          <p:nvPr>
            <p:ph type="sldNum" sz="quarter" idx="12"/>
          </p:nvPr>
        </p:nvSpPr>
        <p:spPr/>
        <p:txBody>
          <a:bodyPr/>
          <a:lstStyle/>
          <a:p>
            <a:fld id="{590C5F67-5E4C-4ABB-99F4-36BCAC8BE885}" type="slidenum">
              <a:rPr lang="ru-RU" smtClean="0"/>
              <a:pPr/>
              <a:t>118</a:t>
            </a:fld>
            <a:endParaRPr lang="ru-RU"/>
          </a:p>
        </p:txBody>
      </p:sp>
    </p:spTree>
    <p:extLst>
      <p:ext uri="{BB962C8B-B14F-4D97-AF65-F5344CB8AC3E}">
        <p14:creationId xmlns:p14="http://schemas.microsoft.com/office/powerpoint/2010/main" xmlns="" val="9640527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434975"/>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571500"/>
            <a:ext cx="10515600" cy="5605463"/>
          </a:xfrm>
        </p:spPr>
        <p:txBody>
          <a:bodyPr>
            <a:normAutofit fontScale="92500" lnSpcReduction="10000"/>
          </a:bodyPr>
          <a:lstStyle/>
          <a:p>
            <a:r>
              <a:rPr lang="en-US" dirty="0" smtClean="0"/>
              <a:t>3).</a:t>
            </a:r>
            <a:r>
              <a:rPr lang="ru-RU" dirty="0"/>
              <a:t> Компоненты </a:t>
            </a:r>
            <a:r>
              <a:rPr lang="ru-RU" i="1" dirty="0"/>
              <a:t>уникального идентификатора сущности</a:t>
            </a:r>
            <a:r>
              <a:rPr lang="ru-RU" dirty="0"/>
              <a:t> превращаются в </a:t>
            </a:r>
            <a:r>
              <a:rPr lang="ru-RU" b="1" dirty="0"/>
              <a:t>первичный ключ таблицы</a:t>
            </a:r>
            <a:r>
              <a:rPr lang="ru-RU" dirty="0"/>
              <a:t>. Если имеется несколько </a:t>
            </a:r>
            <a:r>
              <a:rPr lang="ru-RU" dirty="0" smtClean="0"/>
              <a:t>возможных</a:t>
            </a:r>
            <a:r>
              <a:rPr lang="en-US" dirty="0" smtClean="0"/>
              <a:t> </a:t>
            </a:r>
            <a:r>
              <a:rPr lang="ru-RU" i="1" dirty="0" smtClean="0"/>
              <a:t>уникальных </a:t>
            </a:r>
            <a:r>
              <a:rPr lang="ru-RU" i="1" dirty="0"/>
              <a:t>идентификаторов</a:t>
            </a:r>
            <a:r>
              <a:rPr lang="ru-RU" dirty="0"/>
              <a:t>, для </a:t>
            </a:r>
            <a:r>
              <a:rPr lang="ru-RU" dirty="0" smtClean="0"/>
              <a:t>первичного </a:t>
            </a:r>
            <a:r>
              <a:rPr lang="ru-RU" dirty="0"/>
              <a:t>ключа выбирается наиболее </a:t>
            </a:r>
            <a:r>
              <a:rPr lang="ru-RU" dirty="0" smtClean="0"/>
              <a:t>характерный</a:t>
            </a:r>
            <a:endParaRPr lang="en-US" dirty="0" smtClean="0"/>
          </a:p>
          <a:p>
            <a:r>
              <a:rPr lang="en-US" dirty="0" smtClean="0"/>
              <a:t>4).</a:t>
            </a:r>
            <a:r>
              <a:rPr lang="ru-RU" i="1" dirty="0"/>
              <a:t> Связи</a:t>
            </a:r>
            <a:r>
              <a:rPr lang="ru-RU" dirty="0"/>
              <a:t> "многие к одному" (и "один к одному") становятся внешними ключами, т. е. образуется копия </a:t>
            </a:r>
            <a:r>
              <a:rPr lang="ru-RU" i="1" dirty="0"/>
              <a:t>уникального идентификатора сущности</a:t>
            </a:r>
            <a:r>
              <a:rPr lang="ru-RU" dirty="0"/>
              <a:t> на </a:t>
            </a:r>
            <a:r>
              <a:rPr lang="ru-RU" i="1" dirty="0"/>
              <a:t>конце связи</a:t>
            </a:r>
            <a:r>
              <a:rPr lang="ru-RU" dirty="0"/>
              <a:t> "один", и соответствующие столбцы составляют внешний ключ таблицы, соответствующей </a:t>
            </a:r>
            <a:r>
              <a:rPr lang="ru-RU" i="1" dirty="0"/>
              <a:t>типу сущности</a:t>
            </a:r>
            <a:r>
              <a:rPr lang="ru-RU" dirty="0"/>
              <a:t> </a:t>
            </a:r>
            <a:r>
              <a:rPr lang="ru-RU" dirty="0" smtClean="0"/>
              <a:t>на</a:t>
            </a:r>
            <a:r>
              <a:rPr lang="en-US" dirty="0" smtClean="0"/>
              <a:t> </a:t>
            </a:r>
            <a:r>
              <a:rPr lang="ru-RU" i="1" dirty="0" smtClean="0"/>
              <a:t>конце </a:t>
            </a:r>
            <a:r>
              <a:rPr lang="ru-RU" i="1" dirty="0"/>
              <a:t>связи</a:t>
            </a:r>
            <a:r>
              <a:rPr lang="ru-RU" dirty="0"/>
              <a:t> "многие". Необязательные </a:t>
            </a:r>
            <a:r>
              <a:rPr lang="ru-RU" i="1" dirty="0"/>
              <a:t>связи</a:t>
            </a:r>
            <a:r>
              <a:rPr lang="ru-RU" dirty="0"/>
              <a:t> соответствуют столбцам внешнего ключа, допускающим наличие неопределенных значений; обязательные </a:t>
            </a:r>
            <a:r>
              <a:rPr lang="ru-RU" i="1" dirty="0"/>
              <a:t>связи</a:t>
            </a:r>
            <a:r>
              <a:rPr lang="ru-RU" dirty="0"/>
              <a:t> – столбцам, не допускающим неопределенных значений</a:t>
            </a:r>
            <a:r>
              <a:rPr lang="ru-RU" dirty="0" smtClean="0"/>
              <a:t>.</a:t>
            </a:r>
            <a:r>
              <a:rPr lang="ru-RU" dirty="0"/>
              <a:t> Если между двумя </a:t>
            </a:r>
            <a:r>
              <a:rPr lang="ru-RU" i="1" dirty="0"/>
              <a:t>типами сущности</a:t>
            </a:r>
            <a:r>
              <a:rPr lang="ru-RU" dirty="0"/>
              <a:t>   A и </a:t>
            </a:r>
            <a:r>
              <a:rPr lang="ru-RU" dirty="0" smtClean="0"/>
              <a:t>B</a:t>
            </a:r>
            <a:r>
              <a:rPr lang="en-US" dirty="0" smtClean="0"/>
              <a:t> </a:t>
            </a:r>
            <a:r>
              <a:rPr lang="ru-RU" dirty="0" smtClean="0"/>
              <a:t>имеется</a:t>
            </a:r>
            <a:r>
              <a:rPr lang="ru-RU" dirty="0"/>
              <a:t> </a:t>
            </a:r>
            <a:r>
              <a:rPr lang="ru-RU" i="1" dirty="0"/>
              <a:t>связь</a:t>
            </a:r>
            <a:r>
              <a:rPr lang="ru-RU" dirty="0"/>
              <a:t> "один к одному", то соответствующий внешний ключ по желанию проектировщика может быть объявлен как в </a:t>
            </a:r>
            <a:r>
              <a:rPr lang="ru-RU" dirty="0" smtClean="0"/>
              <a:t>таблице</a:t>
            </a:r>
            <a:r>
              <a:rPr lang="en-US" dirty="0" smtClean="0"/>
              <a:t> </a:t>
            </a:r>
            <a:r>
              <a:rPr lang="ru-RU" dirty="0" smtClean="0"/>
              <a:t>A</a:t>
            </a:r>
            <a:r>
              <a:rPr lang="ru-RU" dirty="0"/>
              <a:t>, так и в таблице B.</a:t>
            </a:r>
          </a:p>
        </p:txBody>
      </p:sp>
      <p:sp>
        <p:nvSpPr>
          <p:cNvPr id="4" name="Номер слайда 3"/>
          <p:cNvSpPr>
            <a:spLocks noGrp="1"/>
          </p:cNvSpPr>
          <p:nvPr>
            <p:ph type="sldNum" sz="quarter" idx="12"/>
          </p:nvPr>
        </p:nvSpPr>
        <p:spPr/>
        <p:txBody>
          <a:bodyPr/>
          <a:lstStyle/>
          <a:p>
            <a:fld id="{590C5F67-5E4C-4ABB-99F4-36BCAC8BE885}" type="slidenum">
              <a:rPr lang="ru-RU" smtClean="0"/>
              <a:pPr/>
              <a:t>119</a:t>
            </a:fld>
            <a:endParaRPr lang="ru-RU"/>
          </a:p>
        </p:txBody>
      </p:sp>
    </p:spTree>
    <p:extLst>
      <p:ext uri="{BB962C8B-B14F-4D97-AF65-F5344CB8AC3E}">
        <p14:creationId xmlns:p14="http://schemas.microsoft.com/office/powerpoint/2010/main" xmlns="" val="24359090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en-US" dirty="0" smtClean="0"/>
              <a:t>5).</a:t>
            </a:r>
            <a:r>
              <a:rPr lang="ru-RU" dirty="0"/>
              <a:t> Для поддержки </a:t>
            </a:r>
            <a:r>
              <a:rPr lang="ru-RU" i="1" dirty="0"/>
              <a:t>связи</a:t>
            </a:r>
            <a:r>
              <a:rPr lang="ru-RU" dirty="0"/>
              <a:t> "многие ко многим" между </a:t>
            </a:r>
            <a:r>
              <a:rPr lang="ru-RU" i="1" dirty="0"/>
              <a:t>типами сущности</a:t>
            </a:r>
            <a:r>
              <a:rPr lang="ru-RU" dirty="0"/>
              <a:t>   A и B создается дополнительная таблица AB с двумя столбцами, один из которых содержит </a:t>
            </a:r>
            <a:r>
              <a:rPr lang="ru-RU" i="1" dirty="0"/>
              <a:t>уникальные идентификаторы</a:t>
            </a:r>
            <a:r>
              <a:rPr lang="ru-RU" dirty="0"/>
              <a:t>   </a:t>
            </a:r>
            <a:r>
              <a:rPr lang="ru-RU" i="1" dirty="0"/>
              <a:t>экземпляров сущности</a:t>
            </a:r>
            <a:r>
              <a:rPr lang="ru-RU" dirty="0"/>
              <a:t>   A, а другой – </a:t>
            </a:r>
            <a:r>
              <a:rPr lang="ru-RU" i="1" dirty="0"/>
              <a:t>уникальные идентификаторы</a:t>
            </a:r>
            <a:r>
              <a:rPr lang="ru-RU" dirty="0"/>
              <a:t>   </a:t>
            </a:r>
            <a:r>
              <a:rPr lang="ru-RU" i="1" dirty="0"/>
              <a:t>экземпляров сущности</a:t>
            </a:r>
            <a:r>
              <a:rPr lang="ru-RU" dirty="0"/>
              <a:t>   B.</a:t>
            </a:r>
          </a:p>
        </p:txBody>
      </p:sp>
      <p:sp>
        <p:nvSpPr>
          <p:cNvPr id="4" name="Номер слайда 3"/>
          <p:cNvSpPr>
            <a:spLocks noGrp="1"/>
          </p:cNvSpPr>
          <p:nvPr>
            <p:ph type="sldNum" sz="quarter" idx="12"/>
          </p:nvPr>
        </p:nvSpPr>
        <p:spPr/>
        <p:txBody>
          <a:bodyPr/>
          <a:lstStyle/>
          <a:p>
            <a:fld id="{590C5F67-5E4C-4ABB-99F4-36BCAC8BE885}" type="slidenum">
              <a:rPr lang="ru-RU" smtClean="0"/>
              <a:pPr/>
              <a:t>120</a:t>
            </a:fld>
            <a:endParaRPr lang="ru-RU"/>
          </a:p>
        </p:txBody>
      </p:sp>
    </p:spTree>
    <p:extLst>
      <p:ext uri="{BB962C8B-B14F-4D97-AF65-F5344CB8AC3E}">
        <p14:creationId xmlns:p14="http://schemas.microsoft.com/office/powerpoint/2010/main" xmlns="" val="159408600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1005840"/>
            <a:ext cx="10515600" cy="5171123"/>
          </a:xfrm>
        </p:spPr>
        <p:txBody>
          <a:bodyPr/>
          <a:lstStyle/>
          <a:p>
            <a:r>
              <a:rPr lang="en-US" dirty="0" smtClean="0"/>
              <a:t>6).</a:t>
            </a:r>
            <a:r>
              <a:rPr lang="ru-RU" dirty="0"/>
              <a:t> Если в </a:t>
            </a:r>
            <a:r>
              <a:rPr lang="ru-RU" i="1" dirty="0"/>
              <a:t>концептуальной схеме</a:t>
            </a:r>
            <a:r>
              <a:rPr lang="ru-RU" dirty="0"/>
              <a:t> (ER-диаграмме) присутствуют </a:t>
            </a:r>
            <a:r>
              <a:rPr lang="ru-RU" i="1" dirty="0"/>
              <a:t>подтипы</a:t>
            </a:r>
            <a:r>
              <a:rPr lang="ru-RU" dirty="0"/>
              <a:t>, то возможны два способа их </a:t>
            </a:r>
            <a:r>
              <a:rPr lang="ru-RU" i="1" dirty="0"/>
              <a:t>представления</a:t>
            </a:r>
            <a:r>
              <a:rPr lang="ru-RU" dirty="0"/>
              <a:t> в реляционной схеме:</a:t>
            </a:r>
          </a:p>
          <a:p>
            <a:r>
              <a:rPr lang="ru-RU" dirty="0"/>
              <a:t>(a) собрать все </a:t>
            </a:r>
            <a:r>
              <a:rPr lang="ru-RU" i="1" dirty="0"/>
              <a:t>подтипы</a:t>
            </a:r>
            <a:r>
              <a:rPr lang="ru-RU" dirty="0"/>
              <a:t> в одной таблице;</a:t>
            </a:r>
          </a:p>
          <a:p>
            <a:r>
              <a:rPr lang="ru-RU" dirty="0"/>
              <a:t>(b) для каждого </a:t>
            </a:r>
            <a:r>
              <a:rPr lang="ru-RU" i="1" dirty="0"/>
              <a:t>подтипа</a:t>
            </a:r>
            <a:r>
              <a:rPr lang="ru-RU" dirty="0"/>
              <a:t> образовать отдельную таблицу.</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121</a:t>
            </a:fld>
            <a:endParaRPr lang="ru-RU"/>
          </a:p>
        </p:txBody>
      </p:sp>
    </p:spTree>
    <p:extLst>
      <p:ext uri="{BB962C8B-B14F-4D97-AF65-F5344CB8AC3E}">
        <p14:creationId xmlns:p14="http://schemas.microsoft.com/office/powerpoint/2010/main" xmlns="" val="15420539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206375"/>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365125"/>
            <a:ext cx="10515600" cy="5811838"/>
          </a:xfrm>
        </p:spPr>
        <p:txBody>
          <a:bodyPr>
            <a:normAutofit fontScale="92500" lnSpcReduction="10000"/>
          </a:bodyPr>
          <a:lstStyle/>
          <a:p>
            <a:r>
              <a:rPr lang="ru-RU" dirty="0"/>
              <a:t>При применении способа (a) таблица создается для максимального </a:t>
            </a:r>
            <a:r>
              <a:rPr lang="ru-RU" i="1" dirty="0" err="1"/>
              <a:t>супертипа</a:t>
            </a:r>
            <a:r>
              <a:rPr lang="ru-RU" dirty="0"/>
              <a:t> ( </a:t>
            </a:r>
            <a:r>
              <a:rPr lang="ru-RU" i="1" dirty="0"/>
              <a:t>типа сущности</a:t>
            </a:r>
            <a:r>
              <a:rPr lang="ru-RU" dirty="0"/>
              <a:t>, не являющегося </a:t>
            </a:r>
            <a:r>
              <a:rPr lang="ru-RU" i="1" dirty="0"/>
              <a:t>подтипом</a:t>
            </a:r>
            <a:r>
              <a:rPr lang="ru-RU" dirty="0"/>
              <a:t> ), а </a:t>
            </a:r>
            <a:r>
              <a:rPr lang="ru-RU" dirty="0" smtClean="0"/>
              <a:t>для</a:t>
            </a:r>
            <a:r>
              <a:rPr lang="en-US" dirty="0" smtClean="0"/>
              <a:t> </a:t>
            </a:r>
            <a:r>
              <a:rPr lang="ru-RU" i="1" dirty="0" smtClean="0"/>
              <a:t>подтипов</a:t>
            </a:r>
            <a:r>
              <a:rPr lang="ru-RU" dirty="0"/>
              <a:t> могут создаваться представления </a:t>
            </a:r>
            <a:r>
              <a:rPr lang="ru-RU" dirty="0" smtClean="0"/>
              <a:t>. </a:t>
            </a:r>
            <a:r>
              <a:rPr lang="ru-RU" dirty="0"/>
              <a:t>Таблица содержит столбцы, соответствующие каждому </a:t>
            </a:r>
            <a:r>
              <a:rPr lang="ru-RU" i="1" dirty="0"/>
              <a:t>атрибуту</a:t>
            </a:r>
            <a:r>
              <a:rPr lang="ru-RU" dirty="0"/>
              <a:t> (</a:t>
            </a:r>
            <a:r>
              <a:rPr lang="ru-RU" dirty="0" smtClean="0"/>
              <a:t>и</a:t>
            </a:r>
            <a:r>
              <a:rPr lang="en-US" dirty="0" smtClean="0"/>
              <a:t> </a:t>
            </a:r>
            <a:r>
              <a:rPr lang="ru-RU" i="1" dirty="0" smtClean="0"/>
              <a:t>связям</a:t>
            </a:r>
            <a:r>
              <a:rPr lang="ru-RU" dirty="0"/>
              <a:t> ) каждого </a:t>
            </a:r>
            <a:r>
              <a:rPr lang="ru-RU" i="1" dirty="0"/>
              <a:t>подтипа</a:t>
            </a:r>
            <a:r>
              <a:rPr lang="ru-RU" dirty="0"/>
              <a:t>. В таблицу добавляется, по крайней мере, один столбец, содержащий код ТИПА; он становится частью первичного ключа. Для каждой строки таблицы значение этого столбца определяет </a:t>
            </a:r>
            <a:r>
              <a:rPr lang="ru-RU" i="1" dirty="0"/>
              <a:t>тип сущности</a:t>
            </a:r>
            <a:r>
              <a:rPr lang="ru-RU" dirty="0"/>
              <a:t>, </a:t>
            </a:r>
            <a:r>
              <a:rPr lang="ru-RU" i="1" dirty="0"/>
              <a:t>экземпляру</a:t>
            </a:r>
            <a:r>
              <a:rPr lang="ru-RU" dirty="0"/>
              <a:t> которого соответствует строка. Столбцы этой строки, которые соответствуют </a:t>
            </a:r>
            <a:r>
              <a:rPr lang="ru-RU" i="1" dirty="0"/>
              <a:t>атрибутам</a:t>
            </a:r>
            <a:r>
              <a:rPr lang="ru-RU" dirty="0"/>
              <a:t> и </a:t>
            </a:r>
            <a:r>
              <a:rPr lang="ru-RU" i="1" dirty="0"/>
              <a:t>связям</a:t>
            </a:r>
            <a:r>
              <a:rPr lang="ru-RU" dirty="0"/>
              <a:t>, отсутствующим в данном </a:t>
            </a:r>
            <a:r>
              <a:rPr lang="ru-RU" i="1" dirty="0"/>
              <a:t>типе сущности</a:t>
            </a:r>
            <a:r>
              <a:rPr lang="ru-RU" dirty="0"/>
              <a:t>, должны содержать неопределенные значения.</a:t>
            </a:r>
          </a:p>
          <a:p>
            <a:r>
              <a:rPr lang="ru-RU" dirty="0"/>
              <a:t>При использовании метода (b) для каждого </a:t>
            </a:r>
            <a:r>
              <a:rPr lang="ru-RU" i="1" dirty="0"/>
              <a:t>подтипа</a:t>
            </a:r>
            <a:r>
              <a:rPr lang="ru-RU" dirty="0"/>
              <a:t> первого уровня (для более глубоких уровней применяется метод (a)) </a:t>
            </a:r>
            <a:r>
              <a:rPr lang="ru-RU" i="1" dirty="0" err="1" smtClean="0"/>
              <a:t>супертип</a:t>
            </a:r>
            <a:r>
              <a:rPr lang="en-US" i="1" dirty="0" smtClean="0"/>
              <a:t> </a:t>
            </a:r>
            <a:r>
              <a:rPr lang="ru-RU" dirty="0" smtClean="0"/>
              <a:t>воссоздается </a:t>
            </a:r>
            <a:r>
              <a:rPr lang="ru-RU" dirty="0"/>
              <a:t>с помощью представления UNION (из всех таблиц </a:t>
            </a:r>
            <a:r>
              <a:rPr lang="ru-RU" i="1" dirty="0"/>
              <a:t>подтипов</a:t>
            </a:r>
            <a:r>
              <a:rPr lang="ru-RU" dirty="0"/>
              <a:t> выбираются общие столбцы – столбцы </a:t>
            </a:r>
            <a:r>
              <a:rPr lang="ru-RU" i="1" dirty="0" err="1"/>
              <a:t>супертипа</a:t>
            </a:r>
            <a:r>
              <a:rPr lang="ru-RU" dirty="0"/>
              <a: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122</a:t>
            </a:fld>
            <a:endParaRPr lang="ru-RU"/>
          </a:p>
        </p:txBody>
      </p:sp>
    </p:spTree>
    <p:extLst>
      <p:ext uri="{BB962C8B-B14F-4D97-AF65-F5344CB8AC3E}">
        <p14:creationId xmlns:p14="http://schemas.microsoft.com/office/powerpoint/2010/main" xmlns="" val="26379882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Представление в реляционной схеме взаимно исключающих связей</a:t>
            </a:r>
            <a:br>
              <a:rPr lang="ru-RU" b="1" dirty="0"/>
            </a:br>
            <a:endParaRPr lang="ru-RU" dirty="0"/>
          </a:p>
        </p:txBody>
      </p:sp>
      <p:sp>
        <p:nvSpPr>
          <p:cNvPr id="3" name="Объект 2"/>
          <p:cNvSpPr>
            <a:spLocks noGrp="1"/>
          </p:cNvSpPr>
          <p:nvPr>
            <p:ph idx="1"/>
          </p:nvPr>
        </p:nvSpPr>
        <p:spPr/>
        <p:txBody>
          <a:bodyPr/>
          <a:lstStyle/>
          <a:p>
            <a:r>
              <a:rPr lang="ru-RU" dirty="0"/>
              <a:t>Существуют два способа формирования схемы реляционной БД при наличии </a:t>
            </a:r>
            <a:r>
              <a:rPr lang="ru-RU" i="1" dirty="0"/>
              <a:t>взаимно исключающих связей</a:t>
            </a:r>
            <a:r>
              <a:rPr lang="ru-RU" dirty="0"/>
              <a:t> </a:t>
            </a:r>
            <a:endParaRPr lang="en-US" dirty="0" smtClean="0"/>
          </a:p>
          <a:p>
            <a:r>
              <a:rPr lang="ru-RU" dirty="0" smtClean="0"/>
              <a:t> (</a:t>
            </a:r>
            <a:r>
              <a:rPr lang="ru-RU" dirty="0"/>
              <a:t>a) общее хранение внешних ключей;</a:t>
            </a:r>
          </a:p>
          <a:p>
            <a:r>
              <a:rPr lang="ru-RU" dirty="0"/>
              <a:t>(b) раздельное хранение внешних ключей.</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123</a:t>
            </a:fld>
            <a:endParaRPr lang="ru-RU"/>
          </a:p>
        </p:txBody>
      </p:sp>
    </p:spTree>
    <p:extLst>
      <p:ext uri="{BB962C8B-B14F-4D97-AF65-F5344CB8AC3E}">
        <p14:creationId xmlns:p14="http://schemas.microsoft.com/office/powerpoint/2010/main" xmlns="" val="41426735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Проектирование реляционных баз данных с использованием семантических моделей: диаграммы классов языка UML</a:t>
            </a:r>
            <a:endParaRPr lang="ru-RU" dirty="0"/>
          </a:p>
        </p:txBody>
      </p:sp>
      <p:sp>
        <p:nvSpPr>
          <p:cNvPr id="3" name="Объект 2"/>
          <p:cNvSpPr>
            <a:spLocks noGrp="1"/>
          </p:cNvSpPr>
          <p:nvPr>
            <p:ph idx="1"/>
          </p:nvPr>
        </p:nvSpPr>
        <p:spPr/>
        <p:txBody>
          <a:bodyPr/>
          <a:lstStyle/>
          <a:p>
            <a:r>
              <a:rPr lang="ru-RU" b="1" i="1" dirty="0"/>
              <a:t>Диаграммой классов</a:t>
            </a:r>
            <a:r>
              <a:rPr lang="ru-RU" dirty="0"/>
              <a:t> в терминологии </a:t>
            </a:r>
            <a:r>
              <a:rPr lang="ru-RU" i="1" dirty="0"/>
              <a:t>UML</a:t>
            </a:r>
            <a:r>
              <a:rPr lang="ru-RU" dirty="0"/>
              <a:t> называется диаграмма, на которой показан набор </a:t>
            </a:r>
            <a:r>
              <a:rPr lang="ru-RU" i="1" dirty="0"/>
              <a:t>классов</a:t>
            </a:r>
            <a:r>
              <a:rPr lang="ru-RU" dirty="0"/>
              <a:t> (и некоторых других сущностей </a:t>
            </a:r>
            <a:r>
              <a:rPr lang="ru-RU" dirty="0" smtClean="0"/>
              <a:t>, </a:t>
            </a:r>
            <a:r>
              <a:rPr lang="ru-RU" dirty="0"/>
              <a:t>не имеющих явного отношения к проектированию БД), а также связей между этими </a:t>
            </a:r>
            <a:r>
              <a:rPr lang="ru-RU" i="1" dirty="0"/>
              <a:t>классами</a:t>
            </a:r>
            <a:r>
              <a:rPr lang="ru-RU" dirty="0"/>
              <a:t>.  Кроме того, </a:t>
            </a:r>
            <a:r>
              <a:rPr lang="ru-RU" i="1" dirty="0"/>
              <a:t>диаграмма классов</a:t>
            </a:r>
            <a:r>
              <a:rPr lang="ru-RU" dirty="0"/>
              <a:t> может включать комментарии и ограничения. Ограничения могут неформально задаваться на естественном языке или же могут формулироваться на </a:t>
            </a:r>
            <a:r>
              <a:rPr lang="ru-RU" i="1" dirty="0"/>
              <a:t>языке объектных ограничений OCL (</a:t>
            </a:r>
            <a:r>
              <a:rPr lang="ru-RU" i="1" dirty="0" err="1"/>
              <a:t>Object</a:t>
            </a:r>
            <a:r>
              <a:rPr lang="ru-RU" i="1" dirty="0"/>
              <a:t> </a:t>
            </a:r>
            <a:r>
              <a:rPr lang="ru-RU" i="1" dirty="0" err="1"/>
              <a:t>Constraints</a:t>
            </a:r>
            <a:r>
              <a:rPr lang="ru-RU" i="1" dirty="0"/>
              <a:t> </a:t>
            </a:r>
            <a:r>
              <a:rPr lang="ru-RU" i="1" dirty="0" err="1"/>
              <a:t>Language</a:t>
            </a:r>
            <a:r>
              <a:rPr lang="ru-RU" i="1" dirty="0"/>
              <a:t>)</a:t>
            </a:r>
            <a:r>
              <a:rPr lang="ru-RU" dirty="0"/>
              <a:t>.  </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124</a:t>
            </a:fld>
            <a:endParaRPr lang="ru-RU"/>
          </a:p>
        </p:txBody>
      </p:sp>
    </p:spTree>
    <p:extLst>
      <p:ext uri="{BB962C8B-B14F-4D97-AF65-F5344CB8AC3E}">
        <p14:creationId xmlns:p14="http://schemas.microsoft.com/office/powerpoint/2010/main" xmlns="" val="25220270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Классы, атрибуты, операции</a:t>
            </a:r>
            <a:br>
              <a:rPr lang="ru-RU" b="1" dirty="0"/>
            </a:br>
            <a:endParaRPr lang="ru-RU" dirty="0"/>
          </a:p>
        </p:txBody>
      </p:sp>
      <p:sp>
        <p:nvSpPr>
          <p:cNvPr id="3" name="Объект 2"/>
          <p:cNvSpPr>
            <a:spLocks noGrp="1"/>
          </p:cNvSpPr>
          <p:nvPr>
            <p:ph idx="1"/>
          </p:nvPr>
        </p:nvSpPr>
        <p:spPr/>
        <p:txBody>
          <a:bodyPr/>
          <a:lstStyle/>
          <a:p>
            <a:r>
              <a:rPr lang="ru-RU" b="1" i="1" dirty="0"/>
              <a:t>Классом</a:t>
            </a:r>
            <a:r>
              <a:rPr lang="ru-RU" dirty="0"/>
              <a:t> называется именованное описание совокупности объектов с общими </a:t>
            </a:r>
            <a:r>
              <a:rPr lang="ru-RU" i="1" dirty="0"/>
              <a:t>атрибутами</a:t>
            </a:r>
            <a:r>
              <a:rPr lang="ru-RU" dirty="0"/>
              <a:t>, </a:t>
            </a:r>
            <a:r>
              <a:rPr lang="ru-RU" i="1" dirty="0"/>
              <a:t>операциями</a:t>
            </a:r>
            <a:r>
              <a:rPr lang="ru-RU" dirty="0"/>
              <a:t>, связями и семантикой. </a:t>
            </a:r>
            <a:endParaRPr lang="en-US" dirty="0" smtClean="0"/>
          </a:p>
          <a:p>
            <a:pPr marL="0" indent="0">
              <a:buNone/>
            </a:pPr>
            <a:r>
              <a:rPr lang="ru-RU" dirty="0"/>
              <a:t>Графически </a:t>
            </a:r>
            <a:r>
              <a:rPr lang="ru-RU" i="1" dirty="0"/>
              <a:t>класс</a:t>
            </a:r>
            <a:r>
              <a:rPr lang="ru-RU" dirty="0"/>
              <a:t> изображается в виде прямоугольника.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125</a:t>
            </a:fld>
            <a:endParaRPr lang="ru-RU"/>
          </a:p>
        </p:txBody>
      </p:sp>
    </p:spTree>
    <p:extLst>
      <p:ext uri="{BB962C8B-B14F-4D97-AF65-F5344CB8AC3E}">
        <p14:creationId xmlns:p14="http://schemas.microsoft.com/office/powerpoint/2010/main" xmlns="" val="20788602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1026" name="Picture 2" descr="Примеры описания класс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8200" y="2400300"/>
            <a:ext cx="10361911" cy="1682909"/>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126</a:t>
            </a:fld>
            <a:endParaRPr lang="ru-RU"/>
          </a:p>
        </p:txBody>
      </p:sp>
    </p:spTree>
    <p:extLst>
      <p:ext uri="{BB962C8B-B14F-4D97-AF65-F5344CB8AC3E}">
        <p14:creationId xmlns:p14="http://schemas.microsoft.com/office/powerpoint/2010/main" xmlns="" val="207783047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940"/>
            <a:ext cx="10515600" cy="5514023"/>
          </a:xfrm>
        </p:spPr>
        <p:txBody>
          <a:bodyPr/>
          <a:lstStyle/>
          <a:p>
            <a:r>
              <a:rPr lang="ru-RU" b="1" i="1" dirty="0"/>
              <a:t>Атрибутом класса</a:t>
            </a:r>
            <a:r>
              <a:rPr lang="ru-RU" dirty="0"/>
              <a:t> называется именованное </a:t>
            </a:r>
            <a:r>
              <a:rPr lang="ru-RU" i="1" dirty="0"/>
              <a:t>свойство класса</a:t>
            </a:r>
            <a:r>
              <a:rPr lang="ru-RU" dirty="0"/>
              <a:t>, описывающее множество значений, которые могут принимать экземпляры этого </a:t>
            </a:r>
            <a:r>
              <a:rPr lang="ru-RU" i="1" dirty="0"/>
              <a:t>свойства</a:t>
            </a:r>
            <a:r>
              <a:rPr lang="ru-RU" dirty="0"/>
              <a:t>. </a:t>
            </a:r>
            <a:r>
              <a:rPr lang="ru-RU" i="1" dirty="0"/>
              <a:t>Класс</a:t>
            </a:r>
            <a:r>
              <a:rPr lang="ru-RU" dirty="0"/>
              <a:t> может иметь любое число </a:t>
            </a:r>
            <a:r>
              <a:rPr lang="ru-RU" i="1" dirty="0"/>
              <a:t>атрибутов</a:t>
            </a:r>
            <a:r>
              <a:rPr lang="ru-RU" dirty="0"/>
              <a:t> (в частности, не иметь ни одного </a:t>
            </a:r>
            <a:r>
              <a:rPr lang="ru-RU" i="1" dirty="0"/>
              <a:t>атрибута</a:t>
            </a:r>
            <a:r>
              <a:rPr lang="ru-RU" dirty="0"/>
              <a:t> ). </a:t>
            </a:r>
            <a:r>
              <a:rPr lang="ru-RU" i="1" dirty="0"/>
              <a:t>Свойство</a:t>
            </a:r>
            <a:r>
              <a:rPr lang="ru-RU" dirty="0"/>
              <a:t>, </a:t>
            </a:r>
            <a:r>
              <a:rPr lang="ru-RU" dirty="0" smtClean="0"/>
              <a:t>выражаемое </a:t>
            </a:r>
            <a:r>
              <a:rPr lang="ru-RU" i="1" dirty="0" smtClean="0"/>
              <a:t>атрибутом</a:t>
            </a:r>
            <a:r>
              <a:rPr lang="ru-RU" dirty="0"/>
              <a:t>, является свойством моделируемой сущности, общим для всех объектов данного </a:t>
            </a:r>
            <a:r>
              <a:rPr lang="ru-RU" i="1" dirty="0"/>
              <a:t>класса</a:t>
            </a:r>
            <a:r>
              <a:rPr lang="ru-RU" dirty="0"/>
              <a:t>. Так что </a:t>
            </a:r>
            <a:r>
              <a:rPr lang="ru-RU" i="1" dirty="0"/>
              <a:t>атрибут</a:t>
            </a:r>
            <a:r>
              <a:rPr lang="ru-RU" dirty="0"/>
              <a:t> является абстракцией состояния объекта. Любой </a:t>
            </a:r>
            <a:r>
              <a:rPr lang="ru-RU" i="1" dirty="0"/>
              <a:t>атрибут</a:t>
            </a:r>
            <a:r>
              <a:rPr lang="ru-RU" dirty="0"/>
              <a:t> любого объекта </a:t>
            </a:r>
            <a:r>
              <a:rPr lang="ru-RU" i="1" dirty="0"/>
              <a:t>класса</a:t>
            </a:r>
            <a:r>
              <a:rPr lang="ru-RU" dirty="0"/>
              <a:t> должен иметь некоторое значение.</a:t>
            </a:r>
          </a:p>
        </p:txBody>
      </p:sp>
      <p:sp>
        <p:nvSpPr>
          <p:cNvPr id="4" name="Номер слайда 3"/>
          <p:cNvSpPr>
            <a:spLocks noGrp="1"/>
          </p:cNvSpPr>
          <p:nvPr>
            <p:ph type="sldNum" sz="quarter" idx="12"/>
          </p:nvPr>
        </p:nvSpPr>
        <p:spPr/>
        <p:txBody>
          <a:bodyPr/>
          <a:lstStyle/>
          <a:p>
            <a:fld id="{590C5F67-5E4C-4ABB-99F4-36BCAC8BE885}" type="slidenum">
              <a:rPr lang="ru-RU" smtClean="0"/>
              <a:pPr/>
              <a:t>127</a:t>
            </a:fld>
            <a:endParaRPr lang="ru-RU"/>
          </a:p>
        </p:txBody>
      </p:sp>
    </p:spTree>
    <p:extLst>
      <p:ext uri="{BB962C8B-B14F-4D97-AF65-F5344CB8AC3E}">
        <p14:creationId xmlns:p14="http://schemas.microsoft.com/office/powerpoint/2010/main" xmlns="" val="37829194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2050" name="Picture 2" descr="Класс Человек с указанными именами атрибут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78278" y="1690688"/>
            <a:ext cx="5477140" cy="4010819"/>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128</a:t>
            </a:fld>
            <a:endParaRPr lang="ru-RU"/>
          </a:p>
        </p:txBody>
      </p:sp>
    </p:spTree>
    <p:extLst>
      <p:ext uri="{BB962C8B-B14F-4D97-AF65-F5344CB8AC3E}">
        <p14:creationId xmlns:p14="http://schemas.microsoft.com/office/powerpoint/2010/main" xmlns="" val="192392937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b="1" i="1" dirty="0"/>
              <a:t>Операцией класса</a:t>
            </a:r>
            <a:r>
              <a:rPr lang="ru-RU" dirty="0"/>
              <a:t> называется именованная услуга, которую можно запросить у любого объекта этого </a:t>
            </a:r>
            <a:r>
              <a:rPr lang="ru-RU" i="1" dirty="0"/>
              <a:t>класса</a:t>
            </a:r>
            <a:r>
              <a:rPr lang="ru-RU" dirty="0"/>
              <a:t>. </a:t>
            </a:r>
            <a:r>
              <a:rPr lang="ru-RU" i="1" dirty="0"/>
              <a:t>Операция</a:t>
            </a:r>
            <a:r>
              <a:rPr lang="ru-RU" dirty="0"/>
              <a:t> – это абстракция того, что можно делать с объектом. </a:t>
            </a:r>
            <a:r>
              <a:rPr lang="ru-RU" i="1" dirty="0"/>
              <a:t>Класс</a:t>
            </a:r>
            <a:r>
              <a:rPr lang="ru-RU" dirty="0"/>
              <a:t> может содержать любое число </a:t>
            </a:r>
            <a:r>
              <a:rPr lang="ru-RU" i="1" dirty="0"/>
              <a:t>операций</a:t>
            </a:r>
            <a:r>
              <a:rPr lang="ru-RU" dirty="0"/>
              <a:t> (в частности, не содержать ни </a:t>
            </a:r>
            <a:r>
              <a:rPr lang="ru-RU" dirty="0" smtClean="0"/>
              <a:t>одной </a:t>
            </a:r>
            <a:r>
              <a:rPr lang="ru-RU" i="1" dirty="0" smtClean="0"/>
              <a:t>операции</a:t>
            </a:r>
            <a:r>
              <a:rPr lang="ru-RU" dirty="0"/>
              <a:t> ). Набор </a:t>
            </a:r>
            <a:r>
              <a:rPr lang="ru-RU" i="1" dirty="0"/>
              <a:t>операций класса</a:t>
            </a:r>
            <a:r>
              <a:rPr lang="ru-RU" dirty="0"/>
              <a:t> является общим для всех объектов данного </a:t>
            </a:r>
            <a:r>
              <a:rPr lang="ru-RU" i="1" dirty="0"/>
              <a:t>класса</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129</a:t>
            </a:fld>
            <a:endParaRPr lang="ru-RU"/>
          </a:p>
        </p:txBody>
      </p:sp>
    </p:spTree>
    <p:extLst>
      <p:ext uri="{BB962C8B-B14F-4D97-AF65-F5344CB8AC3E}">
        <p14:creationId xmlns:p14="http://schemas.microsoft.com/office/powerpoint/2010/main" xmlns="" val="26930601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3074" name="Picture 2" descr="Класс Человек с операциям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68090" y="571500"/>
            <a:ext cx="8055820" cy="569693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130</a:t>
            </a:fld>
            <a:endParaRPr lang="ru-RU"/>
          </a:p>
        </p:txBody>
      </p:sp>
    </p:spTree>
    <p:extLst>
      <p:ext uri="{BB962C8B-B14F-4D97-AF65-F5344CB8AC3E}">
        <p14:creationId xmlns:p14="http://schemas.microsoft.com/office/powerpoint/2010/main" xmlns="" val="118478021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Категории связей. Связь-зависимость</a:t>
            </a:r>
            <a:br>
              <a:rPr lang="ru-RU" b="1" dirty="0"/>
            </a:br>
            <a:endParaRPr lang="ru-RU" dirty="0"/>
          </a:p>
        </p:txBody>
      </p:sp>
      <p:sp>
        <p:nvSpPr>
          <p:cNvPr id="3" name="Объект 2"/>
          <p:cNvSpPr>
            <a:spLocks noGrp="1"/>
          </p:cNvSpPr>
          <p:nvPr>
            <p:ph idx="1"/>
          </p:nvPr>
        </p:nvSpPr>
        <p:spPr/>
        <p:txBody>
          <a:bodyPr/>
          <a:lstStyle/>
          <a:p>
            <a:r>
              <a:rPr lang="ru-RU" b="1" i="1" dirty="0"/>
              <a:t>Зависимостью</a:t>
            </a:r>
            <a:r>
              <a:rPr lang="ru-RU" dirty="0"/>
              <a:t> называют </a:t>
            </a:r>
            <a:r>
              <a:rPr lang="ru-RU" i="1" dirty="0"/>
              <a:t>связь</a:t>
            </a:r>
            <a:r>
              <a:rPr lang="ru-RU" dirty="0"/>
              <a:t> по применению, когда изменение в спецификации одного </a:t>
            </a:r>
            <a:r>
              <a:rPr lang="ru-RU" i="1" dirty="0"/>
              <a:t>класса</a:t>
            </a:r>
            <a:r>
              <a:rPr lang="ru-RU" dirty="0"/>
              <a:t> может повлиять на поведение </a:t>
            </a:r>
            <a:r>
              <a:rPr lang="ru-RU" dirty="0" smtClean="0"/>
              <a:t>другого </a:t>
            </a:r>
            <a:r>
              <a:rPr lang="ru-RU" i="1" dirty="0" smtClean="0"/>
              <a:t>класса</a:t>
            </a:r>
            <a:r>
              <a:rPr lang="ru-RU" dirty="0"/>
              <a:t>, использующего первый </a:t>
            </a:r>
            <a:r>
              <a:rPr lang="ru-RU" i="1" dirty="0"/>
              <a:t>класс</a:t>
            </a:r>
            <a:r>
              <a:rPr lang="ru-RU" dirty="0"/>
              <a:t> </a:t>
            </a:r>
            <a:r>
              <a:rPr lang="ru-RU" dirty="0" smtClean="0"/>
              <a:t>.</a:t>
            </a:r>
          </a:p>
          <a:p>
            <a:r>
              <a:rPr lang="ru-RU" i="1" dirty="0"/>
              <a:t>Зависимость</a:t>
            </a:r>
            <a:r>
              <a:rPr lang="ru-RU" dirty="0"/>
              <a:t> показывается прерывистой линией со стрелкой, направленной к </a:t>
            </a:r>
            <a:r>
              <a:rPr lang="ru-RU" i="1" dirty="0"/>
              <a:t>классу</a:t>
            </a:r>
            <a:r>
              <a:rPr lang="ru-RU" dirty="0"/>
              <a:t>, от которого имеется зависимость.</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131</a:t>
            </a:fld>
            <a:endParaRPr lang="ru-RU"/>
          </a:p>
        </p:txBody>
      </p:sp>
    </p:spTree>
    <p:extLst>
      <p:ext uri="{BB962C8B-B14F-4D97-AF65-F5344CB8AC3E}">
        <p14:creationId xmlns:p14="http://schemas.microsoft.com/office/powerpoint/2010/main" xmlns="" val="6582099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4098" name="Picture 2" descr="Диаграмма классов со связью-зависимостью"/>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21668" y="1690688"/>
            <a:ext cx="10732132" cy="2683033"/>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132</a:t>
            </a:fld>
            <a:endParaRPr lang="ru-RU"/>
          </a:p>
        </p:txBody>
      </p:sp>
    </p:spTree>
    <p:extLst>
      <p:ext uri="{BB962C8B-B14F-4D97-AF65-F5344CB8AC3E}">
        <p14:creationId xmlns:p14="http://schemas.microsoft.com/office/powerpoint/2010/main" xmlns="" val="8694167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b="1" i="1" dirty="0"/>
              <a:t>Связью-обобщением</a:t>
            </a:r>
            <a:r>
              <a:rPr lang="ru-RU" dirty="0"/>
              <a:t> называется </a:t>
            </a:r>
            <a:r>
              <a:rPr lang="ru-RU" i="1" dirty="0"/>
              <a:t>связь</a:t>
            </a:r>
            <a:r>
              <a:rPr lang="ru-RU" dirty="0"/>
              <a:t> между общей сущностью, называемой </a:t>
            </a:r>
            <a:r>
              <a:rPr lang="ru-RU" b="1" i="1" dirty="0"/>
              <a:t>суперклассом</a:t>
            </a:r>
            <a:r>
              <a:rPr lang="ru-RU" dirty="0"/>
              <a:t>, или родителем, и более специализированной разновидностью этой сущности, называемой </a:t>
            </a:r>
            <a:r>
              <a:rPr lang="ru-RU" b="1" i="1" dirty="0"/>
              <a:t>подклассом</a:t>
            </a:r>
            <a:r>
              <a:rPr lang="ru-RU" dirty="0"/>
              <a:t>, или потомком. </a:t>
            </a:r>
            <a:r>
              <a:rPr lang="ru-RU" i="1" dirty="0"/>
              <a:t>Обобщения</a:t>
            </a:r>
            <a:r>
              <a:rPr lang="ru-RU" dirty="0"/>
              <a:t> иногда называют </a:t>
            </a:r>
            <a:r>
              <a:rPr lang="ru-RU" b="1" i="1" dirty="0"/>
              <a:t>связями "</a:t>
            </a:r>
            <a:r>
              <a:rPr lang="ru-RU" b="1" i="1" dirty="0" err="1"/>
              <a:t>is</a:t>
            </a:r>
            <a:r>
              <a:rPr lang="ru-RU" b="1" i="1" dirty="0"/>
              <a:t> a"</a:t>
            </a:r>
            <a:r>
              <a:rPr lang="ru-RU" dirty="0"/>
              <a:t>, имея в виду, что </a:t>
            </a:r>
            <a:r>
              <a:rPr lang="ru-RU" i="1" dirty="0"/>
              <a:t>класс</a:t>
            </a:r>
            <a:r>
              <a:rPr lang="ru-RU" dirty="0"/>
              <a:t> -потомок является частным случаем </a:t>
            </a:r>
            <a:r>
              <a:rPr lang="ru-RU" i="1" dirty="0"/>
              <a:t>класса</a:t>
            </a:r>
            <a:r>
              <a:rPr lang="ru-RU" dirty="0"/>
              <a:t> -предка. </a:t>
            </a:r>
            <a:r>
              <a:rPr lang="ru-RU" i="1" dirty="0"/>
              <a:t>Класс</a:t>
            </a:r>
            <a:r>
              <a:rPr lang="ru-RU" dirty="0"/>
              <a:t> -потомок наследует все </a:t>
            </a:r>
            <a:r>
              <a:rPr lang="ru-RU" i="1" dirty="0"/>
              <a:t>атрибуты</a:t>
            </a:r>
            <a:r>
              <a:rPr lang="ru-RU" dirty="0"/>
              <a:t> и </a:t>
            </a:r>
            <a:r>
              <a:rPr lang="ru-RU" i="1" dirty="0" smtClean="0"/>
              <a:t>операции класса</a:t>
            </a:r>
            <a:r>
              <a:rPr lang="ru-RU" dirty="0"/>
              <a:t> -предка, но в нем могут быть определены дополнительные </a:t>
            </a:r>
            <a:r>
              <a:rPr lang="ru-RU" i="1" dirty="0"/>
              <a:t>атрибуты</a:t>
            </a:r>
            <a:r>
              <a:rPr lang="ru-RU" dirty="0"/>
              <a:t> и </a:t>
            </a:r>
            <a:r>
              <a:rPr lang="ru-RU" i="1" dirty="0"/>
              <a:t>операции</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133</a:t>
            </a:fld>
            <a:endParaRPr lang="ru-RU"/>
          </a:p>
        </p:txBody>
      </p:sp>
    </p:spTree>
    <p:extLst>
      <p:ext uri="{BB962C8B-B14F-4D97-AF65-F5344CB8AC3E}">
        <p14:creationId xmlns:p14="http://schemas.microsoft.com/office/powerpoint/2010/main" xmlns="" val="194375840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5122" name="Picture 2" descr="Иерархия одиночного наследования класс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14008" y="662305"/>
            <a:ext cx="6963984" cy="514588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134</a:t>
            </a:fld>
            <a:endParaRPr lang="ru-RU"/>
          </a:p>
        </p:txBody>
      </p:sp>
    </p:spTree>
    <p:extLst>
      <p:ext uri="{BB962C8B-B14F-4D97-AF65-F5344CB8AC3E}">
        <p14:creationId xmlns:p14="http://schemas.microsoft.com/office/powerpoint/2010/main" xmlns="" val="30129653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6146" name="Picture 2" descr="Пример множественного наследования класс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16631" y="1257301"/>
            <a:ext cx="7148362" cy="4482306"/>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135</a:t>
            </a:fld>
            <a:endParaRPr lang="ru-RU"/>
          </a:p>
        </p:txBody>
      </p:sp>
    </p:spTree>
    <p:extLst>
      <p:ext uri="{BB962C8B-B14F-4D97-AF65-F5344CB8AC3E}">
        <p14:creationId xmlns:p14="http://schemas.microsoft.com/office/powerpoint/2010/main" xmlns="" val="312204873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Связи-ассоциации: роли, кратность, агрегация</a:t>
            </a:r>
            <a:br>
              <a:rPr lang="ru-RU" b="1" dirty="0"/>
            </a:br>
            <a:endParaRPr lang="ru-RU" dirty="0"/>
          </a:p>
        </p:txBody>
      </p:sp>
      <p:sp>
        <p:nvSpPr>
          <p:cNvPr id="3" name="Объект 2"/>
          <p:cNvSpPr>
            <a:spLocks noGrp="1"/>
          </p:cNvSpPr>
          <p:nvPr>
            <p:ph idx="1"/>
          </p:nvPr>
        </p:nvSpPr>
        <p:spPr/>
        <p:txBody>
          <a:bodyPr/>
          <a:lstStyle/>
          <a:p>
            <a:r>
              <a:rPr lang="ru-RU" b="1" i="1" dirty="0"/>
              <a:t>Ассоциацией</a:t>
            </a:r>
            <a:r>
              <a:rPr lang="ru-RU" dirty="0"/>
              <a:t> называется структурная </a:t>
            </a:r>
            <a:r>
              <a:rPr lang="ru-RU" i="1" dirty="0"/>
              <a:t>связь</a:t>
            </a:r>
            <a:r>
              <a:rPr lang="ru-RU" dirty="0"/>
              <a:t>, показывающая, что объекты одного </a:t>
            </a:r>
            <a:r>
              <a:rPr lang="ru-RU" i="1" dirty="0"/>
              <a:t>класса</a:t>
            </a:r>
            <a:r>
              <a:rPr lang="ru-RU" dirty="0"/>
              <a:t> некоторым образом связаны с объектами другого или того же самого </a:t>
            </a:r>
            <a:r>
              <a:rPr lang="ru-RU" i="1" dirty="0"/>
              <a:t>класса</a:t>
            </a:r>
            <a:r>
              <a:rPr lang="ru-RU" dirty="0"/>
              <a:t> . Допускается, чтобы оба конца </a:t>
            </a:r>
            <a:r>
              <a:rPr lang="ru-RU" i="1" dirty="0"/>
              <a:t>ассоциации</a:t>
            </a:r>
            <a:r>
              <a:rPr lang="ru-RU" dirty="0"/>
              <a:t> относились к одному </a:t>
            </a:r>
            <a:r>
              <a:rPr lang="ru-RU" i="1" dirty="0"/>
              <a:t>классу</a:t>
            </a:r>
            <a:r>
              <a:rPr lang="ru-RU" dirty="0"/>
              <a:t>. В </a:t>
            </a:r>
            <a:r>
              <a:rPr lang="ru-RU" i="1" dirty="0"/>
              <a:t>ассоциации</a:t>
            </a:r>
            <a:r>
              <a:rPr lang="ru-RU" dirty="0"/>
              <a:t> могут связываться два </a:t>
            </a:r>
            <a:r>
              <a:rPr lang="ru-RU" i="1" dirty="0"/>
              <a:t>класса</a:t>
            </a:r>
            <a:r>
              <a:rPr lang="ru-RU" dirty="0"/>
              <a:t>, и тогда она называется бинарной. Допускается создание </a:t>
            </a:r>
            <a:r>
              <a:rPr lang="ru-RU" i="1" dirty="0"/>
              <a:t>ассоциаций</a:t>
            </a:r>
            <a:r>
              <a:rPr lang="ru-RU" dirty="0"/>
              <a:t>, связывающих сразу n </a:t>
            </a:r>
            <a:r>
              <a:rPr lang="ru-RU" i="1" dirty="0"/>
              <a:t>классов</a:t>
            </a:r>
            <a:r>
              <a:rPr lang="ru-RU" dirty="0"/>
              <a:t> (они называются </a:t>
            </a:r>
            <a:r>
              <a:rPr lang="ru-RU" b="1" i="1" dirty="0"/>
              <a:t>n-</a:t>
            </a:r>
            <a:r>
              <a:rPr lang="ru-RU" b="1" i="1" dirty="0" err="1"/>
              <a:t>арными</a:t>
            </a:r>
            <a:r>
              <a:rPr lang="ru-RU" b="1" i="1" dirty="0"/>
              <a:t> ассоциациями</a:t>
            </a:r>
            <a:r>
              <a:rPr lang="ru-RU" dirty="0"/>
              <a:t> ). </a:t>
            </a:r>
            <a:r>
              <a:rPr lang="ru-RU" dirty="0" smtClean="0"/>
              <a:t>Графически</a:t>
            </a:r>
            <a:r>
              <a:rPr lang="ru-RU" dirty="0"/>
              <a:t> </a:t>
            </a:r>
            <a:r>
              <a:rPr lang="ru-RU" i="1" dirty="0"/>
              <a:t>ассоциация</a:t>
            </a:r>
            <a:r>
              <a:rPr lang="ru-RU" dirty="0"/>
              <a:t> изображается в виде линии, соединяющей </a:t>
            </a:r>
            <a:r>
              <a:rPr lang="ru-RU" i="1" dirty="0"/>
              <a:t>класс</a:t>
            </a:r>
            <a:r>
              <a:rPr lang="ru-RU" dirty="0"/>
              <a:t> сам с собой или с другими </a:t>
            </a:r>
            <a:r>
              <a:rPr lang="ru-RU" i="1" dirty="0"/>
              <a:t>классами</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136</a:t>
            </a:fld>
            <a:endParaRPr lang="ru-RU"/>
          </a:p>
        </p:txBody>
      </p:sp>
    </p:spTree>
    <p:extLst>
      <p:ext uri="{BB962C8B-B14F-4D97-AF65-F5344CB8AC3E}">
        <p14:creationId xmlns:p14="http://schemas.microsoft.com/office/powerpoint/2010/main" xmlns="" val="38797683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7170" name="Picture 2" descr="Пример именованной ассоциаци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8200" y="2253366"/>
            <a:ext cx="10786110" cy="204129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137</a:t>
            </a:fld>
            <a:endParaRPr lang="ru-RU"/>
          </a:p>
        </p:txBody>
      </p:sp>
    </p:spTree>
    <p:extLst>
      <p:ext uri="{BB962C8B-B14F-4D97-AF65-F5344CB8AC3E}">
        <p14:creationId xmlns:p14="http://schemas.microsoft.com/office/powerpoint/2010/main" xmlns="" val="12643298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С понятием </a:t>
            </a:r>
            <a:r>
              <a:rPr lang="ru-RU" i="1" dirty="0"/>
              <a:t>ассоциации</a:t>
            </a:r>
            <a:r>
              <a:rPr lang="ru-RU" dirty="0"/>
              <a:t> связаны четыре важных дополнительных понятия: </a:t>
            </a:r>
            <a:r>
              <a:rPr lang="ru-RU" i="1" dirty="0"/>
              <a:t>имя</a:t>
            </a:r>
            <a:r>
              <a:rPr lang="ru-RU" dirty="0"/>
              <a:t>, роль, </a:t>
            </a:r>
            <a:r>
              <a:rPr lang="ru-RU" i="1" dirty="0"/>
              <a:t>кратность</a:t>
            </a:r>
            <a:r>
              <a:rPr lang="ru-RU" dirty="0"/>
              <a:t> и агрегация. Во-первых, </a:t>
            </a:r>
            <a:r>
              <a:rPr lang="ru-RU" i="1" dirty="0" smtClean="0"/>
              <a:t>ассоциации </a:t>
            </a:r>
            <a:r>
              <a:rPr lang="ru-RU" dirty="0" smtClean="0"/>
              <a:t>может </a:t>
            </a:r>
            <a:r>
              <a:rPr lang="ru-RU" dirty="0"/>
              <a:t>быть присвоено </a:t>
            </a:r>
            <a:r>
              <a:rPr lang="ru-RU" i="1" dirty="0"/>
              <a:t>имя</a:t>
            </a:r>
            <a:r>
              <a:rPr lang="ru-RU" dirty="0"/>
              <a:t>, характеризующее природу связи. Смысл </a:t>
            </a:r>
            <a:r>
              <a:rPr lang="ru-RU" i="1" dirty="0"/>
              <a:t>имени</a:t>
            </a:r>
            <a:r>
              <a:rPr lang="ru-RU" dirty="0"/>
              <a:t> уточняется с помощью черного треугольника, который располагается над линией связи справа или слева от </a:t>
            </a:r>
            <a:r>
              <a:rPr lang="ru-RU" i="1" dirty="0"/>
              <a:t>имени ассоциации</a:t>
            </a:r>
            <a:r>
              <a:rPr lang="ru-RU" dirty="0"/>
              <a:t>. Этот треугольник указывает направление чтения </a:t>
            </a:r>
            <a:r>
              <a:rPr lang="ru-RU" i="1" dirty="0"/>
              <a:t>имя </a:t>
            </a:r>
            <a:r>
              <a:rPr lang="ru-RU" i="1" dirty="0" smtClean="0"/>
              <a:t>связи</a:t>
            </a:r>
            <a:r>
              <a:rPr lang="ru-RU" dirty="0" smtClean="0"/>
              <a:t>. </a:t>
            </a:r>
            <a:r>
              <a:rPr lang="ru-RU" dirty="0"/>
              <a:t>Треугольник показывает, что именованная </a:t>
            </a:r>
            <a:r>
              <a:rPr lang="ru-RU" i="1" dirty="0"/>
              <a:t>ассоциация</a:t>
            </a:r>
            <a:r>
              <a:rPr lang="ru-RU" dirty="0"/>
              <a:t> должна читаться как "Студент учится в Университете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138</a:t>
            </a:fld>
            <a:endParaRPr lang="ru-RU"/>
          </a:p>
        </p:txBody>
      </p:sp>
    </p:spTree>
    <p:extLst>
      <p:ext uri="{BB962C8B-B14F-4D97-AF65-F5344CB8AC3E}">
        <p14:creationId xmlns:p14="http://schemas.microsoft.com/office/powerpoint/2010/main" xmlns="" val="328904404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Другим способом именования </a:t>
            </a:r>
            <a:r>
              <a:rPr lang="ru-RU" i="1" dirty="0"/>
              <a:t>ассоциации</a:t>
            </a:r>
            <a:r>
              <a:rPr lang="ru-RU" dirty="0"/>
              <a:t> является указание </a:t>
            </a:r>
            <a:r>
              <a:rPr lang="ru-RU" i="1" dirty="0"/>
              <a:t>роли</a:t>
            </a:r>
            <a:r>
              <a:rPr lang="ru-RU" dirty="0"/>
              <a:t> каждого </a:t>
            </a:r>
            <a:r>
              <a:rPr lang="ru-RU" i="1" dirty="0"/>
              <a:t>класса</a:t>
            </a:r>
            <a:r>
              <a:rPr lang="ru-RU" dirty="0"/>
              <a:t>, участвующего в этой </a:t>
            </a:r>
            <a:r>
              <a:rPr lang="ru-RU" i="1" dirty="0"/>
              <a:t>ассоциации</a:t>
            </a:r>
            <a:r>
              <a:rPr lang="ru-RU" dirty="0"/>
              <a:t>. </a:t>
            </a:r>
            <a:r>
              <a:rPr lang="ru-RU" i="1" dirty="0"/>
              <a:t>Роль класса</a:t>
            </a:r>
            <a:r>
              <a:rPr lang="ru-RU" dirty="0"/>
              <a:t>, как и имя конца связи в ER-модели, задается именем, помещаемым под линией </a:t>
            </a:r>
            <a:r>
              <a:rPr lang="ru-RU" i="1" dirty="0"/>
              <a:t>ассоциации</a:t>
            </a:r>
            <a:r>
              <a:rPr lang="ru-RU" dirty="0"/>
              <a:t> ближе к данному </a:t>
            </a:r>
            <a:r>
              <a:rPr lang="ru-RU" i="1" dirty="0"/>
              <a:t>классу</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139</a:t>
            </a:fld>
            <a:endParaRPr lang="ru-RU"/>
          </a:p>
        </p:txBody>
      </p:sp>
    </p:spTree>
    <p:extLst>
      <p:ext uri="{BB962C8B-B14F-4D97-AF65-F5344CB8AC3E}">
        <p14:creationId xmlns:p14="http://schemas.microsoft.com/office/powerpoint/2010/main" xmlns="" val="144335312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8194" name="Picture 2" descr="Две ассоциации с разными ролями классов"/>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50527" y="2286000"/>
            <a:ext cx="9290946" cy="2403951"/>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140</a:t>
            </a:fld>
            <a:endParaRPr lang="ru-RU"/>
          </a:p>
        </p:txBody>
      </p:sp>
    </p:spTree>
    <p:extLst>
      <p:ext uri="{BB962C8B-B14F-4D97-AF65-F5344CB8AC3E}">
        <p14:creationId xmlns:p14="http://schemas.microsoft.com/office/powerpoint/2010/main" xmlns="" val="2605794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smtClean="0"/>
              <a:t>А</a:t>
            </a:r>
            <a:r>
              <a:rPr lang="ru-RU" i="1" dirty="0" smtClean="0"/>
              <a:t>ссоциации</a:t>
            </a:r>
            <a:r>
              <a:rPr lang="ru-RU" dirty="0"/>
              <a:t> между </a:t>
            </a:r>
            <a:r>
              <a:rPr lang="ru-RU" i="1" dirty="0"/>
              <a:t>классами</a:t>
            </a:r>
            <a:r>
              <a:rPr lang="ru-RU" dirty="0"/>
              <a:t> Человек и Университет, в которых эти </a:t>
            </a:r>
            <a:r>
              <a:rPr lang="ru-RU" i="1" dirty="0"/>
              <a:t>классы</a:t>
            </a:r>
            <a:r>
              <a:rPr lang="ru-RU" dirty="0"/>
              <a:t> играют разные </a:t>
            </a:r>
            <a:r>
              <a:rPr lang="ru-RU" i="1" dirty="0"/>
              <a:t>роли</a:t>
            </a:r>
            <a:r>
              <a:rPr lang="ru-RU" dirty="0"/>
              <a:t>. О</a:t>
            </a:r>
            <a:r>
              <a:rPr lang="ru-RU" dirty="0" smtClean="0"/>
              <a:t>бъекты</a:t>
            </a:r>
            <a:r>
              <a:rPr lang="ru-RU" dirty="0"/>
              <a:t> </a:t>
            </a:r>
            <a:r>
              <a:rPr lang="ru-RU" i="1" dirty="0" smtClean="0"/>
              <a:t>класса </a:t>
            </a:r>
            <a:r>
              <a:rPr lang="ru-RU" dirty="0" smtClean="0"/>
              <a:t>Человек</a:t>
            </a:r>
            <a:r>
              <a:rPr lang="ru-RU" dirty="0"/>
              <a:t> могут выступать в </a:t>
            </a:r>
            <a:r>
              <a:rPr lang="ru-RU" i="1" dirty="0"/>
              <a:t>роли</a:t>
            </a:r>
            <a:r>
              <a:rPr lang="ru-RU" dirty="0"/>
              <a:t> РАБОТНИКОВ при участии в </a:t>
            </a:r>
            <a:r>
              <a:rPr lang="ru-RU" i="1" dirty="0"/>
              <a:t>ассоциации</a:t>
            </a:r>
            <a:r>
              <a:rPr lang="ru-RU" dirty="0"/>
              <a:t>, в которой объекты </a:t>
            </a:r>
            <a:r>
              <a:rPr lang="ru-RU" i="1" dirty="0"/>
              <a:t>класса</a:t>
            </a:r>
            <a:r>
              <a:rPr lang="ru-RU" dirty="0"/>
              <a:t> Университет играют </a:t>
            </a:r>
            <a:r>
              <a:rPr lang="ru-RU" i="1" dirty="0" smtClean="0"/>
              <a:t>роль </a:t>
            </a:r>
            <a:r>
              <a:rPr lang="ru-RU" dirty="0" smtClean="0"/>
              <a:t>НАНИМАТЕЛЯ</a:t>
            </a:r>
            <a:r>
              <a:rPr lang="ru-RU" dirty="0"/>
              <a:t>. </a:t>
            </a:r>
            <a:endParaRPr lang="ru-RU" dirty="0" smtClean="0"/>
          </a:p>
          <a:p>
            <a:r>
              <a:rPr lang="ru-RU" dirty="0" smtClean="0"/>
              <a:t>В другой</a:t>
            </a:r>
            <a:r>
              <a:rPr lang="ru-RU" dirty="0"/>
              <a:t> </a:t>
            </a:r>
            <a:r>
              <a:rPr lang="ru-RU" i="1" dirty="0"/>
              <a:t>ассоциации</a:t>
            </a:r>
            <a:r>
              <a:rPr lang="ru-RU" dirty="0"/>
              <a:t> объекты </a:t>
            </a:r>
            <a:r>
              <a:rPr lang="ru-RU" i="1" dirty="0"/>
              <a:t>класса</a:t>
            </a:r>
            <a:r>
              <a:rPr lang="ru-RU" dirty="0"/>
              <a:t> </a:t>
            </a:r>
            <a:r>
              <a:rPr lang="ru-RU" dirty="0" smtClean="0"/>
              <a:t> Человек</a:t>
            </a:r>
            <a:r>
              <a:rPr lang="ru-RU" dirty="0"/>
              <a:t> играют </a:t>
            </a:r>
            <a:r>
              <a:rPr lang="ru-RU" i="1" dirty="0" smtClean="0"/>
              <a:t>роль</a:t>
            </a:r>
          </a:p>
          <a:p>
            <a:r>
              <a:rPr lang="ru-RU" dirty="0"/>
              <a:t> СТУДЕНТА, а объекты </a:t>
            </a:r>
            <a:r>
              <a:rPr lang="ru-RU" i="1" dirty="0"/>
              <a:t>класса</a:t>
            </a:r>
            <a:r>
              <a:rPr lang="ru-RU" dirty="0"/>
              <a:t> УНИВЕРСИТЕТ – </a:t>
            </a:r>
            <a:r>
              <a:rPr lang="ru-RU" i="1" dirty="0" smtClean="0"/>
              <a:t>роль </a:t>
            </a:r>
            <a:r>
              <a:rPr lang="ru-RU" dirty="0" smtClean="0"/>
              <a:t>ОБУЧАЮЩЕГО</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141</a:t>
            </a:fld>
            <a:endParaRPr lang="ru-RU"/>
          </a:p>
        </p:txBody>
      </p:sp>
    </p:spTree>
    <p:extLst>
      <p:ext uri="{BB962C8B-B14F-4D97-AF65-F5344CB8AC3E}">
        <p14:creationId xmlns:p14="http://schemas.microsoft.com/office/powerpoint/2010/main" xmlns="" val="221206065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b="1" i="1" dirty="0"/>
              <a:t>Кратностью (</a:t>
            </a:r>
            <a:r>
              <a:rPr lang="ru-RU" b="1" i="1" dirty="0" err="1"/>
              <a:t>multiplicity</a:t>
            </a:r>
            <a:r>
              <a:rPr lang="ru-RU" b="1" i="1" dirty="0"/>
              <a:t>) роли ассоциации</a:t>
            </a:r>
            <a:r>
              <a:rPr lang="ru-RU" dirty="0"/>
              <a:t> называется характеристика, указывающая, сколько объектов </a:t>
            </a:r>
            <a:r>
              <a:rPr lang="ru-RU" i="1" dirty="0"/>
              <a:t>класса</a:t>
            </a:r>
            <a:r>
              <a:rPr lang="ru-RU" dirty="0"/>
              <a:t> с данной </a:t>
            </a:r>
            <a:r>
              <a:rPr lang="ru-RU" i="1" dirty="0" smtClean="0"/>
              <a:t>ролью </a:t>
            </a:r>
            <a:r>
              <a:rPr lang="ru-RU" dirty="0" smtClean="0"/>
              <a:t>может </a:t>
            </a:r>
            <a:r>
              <a:rPr lang="ru-RU" dirty="0"/>
              <a:t>или должно участвовать в каждом </a:t>
            </a:r>
            <a:r>
              <a:rPr lang="ru-RU" i="1" dirty="0"/>
              <a:t>экземпляре ассоциации</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142</a:t>
            </a:fld>
            <a:endParaRPr lang="ru-RU"/>
          </a:p>
        </p:txBody>
      </p:sp>
    </p:spTree>
    <p:extLst>
      <p:ext uri="{BB962C8B-B14F-4D97-AF65-F5344CB8AC3E}">
        <p14:creationId xmlns:p14="http://schemas.microsoft.com/office/powerpoint/2010/main" xmlns="" val="374107726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940"/>
            <a:ext cx="10515600" cy="5514023"/>
          </a:xfrm>
        </p:spPr>
        <p:txBody>
          <a:bodyPr>
            <a:normAutofit fontScale="92500" lnSpcReduction="10000"/>
          </a:bodyPr>
          <a:lstStyle/>
          <a:p>
            <a:r>
              <a:rPr lang="ru-RU" dirty="0"/>
              <a:t>Наиболее распространенным способом задания </a:t>
            </a:r>
            <a:r>
              <a:rPr lang="ru-RU" i="1" dirty="0"/>
              <a:t>кратности роли ассоциации</a:t>
            </a:r>
            <a:r>
              <a:rPr lang="ru-RU" dirty="0"/>
              <a:t> является указание конкретного числа или диапазона. Например, указание " 1 " говорит о том, что каждый объект </a:t>
            </a:r>
            <a:r>
              <a:rPr lang="ru-RU" i="1" dirty="0"/>
              <a:t>класса</a:t>
            </a:r>
            <a:r>
              <a:rPr lang="ru-RU" dirty="0"/>
              <a:t> с данной </a:t>
            </a:r>
            <a:r>
              <a:rPr lang="ru-RU" i="1" dirty="0"/>
              <a:t>ролью</a:t>
            </a:r>
            <a:r>
              <a:rPr lang="ru-RU" dirty="0"/>
              <a:t> должен участвовать в некотором </a:t>
            </a:r>
            <a:r>
              <a:rPr lang="ru-RU" i="1" dirty="0"/>
              <a:t>экземпляре</a:t>
            </a:r>
            <a:r>
              <a:rPr lang="ru-RU" dirty="0"/>
              <a:t> данной </a:t>
            </a:r>
            <a:r>
              <a:rPr lang="ru-RU" i="1" dirty="0"/>
              <a:t>ассоциации</a:t>
            </a:r>
            <a:r>
              <a:rPr lang="ru-RU" dirty="0"/>
              <a:t>, причем в каждом </a:t>
            </a:r>
            <a:r>
              <a:rPr lang="ru-RU" i="1" dirty="0"/>
              <a:t>экземпляре ассоциации</a:t>
            </a:r>
            <a:r>
              <a:rPr lang="ru-RU" dirty="0"/>
              <a:t> может участвовать ровно один объект </a:t>
            </a:r>
            <a:r>
              <a:rPr lang="ru-RU" i="1" dirty="0"/>
              <a:t>класса</a:t>
            </a:r>
            <a:r>
              <a:rPr lang="ru-RU" dirty="0"/>
              <a:t> с данной </a:t>
            </a:r>
            <a:r>
              <a:rPr lang="ru-RU" i="1" dirty="0"/>
              <a:t>ролью</a:t>
            </a:r>
            <a:r>
              <a:rPr lang="ru-RU" dirty="0"/>
              <a:t>. Указание диапазона " 0..1 " говорит о том, что не все объекты </a:t>
            </a:r>
            <a:r>
              <a:rPr lang="ru-RU" i="1" dirty="0"/>
              <a:t>класса</a:t>
            </a:r>
            <a:r>
              <a:rPr lang="ru-RU" dirty="0"/>
              <a:t> с данной </a:t>
            </a:r>
            <a:r>
              <a:rPr lang="ru-RU" i="1" dirty="0"/>
              <a:t>ролью</a:t>
            </a:r>
            <a:r>
              <a:rPr lang="ru-RU" dirty="0"/>
              <a:t> обязаны участвовать в каком-либо </a:t>
            </a:r>
            <a:r>
              <a:rPr lang="ru-RU" i="1" dirty="0"/>
              <a:t>экземпляре</a:t>
            </a:r>
            <a:r>
              <a:rPr lang="ru-RU" dirty="0"/>
              <a:t> данной </a:t>
            </a:r>
            <a:r>
              <a:rPr lang="ru-RU" i="1" dirty="0"/>
              <a:t>ассоциации</a:t>
            </a:r>
            <a:r>
              <a:rPr lang="ru-RU" dirty="0"/>
              <a:t>, но в каждом </a:t>
            </a:r>
            <a:r>
              <a:rPr lang="ru-RU" i="1" dirty="0"/>
              <a:t>экземпляре ассоциации</a:t>
            </a:r>
            <a:r>
              <a:rPr lang="ru-RU" dirty="0"/>
              <a:t> может участвовать только один объект. Аналогично, указание диапазона " 1..* " говорит о том, что все объекты </a:t>
            </a:r>
            <a:r>
              <a:rPr lang="ru-RU" i="1" dirty="0"/>
              <a:t>класса</a:t>
            </a:r>
            <a:r>
              <a:rPr lang="ru-RU" dirty="0"/>
              <a:t> с данной </a:t>
            </a:r>
            <a:r>
              <a:rPr lang="ru-RU" i="1" dirty="0"/>
              <a:t>ролью</a:t>
            </a:r>
            <a:r>
              <a:rPr lang="ru-RU" dirty="0"/>
              <a:t> должны участвовать в </a:t>
            </a:r>
            <a:r>
              <a:rPr lang="ru-RU" dirty="0" smtClean="0"/>
              <a:t>некотором </a:t>
            </a:r>
            <a:r>
              <a:rPr lang="ru-RU" i="1" dirty="0" smtClean="0"/>
              <a:t>экземпляре</a:t>
            </a:r>
            <a:r>
              <a:rPr lang="ru-RU" dirty="0"/>
              <a:t> данной </a:t>
            </a:r>
            <a:r>
              <a:rPr lang="ru-RU" i="1" dirty="0"/>
              <a:t>ассоциации</a:t>
            </a:r>
            <a:r>
              <a:rPr lang="ru-RU" dirty="0"/>
              <a:t>, и в каждом </a:t>
            </a:r>
            <a:r>
              <a:rPr lang="ru-RU" i="1" dirty="0"/>
              <a:t>экземпляре ассоциации</a:t>
            </a:r>
            <a:r>
              <a:rPr lang="ru-RU" dirty="0"/>
              <a:t> должен участвовать хотя бы один объект (верхняя граница не задана). Толкование диапазона " 0..* " является очевидным расширением случая " 0..1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143</a:t>
            </a:fld>
            <a:endParaRPr lang="ru-RU"/>
          </a:p>
        </p:txBody>
      </p:sp>
    </p:spTree>
    <p:extLst>
      <p:ext uri="{BB962C8B-B14F-4D97-AF65-F5344CB8AC3E}">
        <p14:creationId xmlns:p14="http://schemas.microsoft.com/office/powerpoint/2010/main" xmlns="" val="209425539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9218" name="Picture 2" descr="Ассоциации с указанными кратностями ролей"/>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9070" y="2514600"/>
            <a:ext cx="10372760" cy="310213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144</a:t>
            </a:fld>
            <a:endParaRPr lang="ru-RU"/>
          </a:p>
        </p:txBody>
      </p:sp>
    </p:spTree>
    <p:extLst>
      <p:ext uri="{BB962C8B-B14F-4D97-AF65-F5344CB8AC3E}">
        <p14:creationId xmlns:p14="http://schemas.microsoft.com/office/powerpoint/2010/main" xmlns="" val="196605766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На </a:t>
            </a:r>
            <a:r>
              <a:rPr lang="ru-RU" i="1" dirty="0"/>
              <a:t>диаграмме классов</a:t>
            </a:r>
            <a:r>
              <a:rPr lang="ru-RU" dirty="0"/>
              <a:t> </a:t>
            </a:r>
            <a:r>
              <a:rPr lang="ru-RU" dirty="0" smtClean="0"/>
              <a:t>показано</a:t>
            </a:r>
            <a:r>
              <a:rPr lang="ru-RU" dirty="0"/>
              <a:t>, что произвольное (может быть, нулевое) число людей являются служащими произвольного числа университетов. Каждый университет обучает произвольное (может быть, нулевое) число студентов, но каждый студент может быть студентом только одного университета.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145</a:t>
            </a:fld>
            <a:endParaRPr lang="ru-RU"/>
          </a:p>
        </p:txBody>
      </p:sp>
    </p:spTree>
    <p:extLst>
      <p:ext uri="{BB962C8B-B14F-4D97-AF65-F5344CB8AC3E}">
        <p14:creationId xmlns:p14="http://schemas.microsoft.com/office/powerpoint/2010/main" xmlns="" val="80892055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31520"/>
            <a:ext cx="10515600" cy="5445443"/>
          </a:xfrm>
        </p:spPr>
        <p:txBody>
          <a:bodyPr/>
          <a:lstStyle/>
          <a:p>
            <a:r>
              <a:rPr lang="ru-RU" dirty="0"/>
              <a:t>Обычная </a:t>
            </a:r>
            <a:r>
              <a:rPr lang="ru-RU" i="1" dirty="0"/>
              <a:t>ассоциация</a:t>
            </a:r>
            <a:r>
              <a:rPr lang="ru-RU" dirty="0"/>
              <a:t> между двумя </a:t>
            </a:r>
            <a:r>
              <a:rPr lang="ru-RU" i="1" dirty="0"/>
              <a:t>классами</a:t>
            </a:r>
            <a:r>
              <a:rPr lang="ru-RU" dirty="0"/>
              <a:t> характеризует </a:t>
            </a:r>
            <a:r>
              <a:rPr lang="ru-RU" i="1" dirty="0"/>
              <a:t>связь</a:t>
            </a:r>
            <a:r>
              <a:rPr lang="ru-RU" dirty="0"/>
              <a:t> между равноправными сущностями: оба </a:t>
            </a:r>
            <a:r>
              <a:rPr lang="ru-RU" i="1" dirty="0"/>
              <a:t>класса</a:t>
            </a:r>
            <a:r>
              <a:rPr lang="ru-RU" dirty="0"/>
              <a:t> находятся на одном концептуальном уровне. Но иногда в </a:t>
            </a:r>
            <a:r>
              <a:rPr lang="ru-RU" i="1" dirty="0"/>
              <a:t>диаграмме классов</a:t>
            </a:r>
            <a:r>
              <a:rPr lang="ru-RU" dirty="0"/>
              <a:t> требуется отразить тот факт, что </a:t>
            </a:r>
            <a:r>
              <a:rPr lang="ru-RU" i="1" dirty="0"/>
              <a:t>ассоциация</a:t>
            </a:r>
            <a:r>
              <a:rPr lang="ru-RU" dirty="0"/>
              <a:t> между двумя </a:t>
            </a:r>
            <a:r>
              <a:rPr lang="ru-RU" i="1" dirty="0"/>
              <a:t>классами</a:t>
            </a:r>
            <a:r>
              <a:rPr lang="ru-RU" dirty="0"/>
              <a:t> имеет специальный вид "часть-целое". В этом случае </a:t>
            </a:r>
            <a:r>
              <a:rPr lang="ru-RU" i="1" dirty="0"/>
              <a:t>класс</a:t>
            </a:r>
            <a:r>
              <a:rPr lang="ru-RU" dirty="0"/>
              <a:t> "целое" имеет более высокий </a:t>
            </a:r>
            <a:r>
              <a:rPr lang="ru-RU" i="1" dirty="0"/>
              <a:t>концептуальный уровень</a:t>
            </a:r>
            <a:r>
              <a:rPr lang="ru-RU" dirty="0"/>
              <a:t>, чем </a:t>
            </a:r>
            <a:r>
              <a:rPr lang="ru-RU" i="1" dirty="0"/>
              <a:t>класс</a:t>
            </a:r>
            <a:r>
              <a:rPr lang="ru-RU" dirty="0"/>
              <a:t> "часть</a:t>
            </a:r>
            <a:r>
              <a:rPr lang="ru-RU" dirty="0" smtClean="0"/>
              <a:t>". </a:t>
            </a:r>
            <a:r>
              <a:rPr lang="ru-RU" i="1" dirty="0" smtClean="0"/>
              <a:t>Ассоциация</a:t>
            </a:r>
            <a:r>
              <a:rPr lang="ru-RU" dirty="0"/>
              <a:t> такого рода называется </a:t>
            </a:r>
            <a:r>
              <a:rPr lang="ru-RU" b="1" i="1" dirty="0"/>
              <a:t>агрегатной</a:t>
            </a:r>
            <a:r>
              <a:rPr lang="ru-RU" dirty="0"/>
              <a:t>. Графически </a:t>
            </a:r>
            <a:r>
              <a:rPr lang="ru-RU" i="1" dirty="0"/>
              <a:t>агрегатные ассоциации</a:t>
            </a:r>
            <a:r>
              <a:rPr lang="ru-RU" dirty="0"/>
              <a:t> изображаются в виде простой </a:t>
            </a:r>
            <a:r>
              <a:rPr lang="ru-RU" i="1" dirty="0"/>
              <a:t>ассоциации</a:t>
            </a:r>
            <a:r>
              <a:rPr lang="ru-RU" dirty="0"/>
              <a:t> с </a:t>
            </a:r>
            <a:r>
              <a:rPr lang="ru-RU" dirty="0" err="1"/>
              <a:t>незакрашенным</a:t>
            </a:r>
            <a:r>
              <a:rPr lang="ru-RU" dirty="0"/>
              <a:t> ромбом на стороне </a:t>
            </a:r>
            <a:r>
              <a:rPr lang="ru-RU" i="1" dirty="0"/>
              <a:t>класса</a:t>
            </a:r>
            <a:r>
              <a:rPr lang="ru-RU" dirty="0"/>
              <a:t> -"целого".</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146</a:t>
            </a:fld>
            <a:endParaRPr lang="ru-RU"/>
          </a:p>
        </p:txBody>
      </p:sp>
    </p:spTree>
    <p:extLst>
      <p:ext uri="{BB962C8B-B14F-4D97-AF65-F5344CB8AC3E}">
        <p14:creationId xmlns:p14="http://schemas.microsoft.com/office/powerpoint/2010/main" xmlns="" val="42865678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10242" name="Picture 2" descr="Пример агрегатной ассоциации"/>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8763" y="2423160"/>
            <a:ext cx="11054474" cy="196294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147</a:t>
            </a:fld>
            <a:endParaRPr lang="ru-RU"/>
          </a:p>
        </p:txBody>
      </p:sp>
    </p:spTree>
    <p:extLst>
      <p:ext uri="{BB962C8B-B14F-4D97-AF65-F5344CB8AC3E}">
        <p14:creationId xmlns:p14="http://schemas.microsoft.com/office/powerpoint/2010/main" xmlns="" val="138624337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Объектами </a:t>
            </a:r>
            <a:r>
              <a:rPr lang="ru-RU" i="1" dirty="0"/>
              <a:t>класса</a:t>
            </a:r>
            <a:r>
              <a:rPr lang="ru-RU" dirty="0"/>
              <a:t> Аудитория являются студенческие аудитории, в которых проходят занятия. В каждой аудитории должны быть установлены парты. Поэтому в некотором смысле </a:t>
            </a:r>
            <a:r>
              <a:rPr lang="ru-RU" i="1" dirty="0"/>
              <a:t>класс</a:t>
            </a:r>
            <a:r>
              <a:rPr lang="ru-RU" dirty="0"/>
              <a:t> Парта является "частью" </a:t>
            </a:r>
            <a:r>
              <a:rPr lang="ru-RU" i="1" dirty="0"/>
              <a:t>класса</a:t>
            </a:r>
            <a:r>
              <a:rPr lang="ru-RU" dirty="0"/>
              <a:t> Аудитория.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148</a:t>
            </a:fld>
            <a:endParaRPr lang="ru-RU"/>
          </a:p>
        </p:txBody>
      </p:sp>
    </p:spTree>
    <p:extLst>
      <p:ext uri="{BB962C8B-B14F-4D97-AF65-F5344CB8AC3E}">
        <p14:creationId xmlns:p14="http://schemas.microsoft.com/office/powerpoint/2010/main" xmlns="" val="40261714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Бывают случаи, когда связь "части" и "целого" настолько сильна, что уничтожение "целого" приводит к уничтожению всех его "частей</a:t>
            </a:r>
            <a:r>
              <a:rPr lang="ru-RU" dirty="0" smtClean="0"/>
              <a:t>". </a:t>
            </a:r>
            <a:r>
              <a:rPr lang="ru-RU" i="1" dirty="0" smtClean="0"/>
              <a:t>Агрегатные </a:t>
            </a:r>
            <a:r>
              <a:rPr lang="ru-RU" i="1" dirty="0"/>
              <a:t>ассоциации</a:t>
            </a:r>
            <a:r>
              <a:rPr lang="ru-RU" dirty="0"/>
              <a:t>, обладающие таким свойством, называются </a:t>
            </a:r>
            <a:r>
              <a:rPr lang="ru-RU" b="1" i="1" dirty="0"/>
              <a:t>композитными</a:t>
            </a:r>
            <a:r>
              <a:rPr lang="ru-RU" dirty="0"/>
              <a:t>, или просто </a:t>
            </a:r>
            <a:r>
              <a:rPr lang="ru-RU" i="1" dirty="0"/>
              <a:t>композициями</a:t>
            </a:r>
            <a:r>
              <a:rPr lang="ru-RU" dirty="0"/>
              <a:t> . При </a:t>
            </a:r>
            <a:r>
              <a:rPr lang="ru-RU" dirty="0" smtClean="0"/>
              <a:t>наличии </a:t>
            </a:r>
            <a:r>
              <a:rPr lang="ru-RU" i="1" dirty="0" smtClean="0"/>
              <a:t>композиции</a:t>
            </a:r>
            <a:r>
              <a:rPr lang="ru-RU" dirty="0"/>
              <a:t> объект-часть может быть частью только одного объекта-целого (композита).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149</a:t>
            </a:fld>
            <a:endParaRPr lang="ru-RU"/>
          </a:p>
        </p:txBody>
      </p:sp>
    </p:spTree>
    <p:extLst>
      <p:ext uri="{BB962C8B-B14F-4D97-AF65-F5344CB8AC3E}">
        <p14:creationId xmlns:p14="http://schemas.microsoft.com/office/powerpoint/2010/main" xmlns="" val="98429731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11266" name="Picture 2" descr="Пример композитной агрегатной ассоциации"/>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3777" y="2354581"/>
            <a:ext cx="11064445" cy="1990566"/>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150</a:t>
            </a:fld>
            <a:endParaRPr lang="ru-RU"/>
          </a:p>
        </p:txBody>
      </p:sp>
    </p:spTree>
    <p:extLst>
      <p:ext uri="{BB962C8B-B14F-4D97-AF65-F5344CB8AC3E}">
        <p14:creationId xmlns:p14="http://schemas.microsoft.com/office/powerpoint/2010/main" xmlns="" val="76989527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Получение схемы реляционной базы данных из диаграммы классов UML</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smtClean="0"/>
              <a:t>Выполняются </a:t>
            </a:r>
            <a:r>
              <a:rPr lang="ru-RU" dirty="0"/>
              <a:t>практически те же шаги, что и в случае преобразования в схему реляционной </a:t>
            </a:r>
            <a:r>
              <a:rPr lang="ru-RU" i="1" dirty="0"/>
              <a:t>БД</a:t>
            </a:r>
            <a:r>
              <a:rPr lang="ru-RU" dirty="0"/>
              <a:t> ER-диаграммы. Поэтому ограничимся только некоторыми рекомендациями, специфичными </a:t>
            </a:r>
            <a:r>
              <a:rPr lang="ru-RU" dirty="0" smtClean="0"/>
              <a:t>для </a:t>
            </a:r>
            <a:r>
              <a:rPr lang="ru-RU" i="1" dirty="0" smtClean="0"/>
              <a:t>диаграмм </a:t>
            </a:r>
            <a:r>
              <a:rPr lang="ru-RU" i="1" dirty="0"/>
              <a:t>классов</a:t>
            </a:r>
            <a:r>
              <a:rPr lang="ru-RU" dirty="0" smtClean="0"/>
              <a:t>.</a:t>
            </a:r>
          </a:p>
          <a:p>
            <a:r>
              <a:rPr lang="ru-RU" b="1" dirty="0"/>
              <a:t>1</a:t>
            </a:r>
            <a:r>
              <a:rPr lang="ru-RU" dirty="0"/>
              <a:t>. Прежде чем определять в </a:t>
            </a:r>
            <a:r>
              <a:rPr lang="ru-RU" i="1" dirty="0"/>
              <a:t>классах</a:t>
            </a:r>
            <a:r>
              <a:rPr lang="ru-RU" dirty="0"/>
              <a:t> </a:t>
            </a:r>
            <a:r>
              <a:rPr lang="ru-RU" i="1" dirty="0"/>
              <a:t>операции</a:t>
            </a:r>
            <a:r>
              <a:rPr lang="ru-RU" dirty="0"/>
              <a:t>, подумайте, что вы будете делать с этими определениями в среде целевой </a:t>
            </a:r>
            <a:r>
              <a:rPr lang="ru-RU" dirty="0" smtClean="0"/>
              <a:t>СУБД</a:t>
            </a:r>
            <a:r>
              <a:rPr lang="ru-RU" dirty="0"/>
              <a:t>. Если в этой среде поддерживаются хранимые процедуры, то, возможно, некоторые </a:t>
            </a:r>
            <a:r>
              <a:rPr lang="ru-RU" i="1" dirty="0"/>
              <a:t>операции</a:t>
            </a:r>
            <a:r>
              <a:rPr lang="ru-RU" dirty="0"/>
              <a:t> могут быть реализованы именно с помощью такого механизма. Но если в среде </a:t>
            </a:r>
            <a:r>
              <a:rPr lang="ru-RU" dirty="0" smtClean="0"/>
              <a:t>СУБД </a:t>
            </a:r>
            <a:r>
              <a:rPr lang="ru-RU" dirty="0"/>
              <a:t>поддерживается механизм определяемых пользователями функций, возможно, он окажется более подходящим.</a:t>
            </a:r>
          </a:p>
        </p:txBody>
      </p:sp>
      <p:sp>
        <p:nvSpPr>
          <p:cNvPr id="4" name="Номер слайда 3"/>
          <p:cNvSpPr>
            <a:spLocks noGrp="1"/>
          </p:cNvSpPr>
          <p:nvPr>
            <p:ph type="sldNum" sz="quarter" idx="12"/>
          </p:nvPr>
        </p:nvSpPr>
        <p:spPr/>
        <p:txBody>
          <a:bodyPr/>
          <a:lstStyle/>
          <a:p>
            <a:fld id="{590C5F67-5E4C-4ABB-99F4-36BCAC8BE885}" type="slidenum">
              <a:rPr lang="ru-RU" smtClean="0"/>
              <a:pPr/>
              <a:t>151</a:t>
            </a:fld>
            <a:endParaRPr lang="ru-RU"/>
          </a:p>
        </p:txBody>
      </p:sp>
    </p:spTree>
    <p:extLst>
      <p:ext uri="{BB962C8B-B14F-4D97-AF65-F5344CB8AC3E}">
        <p14:creationId xmlns:p14="http://schemas.microsoft.com/office/powerpoint/2010/main" xmlns="" val="231284863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940"/>
            <a:ext cx="10515600" cy="5514023"/>
          </a:xfrm>
        </p:spPr>
        <p:txBody>
          <a:bodyPr>
            <a:normAutofit lnSpcReduction="10000"/>
          </a:bodyPr>
          <a:lstStyle/>
          <a:p>
            <a:r>
              <a:rPr lang="ru-RU" dirty="0" smtClean="0"/>
              <a:t>2.</a:t>
            </a:r>
            <a:r>
              <a:rPr lang="ru-RU" dirty="0"/>
              <a:t> Реализация в среде </a:t>
            </a:r>
            <a:r>
              <a:rPr lang="ru-RU" dirty="0" smtClean="0"/>
              <a:t>СУБД</a:t>
            </a:r>
            <a:r>
              <a:rPr lang="ru-RU" dirty="0"/>
              <a:t> </a:t>
            </a:r>
            <a:r>
              <a:rPr lang="ru-RU" i="1" dirty="0"/>
              <a:t>ассоциаций</a:t>
            </a:r>
            <a:r>
              <a:rPr lang="ru-RU" dirty="0"/>
              <a:t> с точно заданными </a:t>
            </a:r>
            <a:r>
              <a:rPr lang="ru-RU" i="1" dirty="0"/>
              <a:t>кратностями ролей</a:t>
            </a:r>
            <a:r>
              <a:rPr lang="ru-RU" dirty="0"/>
              <a:t> возможна, но требует определения дополнительных триггеров, выполнение которых понизит эффективность</a:t>
            </a:r>
            <a:r>
              <a:rPr lang="ru-RU" dirty="0" smtClean="0"/>
              <a:t>.</a:t>
            </a:r>
          </a:p>
          <a:p>
            <a:r>
              <a:rPr lang="ru-RU" dirty="0" smtClean="0"/>
              <a:t>3.</a:t>
            </a:r>
            <a:r>
              <a:rPr lang="ru-RU" dirty="0"/>
              <a:t> Для технологии реляционных </a:t>
            </a:r>
            <a:r>
              <a:rPr lang="ru-RU" i="1" dirty="0"/>
              <a:t>БД</a:t>
            </a:r>
            <a:r>
              <a:rPr lang="ru-RU" dirty="0"/>
              <a:t> </a:t>
            </a:r>
            <a:r>
              <a:rPr lang="ru-RU" i="1" dirty="0"/>
              <a:t>агрегатные</a:t>
            </a:r>
            <a:r>
              <a:rPr lang="ru-RU" dirty="0"/>
              <a:t> и в особенности </a:t>
            </a:r>
            <a:r>
              <a:rPr lang="ru-RU" i="1" dirty="0"/>
              <a:t>композитные ассоциации</a:t>
            </a:r>
            <a:r>
              <a:rPr lang="ru-RU" dirty="0"/>
              <a:t> неестественны. Подумайте о том, что вы хотите получить в реляционной </a:t>
            </a:r>
            <a:r>
              <a:rPr lang="ru-RU" i="1" dirty="0"/>
              <a:t>БД</a:t>
            </a:r>
            <a:r>
              <a:rPr lang="ru-RU" dirty="0"/>
              <a:t>, объявив некоторую </a:t>
            </a:r>
            <a:r>
              <a:rPr lang="ru-RU" i="1" dirty="0"/>
              <a:t>ассоциацию</a:t>
            </a:r>
            <a:r>
              <a:rPr lang="ru-RU" dirty="0"/>
              <a:t> </a:t>
            </a:r>
            <a:r>
              <a:rPr lang="ru-RU" i="1" dirty="0"/>
              <a:t>агрегатной</a:t>
            </a:r>
            <a:r>
              <a:rPr lang="ru-RU" dirty="0"/>
              <a:t>.</a:t>
            </a:r>
          </a:p>
          <a:p>
            <a:r>
              <a:rPr lang="ru-RU" dirty="0" smtClean="0"/>
              <a:t>4.</a:t>
            </a:r>
            <a:r>
              <a:rPr lang="ru-RU" dirty="0"/>
              <a:t> </a:t>
            </a:r>
            <a:r>
              <a:rPr lang="ru-RU" dirty="0" smtClean="0"/>
              <a:t>Определяя </a:t>
            </a:r>
            <a:r>
              <a:rPr lang="ru-RU" dirty="0"/>
              <a:t>однонаправленные связи, вы можете способствовать эффективности доступа к некоторым объектам. Для технологии реляционных баз данных </a:t>
            </a:r>
            <a:r>
              <a:rPr lang="ru-RU" i="1" dirty="0"/>
              <a:t>поддержка</a:t>
            </a:r>
            <a:r>
              <a:rPr lang="ru-RU" dirty="0"/>
              <a:t> такого объявления вызовет дополнительные накладные </a:t>
            </a:r>
            <a:r>
              <a:rPr lang="ru-RU" i="1" dirty="0"/>
              <a:t>расходы</a:t>
            </a:r>
            <a:r>
              <a:rPr lang="ru-RU" dirty="0"/>
              <a:t> и тем самым снизит эффективность</a:t>
            </a:r>
            <a:br>
              <a:rPr lang="ru-RU" dirty="0"/>
            </a:b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152</a:t>
            </a:fld>
            <a:endParaRPr lang="ru-RU"/>
          </a:p>
        </p:txBody>
      </p:sp>
    </p:spTree>
    <p:extLst>
      <p:ext uri="{BB962C8B-B14F-4D97-AF65-F5344CB8AC3E}">
        <p14:creationId xmlns:p14="http://schemas.microsoft.com/office/powerpoint/2010/main" xmlns="" val="10499384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smtClean="0"/>
              <a:t>Введение в модель данных </a:t>
            </a:r>
            <a:r>
              <a:rPr lang="en-US" b="1" dirty="0" smtClean="0"/>
              <a:t>SQL</a:t>
            </a:r>
            <a:r>
              <a:rPr lang="ru-RU" b="1" dirty="0"/>
              <a:t/>
            </a:r>
            <a:br>
              <a:rPr lang="ru-RU" b="1" dirty="0"/>
            </a:br>
            <a:endParaRPr lang="ru-RU" dirty="0"/>
          </a:p>
        </p:txBody>
      </p:sp>
      <p:sp>
        <p:nvSpPr>
          <p:cNvPr id="3" name="Объект 2"/>
          <p:cNvSpPr>
            <a:spLocks noGrp="1"/>
          </p:cNvSpPr>
          <p:nvPr>
            <p:ph idx="1"/>
          </p:nvPr>
        </p:nvSpPr>
        <p:spPr/>
        <p:txBody>
          <a:bodyPr>
            <a:normAutofit/>
          </a:bodyPr>
          <a:lstStyle/>
          <a:p>
            <a:r>
              <a:rPr lang="ru-RU" dirty="0"/>
              <a:t>Язык </a:t>
            </a:r>
            <a:r>
              <a:rPr lang="ru-RU" i="1" dirty="0"/>
              <a:t>SQL</a:t>
            </a:r>
            <a:r>
              <a:rPr lang="ru-RU" dirty="0"/>
              <a:t>, предназначенный для взаимодействия с базами данных, появился в середине 70-х гг. (первые публикации датируются 1974 г.) и был разработан в </a:t>
            </a:r>
            <a:r>
              <a:rPr lang="ru-RU" i="1" dirty="0"/>
              <a:t>компании IBM</a:t>
            </a:r>
            <a:r>
              <a:rPr lang="ru-RU" dirty="0"/>
              <a:t> в рамках проекта экспериментальной реляционной </a:t>
            </a:r>
            <a:r>
              <a:rPr lang="ru-RU" i="1" dirty="0"/>
              <a:t>СУБД </a:t>
            </a:r>
            <a:r>
              <a:rPr lang="ru-RU" i="1" dirty="0" err="1"/>
              <a:t>System</a:t>
            </a:r>
            <a:r>
              <a:rPr lang="ru-RU" i="1" dirty="0"/>
              <a:t> R</a:t>
            </a:r>
            <a:r>
              <a:rPr lang="ru-RU" dirty="0"/>
              <a:t>. Исходное название языка </a:t>
            </a:r>
            <a:r>
              <a:rPr lang="ru-RU" i="1" dirty="0"/>
              <a:t>SEQUEL</a:t>
            </a:r>
            <a:r>
              <a:rPr lang="ru-RU" dirty="0"/>
              <a:t>(</a:t>
            </a:r>
            <a:r>
              <a:rPr lang="ru-RU" i="1" dirty="0" err="1"/>
              <a:t>Structured</a:t>
            </a:r>
            <a:r>
              <a:rPr lang="ru-RU" dirty="0"/>
              <a:t> </a:t>
            </a:r>
            <a:r>
              <a:rPr lang="ru-RU" dirty="0" err="1"/>
              <a:t>English</a:t>
            </a:r>
            <a:r>
              <a:rPr lang="ru-RU" dirty="0"/>
              <a:t> </a:t>
            </a:r>
            <a:r>
              <a:rPr lang="ru-RU" i="1" dirty="0" err="1"/>
              <a:t>Query</a:t>
            </a:r>
            <a:r>
              <a:rPr lang="ru-RU" i="1" dirty="0"/>
              <a:t> </a:t>
            </a:r>
            <a:r>
              <a:rPr lang="ru-RU" i="1" dirty="0" err="1"/>
              <a:t>Language</a:t>
            </a:r>
            <a:r>
              <a:rPr lang="ru-RU" dirty="0" smtClean="0"/>
              <a:t>). </a:t>
            </a:r>
            <a:r>
              <a:rPr lang="ru-RU" dirty="0"/>
              <a:t>Я</a:t>
            </a:r>
            <a:r>
              <a:rPr lang="ru-RU" dirty="0" smtClean="0"/>
              <a:t>зык </a:t>
            </a:r>
            <a:r>
              <a:rPr lang="ru-RU" dirty="0"/>
              <a:t>был ориентирован главным образом на удобную и понятную пользователям формулировку запросов к реляционным БД. </a:t>
            </a:r>
            <a:r>
              <a:rPr lang="ru-RU" dirty="0" smtClean="0"/>
              <a:t>Язык </a:t>
            </a:r>
            <a:r>
              <a:rPr lang="en-US" dirty="0" smtClean="0"/>
              <a:t>SQL </a:t>
            </a:r>
            <a:r>
              <a:rPr lang="ru-RU" dirty="0" smtClean="0"/>
              <a:t>помимо </a:t>
            </a:r>
            <a:r>
              <a:rPr lang="ru-RU" dirty="0"/>
              <a:t>средств формулирования запросов и </a:t>
            </a:r>
            <a:r>
              <a:rPr lang="ru-RU" dirty="0" smtClean="0"/>
              <a:t>манипулирования</a:t>
            </a:r>
            <a:r>
              <a:rPr lang="en-US" dirty="0" smtClean="0"/>
              <a:t> </a:t>
            </a:r>
            <a:r>
              <a:rPr lang="ru-RU" dirty="0" smtClean="0"/>
              <a:t>структурой </a:t>
            </a:r>
            <a:r>
              <a:rPr lang="ru-RU" dirty="0"/>
              <a:t>БД следующие возможности: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153</a:t>
            </a:fld>
            <a:endParaRPr lang="ru-RU"/>
          </a:p>
        </p:txBody>
      </p:sp>
    </p:spTree>
    <p:extLst>
      <p:ext uri="{BB962C8B-B14F-4D97-AF65-F5344CB8AC3E}">
        <p14:creationId xmlns:p14="http://schemas.microsoft.com/office/powerpoint/2010/main" xmlns="" val="24617453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548640"/>
            <a:ext cx="10515600" cy="5628323"/>
          </a:xfrm>
        </p:spPr>
        <p:txBody>
          <a:bodyPr/>
          <a:lstStyle/>
          <a:p>
            <a:r>
              <a:rPr lang="ru-RU" dirty="0"/>
              <a:t>средства определения и манипулирования схемой БД;</a:t>
            </a:r>
          </a:p>
          <a:p>
            <a:r>
              <a:rPr lang="ru-RU" dirty="0"/>
              <a:t>средства определения </a:t>
            </a:r>
            <a:r>
              <a:rPr lang="ru-RU" i="1" dirty="0"/>
              <a:t>ограничений целостности</a:t>
            </a:r>
            <a:r>
              <a:rPr lang="ru-RU" dirty="0"/>
              <a:t> и </a:t>
            </a:r>
            <a:r>
              <a:rPr lang="ru-RU" i="1" dirty="0"/>
              <a:t>триггеров</a:t>
            </a:r>
            <a:r>
              <a:rPr lang="ru-RU" dirty="0"/>
              <a:t>;</a:t>
            </a:r>
          </a:p>
          <a:p>
            <a:r>
              <a:rPr lang="ru-RU" dirty="0"/>
              <a:t>средства определения представлений БД;</a:t>
            </a:r>
          </a:p>
          <a:p>
            <a:r>
              <a:rPr lang="ru-RU" dirty="0"/>
              <a:t>средства определения структур физического уровня, поддерживающих эффективное выполнение запросов;</a:t>
            </a:r>
          </a:p>
          <a:p>
            <a:r>
              <a:rPr lang="ru-RU" dirty="0"/>
              <a:t>средства </a:t>
            </a:r>
            <a:r>
              <a:rPr lang="ru-RU" i="1" dirty="0"/>
              <a:t>авторизации доступа</a:t>
            </a:r>
            <a:r>
              <a:rPr lang="ru-RU" dirty="0"/>
              <a:t> к отношениям и их полям </a:t>
            </a:r>
            <a:r>
              <a:rPr lang="ru-RU" dirty="0" smtClean="0"/>
              <a:t>;</a:t>
            </a:r>
            <a:endParaRPr lang="ru-RU" dirty="0"/>
          </a:p>
          <a:p>
            <a:r>
              <a:rPr lang="ru-RU" dirty="0"/>
              <a:t>средства определения точек сохранения транзакции, и выполнения фиксации и </a:t>
            </a:r>
            <a:r>
              <a:rPr lang="ru-RU" i="1" dirty="0"/>
              <a:t>откатов</a:t>
            </a:r>
            <a:r>
              <a:rPr lang="ru-RU" dirty="0"/>
              <a:t> транзакций.</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154</a:t>
            </a:fld>
            <a:endParaRPr lang="ru-RU"/>
          </a:p>
        </p:txBody>
      </p:sp>
    </p:spTree>
    <p:extLst>
      <p:ext uri="{BB962C8B-B14F-4D97-AF65-F5344CB8AC3E}">
        <p14:creationId xmlns:p14="http://schemas.microsoft.com/office/powerpoint/2010/main" xmlns="" val="8281610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В настоящее время язык </a:t>
            </a:r>
            <a:r>
              <a:rPr lang="ru-RU" i="1" dirty="0"/>
              <a:t>SQL</a:t>
            </a:r>
            <a:r>
              <a:rPr lang="ru-RU" dirty="0"/>
              <a:t> реализован во всех коммерческих реляционных СУБД и почти во всех СУБД, которые изначально основывались не на реляционном подходе. Все компании-производители провозглашают соответствие своей реализации стандарту </a:t>
            </a:r>
            <a:r>
              <a:rPr lang="ru-RU" i="1" dirty="0"/>
              <a:t>SQL</a:t>
            </a:r>
            <a:r>
              <a:rPr lang="ru-RU" dirty="0"/>
              <a:t>, и на самом деле реализованные диалекты </a:t>
            </a:r>
            <a:r>
              <a:rPr lang="ru-RU" i="1" dirty="0"/>
              <a:t>SQL</a:t>
            </a:r>
            <a:r>
              <a:rPr lang="ru-RU" dirty="0"/>
              <a:t> очень близки</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155</a:t>
            </a:fld>
            <a:endParaRPr lang="ru-RU"/>
          </a:p>
        </p:txBody>
      </p:sp>
    </p:spTree>
    <p:extLst>
      <p:ext uri="{BB962C8B-B14F-4D97-AF65-F5344CB8AC3E}">
        <p14:creationId xmlns:p14="http://schemas.microsoft.com/office/powerpoint/2010/main" xmlns="" val="251719009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данных </a:t>
            </a:r>
            <a:r>
              <a:rPr lang="en-US" b="1" dirty="0"/>
              <a:t>SQL</a:t>
            </a:r>
            <a:br>
              <a:rPr lang="en-US" b="1" dirty="0"/>
            </a:br>
            <a:endParaRPr lang="ru-RU" dirty="0"/>
          </a:p>
        </p:txBody>
      </p:sp>
      <p:sp>
        <p:nvSpPr>
          <p:cNvPr id="3" name="Объект 2"/>
          <p:cNvSpPr>
            <a:spLocks noGrp="1"/>
          </p:cNvSpPr>
          <p:nvPr>
            <p:ph idx="1"/>
          </p:nvPr>
        </p:nvSpPr>
        <p:spPr/>
        <p:txBody>
          <a:bodyPr/>
          <a:lstStyle/>
          <a:p>
            <a:r>
              <a:rPr lang="ru-RU" dirty="0"/>
              <a:t>Данные, хранящиеся в столбцах таблиц </a:t>
            </a:r>
            <a:r>
              <a:rPr lang="ru-RU" i="1" dirty="0"/>
              <a:t>SQL</a:t>
            </a:r>
            <a:r>
              <a:rPr lang="ru-RU" dirty="0"/>
              <a:t> -ориентированной </a:t>
            </a:r>
            <a:r>
              <a:rPr lang="ru-RU" i="1" dirty="0"/>
              <a:t>базы данных</a:t>
            </a:r>
            <a:r>
              <a:rPr lang="ru-RU" dirty="0"/>
              <a:t>, являются типизированными, т. е. представляют собой значения одного из типов данных, предопределенных в языке </a:t>
            </a:r>
            <a:r>
              <a:rPr lang="ru-RU" i="1" dirty="0"/>
              <a:t>SQL</a:t>
            </a:r>
            <a:r>
              <a:rPr lang="ru-RU" dirty="0"/>
              <a:t> или </a:t>
            </a:r>
            <a:r>
              <a:rPr lang="ru-RU" i="1" dirty="0"/>
              <a:t>определяемых пользователями</a:t>
            </a:r>
            <a:r>
              <a:rPr lang="ru-RU" dirty="0"/>
              <a:t> путем применения соответствующих средств языка. Для этого при определении таблицы каждому ее столбцу назначается некоторый </a:t>
            </a:r>
            <a:r>
              <a:rPr lang="ru-RU" i="1" dirty="0"/>
              <a:t>тип данных</a:t>
            </a:r>
            <a:r>
              <a:rPr lang="ru-RU" dirty="0"/>
              <a:t> (</a:t>
            </a:r>
            <a:r>
              <a:rPr lang="ru-RU" dirty="0" smtClean="0"/>
              <a:t>или</a:t>
            </a:r>
            <a:r>
              <a:rPr lang="en-US" dirty="0" smtClean="0"/>
              <a:t> </a:t>
            </a:r>
            <a:r>
              <a:rPr lang="ru-RU" i="1" dirty="0" smtClean="0"/>
              <a:t>домен</a:t>
            </a:r>
            <a:r>
              <a:rPr lang="ru-RU" dirty="0"/>
              <a:t>), и в дальнейшем </a:t>
            </a:r>
            <a:r>
              <a:rPr lang="ru-RU" i="1" dirty="0"/>
              <a:t>СУБД</a:t>
            </a:r>
            <a:r>
              <a:rPr lang="ru-RU" dirty="0"/>
              <a:t> должна следить, чтобы в каждом столбце каждой строки каждой таблицы присутствовали только допустимые значения.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156</a:t>
            </a:fld>
            <a:endParaRPr lang="ru-RU"/>
          </a:p>
        </p:txBody>
      </p:sp>
    </p:spTree>
    <p:extLst>
      <p:ext uri="{BB962C8B-B14F-4D97-AF65-F5344CB8AC3E}">
        <p14:creationId xmlns:p14="http://schemas.microsoft.com/office/powerpoint/2010/main" xmlns="" val="277744327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206375"/>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365125"/>
            <a:ext cx="10515600" cy="5811838"/>
          </a:xfrm>
        </p:spPr>
        <p:txBody>
          <a:bodyPr>
            <a:normAutofit fontScale="92500" lnSpcReduction="10000"/>
          </a:bodyPr>
          <a:lstStyle/>
          <a:p>
            <a:r>
              <a:rPr lang="ru-RU" dirty="0"/>
              <a:t>Все допустимые в </a:t>
            </a:r>
            <a:r>
              <a:rPr lang="en-US" i="1" dirty="0"/>
              <a:t>SQL</a:t>
            </a:r>
            <a:r>
              <a:rPr lang="en-US" dirty="0"/>
              <a:t> </a:t>
            </a:r>
            <a:r>
              <a:rPr lang="ru-RU" dirty="0"/>
              <a:t>типы данных, которые можно использовать при определении </a:t>
            </a:r>
            <a:r>
              <a:rPr lang="ru-RU" dirty="0" smtClean="0"/>
              <a:t>столбцов, </a:t>
            </a:r>
            <a:r>
              <a:rPr lang="ru-RU" dirty="0"/>
              <a:t>разбиваются на следующие </a:t>
            </a:r>
            <a:r>
              <a:rPr lang="ru-RU" dirty="0" smtClean="0"/>
              <a:t>категории:</a:t>
            </a:r>
            <a:endParaRPr lang="ru-RU" dirty="0"/>
          </a:p>
          <a:p>
            <a:r>
              <a:rPr lang="ru-RU" i="1" dirty="0"/>
              <a:t>точные числовые типы</a:t>
            </a:r>
            <a:r>
              <a:rPr lang="ru-RU" dirty="0"/>
              <a:t> (</a:t>
            </a:r>
            <a:r>
              <a:rPr lang="en-US" i="1" dirty="0"/>
              <a:t>exact</a:t>
            </a:r>
            <a:r>
              <a:rPr lang="en-US" dirty="0"/>
              <a:t> </a:t>
            </a:r>
            <a:r>
              <a:rPr lang="en-US" dirty="0" err="1"/>
              <a:t>numerics</a:t>
            </a:r>
            <a:r>
              <a:rPr lang="en-US" dirty="0"/>
              <a:t>);</a:t>
            </a:r>
          </a:p>
          <a:p>
            <a:r>
              <a:rPr lang="ru-RU" i="1" dirty="0"/>
              <a:t>приближенные числовые типы</a:t>
            </a:r>
            <a:r>
              <a:rPr lang="ru-RU" dirty="0"/>
              <a:t> (</a:t>
            </a:r>
            <a:r>
              <a:rPr lang="en-US" dirty="0"/>
              <a:t>approximate </a:t>
            </a:r>
            <a:r>
              <a:rPr lang="en-US" dirty="0" err="1"/>
              <a:t>numerics</a:t>
            </a:r>
            <a:r>
              <a:rPr lang="en-US" dirty="0"/>
              <a:t>);</a:t>
            </a:r>
          </a:p>
          <a:p>
            <a:r>
              <a:rPr lang="ru-RU" i="1" dirty="0"/>
              <a:t>типы символьных строк</a:t>
            </a:r>
            <a:r>
              <a:rPr lang="ru-RU" dirty="0"/>
              <a:t> (</a:t>
            </a:r>
            <a:r>
              <a:rPr lang="en-US" i="1" dirty="0"/>
              <a:t>character strings</a:t>
            </a:r>
            <a:r>
              <a:rPr lang="en-US" dirty="0"/>
              <a:t>);</a:t>
            </a:r>
          </a:p>
          <a:p>
            <a:r>
              <a:rPr lang="ru-RU" i="1" dirty="0"/>
              <a:t>типы битовых строк</a:t>
            </a:r>
            <a:r>
              <a:rPr lang="ru-RU" dirty="0"/>
              <a:t> (</a:t>
            </a:r>
            <a:r>
              <a:rPr lang="en-US" i="1" dirty="0"/>
              <a:t>bit strings</a:t>
            </a:r>
            <a:r>
              <a:rPr lang="en-US" dirty="0"/>
              <a:t>) </a:t>
            </a:r>
            <a:r>
              <a:rPr lang="en-US" baseline="30000" dirty="0"/>
              <a:t>9</a:t>
            </a:r>
            <a:r>
              <a:rPr lang="en-US" dirty="0"/>
              <a:t> ;</a:t>
            </a:r>
          </a:p>
          <a:p>
            <a:r>
              <a:rPr lang="ru-RU" i="1" dirty="0"/>
              <a:t>типы даты и времени</a:t>
            </a:r>
            <a:r>
              <a:rPr lang="ru-RU" dirty="0"/>
              <a:t> (</a:t>
            </a:r>
            <a:r>
              <a:rPr lang="en-US" i="1" dirty="0" err="1"/>
              <a:t>datetimes</a:t>
            </a:r>
            <a:r>
              <a:rPr lang="en-US" dirty="0"/>
              <a:t>);</a:t>
            </a:r>
          </a:p>
          <a:p>
            <a:r>
              <a:rPr lang="ru-RU" i="1" dirty="0"/>
              <a:t>типы временных интервалов</a:t>
            </a:r>
            <a:r>
              <a:rPr lang="ru-RU" dirty="0"/>
              <a:t> (</a:t>
            </a:r>
            <a:r>
              <a:rPr lang="en-US" i="1" dirty="0"/>
              <a:t>intervals</a:t>
            </a:r>
            <a:r>
              <a:rPr lang="en-US" dirty="0"/>
              <a:t>);</a:t>
            </a:r>
          </a:p>
          <a:p>
            <a:r>
              <a:rPr lang="ru-RU" i="1" dirty="0"/>
              <a:t>булевский тип</a:t>
            </a:r>
            <a:r>
              <a:rPr lang="ru-RU" dirty="0"/>
              <a:t> (</a:t>
            </a:r>
            <a:r>
              <a:rPr lang="en-US" i="1" dirty="0"/>
              <a:t>Booleans</a:t>
            </a:r>
            <a:r>
              <a:rPr lang="en-US" dirty="0"/>
              <a:t>);</a:t>
            </a:r>
          </a:p>
          <a:p>
            <a:r>
              <a:rPr lang="ru-RU" i="1" dirty="0"/>
              <a:t>типы коллекций</a:t>
            </a:r>
            <a:r>
              <a:rPr lang="ru-RU" dirty="0"/>
              <a:t> (</a:t>
            </a:r>
            <a:r>
              <a:rPr lang="en-US" dirty="0"/>
              <a:t>collection types);</a:t>
            </a:r>
          </a:p>
          <a:p>
            <a:r>
              <a:rPr lang="ru-RU" i="1" dirty="0"/>
              <a:t>анонимные строчные типы</a:t>
            </a:r>
            <a:r>
              <a:rPr lang="ru-RU" dirty="0"/>
              <a:t> (</a:t>
            </a:r>
            <a:r>
              <a:rPr lang="en-US" i="1" dirty="0"/>
              <a:t>anonymous</a:t>
            </a:r>
            <a:r>
              <a:rPr lang="en-US" dirty="0"/>
              <a:t> row types);</a:t>
            </a:r>
          </a:p>
          <a:p>
            <a:r>
              <a:rPr lang="ru-RU" i="1" dirty="0"/>
              <a:t>типы, определяемые пользователем</a:t>
            </a:r>
            <a:r>
              <a:rPr lang="ru-RU" dirty="0"/>
              <a:t> (</a:t>
            </a:r>
            <a:r>
              <a:rPr lang="en-US" i="1" dirty="0"/>
              <a:t>user-defined</a:t>
            </a:r>
            <a:r>
              <a:rPr lang="en-US" dirty="0"/>
              <a:t> types);</a:t>
            </a:r>
          </a:p>
          <a:p>
            <a:r>
              <a:rPr lang="ru-RU" i="1" dirty="0"/>
              <a:t>ссылочные типы</a:t>
            </a:r>
            <a:r>
              <a:rPr lang="ru-RU" dirty="0"/>
              <a:t> (</a:t>
            </a:r>
            <a:r>
              <a:rPr lang="en-US" i="1" dirty="0"/>
              <a:t>reference types</a:t>
            </a:r>
            <a:r>
              <a:rPr lang="en-US" dirty="0"/>
              <a: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157</a:t>
            </a:fld>
            <a:endParaRPr lang="ru-RU"/>
          </a:p>
        </p:txBody>
      </p:sp>
    </p:spTree>
    <p:extLst>
      <p:ext uri="{BB962C8B-B14F-4D97-AF65-F5344CB8AC3E}">
        <p14:creationId xmlns:p14="http://schemas.microsoft.com/office/powerpoint/2010/main" xmlns="" val="171627623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T</a:t>
            </a:r>
            <a:r>
              <a:rPr lang="ru-RU" b="1" dirty="0"/>
              <a:t>очные числовые типы</a:t>
            </a:r>
            <a:br>
              <a:rPr lang="ru-RU" b="1" dirty="0"/>
            </a:br>
            <a:endParaRPr lang="ru-RU" dirty="0"/>
          </a:p>
        </p:txBody>
      </p:sp>
      <p:sp>
        <p:nvSpPr>
          <p:cNvPr id="3" name="Объект 2"/>
          <p:cNvSpPr>
            <a:spLocks noGrp="1"/>
          </p:cNvSpPr>
          <p:nvPr>
            <p:ph idx="1"/>
          </p:nvPr>
        </p:nvSpPr>
        <p:spPr/>
        <p:txBody>
          <a:bodyPr/>
          <a:lstStyle/>
          <a:p>
            <a:r>
              <a:rPr lang="ru-RU" dirty="0"/>
              <a:t>К категории </a:t>
            </a:r>
            <a:r>
              <a:rPr lang="ru-RU" b="1" i="1" dirty="0"/>
              <a:t>точных числовых типов</a:t>
            </a:r>
            <a:r>
              <a:rPr lang="ru-RU" dirty="0"/>
              <a:t> в </a:t>
            </a:r>
            <a:r>
              <a:rPr lang="ru-RU" i="1" dirty="0"/>
              <a:t>SQL</a:t>
            </a:r>
            <a:r>
              <a:rPr lang="ru-RU" dirty="0"/>
              <a:t> относятся те типы, значения которых точно представляют числа. Типы данных этой категории распадаются на две части: </a:t>
            </a:r>
            <a:r>
              <a:rPr lang="ru-RU" i="1" dirty="0"/>
              <a:t>истинно целые типы</a:t>
            </a:r>
            <a:r>
              <a:rPr lang="ru-RU" dirty="0"/>
              <a:t> ( INTEGER и </a:t>
            </a:r>
            <a:r>
              <a:rPr lang="ru-RU" i="1" dirty="0"/>
              <a:t>SMALLINT</a:t>
            </a:r>
            <a:r>
              <a:rPr lang="ru-RU" dirty="0"/>
              <a:t> ) и </a:t>
            </a:r>
            <a:r>
              <a:rPr lang="ru-RU" i="1" dirty="0"/>
              <a:t>типы, допускающие наличие дробной части</a:t>
            </a:r>
            <a:r>
              <a:rPr lang="ru-RU" dirty="0"/>
              <a:t> (</a:t>
            </a:r>
            <a:r>
              <a:rPr lang="ru-RU" i="1" dirty="0"/>
              <a:t>NUMERIC</a:t>
            </a:r>
            <a:r>
              <a:rPr lang="ru-RU" dirty="0"/>
              <a:t> и </a:t>
            </a:r>
            <a:r>
              <a:rPr lang="ru-RU" i="1" dirty="0"/>
              <a:t>DECIMAL</a:t>
            </a:r>
            <a:r>
              <a:rPr lang="ru-RU" dirty="0"/>
              <a:t> ).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158</a:t>
            </a:fld>
            <a:endParaRPr lang="ru-RU"/>
          </a:p>
        </p:txBody>
      </p:sp>
    </p:spTree>
    <p:extLst>
      <p:ext uri="{BB962C8B-B14F-4D97-AF65-F5344CB8AC3E}">
        <p14:creationId xmlns:p14="http://schemas.microsoft.com/office/powerpoint/2010/main" xmlns="" val="250674070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Истинно целые типы</a:t>
            </a:r>
            <a:br>
              <a:rPr lang="ru-RU" b="1" dirty="0"/>
            </a:br>
            <a:endParaRPr lang="ru-RU" dirty="0"/>
          </a:p>
        </p:txBody>
      </p:sp>
      <p:sp>
        <p:nvSpPr>
          <p:cNvPr id="3" name="Объект 2"/>
          <p:cNvSpPr>
            <a:spLocks noGrp="1"/>
          </p:cNvSpPr>
          <p:nvPr>
            <p:ph idx="1"/>
          </p:nvPr>
        </p:nvSpPr>
        <p:spPr>
          <a:xfrm>
            <a:off x="838200" y="1485900"/>
            <a:ext cx="10515600" cy="4691063"/>
          </a:xfrm>
        </p:spPr>
        <p:txBody>
          <a:bodyPr>
            <a:normAutofit fontScale="92500" lnSpcReduction="10000"/>
          </a:bodyPr>
          <a:lstStyle/>
          <a:p>
            <a:r>
              <a:rPr lang="ru-RU" dirty="0"/>
              <a:t>Тип INTEGER. Тип служит для представления целых чисел. Точность чисел (число сохраняемых бит) определяется в реализации. При </a:t>
            </a:r>
            <a:r>
              <a:rPr lang="ru-RU" i="1" dirty="0"/>
              <a:t>определении столбца</a:t>
            </a:r>
            <a:r>
              <a:rPr lang="ru-RU" dirty="0"/>
              <a:t> данного типа достаточно указать просто INTEGER.</a:t>
            </a:r>
          </a:p>
          <a:p>
            <a:r>
              <a:rPr lang="ru-RU" dirty="0"/>
              <a:t>Тип </a:t>
            </a:r>
            <a:r>
              <a:rPr lang="ru-RU" i="1" dirty="0"/>
              <a:t>SMALLINT</a:t>
            </a:r>
            <a:r>
              <a:rPr lang="ru-RU" dirty="0"/>
              <a:t>. Тип также служит для представления целых чисел. Точность определяется в реализации, но она не должна быть больше точности типа INTEGER. При </a:t>
            </a:r>
            <a:r>
              <a:rPr lang="ru-RU" i="1" dirty="0"/>
              <a:t>определении столбца</a:t>
            </a:r>
            <a:r>
              <a:rPr lang="ru-RU" dirty="0"/>
              <a:t> указывается просто </a:t>
            </a:r>
            <a:r>
              <a:rPr lang="ru-RU" i="1" dirty="0"/>
              <a:t>SMALLINT</a:t>
            </a:r>
            <a:r>
              <a:rPr lang="ru-RU" dirty="0"/>
              <a:t>. </a:t>
            </a:r>
          </a:p>
          <a:p>
            <a:r>
              <a:rPr lang="ru-RU" i="1" dirty="0"/>
              <a:t>Литералы типов</a:t>
            </a:r>
            <a:r>
              <a:rPr lang="ru-RU" dirty="0"/>
              <a:t> целых чисел представляются в виде строк символов, изображающих десятичные числа; в начале строки могут присутствовать символы " + " или " - " (если символ знака отсутствует, подразумевается " + "). Примеры </a:t>
            </a:r>
            <a:r>
              <a:rPr lang="ru-RU" i="1" dirty="0"/>
              <a:t>литералов типов</a:t>
            </a:r>
            <a:r>
              <a:rPr lang="ru-RU" dirty="0"/>
              <a:t>  INTEGER и </a:t>
            </a:r>
            <a:r>
              <a:rPr lang="ru-RU" i="1" dirty="0"/>
              <a:t>SMALLINT</a:t>
            </a:r>
            <a:r>
              <a:rPr lang="ru-RU" dirty="0"/>
              <a:t>: 1826545, 876.</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159</a:t>
            </a:fld>
            <a:endParaRPr lang="ru-RU"/>
          </a:p>
        </p:txBody>
      </p:sp>
    </p:spTree>
    <p:extLst>
      <p:ext uri="{BB962C8B-B14F-4D97-AF65-F5344CB8AC3E}">
        <p14:creationId xmlns:p14="http://schemas.microsoft.com/office/powerpoint/2010/main" xmlns="" val="260019361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Точные типы, допускающие наличие дробной части</a:t>
            </a:r>
            <a:br>
              <a:rPr lang="ru-RU" b="1" dirty="0"/>
            </a:br>
            <a:endParaRPr lang="ru-RU" dirty="0"/>
          </a:p>
        </p:txBody>
      </p:sp>
      <p:sp>
        <p:nvSpPr>
          <p:cNvPr id="3" name="Объект 2"/>
          <p:cNvSpPr>
            <a:spLocks noGrp="1"/>
          </p:cNvSpPr>
          <p:nvPr>
            <p:ph idx="1"/>
          </p:nvPr>
        </p:nvSpPr>
        <p:spPr/>
        <p:txBody>
          <a:bodyPr>
            <a:normAutofit/>
          </a:bodyPr>
          <a:lstStyle/>
          <a:p>
            <a:r>
              <a:rPr lang="ru-RU" dirty="0"/>
              <a:t>Тип </a:t>
            </a:r>
            <a:r>
              <a:rPr lang="ru-RU" i="1" dirty="0"/>
              <a:t>NUMERIC</a:t>
            </a:r>
            <a:r>
              <a:rPr lang="ru-RU" dirty="0"/>
              <a:t>. На самом деле, это не просто тип данных, а </a:t>
            </a:r>
            <a:r>
              <a:rPr lang="ru-RU" dirty="0" err="1"/>
              <a:t>параметризуемый</a:t>
            </a:r>
            <a:r>
              <a:rPr lang="ru-RU" dirty="0"/>
              <a:t> тип. При </a:t>
            </a:r>
            <a:r>
              <a:rPr lang="ru-RU" i="1" dirty="0"/>
              <a:t>определении столбца</a:t>
            </a:r>
            <a:r>
              <a:rPr lang="ru-RU" dirty="0"/>
              <a:t> можно указать спецификацию </a:t>
            </a:r>
            <a:r>
              <a:rPr lang="ru-RU" i="1" dirty="0"/>
              <a:t>NUMERIC</a:t>
            </a:r>
            <a:r>
              <a:rPr lang="ru-RU" dirty="0"/>
              <a:t> (p, s), </a:t>
            </a:r>
            <a:r>
              <a:rPr lang="ru-RU" dirty="0" smtClean="0"/>
              <a:t>где</a:t>
            </a:r>
            <a:r>
              <a:rPr lang="en-US" dirty="0" smtClean="0"/>
              <a:t> </a:t>
            </a:r>
            <a:r>
              <a:rPr lang="ru-RU" dirty="0" smtClean="0"/>
              <a:t>p</a:t>
            </a:r>
            <a:r>
              <a:rPr lang="ru-RU" dirty="0"/>
              <a:t> задает точность значений (число сохраняемых бит), а s – шкалу (число десятичных цифр в дробной части). Задаваемая шкала не должна быть отрицательной и не должна превышать значение точности. </a:t>
            </a:r>
            <a:r>
              <a:rPr lang="ru-RU" dirty="0" smtClean="0"/>
              <a:t>Допустимые </a:t>
            </a:r>
            <a:r>
              <a:rPr lang="ru-RU" dirty="0"/>
              <a:t>диапазоны значений p </a:t>
            </a:r>
            <a:r>
              <a:rPr lang="ru-RU" dirty="0" smtClean="0"/>
              <a:t>и s</a:t>
            </a:r>
            <a:r>
              <a:rPr lang="ru-RU" dirty="0"/>
              <a:t> определяются в реализации</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160</a:t>
            </a:fld>
            <a:endParaRPr lang="ru-RU"/>
          </a:p>
        </p:txBody>
      </p:sp>
    </p:spTree>
    <p:extLst>
      <p:ext uri="{BB962C8B-B14F-4D97-AF65-F5344CB8AC3E}">
        <p14:creationId xmlns:p14="http://schemas.microsoft.com/office/powerpoint/2010/main" xmlns="" val="384806629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a:bodyPr>
          <a:lstStyle/>
          <a:p>
            <a:r>
              <a:rPr lang="ru-RU" dirty="0"/>
              <a:t>Тип </a:t>
            </a:r>
            <a:r>
              <a:rPr lang="ru-RU" i="1" dirty="0"/>
              <a:t>DECIMAL</a:t>
            </a:r>
            <a:r>
              <a:rPr lang="ru-RU" dirty="0"/>
              <a:t>. Этот тип аналогичен типу </a:t>
            </a:r>
            <a:r>
              <a:rPr lang="ru-RU" i="1" dirty="0"/>
              <a:t>NUMERIC</a:t>
            </a:r>
            <a:r>
              <a:rPr lang="ru-RU" dirty="0"/>
              <a:t>. Отличие состоит в том, что если при </a:t>
            </a:r>
            <a:r>
              <a:rPr lang="ru-RU" i="1" dirty="0"/>
              <a:t>определении столбца</a:t>
            </a:r>
            <a:r>
              <a:rPr lang="ru-RU" dirty="0"/>
              <a:t> типа </a:t>
            </a:r>
            <a:r>
              <a:rPr lang="ru-RU" i="1" dirty="0" smtClean="0"/>
              <a:t>DECIMAL </a:t>
            </a:r>
            <a:r>
              <a:rPr lang="ru-RU" dirty="0" smtClean="0"/>
              <a:t>задается </a:t>
            </a:r>
            <a:r>
              <a:rPr lang="ru-RU" dirty="0"/>
              <a:t>точность p, то на самом деле используется точность m, определяемая в реализации, такая, что m &gt; p. Шкала всегда устанавливается такой, как явно или неявно (по умолчанию) задается. При указании типа столбца можно использовать спецификации </a:t>
            </a:r>
            <a:r>
              <a:rPr lang="ru-RU" i="1" dirty="0"/>
              <a:t>DECIMAL</a:t>
            </a:r>
            <a:r>
              <a:rPr lang="ru-RU" dirty="0"/>
              <a:t>, </a:t>
            </a:r>
            <a:r>
              <a:rPr lang="ru-RU" i="1" dirty="0"/>
              <a:t>DECIMAL</a:t>
            </a:r>
            <a:r>
              <a:rPr lang="ru-RU" dirty="0"/>
              <a:t> (p) и </a:t>
            </a:r>
            <a:r>
              <a:rPr lang="ru-RU" i="1" dirty="0"/>
              <a:t>DECIMAL</a:t>
            </a:r>
            <a:r>
              <a:rPr lang="ru-RU" dirty="0"/>
              <a:t> (p, s).</a:t>
            </a:r>
          </a:p>
          <a:p>
            <a:r>
              <a:rPr lang="ru-RU" i="1" dirty="0"/>
              <a:t>Литералы</a:t>
            </a:r>
            <a:r>
              <a:rPr lang="ru-RU" dirty="0"/>
              <a:t>   </a:t>
            </a:r>
            <a:r>
              <a:rPr lang="ru-RU" i="1" dirty="0"/>
              <a:t>типов точных чисел, допускающих наличие дробной части</a:t>
            </a:r>
            <a:r>
              <a:rPr lang="ru-RU" dirty="0"/>
              <a:t>, представляются в виде строк символов, изображающих десятичные числа, в начале которых могут присутствовать символы " + " или " - " (если символ знака отсутствует, подразумевается " + "), а внутри последовательности цифр может присутствовать символ " .". Примеры </a:t>
            </a:r>
            <a:r>
              <a:rPr lang="ru-RU" i="1" dirty="0"/>
              <a:t>литералов типов</a:t>
            </a:r>
            <a:r>
              <a:rPr lang="ru-RU" dirty="0"/>
              <a:t>  </a:t>
            </a:r>
            <a:r>
              <a:rPr lang="ru-RU" i="1" dirty="0"/>
              <a:t>NUMERIC</a:t>
            </a:r>
            <a:r>
              <a:rPr lang="ru-RU" dirty="0"/>
              <a:t> и </a:t>
            </a:r>
            <a:r>
              <a:rPr lang="ru-RU" i="1" dirty="0"/>
              <a:t>DECIMAL</a:t>
            </a:r>
            <a:r>
              <a:rPr lang="ru-RU" dirty="0"/>
              <a:t>: 125, 26.36.</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161</a:t>
            </a:fld>
            <a:endParaRPr lang="ru-RU"/>
          </a:p>
        </p:txBody>
      </p:sp>
    </p:spTree>
    <p:extLst>
      <p:ext uri="{BB962C8B-B14F-4D97-AF65-F5344CB8AC3E}">
        <p14:creationId xmlns:p14="http://schemas.microsoft.com/office/powerpoint/2010/main" xmlns="" val="387676550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Приближенные числовые типы</a:t>
            </a:r>
            <a:br>
              <a:rPr lang="ru-RU" b="1" dirty="0"/>
            </a:br>
            <a:endParaRPr lang="ru-RU" dirty="0"/>
          </a:p>
        </p:txBody>
      </p:sp>
      <p:sp>
        <p:nvSpPr>
          <p:cNvPr id="3" name="Объект 2"/>
          <p:cNvSpPr>
            <a:spLocks noGrp="1"/>
          </p:cNvSpPr>
          <p:nvPr>
            <p:ph idx="1"/>
          </p:nvPr>
        </p:nvSpPr>
        <p:spPr/>
        <p:txBody>
          <a:bodyPr/>
          <a:lstStyle/>
          <a:p>
            <a:r>
              <a:rPr lang="ru-RU" dirty="0"/>
              <a:t>К категории </a:t>
            </a:r>
            <a:r>
              <a:rPr lang="ru-RU" b="1" i="1" dirty="0"/>
              <a:t>приближенных числовых типов</a:t>
            </a:r>
            <a:r>
              <a:rPr lang="ru-RU" dirty="0"/>
              <a:t> в </a:t>
            </a:r>
            <a:r>
              <a:rPr lang="ru-RU" i="1" dirty="0"/>
              <a:t>SQL</a:t>
            </a:r>
            <a:r>
              <a:rPr lang="ru-RU" dirty="0"/>
              <a:t> относятся те типы, значения которых представляют числа приближенным образом. Приближенные числа представляются в виде пары &lt;</a:t>
            </a:r>
            <a:r>
              <a:rPr lang="ru-RU" i="1" dirty="0"/>
              <a:t>мантисса</a:t>
            </a:r>
            <a:r>
              <a:rPr lang="ru-RU" dirty="0"/>
              <a:t>, порядок&gt;, где </a:t>
            </a:r>
            <a:r>
              <a:rPr lang="ru-RU" i="1" dirty="0"/>
              <a:t>мантисса</a:t>
            </a:r>
            <a:r>
              <a:rPr lang="ru-RU" dirty="0"/>
              <a:t> состоит из значащих цифр числа, а порядок определяет реальный размер числа. В реализациях </a:t>
            </a:r>
            <a:r>
              <a:rPr lang="ru-RU" i="1" dirty="0"/>
              <a:t>приближенным числовым типам</a:t>
            </a:r>
            <a:r>
              <a:rPr lang="ru-RU" dirty="0"/>
              <a:t>   </a:t>
            </a:r>
            <a:r>
              <a:rPr lang="ru-RU" i="1" dirty="0"/>
              <a:t>SQL</a:t>
            </a:r>
            <a:r>
              <a:rPr lang="ru-RU" dirty="0"/>
              <a:t> обычно соответствуют типы с плавающей точкой. В </a:t>
            </a:r>
            <a:r>
              <a:rPr lang="ru-RU" i="1" dirty="0"/>
              <a:t>SQL</a:t>
            </a:r>
            <a:r>
              <a:rPr lang="ru-RU" dirty="0"/>
              <a:t> поддерживаются три варианта </a:t>
            </a:r>
            <a:r>
              <a:rPr lang="ru-RU" i="1" dirty="0"/>
              <a:t>приближенных числовых типов</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162</a:t>
            </a:fld>
            <a:endParaRPr lang="ru-RU"/>
          </a:p>
        </p:txBody>
      </p:sp>
    </p:spTree>
    <p:extLst>
      <p:ext uri="{BB962C8B-B14F-4D97-AF65-F5344CB8AC3E}">
        <p14:creationId xmlns:p14="http://schemas.microsoft.com/office/powerpoint/2010/main" xmlns="" val="22725205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 </a:t>
            </a:r>
            <a:r>
              <a:rPr lang="ru-RU" i="1" dirty="0"/>
              <a:t>REAL</a:t>
            </a:r>
            <a:r>
              <a:rPr lang="ru-RU" dirty="0"/>
              <a:t>. Значения типа соответствуют числам с плавающей точкой одинарной точности. Точность определяется в реализации, но обычно совпадает с точностью одинарной плавающей арифметики, поддерживаемой на аппаратной платформе, которая используется реализацией. При </a:t>
            </a:r>
            <a:r>
              <a:rPr lang="ru-RU" i="1" dirty="0"/>
              <a:t>определении столбца</a:t>
            </a:r>
            <a:r>
              <a:rPr lang="ru-RU" dirty="0"/>
              <a:t> указывается просто </a:t>
            </a:r>
            <a:r>
              <a:rPr lang="ru-RU" i="1" dirty="0"/>
              <a:t>REAL</a:t>
            </a:r>
            <a:r>
              <a:rPr lang="ru-RU" dirty="0"/>
              <a: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163</a:t>
            </a:fld>
            <a:endParaRPr lang="ru-RU"/>
          </a:p>
        </p:txBody>
      </p:sp>
    </p:spTree>
    <p:extLst>
      <p:ext uri="{BB962C8B-B14F-4D97-AF65-F5344CB8AC3E}">
        <p14:creationId xmlns:p14="http://schemas.microsoft.com/office/powerpoint/2010/main" xmlns="" val="394303265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 </a:t>
            </a:r>
            <a:r>
              <a:rPr lang="ru-RU" i="1" dirty="0"/>
              <a:t>DOUBLE PRECISION</a:t>
            </a:r>
            <a:r>
              <a:rPr lang="ru-RU" dirty="0"/>
              <a:t>. Точность значений этого типа определяется в реализации, но она должна быть больше точности </a:t>
            </a:r>
            <a:r>
              <a:rPr lang="ru-RU" dirty="0" smtClean="0"/>
              <a:t>типа </a:t>
            </a:r>
            <a:r>
              <a:rPr lang="ru-RU" i="1" dirty="0" smtClean="0"/>
              <a:t>REAL</a:t>
            </a:r>
            <a:r>
              <a:rPr lang="ru-RU" dirty="0"/>
              <a:t>. Обычно приближенным числам </a:t>
            </a:r>
            <a:r>
              <a:rPr lang="ru-RU" i="1" dirty="0"/>
              <a:t>SQL</a:t>
            </a:r>
            <a:r>
              <a:rPr lang="ru-RU" dirty="0"/>
              <a:t> с двойной точностью соответствуют поддерживаемые аппаратурой числа с плавающей точкой двойной точности. При </a:t>
            </a:r>
            <a:r>
              <a:rPr lang="ru-RU" i="1" dirty="0"/>
              <a:t>определении столбца</a:t>
            </a:r>
            <a:r>
              <a:rPr lang="ru-RU" dirty="0"/>
              <a:t> указывается просто </a:t>
            </a:r>
            <a:r>
              <a:rPr lang="ru-RU" i="1" dirty="0"/>
              <a:t>DOUBLE PRECISION</a:t>
            </a:r>
            <a:r>
              <a:rPr lang="ru-RU" dirty="0"/>
              <a: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164</a:t>
            </a:fld>
            <a:endParaRPr lang="ru-RU"/>
          </a:p>
        </p:txBody>
      </p:sp>
    </p:spTree>
    <p:extLst>
      <p:ext uri="{BB962C8B-B14F-4D97-AF65-F5344CB8AC3E}">
        <p14:creationId xmlns:p14="http://schemas.microsoft.com/office/powerpoint/2010/main" xmlns="" val="360398782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 FLOAT. Это </a:t>
            </a:r>
            <a:r>
              <a:rPr lang="ru-RU" dirty="0" err="1"/>
              <a:t>параметризуемый</a:t>
            </a:r>
            <a:r>
              <a:rPr lang="ru-RU" dirty="0"/>
              <a:t> </a:t>
            </a:r>
            <a:r>
              <a:rPr lang="ru-RU" i="1" dirty="0"/>
              <a:t>тип, значение</a:t>
            </a:r>
            <a:r>
              <a:rPr lang="ru-RU" dirty="0"/>
              <a:t> параметра p которого задает необходимую точность значений. Требуется, чтобы реально обеспечиваемая реализацией точность значений была не меньше p. Допустимый диапазон значений параметра </a:t>
            </a:r>
            <a:r>
              <a:rPr lang="ru-RU" dirty="0" smtClean="0"/>
              <a:t>p</a:t>
            </a:r>
            <a:r>
              <a:rPr lang="en-US" dirty="0" smtClean="0"/>
              <a:t> </a:t>
            </a:r>
            <a:r>
              <a:rPr lang="ru-RU" dirty="0" smtClean="0"/>
              <a:t>определяется </a:t>
            </a:r>
            <a:r>
              <a:rPr lang="ru-RU" dirty="0"/>
              <a:t>в реализации. При </a:t>
            </a:r>
            <a:r>
              <a:rPr lang="ru-RU" i="1" dirty="0"/>
              <a:t>определении столбца</a:t>
            </a:r>
            <a:r>
              <a:rPr lang="ru-RU" dirty="0"/>
              <a:t> можно указать либо FLOAT (p), либо просто FLOAT. В последнем случае подразумевается точность, определяемая реализацией по умолчанию.</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165</a:t>
            </a:fld>
            <a:endParaRPr lang="ru-RU"/>
          </a:p>
        </p:txBody>
      </p:sp>
    </p:spTree>
    <p:extLst>
      <p:ext uri="{BB962C8B-B14F-4D97-AF65-F5344CB8AC3E}">
        <p14:creationId xmlns:p14="http://schemas.microsoft.com/office/powerpoint/2010/main" xmlns="" val="17239332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i="1" dirty="0"/>
              <a:t>Литералы</a:t>
            </a:r>
            <a:r>
              <a:rPr lang="ru-RU" dirty="0"/>
              <a:t>   </a:t>
            </a:r>
            <a:r>
              <a:rPr lang="ru-RU" i="1" dirty="0"/>
              <a:t>приближенных числовых типов</a:t>
            </a:r>
            <a:r>
              <a:rPr lang="ru-RU" dirty="0"/>
              <a:t> представляются в виде </a:t>
            </a:r>
            <a:r>
              <a:rPr lang="ru-RU" i="1" dirty="0"/>
              <a:t>литерала</a:t>
            </a:r>
            <a:r>
              <a:rPr lang="ru-RU" dirty="0"/>
              <a:t>   </a:t>
            </a:r>
            <a:r>
              <a:rPr lang="ru-RU" i="1" dirty="0"/>
              <a:t>точного числового типа</a:t>
            </a:r>
            <a:r>
              <a:rPr lang="ru-RU" dirty="0"/>
              <a:t>, за которым могут следовать символ " E " и </a:t>
            </a:r>
            <a:r>
              <a:rPr lang="ru-RU" i="1" dirty="0"/>
              <a:t>литерал</a:t>
            </a:r>
            <a:r>
              <a:rPr lang="ru-RU" dirty="0"/>
              <a:t> целого числового типа. Примеры </a:t>
            </a:r>
            <a:r>
              <a:rPr lang="ru-RU" i="1" dirty="0"/>
              <a:t>литералов</a:t>
            </a:r>
            <a:r>
              <a:rPr lang="ru-RU" dirty="0"/>
              <a:t>   </a:t>
            </a:r>
            <a:r>
              <a:rPr lang="ru-RU" i="1" dirty="0"/>
              <a:t>приближенных числовых типов</a:t>
            </a:r>
            <a:r>
              <a:rPr lang="ru-RU" dirty="0"/>
              <a:t>: 123, 123.12, 123E12,123.12E12.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166</a:t>
            </a:fld>
            <a:endParaRPr lang="ru-RU"/>
          </a:p>
        </p:txBody>
      </p:sp>
    </p:spTree>
    <p:extLst>
      <p:ext uri="{BB962C8B-B14F-4D97-AF65-F5344CB8AC3E}">
        <p14:creationId xmlns:p14="http://schemas.microsoft.com/office/powerpoint/2010/main" xmlns="" val="31443428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символьных строк</a:t>
            </a:r>
            <a:br>
              <a:rPr lang="ru-RU" b="1" dirty="0"/>
            </a:br>
            <a:endParaRPr lang="ru-RU" dirty="0"/>
          </a:p>
        </p:txBody>
      </p:sp>
      <p:sp>
        <p:nvSpPr>
          <p:cNvPr id="3" name="Объект 2"/>
          <p:cNvSpPr>
            <a:spLocks noGrp="1"/>
          </p:cNvSpPr>
          <p:nvPr>
            <p:ph idx="1"/>
          </p:nvPr>
        </p:nvSpPr>
        <p:spPr/>
        <p:txBody>
          <a:bodyPr/>
          <a:lstStyle/>
          <a:p>
            <a:r>
              <a:rPr lang="ru-RU" dirty="0"/>
              <a:t>В </a:t>
            </a:r>
            <a:r>
              <a:rPr lang="en-US" i="1" dirty="0"/>
              <a:t>SQL</a:t>
            </a:r>
            <a:r>
              <a:rPr lang="en-US" dirty="0"/>
              <a:t> </a:t>
            </a:r>
            <a:r>
              <a:rPr lang="ru-RU" dirty="0"/>
              <a:t>определены три </a:t>
            </a:r>
            <a:r>
              <a:rPr lang="ru-RU" dirty="0" err="1"/>
              <a:t>параметризуемых</a:t>
            </a:r>
            <a:r>
              <a:rPr lang="ru-RU" dirty="0"/>
              <a:t> </a:t>
            </a:r>
            <a:r>
              <a:rPr lang="ru-RU" i="1" dirty="0"/>
              <a:t>типа символьных строк</a:t>
            </a:r>
            <a:r>
              <a:rPr lang="ru-RU" dirty="0"/>
              <a:t>: </a:t>
            </a:r>
            <a:r>
              <a:rPr lang="en-US" i="1" dirty="0"/>
              <a:t>CHARACTER</a:t>
            </a:r>
            <a:r>
              <a:rPr lang="en-US" dirty="0"/>
              <a:t> (</a:t>
            </a:r>
            <a:r>
              <a:rPr lang="ru-RU" dirty="0"/>
              <a:t>или </a:t>
            </a:r>
            <a:r>
              <a:rPr lang="en-US" dirty="0"/>
              <a:t>CHAR ), </a:t>
            </a:r>
            <a:r>
              <a:rPr lang="en-US" i="1" dirty="0"/>
              <a:t>CHARACTER VARYING</a:t>
            </a:r>
            <a:r>
              <a:rPr lang="en-US" dirty="0"/>
              <a:t> (</a:t>
            </a:r>
            <a:r>
              <a:rPr lang="ru-RU" dirty="0"/>
              <a:t>или </a:t>
            </a:r>
            <a:r>
              <a:rPr lang="en-US" dirty="0"/>
              <a:t>CHAR</a:t>
            </a:r>
            <a:r>
              <a:rPr lang="en-US" i="1" dirty="0"/>
              <a:t>VARYING</a:t>
            </a:r>
            <a:r>
              <a:rPr lang="en-US" dirty="0"/>
              <a:t>, </a:t>
            </a:r>
            <a:r>
              <a:rPr lang="ru-RU" dirty="0"/>
              <a:t>или </a:t>
            </a:r>
            <a:r>
              <a:rPr lang="en-US" dirty="0"/>
              <a:t>VARCHAR ) </a:t>
            </a:r>
            <a:r>
              <a:rPr lang="ru-RU" dirty="0"/>
              <a:t>и </a:t>
            </a:r>
            <a:r>
              <a:rPr lang="en-US" i="1" dirty="0"/>
              <a:t>CHARACTER</a:t>
            </a:r>
            <a:r>
              <a:rPr lang="en-US" dirty="0"/>
              <a:t> LARGE OBJECT (</a:t>
            </a:r>
            <a:r>
              <a:rPr lang="ru-RU" dirty="0"/>
              <a:t>или </a:t>
            </a:r>
            <a:r>
              <a:rPr lang="en-US" i="1" dirty="0"/>
              <a:t>CLOB</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167</a:t>
            </a:fld>
            <a:endParaRPr lang="ru-RU"/>
          </a:p>
        </p:txBody>
      </p:sp>
    </p:spTree>
    <p:extLst>
      <p:ext uri="{BB962C8B-B14F-4D97-AF65-F5344CB8AC3E}">
        <p14:creationId xmlns:p14="http://schemas.microsoft.com/office/powerpoint/2010/main" xmlns="" val="118834941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p>
        </p:txBody>
      </p:sp>
      <p:sp>
        <p:nvSpPr>
          <p:cNvPr id="3" name="Объект 2"/>
          <p:cNvSpPr>
            <a:spLocks noGrp="1"/>
          </p:cNvSpPr>
          <p:nvPr>
            <p:ph idx="1"/>
          </p:nvPr>
        </p:nvSpPr>
        <p:spPr>
          <a:xfrm>
            <a:off x="838200" y="662940"/>
            <a:ext cx="10515600" cy="5514023"/>
          </a:xfrm>
        </p:spPr>
        <p:txBody>
          <a:bodyPr>
            <a:normAutofit/>
          </a:bodyPr>
          <a:lstStyle/>
          <a:p>
            <a:r>
              <a:rPr lang="ru-RU" dirty="0"/>
              <a:t>Тип </a:t>
            </a:r>
            <a:r>
              <a:rPr lang="ru-RU" i="1" dirty="0"/>
              <a:t>CHARACTER</a:t>
            </a:r>
            <a:r>
              <a:rPr lang="ru-RU" dirty="0"/>
              <a:t>. Значениями типа являются </a:t>
            </a:r>
            <a:r>
              <a:rPr lang="ru-RU" i="1" dirty="0"/>
              <a:t>символьные строки</a:t>
            </a:r>
            <a:r>
              <a:rPr lang="ru-RU" dirty="0"/>
              <a:t>. Конкретный набор допустимых символов определяется в реализации, но, как правило, включает набор символов ASCII. При </a:t>
            </a:r>
            <a:r>
              <a:rPr lang="ru-RU" i="1" dirty="0"/>
              <a:t>определении столбца</a:t>
            </a:r>
            <a:r>
              <a:rPr lang="ru-RU" dirty="0"/>
              <a:t> допускается использование </a:t>
            </a:r>
            <a:r>
              <a:rPr lang="ru-RU" dirty="0" smtClean="0"/>
              <a:t>спецификаций </a:t>
            </a:r>
            <a:r>
              <a:rPr lang="ru-RU" i="1" dirty="0" smtClean="0"/>
              <a:t>CHARACTER</a:t>
            </a:r>
            <a:r>
              <a:rPr lang="ru-RU" dirty="0"/>
              <a:t> (x) и просто </a:t>
            </a:r>
            <a:r>
              <a:rPr lang="ru-RU" i="1" dirty="0"/>
              <a:t>CHARACTER</a:t>
            </a:r>
            <a:r>
              <a:rPr lang="ru-RU" dirty="0"/>
              <a:t>. Последний вариант эквивалентен заданию </a:t>
            </a:r>
            <a:r>
              <a:rPr lang="ru-RU" i="1" dirty="0"/>
              <a:t>CHARACTER</a:t>
            </a:r>
            <a:r>
              <a:rPr lang="ru-RU" dirty="0"/>
              <a:t> (1). После определения столбца типа </a:t>
            </a:r>
            <a:r>
              <a:rPr lang="ru-RU" i="1" dirty="0"/>
              <a:t>CHARACTER</a:t>
            </a:r>
            <a:r>
              <a:rPr lang="ru-RU" dirty="0"/>
              <a:t> (x) СУБД будет резервировать место для хранения x символов этого столбца во всех строках соответствующей таблицы. Если, например, определен столбец типа </a:t>
            </a:r>
            <a:r>
              <a:rPr lang="ru-RU" i="1" dirty="0"/>
              <a:t>CHARACTER</a:t>
            </a:r>
            <a:r>
              <a:rPr lang="ru-RU" dirty="0"/>
              <a:t> (8) и в некоторой строке таблицы в него заносится </a:t>
            </a:r>
            <a:r>
              <a:rPr lang="ru-RU" i="1" dirty="0"/>
              <a:t>символьная строка</a:t>
            </a:r>
            <a:r>
              <a:rPr lang="ru-RU" dirty="0"/>
              <a:t> длиной пять символов, то реально будут храниться восемь </a:t>
            </a:r>
            <a:r>
              <a:rPr lang="en-US" dirty="0"/>
              <a:t> </a:t>
            </a:r>
            <a:r>
              <a:rPr lang="ru-RU" dirty="0" smtClean="0"/>
              <a:t>символов</a:t>
            </a:r>
            <a:r>
              <a:rPr lang="en-US" dirty="0" smtClean="0"/>
              <a:t> </a:t>
            </a:r>
            <a:r>
              <a:rPr lang="ru-RU" dirty="0" smtClean="0"/>
              <a:t>последние </a:t>
            </a:r>
            <a:r>
              <a:rPr lang="ru-RU" dirty="0"/>
              <a:t>три из которых будут пробелами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168</a:t>
            </a:fld>
            <a:endParaRPr lang="ru-RU"/>
          </a:p>
        </p:txBody>
      </p:sp>
    </p:spTree>
    <p:extLst>
      <p:ext uri="{BB962C8B-B14F-4D97-AF65-F5344CB8AC3E}">
        <p14:creationId xmlns:p14="http://schemas.microsoft.com/office/powerpoint/2010/main" xmlns="" val="312864477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77240"/>
            <a:ext cx="10515600" cy="5399723"/>
          </a:xfrm>
        </p:spPr>
        <p:txBody>
          <a:bodyPr/>
          <a:lstStyle/>
          <a:p>
            <a:r>
              <a:rPr lang="ru-RU" dirty="0"/>
              <a:t>Тип </a:t>
            </a:r>
            <a:r>
              <a:rPr lang="ru-RU" i="1" dirty="0"/>
              <a:t>CHARACTER VARYING</a:t>
            </a:r>
            <a:r>
              <a:rPr lang="ru-RU" dirty="0"/>
              <a:t>. При </a:t>
            </a:r>
            <a:r>
              <a:rPr lang="ru-RU" i="1" dirty="0"/>
              <a:t>определении столбца</a:t>
            </a:r>
            <a:r>
              <a:rPr lang="ru-RU" dirty="0"/>
              <a:t> допускается использование спецификаций </a:t>
            </a:r>
            <a:r>
              <a:rPr lang="ru-RU" i="1" dirty="0"/>
              <a:t>CHARACTER VARYING</a:t>
            </a:r>
            <a:r>
              <a:rPr lang="ru-RU" dirty="0"/>
              <a:t> (x) и просто </a:t>
            </a:r>
            <a:r>
              <a:rPr lang="ru-RU" i="1" dirty="0"/>
              <a:t>CHARACTER VARYING</a:t>
            </a:r>
            <a:r>
              <a:rPr lang="ru-RU" dirty="0"/>
              <a:t>. Последний вариант эквивалентен заданию </a:t>
            </a:r>
            <a:r>
              <a:rPr lang="ru-RU" i="1" dirty="0"/>
              <a:t>CHARACTER VARYING</a:t>
            </a:r>
            <a:r>
              <a:rPr lang="ru-RU" dirty="0"/>
              <a:t> (1). Если в некоторой таблице определяется столбец типа </a:t>
            </a:r>
            <a:r>
              <a:rPr lang="ru-RU" i="1" dirty="0"/>
              <a:t>CHARACTER VARYING</a:t>
            </a:r>
            <a:r>
              <a:rPr lang="ru-RU" dirty="0"/>
              <a:t> (x), то в каждой строке этой таблицы значения данного столбца будут занимать ровно столько места, сколько требуется для сохранения соответствующей </a:t>
            </a:r>
            <a:r>
              <a:rPr lang="ru-RU" i="1" dirty="0"/>
              <a:t>символьной строки</a:t>
            </a:r>
            <a:r>
              <a:rPr lang="ru-RU" dirty="0"/>
              <a:t> (но ни одна такая строка не может состоять более чем из x символов</a:t>
            </a:r>
            <a:r>
              <a:rPr lang="ru-RU" dirty="0" smtClean="0"/>
              <a:t>).</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169</a:t>
            </a:fld>
            <a:endParaRPr lang="ru-RU"/>
          </a:p>
        </p:txBody>
      </p:sp>
    </p:spTree>
    <p:extLst>
      <p:ext uri="{BB962C8B-B14F-4D97-AF65-F5344CB8AC3E}">
        <p14:creationId xmlns:p14="http://schemas.microsoft.com/office/powerpoint/2010/main" xmlns="" val="409060741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 </a:t>
            </a:r>
            <a:r>
              <a:rPr lang="ru-RU" i="1" dirty="0"/>
              <a:t>CHARACTER</a:t>
            </a:r>
            <a:r>
              <a:rPr lang="ru-RU" dirty="0"/>
              <a:t> LARGE OBJECT. Этот тип данных предназначен для </a:t>
            </a:r>
            <a:r>
              <a:rPr lang="ru-RU" i="1" dirty="0"/>
              <a:t>определения столбцов</a:t>
            </a:r>
            <a:r>
              <a:rPr lang="ru-RU" dirty="0"/>
              <a:t>, хранящих большие и разные по размеру группы символов. При </a:t>
            </a:r>
            <a:r>
              <a:rPr lang="ru-RU" i="1" dirty="0"/>
              <a:t>определении столбца</a:t>
            </a:r>
            <a:r>
              <a:rPr lang="ru-RU" dirty="0"/>
              <a:t> задается спецификация </a:t>
            </a:r>
            <a:r>
              <a:rPr lang="ru-RU" i="1" dirty="0"/>
              <a:t>CLOB</a:t>
            </a:r>
            <a:r>
              <a:rPr lang="ru-RU" dirty="0"/>
              <a:t> (z), где z задает максимальный размер соответствующей группы символов. Максимально возможное значение параметра z определяется в реализации, но, очевидно, что оно должно быть существенно больше максимально возможного значения параметра x, присутствующего в типах CHAR и CHAR</a:t>
            </a:r>
            <a:r>
              <a:rPr lang="ru-RU" i="1" dirty="0"/>
              <a:t>VARYING</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170</a:t>
            </a:fld>
            <a:endParaRPr lang="ru-RU"/>
          </a:p>
        </p:txBody>
      </p:sp>
    </p:spTree>
    <p:extLst>
      <p:ext uri="{BB962C8B-B14F-4D97-AF65-F5344CB8AC3E}">
        <p14:creationId xmlns:p14="http://schemas.microsoft.com/office/powerpoint/2010/main" xmlns="" val="324334418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i="1" dirty="0"/>
              <a:t>Литералы</a:t>
            </a:r>
            <a:r>
              <a:rPr lang="ru-RU" dirty="0"/>
              <a:t>   </a:t>
            </a:r>
            <a:r>
              <a:rPr lang="ru-RU" i="1" dirty="0"/>
              <a:t>типов символьных строк</a:t>
            </a:r>
            <a:r>
              <a:rPr lang="ru-RU" dirty="0"/>
              <a:t> представляются в виде последовательностей символов, заключенных в одинарные или двойные кавычки. В первом случае среди набора символов </a:t>
            </a:r>
            <a:r>
              <a:rPr lang="ru-RU" i="1" dirty="0"/>
              <a:t>литерала</a:t>
            </a:r>
            <a:r>
              <a:rPr lang="ru-RU" dirty="0"/>
              <a:t> допускается наличие символов двойной кавычки, а во втором – символов одинарной кавычки. Примеры </a:t>
            </a:r>
            <a:r>
              <a:rPr lang="ru-RU" i="1" dirty="0"/>
              <a:t>литералов</a:t>
            </a:r>
            <a:r>
              <a:rPr lang="ru-RU" dirty="0"/>
              <a:t>   </a:t>
            </a:r>
            <a:r>
              <a:rPr lang="ru-RU" i="1" dirty="0"/>
              <a:t>символьных строк</a:t>
            </a:r>
            <a:r>
              <a:rPr lang="ru-RU" dirty="0"/>
              <a:t>: ’ABCDEF’, ’</a:t>
            </a:r>
            <a:r>
              <a:rPr lang="ru-RU" dirty="0" err="1"/>
              <a:t>Ab"</a:t>
            </a:r>
            <a:r>
              <a:rPr lang="ru-RU" i="1" dirty="0" err="1"/>
              <a:t>Ctd</a:t>
            </a:r>
            <a:r>
              <a:rPr lang="ru-RU" dirty="0"/>
              <a:t>’, "</a:t>
            </a:r>
            <a:r>
              <a:rPr lang="ru-RU" dirty="0" err="1"/>
              <a:t>Fbcdef</a:t>
            </a:r>
            <a:r>
              <a:rPr lang="ru-RU" dirty="0"/>
              <a:t>", "</a:t>
            </a:r>
            <a:r>
              <a:rPr lang="ru-RU" dirty="0" err="1"/>
              <a:t>ab’cdtF</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171</a:t>
            </a:fld>
            <a:endParaRPr lang="ru-RU"/>
          </a:p>
        </p:txBody>
      </p:sp>
    </p:spTree>
    <p:extLst>
      <p:ext uri="{BB962C8B-B14F-4D97-AF65-F5344CB8AC3E}">
        <p14:creationId xmlns:p14="http://schemas.microsoft.com/office/powerpoint/2010/main" xmlns="" val="19468957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Операции над</a:t>
            </a:r>
            <a:r>
              <a:rPr lang="ru-RU" dirty="0"/>
              <a:t> </a:t>
            </a:r>
            <a:r>
              <a:rPr lang="ru-RU" i="1" dirty="0"/>
              <a:t>символьными строками</a:t>
            </a:r>
            <a:r>
              <a:rPr lang="ru-RU" dirty="0"/>
              <a:t>.</a:t>
            </a:r>
          </a:p>
        </p:txBody>
      </p:sp>
      <p:sp>
        <p:nvSpPr>
          <p:cNvPr id="3" name="Объект 2"/>
          <p:cNvSpPr>
            <a:spLocks noGrp="1"/>
          </p:cNvSpPr>
          <p:nvPr>
            <p:ph idx="1"/>
          </p:nvPr>
        </p:nvSpPr>
        <p:spPr/>
        <p:txBody>
          <a:bodyPr>
            <a:normAutofit fontScale="92500"/>
          </a:bodyPr>
          <a:lstStyle/>
          <a:p>
            <a:r>
              <a:rPr lang="ru-RU" i="1" dirty="0"/>
              <a:t>Операция конкатенации</a:t>
            </a:r>
            <a:r>
              <a:rPr lang="ru-RU" dirty="0"/>
              <a:t> (обозначается в виде " || ") возвращает </a:t>
            </a:r>
            <a:r>
              <a:rPr lang="ru-RU" i="1" dirty="0"/>
              <a:t>символьную строку</a:t>
            </a:r>
            <a:r>
              <a:rPr lang="ru-RU" dirty="0"/>
              <a:t>, произведенную путем </a:t>
            </a:r>
            <a:r>
              <a:rPr lang="ru-RU" i="1" dirty="0"/>
              <a:t>соединения строк</a:t>
            </a:r>
            <a:r>
              <a:rPr lang="ru-RU" dirty="0"/>
              <a:t>-операндов в том порядке, в каком они заданы.</a:t>
            </a:r>
          </a:p>
          <a:p>
            <a:r>
              <a:rPr lang="ru-RU" dirty="0"/>
              <a:t>Функция </a:t>
            </a:r>
            <a:r>
              <a:rPr lang="ru-RU" i="1" dirty="0"/>
              <a:t>выделения подстроки</a:t>
            </a:r>
            <a:r>
              <a:rPr lang="ru-RU" dirty="0"/>
              <a:t> ( </a:t>
            </a:r>
            <a:r>
              <a:rPr lang="ru-RU" i="1" dirty="0"/>
              <a:t>SUBSTRING</a:t>
            </a:r>
            <a:r>
              <a:rPr lang="ru-RU" dirty="0"/>
              <a:t> ) принимает три аргумента – строку, номер начальной позиции и длину – и возвращает строку, выделенную из строки-аргумента в соответствии со значениями двух последних параметров.</a:t>
            </a:r>
          </a:p>
          <a:p>
            <a:r>
              <a:rPr lang="ru-RU" dirty="0"/>
              <a:t>Функция </a:t>
            </a:r>
            <a:r>
              <a:rPr lang="ru-RU" i="1" dirty="0"/>
              <a:t>UPPER</a:t>
            </a:r>
            <a:r>
              <a:rPr lang="ru-RU" dirty="0"/>
              <a:t> возвращает строку, в которой все строчные буквы строки-аргумента заменяются прописными. </a:t>
            </a:r>
            <a:r>
              <a:rPr lang="ru-RU" dirty="0" smtClean="0"/>
              <a:t>Функция LOWER</a:t>
            </a:r>
            <a:r>
              <a:rPr lang="ru-RU" dirty="0"/>
              <a:t>, наоборот, заменяет в заданной строке все прописные буквы строчными.</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172</a:t>
            </a:fld>
            <a:endParaRPr lang="ru-RU"/>
          </a:p>
        </p:txBody>
      </p:sp>
    </p:spTree>
    <p:extLst>
      <p:ext uri="{BB962C8B-B14F-4D97-AF65-F5344CB8AC3E}">
        <p14:creationId xmlns:p14="http://schemas.microsoft.com/office/powerpoint/2010/main" xmlns="" val="34693216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Функция определения длины ( CHARACTER_LENGTH, OCTET_LENGTH, BIT_LENGTH ) возвращает длину </a:t>
            </a:r>
            <a:r>
              <a:rPr lang="ru-RU" dirty="0" smtClean="0"/>
              <a:t>заданной </a:t>
            </a:r>
            <a:r>
              <a:rPr lang="ru-RU" i="1" dirty="0" smtClean="0"/>
              <a:t>символьной </a:t>
            </a:r>
            <a:r>
              <a:rPr lang="ru-RU" i="1" dirty="0"/>
              <a:t>строки</a:t>
            </a:r>
            <a:r>
              <a:rPr lang="ru-RU" dirty="0"/>
              <a:t> в символах, </a:t>
            </a:r>
            <a:r>
              <a:rPr lang="ru-RU" i="1" dirty="0"/>
              <a:t>октетах</a:t>
            </a:r>
            <a:r>
              <a:rPr lang="ru-RU" dirty="0"/>
              <a:t> или битах (в зависимости от вида вычисляющей функции) в виде целого числа.</a:t>
            </a:r>
          </a:p>
          <a:p>
            <a:r>
              <a:rPr lang="ru-RU" dirty="0"/>
              <a:t>Функция определения позиции ( POSITION ) определяет первую позицию в строке S, с которой в нее входит заданная строка </a:t>
            </a:r>
            <a:r>
              <a:rPr lang="ru-RU" dirty="0" smtClean="0"/>
              <a:t>S1</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173</a:t>
            </a:fld>
            <a:endParaRPr lang="ru-RU"/>
          </a:p>
        </p:txBody>
      </p:sp>
    </p:spTree>
    <p:extLst>
      <p:ext uri="{BB962C8B-B14F-4D97-AF65-F5344CB8AC3E}">
        <p14:creationId xmlns:p14="http://schemas.microsoft.com/office/powerpoint/2010/main" xmlns="" val="208878012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битовых строк</a:t>
            </a:r>
            <a:br>
              <a:rPr lang="ru-RU" b="1" dirty="0"/>
            </a:br>
            <a:endParaRPr lang="ru-RU" dirty="0"/>
          </a:p>
        </p:txBody>
      </p:sp>
      <p:sp>
        <p:nvSpPr>
          <p:cNvPr id="3" name="Объект 2"/>
          <p:cNvSpPr>
            <a:spLocks noGrp="1"/>
          </p:cNvSpPr>
          <p:nvPr>
            <p:ph idx="1"/>
          </p:nvPr>
        </p:nvSpPr>
        <p:spPr/>
        <p:txBody>
          <a:bodyPr/>
          <a:lstStyle/>
          <a:p>
            <a:r>
              <a:rPr lang="ru-RU" dirty="0"/>
              <a:t>В </a:t>
            </a:r>
            <a:r>
              <a:rPr lang="en-US" i="1" dirty="0"/>
              <a:t>SQL</a:t>
            </a:r>
            <a:r>
              <a:rPr lang="en-US" dirty="0"/>
              <a:t> </a:t>
            </a:r>
            <a:r>
              <a:rPr lang="ru-RU" dirty="0"/>
              <a:t>определены три </a:t>
            </a:r>
            <a:r>
              <a:rPr lang="ru-RU" dirty="0" err="1"/>
              <a:t>параметризуемых</a:t>
            </a:r>
            <a:r>
              <a:rPr lang="ru-RU" dirty="0"/>
              <a:t> </a:t>
            </a:r>
            <a:r>
              <a:rPr lang="ru-RU" i="1" dirty="0"/>
              <a:t>типа битовых строк</a:t>
            </a:r>
            <a:r>
              <a:rPr lang="ru-RU" dirty="0"/>
              <a:t>: </a:t>
            </a:r>
            <a:r>
              <a:rPr lang="en-US" dirty="0"/>
              <a:t>BIT, BIT </a:t>
            </a:r>
            <a:r>
              <a:rPr lang="en-US" i="1" dirty="0"/>
              <a:t>VARYING</a:t>
            </a:r>
            <a:r>
              <a:rPr lang="en-US" dirty="0"/>
              <a:t> </a:t>
            </a:r>
            <a:r>
              <a:rPr lang="ru-RU" dirty="0"/>
              <a:t>и </a:t>
            </a:r>
            <a:r>
              <a:rPr lang="en-US" i="1" dirty="0"/>
              <a:t>BINARY</a:t>
            </a:r>
            <a:r>
              <a:rPr lang="en-US" dirty="0"/>
              <a:t> LARGE OBJECT (</a:t>
            </a:r>
            <a:r>
              <a:rPr lang="ru-RU" dirty="0"/>
              <a:t>или </a:t>
            </a:r>
            <a:r>
              <a:rPr lang="en-US" i="1" dirty="0"/>
              <a:t>BLOB</a:t>
            </a:r>
            <a:r>
              <a:rPr lang="en-US" dirty="0"/>
              <a:t> </a:t>
            </a:r>
            <a:r>
              <a:rPr lang="en-US" dirty="0" smtClean="0"/>
              <a:t>).</a:t>
            </a:r>
            <a:endParaRPr lang="ru-RU" dirty="0" smtClean="0"/>
          </a:p>
          <a:p>
            <a:r>
              <a:rPr lang="ru-RU" dirty="0"/>
              <a:t>Тип BIT. Значениями типа являются </a:t>
            </a:r>
            <a:r>
              <a:rPr lang="ru-RU" i="1" dirty="0"/>
              <a:t>битовые строки</a:t>
            </a:r>
            <a:r>
              <a:rPr lang="ru-RU" dirty="0"/>
              <a:t>. При </a:t>
            </a:r>
            <a:r>
              <a:rPr lang="ru-RU" i="1" dirty="0"/>
              <a:t>определении столбца</a:t>
            </a:r>
            <a:r>
              <a:rPr lang="ru-RU" dirty="0"/>
              <a:t> допускается использование спецификаций BIT (x) и просто BIT. Последний вариант эквивалентен заданию BIT (1). После определения столбца типа BIT (x) СУБД будет резервировать место для хранения x бит этого столбца во всех строках соответствующей таблицы.</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174</a:t>
            </a:fld>
            <a:endParaRPr lang="ru-RU"/>
          </a:p>
        </p:txBody>
      </p:sp>
    </p:spTree>
    <p:extLst>
      <p:ext uri="{BB962C8B-B14F-4D97-AF65-F5344CB8AC3E}">
        <p14:creationId xmlns:p14="http://schemas.microsoft.com/office/powerpoint/2010/main" xmlns="" val="45020598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 BIT </a:t>
            </a:r>
            <a:r>
              <a:rPr lang="ru-RU" i="1" dirty="0"/>
              <a:t>VARYING</a:t>
            </a:r>
            <a:r>
              <a:rPr lang="ru-RU" dirty="0"/>
              <a:t>. При </a:t>
            </a:r>
            <a:r>
              <a:rPr lang="ru-RU" i="1" dirty="0"/>
              <a:t>определении столбца</a:t>
            </a:r>
            <a:r>
              <a:rPr lang="ru-RU" dirty="0"/>
              <a:t> допускается использование только спецификации без умолчания вида BIT</a:t>
            </a:r>
            <a:r>
              <a:rPr lang="ru-RU" i="1" dirty="0"/>
              <a:t>VARYING</a:t>
            </a:r>
            <a:r>
              <a:rPr lang="ru-RU" dirty="0"/>
              <a:t> (x), где значение x определяет максимальную длину </a:t>
            </a:r>
            <a:r>
              <a:rPr lang="ru-RU" i="1" dirty="0"/>
              <a:t>битовой строки</a:t>
            </a:r>
            <a:r>
              <a:rPr lang="ru-RU" dirty="0"/>
              <a:t>, которую можно хранить в данном столбце.</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175</a:t>
            </a:fld>
            <a:endParaRPr lang="ru-RU"/>
          </a:p>
        </p:txBody>
      </p:sp>
    </p:spTree>
    <p:extLst>
      <p:ext uri="{BB962C8B-B14F-4D97-AF65-F5344CB8AC3E}">
        <p14:creationId xmlns:p14="http://schemas.microsoft.com/office/powerpoint/2010/main" xmlns="" val="299357933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Операции над</a:t>
            </a:r>
            <a:r>
              <a:rPr lang="ru-RU" dirty="0"/>
              <a:t> </a:t>
            </a:r>
            <a:r>
              <a:rPr lang="ru-RU" i="1" dirty="0"/>
              <a:t>битовыми строками</a:t>
            </a:r>
            <a:r>
              <a:rPr lang="ru-RU" dirty="0"/>
              <a:t> </a:t>
            </a:r>
          </a:p>
        </p:txBody>
      </p:sp>
      <p:sp>
        <p:nvSpPr>
          <p:cNvPr id="3" name="Объект 2"/>
          <p:cNvSpPr>
            <a:spLocks noGrp="1"/>
          </p:cNvSpPr>
          <p:nvPr>
            <p:ph idx="1"/>
          </p:nvPr>
        </p:nvSpPr>
        <p:spPr/>
        <p:txBody>
          <a:bodyPr/>
          <a:lstStyle/>
          <a:p>
            <a:r>
              <a:rPr lang="ru-RU" dirty="0"/>
              <a:t>Битовая конкатенация (обозначается в виде || ), которая возвращает результирующую </a:t>
            </a:r>
            <a:r>
              <a:rPr lang="ru-RU" i="1" dirty="0"/>
              <a:t>битовую строку</a:t>
            </a:r>
            <a:r>
              <a:rPr lang="ru-RU" dirty="0"/>
              <a:t>, полученную путем конкатенации строк-аргументов в том порядке, в котором они заданы.</a:t>
            </a:r>
          </a:p>
          <a:p>
            <a:r>
              <a:rPr lang="ru-RU" dirty="0"/>
              <a:t>Функция извлечения подстроки из </a:t>
            </a:r>
            <a:r>
              <a:rPr lang="ru-RU" i="1" dirty="0"/>
              <a:t>битовой строки</a:t>
            </a:r>
            <a:r>
              <a:rPr lang="ru-RU" dirty="0"/>
              <a:t>. Синтаксис и семантика этой функции идентичны синтаксису и семантике функции </a:t>
            </a:r>
            <a:r>
              <a:rPr lang="ru-RU" i="1" dirty="0"/>
              <a:t>SUBSTRING</a:t>
            </a:r>
            <a:r>
              <a:rPr lang="ru-RU" dirty="0"/>
              <a:t> для </a:t>
            </a:r>
            <a:r>
              <a:rPr lang="ru-RU" i="1" dirty="0"/>
              <a:t>символьных строк</a:t>
            </a:r>
            <a:r>
              <a:rPr lang="ru-RU" dirty="0"/>
              <a:t>, за исключением того, что первый аргумент и возвращаемое значение </a:t>
            </a:r>
            <a:r>
              <a:rPr lang="ru-RU" dirty="0" smtClean="0"/>
              <a:t>являются</a:t>
            </a:r>
            <a:r>
              <a:rPr lang="en-US" dirty="0" smtClean="0"/>
              <a:t> </a:t>
            </a:r>
            <a:r>
              <a:rPr lang="ru-RU" i="1" dirty="0" smtClean="0"/>
              <a:t>битовыми </a:t>
            </a:r>
            <a:r>
              <a:rPr lang="ru-RU" i="1" dirty="0"/>
              <a:t>строками</a:t>
            </a:r>
            <a:r>
              <a:rPr lang="ru-RU" dirty="0"/>
              <a: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176</a:t>
            </a:fld>
            <a:endParaRPr lang="ru-RU"/>
          </a:p>
        </p:txBody>
      </p:sp>
    </p:spTree>
    <p:extLst>
      <p:ext uri="{BB962C8B-B14F-4D97-AF65-F5344CB8AC3E}">
        <p14:creationId xmlns:p14="http://schemas.microsoft.com/office/powerpoint/2010/main" xmlns="" val="97549928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Функция определения длины ( OCTET_LENGTH, BIT_LENGTH ) возвращает длину заданной </a:t>
            </a:r>
            <a:r>
              <a:rPr lang="ru-RU" i="1" dirty="0"/>
              <a:t>битовой строки</a:t>
            </a:r>
            <a:r>
              <a:rPr lang="ru-RU" dirty="0"/>
              <a:t> в </a:t>
            </a:r>
            <a:r>
              <a:rPr lang="ru-RU" i="1" dirty="0"/>
              <a:t>октетах</a:t>
            </a:r>
            <a:r>
              <a:rPr lang="ru-RU" dirty="0"/>
              <a:t> или битах в зависимости от выбранной функции.</a:t>
            </a:r>
          </a:p>
          <a:p>
            <a:r>
              <a:rPr lang="ru-RU" dirty="0"/>
              <a:t>Функция определения позиции ( POSITION ) определяет первую позицию в </a:t>
            </a:r>
            <a:r>
              <a:rPr lang="ru-RU" i="1" dirty="0"/>
              <a:t>битовой строке</a:t>
            </a:r>
            <a:r>
              <a:rPr lang="ru-RU" dirty="0"/>
              <a:t>   S, с которой в нее входит строка S1. Если строка S1 не входит в строку S, возвращается значение нуль.</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177</a:t>
            </a:fld>
            <a:endParaRPr lang="ru-RU"/>
          </a:p>
        </p:txBody>
      </p:sp>
    </p:spTree>
    <p:extLst>
      <p:ext uri="{BB962C8B-B14F-4D97-AF65-F5344CB8AC3E}">
        <p14:creationId xmlns:p14="http://schemas.microsoft.com/office/powerpoint/2010/main" xmlns="" val="237577991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1005840"/>
            <a:ext cx="10515600" cy="5171123"/>
          </a:xfrm>
        </p:spPr>
        <p:txBody>
          <a:bodyPr/>
          <a:lstStyle/>
          <a:p>
            <a:r>
              <a:rPr lang="ru-RU" dirty="0"/>
              <a:t>Тип </a:t>
            </a:r>
            <a:r>
              <a:rPr lang="ru-RU" i="1" dirty="0"/>
              <a:t>BINARY</a:t>
            </a:r>
            <a:r>
              <a:rPr lang="ru-RU" dirty="0"/>
              <a:t> LARGE OBJECT. Этот тип данных предназначен для </a:t>
            </a:r>
            <a:r>
              <a:rPr lang="ru-RU" i="1" dirty="0"/>
              <a:t>определения столбцов</a:t>
            </a:r>
            <a:r>
              <a:rPr lang="ru-RU" dirty="0"/>
              <a:t>, хранящих большие и разные по размеру группы байтов. При </a:t>
            </a:r>
            <a:r>
              <a:rPr lang="ru-RU" i="1" dirty="0"/>
              <a:t>определении столбца</a:t>
            </a:r>
            <a:r>
              <a:rPr lang="ru-RU" dirty="0"/>
              <a:t> задается спецификация </a:t>
            </a:r>
            <a:r>
              <a:rPr lang="ru-RU" i="1" dirty="0"/>
              <a:t>BLOB</a:t>
            </a:r>
            <a:r>
              <a:rPr lang="ru-RU" dirty="0"/>
              <a:t> (z), где z задает максимальный размер соответствующей группы байтов. С технической точки зрения типы </a:t>
            </a:r>
            <a:r>
              <a:rPr lang="ru-RU" i="1" dirty="0"/>
              <a:t>CLOB</a:t>
            </a:r>
            <a:r>
              <a:rPr lang="ru-RU" dirty="0"/>
              <a:t> и </a:t>
            </a:r>
            <a:r>
              <a:rPr lang="ru-RU" i="1" dirty="0"/>
              <a:t>BLOB</a:t>
            </a:r>
            <a:r>
              <a:rPr lang="ru-RU" dirty="0"/>
              <a:t> очень похожи. Их разделение требуется для того, чтобы подчеркнуть, что значения типа </a:t>
            </a:r>
            <a:r>
              <a:rPr lang="ru-RU" i="1" dirty="0"/>
              <a:t>CLOB</a:t>
            </a:r>
            <a:r>
              <a:rPr lang="ru-RU" dirty="0"/>
              <a:t> состоят из символов (в частности, в них может осмысленно производиться текстовый поиск), а значения типа </a:t>
            </a:r>
            <a:r>
              <a:rPr lang="ru-RU" i="1" dirty="0"/>
              <a:t>BLOB</a:t>
            </a:r>
            <a:r>
              <a:rPr lang="ru-RU" dirty="0"/>
              <a:t> состоят из произвольных байтов, не обязательно кодирующих символы.</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178</a:t>
            </a:fld>
            <a:endParaRPr lang="ru-RU"/>
          </a:p>
        </p:txBody>
      </p:sp>
    </p:spTree>
    <p:extLst>
      <p:ext uri="{BB962C8B-B14F-4D97-AF65-F5344CB8AC3E}">
        <p14:creationId xmlns:p14="http://schemas.microsoft.com/office/powerpoint/2010/main" xmlns="" val="325757202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i="1" dirty="0"/>
              <a:t>Литералы</a:t>
            </a:r>
            <a:r>
              <a:rPr lang="ru-RU" dirty="0"/>
              <a:t>   </a:t>
            </a:r>
            <a:r>
              <a:rPr lang="ru-RU" i="1" dirty="0"/>
              <a:t>типов битовых строк</a:t>
            </a:r>
            <a:r>
              <a:rPr lang="ru-RU" dirty="0"/>
              <a:t> представляются как заключенные в одинарные кавычки последовательности символов " 0 " и "1 ", предваряемые символом " B "; или предваряемые символом " X " последовательности символов, которые изображают шестнадцатеричные цифры (за цифрой " 9 " следуют " A ", " B ", " C ", " D ", " E " и " F "). Примеры </a:t>
            </a:r>
            <a:r>
              <a:rPr lang="ru-RU" i="1" dirty="0"/>
              <a:t>литералов</a:t>
            </a:r>
            <a:r>
              <a:rPr lang="ru-RU" dirty="0"/>
              <a:t>   </a:t>
            </a:r>
            <a:r>
              <a:rPr lang="ru-RU" i="1" dirty="0"/>
              <a:t>типов битовых строк</a:t>
            </a:r>
            <a:r>
              <a:rPr lang="ru-RU" dirty="0"/>
              <a:t>: B’0111001111000111111111’, X’78FBCD0012FFFFA’.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179</a:t>
            </a:fld>
            <a:endParaRPr lang="ru-RU"/>
          </a:p>
        </p:txBody>
      </p:sp>
    </p:spTree>
    <p:extLst>
      <p:ext uri="{BB962C8B-B14F-4D97-AF65-F5344CB8AC3E}">
        <p14:creationId xmlns:p14="http://schemas.microsoft.com/office/powerpoint/2010/main" xmlns="" val="270529559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даты и времени</a:t>
            </a:r>
            <a:br>
              <a:rPr lang="ru-RU" b="1" dirty="0"/>
            </a:br>
            <a:endParaRPr lang="ru-RU" dirty="0"/>
          </a:p>
        </p:txBody>
      </p:sp>
      <p:sp>
        <p:nvSpPr>
          <p:cNvPr id="3" name="Объект 2"/>
          <p:cNvSpPr>
            <a:spLocks noGrp="1"/>
          </p:cNvSpPr>
          <p:nvPr>
            <p:ph idx="1"/>
          </p:nvPr>
        </p:nvSpPr>
        <p:spPr>
          <a:xfrm>
            <a:off x="838200" y="1325880"/>
            <a:ext cx="10515600" cy="4851083"/>
          </a:xfrm>
        </p:spPr>
        <p:txBody>
          <a:bodyPr>
            <a:normAutofit fontScale="92500" lnSpcReduction="20000"/>
          </a:bodyPr>
          <a:lstStyle/>
          <a:p>
            <a:r>
              <a:rPr lang="ru-RU" b="1" dirty="0"/>
              <a:t>Тип даты</a:t>
            </a:r>
          </a:p>
          <a:p>
            <a:r>
              <a:rPr lang="ru-RU" dirty="0"/>
              <a:t>Тип DATE. Значения этого типа состоят из компонентов-значений года, месяца и дня некоторой даты. Значение года состоит из четырех десятичных цифр и соответствует летоисчислению от Рождества Христова до 9999 г. Значение месяца состоит из двух десятичных цифр и варьируется от 01 до 12. Значение номера дня месяца состоит из двух десятичных цифр и варьируется от 01 до 31, хотя значение месяца даты может накладывать ограничения на возможность использования значений дня месяца 29, 30 и 31. В стандарте </a:t>
            </a:r>
            <a:r>
              <a:rPr lang="ru-RU" i="1" dirty="0"/>
              <a:t>SQL</a:t>
            </a:r>
            <a:r>
              <a:rPr lang="ru-RU" dirty="0"/>
              <a:t> не накладываются какие-либо ограничения на внутренний способ представления дат, используемый в реализации. При </a:t>
            </a:r>
            <a:r>
              <a:rPr lang="ru-RU" i="1" dirty="0"/>
              <a:t>определении столбца</a:t>
            </a:r>
            <a:r>
              <a:rPr lang="ru-RU" dirty="0"/>
              <a:t> типа DATE указывается просто DATE.</a:t>
            </a:r>
          </a:p>
          <a:p>
            <a:r>
              <a:rPr lang="ru-RU" i="1" dirty="0"/>
              <a:t>Литералы</a:t>
            </a:r>
            <a:r>
              <a:rPr lang="ru-RU" dirty="0"/>
              <a:t> типа DATE представляются в виде строки " ’</a:t>
            </a:r>
            <a:r>
              <a:rPr lang="ru-RU" dirty="0" err="1"/>
              <a:t>yyyy-mm-dd</a:t>
            </a:r>
            <a:r>
              <a:rPr lang="ru-RU" dirty="0"/>
              <a:t>’ ", где символы y, m и d должны изображать десятичные числа. Например, </a:t>
            </a:r>
            <a:r>
              <a:rPr lang="ru-RU" i="1" dirty="0"/>
              <a:t>литерал</a:t>
            </a:r>
            <a:r>
              <a:rPr lang="ru-RU" dirty="0"/>
              <a:t>   DATE ’1949-04-08’ представляет дату 8 апреля 1949 г.</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180</a:t>
            </a:fld>
            <a:endParaRPr lang="ru-RU"/>
          </a:p>
        </p:txBody>
      </p:sp>
    </p:spTree>
    <p:extLst>
      <p:ext uri="{BB962C8B-B14F-4D97-AF65-F5344CB8AC3E}">
        <p14:creationId xmlns:p14="http://schemas.microsoft.com/office/powerpoint/2010/main" xmlns="" val="25494365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времени</a:t>
            </a:r>
            <a:br>
              <a:rPr lang="ru-RU" b="1" dirty="0"/>
            </a:br>
            <a:endParaRPr lang="ru-RU" dirty="0"/>
          </a:p>
        </p:txBody>
      </p:sp>
      <p:sp>
        <p:nvSpPr>
          <p:cNvPr id="3" name="Объект 2"/>
          <p:cNvSpPr>
            <a:spLocks noGrp="1"/>
          </p:cNvSpPr>
          <p:nvPr>
            <p:ph idx="1"/>
          </p:nvPr>
        </p:nvSpPr>
        <p:spPr/>
        <p:txBody>
          <a:bodyPr/>
          <a:lstStyle/>
          <a:p>
            <a:r>
              <a:rPr lang="ru-RU" dirty="0"/>
              <a:t>Тип TIME. Значения этого параметризованного типа состоят из компонентов-значений часа, минуты и секунды некоторого времени суток. Значение часа состоит ровно из двух десятичных цифр и варьируется от 00 до 23. Значение минуты состоит из двух десятичных цифр и варьируется от 00 до 59. Основное значение секунды также состоит из двух цифр, но может включать дополнительные цифры, представляющие доли секунды.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181</a:t>
            </a:fld>
            <a:endParaRPr lang="ru-RU"/>
          </a:p>
        </p:txBody>
      </p:sp>
    </p:spTree>
    <p:extLst>
      <p:ext uri="{BB962C8B-B14F-4D97-AF65-F5344CB8AC3E}">
        <p14:creationId xmlns:p14="http://schemas.microsoft.com/office/powerpoint/2010/main" xmlns="" val="115347634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i="1" dirty="0"/>
              <a:t>Л</a:t>
            </a:r>
            <a:r>
              <a:rPr lang="ru-RU" i="1" dirty="0" smtClean="0"/>
              <a:t>итералы </a:t>
            </a:r>
            <a:r>
              <a:rPr lang="ru-RU" i="1" dirty="0"/>
              <a:t>типа</a:t>
            </a:r>
            <a:r>
              <a:rPr lang="ru-RU" dirty="0"/>
              <a:t>   TIME представляются в виде строки TIME ’</a:t>
            </a:r>
            <a:r>
              <a:rPr lang="ru-RU" dirty="0" err="1"/>
              <a:t>hh:mm-ss:f</a:t>
            </a:r>
            <a:r>
              <a:rPr lang="ru-RU" dirty="0"/>
              <a:t>...f’, где символы h, m, s и f должны изображать десятичные числа. Например, </a:t>
            </a:r>
            <a:r>
              <a:rPr lang="ru-RU" i="1" dirty="0"/>
              <a:t>литерал</a:t>
            </a:r>
            <a:r>
              <a:rPr lang="ru-RU" dirty="0"/>
              <a:t>   TIME ’16:33-20:333’ представляет время суток 16 часов 33 минуты 20 и 333 тысячных секунды.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182</a:t>
            </a:fld>
            <a:endParaRPr lang="ru-RU"/>
          </a:p>
        </p:txBody>
      </p:sp>
    </p:spTree>
    <p:extLst>
      <p:ext uri="{BB962C8B-B14F-4D97-AF65-F5344CB8AC3E}">
        <p14:creationId xmlns:p14="http://schemas.microsoft.com/office/powerpoint/2010/main" xmlns="" val="33325722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r>
              <a:rPr lang="ru-RU" b="1" dirty="0"/>
              <a:t>Типы временной метки</a:t>
            </a:r>
            <a:br>
              <a:rPr lang="ru-RU" b="1" dirty="0"/>
            </a:br>
            <a:endParaRPr lang="ru-RU" dirty="0"/>
          </a:p>
        </p:txBody>
      </p:sp>
      <p:sp>
        <p:nvSpPr>
          <p:cNvPr id="3" name="Объект 2"/>
          <p:cNvSpPr>
            <a:spLocks noGrp="1"/>
          </p:cNvSpPr>
          <p:nvPr>
            <p:ph idx="1"/>
          </p:nvPr>
        </p:nvSpPr>
        <p:spPr>
          <a:xfrm>
            <a:off x="838200" y="1188720"/>
            <a:ext cx="10515600" cy="4988243"/>
          </a:xfrm>
        </p:spPr>
        <p:txBody>
          <a:bodyPr>
            <a:normAutofit lnSpcReduction="10000"/>
          </a:bodyPr>
          <a:lstStyle/>
          <a:p>
            <a:r>
              <a:rPr lang="ru-RU" dirty="0"/>
              <a:t>Тип </a:t>
            </a:r>
            <a:r>
              <a:rPr lang="ru-RU" i="1" dirty="0"/>
              <a:t>TIMESTAMP</a:t>
            </a:r>
            <a:r>
              <a:rPr lang="ru-RU" dirty="0"/>
              <a:t>. Значения этого параметризованного типа состоят из компонентов — значений года, месяца и дня некоторой даты, а также компонентов — значений часа, минуты и секунды некоторого времени суток (т. е. каждое значение задает некоторую абсолютную временную метку – отсюда название типа </a:t>
            </a:r>
            <a:r>
              <a:rPr lang="ru-RU" i="1" dirty="0"/>
              <a:t>TIMESTAMP</a:t>
            </a:r>
            <a:r>
              <a:rPr lang="ru-RU" dirty="0"/>
              <a:t> ). Число десятичных цифр в значениях-компонентах и ограничения этих значений такие же, как у значений типов DATE и TIME. При </a:t>
            </a:r>
            <a:r>
              <a:rPr lang="ru-RU" i="1" dirty="0"/>
              <a:t>определении столбца</a:t>
            </a:r>
            <a:r>
              <a:rPr lang="ru-RU" dirty="0"/>
              <a:t> типа </a:t>
            </a:r>
            <a:r>
              <a:rPr lang="ru-RU" i="1" dirty="0"/>
              <a:t>TIMESTAMP</a:t>
            </a:r>
            <a:r>
              <a:rPr lang="ru-RU" dirty="0"/>
              <a:t> может указываться </a:t>
            </a:r>
            <a:r>
              <a:rPr lang="ru-RU" i="1" dirty="0"/>
              <a:t>TIMESTAMP</a:t>
            </a:r>
            <a:r>
              <a:rPr lang="ru-RU" dirty="0"/>
              <a:t> (p) (значение p задает точность долей секунды) или просто </a:t>
            </a:r>
            <a:r>
              <a:rPr lang="ru-RU" i="1" dirty="0"/>
              <a:t>TIMESTAMP</a:t>
            </a:r>
            <a:r>
              <a:rPr lang="ru-RU" dirty="0"/>
              <a:t> (в этом случае, в отличие от типа данных TIME, по умолчанию принимается, что в доли секунды используются шесть десятичных цифр). Максимально допустимое значение p определяется в реализации.</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183</a:t>
            </a:fld>
            <a:endParaRPr lang="ru-RU"/>
          </a:p>
        </p:txBody>
      </p:sp>
    </p:spTree>
    <p:extLst>
      <p:ext uri="{BB962C8B-B14F-4D97-AF65-F5344CB8AC3E}">
        <p14:creationId xmlns:p14="http://schemas.microsoft.com/office/powerpoint/2010/main" xmlns="" val="13247472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i="1" dirty="0"/>
              <a:t>Литералы типа</a:t>
            </a:r>
            <a:r>
              <a:rPr lang="ru-RU" dirty="0"/>
              <a:t>   </a:t>
            </a:r>
            <a:r>
              <a:rPr lang="ru-RU" i="1" dirty="0"/>
              <a:t>TIMESTAMP</a:t>
            </a:r>
            <a:r>
              <a:rPr lang="ru-RU" dirty="0"/>
              <a:t> представляются в виде строки </a:t>
            </a:r>
            <a:r>
              <a:rPr lang="ru-RU" i="1" dirty="0"/>
              <a:t>TIMESTAMP</a:t>
            </a:r>
            <a:r>
              <a:rPr lang="ru-RU" dirty="0"/>
              <a:t> ’</a:t>
            </a:r>
            <a:r>
              <a:rPr lang="ru-RU" dirty="0" err="1"/>
              <a:t>yyyy-mm-dd</a:t>
            </a:r>
            <a:r>
              <a:rPr lang="ru-RU" dirty="0"/>
              <a:t> </a:t>
            </a:r>
            <a:r>
              <a:rPr lang="ru-RU" dirty="0" err="1"/>
              <a:t>hh:mm-ss:f</a:t>
            </a:r>
            <a:r>
              <a:rPr lang="ru-RU" dirty="0"/>
              <a:t>...f’, где символы </a:t>
            </a:r>
            <a:r>
              <a:rPr lang="ru-RU" dirty="0" err="1"/>
              <a:t>y,m</a:t>
            </a:r>
            <a:r>
              <a:rPr lang="ru-RU" dirty="0"/>
              <a:t>, d, h, m, s и f должны изображать десятичные числа. Например, </a:t>
            </a:r>
            <a:r>
              <a:rPr lang="ru-RU" i="1" dirty="0"/>
              <a:t>литерал</a:t>
            </a:r>
            <a:r>
              <a:rPr lang="ru-RU" dirty="0"/>
              <a:t>   </a:t>
            </a:r>
            <a:r>
              <a:rPr lang="ru-RU" i="1" dirty="0"/>
              <a:t>TIMESTAMP</a:t>
            </a:r>
            <a:r>
              <a:rPr lang="ru-RU" dirty="0"/>
              <a:t> ’1949-04-08 16:33-20:333’ представляет временную метку 16 часов 33 минуты 20 и 333 тысячных секунды 8 апреля 1949 г.</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184</a:t>
            </a:fld>
            <a:endParaRPr lang="ru-RU"/>
          </a:p>
        </p:txBody>
      </p:sp>
    </p:spTree>
    <p:extLst>
      <p:ext uri="{BB962C8B-B14F-4D97-AF65-F5344CB8AC3E}">
        <p14:creationId xmlns:p14="http://schemas.microsoft.com/office/powerpoint/2010/main" xmlns="" val="401338270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Типы времени и временной метки с временной зоной</a:t>
            </a:r>
            <a:br>
              <a:rPr lang="ru-RU" b="1" dirty="0"/>
            </a:br>
            <a:endParaRPr lang="ru-RU" dirty="0"/>
          </a:p>
        </p:txBody>
      </p:sp>
      <p:sp>
        <p:nvSpPr>
          <p:cNvPr id="3" name="Объект 2"/>
          <p:cNvSpPr>
            <a:spLocks noGrp="1"/>
          </p:cNvSpPr>
          <p:nvPr>
            <p:ph idx="1"/>
          </p:nvPr>
        </p:nvSpPr>
        <p:spPr/>
        <p:txBody>
          <a:bodyPr/>
          <a:lstStyle/>
          <a:p>
            <a:r>
              <a:rPr lang="ru-RU" dirty="0"/>
              <a:t>Тип TIME WITH </a:t>
            </a:r>
            <a:r>
              <a:rPr lang="ru-RU" i="1" dirty="0"/>
              <a:t>TIME ZONE</a:t>
            </a:r>
            <a:r>
              <a:rPr lang="ru-RU" dirty="0"/>
              <a:t>. Этот тип данных похож на тип TIME с тем лишь отличием, что значения типа TIME WITH </a:t>
            </a:r>
            <a:r>
              <a:rPr lang="ru-RU" i="1" dirty="0"/>
              <a:t>TIME ZONE</a:t>
            </a:r>
            <a:r>
              <a:rPr lang="ru-RU" dirty="0"/>
              <a:t> включают дополнительный компонент — значение, характеризующее смещение соответствующего времени относительно гринвичского </a:t>
            </a:r>
            <a:r>
              <a:rPr lang="ru-RU" dirty="0" smtClean="0"/>
              <a:t>времени.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185</a:t>
            </a:fld>
            <a:endParaRPr lang="ru-RU"/>
          </a:p>
        </p:txBody>
      </p:sp>
    </p:spTree>
    <p:extLst>
      <p:ext uri="{BB962C8B-B14F-4D97-AF65-F5344CB8AC3E}">
        <p14:creationId xmlns:p14="http://schemas.microsoft.com/office/powerpoint/2010/main" xmlns="" val="81124330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временных интервалов</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a:t> В </a:t>
            </a:r>
            <a:r>
              <a:rPr lang="ru-RU" i="1" dirty="0"/>
              <a:t>SQL</a:t>
            </a:r>
            <a:r>
              <a:rPr lang="ru-RU" dirty="0"/>
              <a:t> определены две категории </a:t>
            </a:r>
            <a:r>
              <a:rPr lang="ru-RU" i="1" dirty="0"/>
              <a:t>типов временных интервалов</a:t>
            </a:r>
            <a:r>
              <a:rPr lang="ru-RU" dirty="0"/>
              <a:t>: "</a:t>
            </a:r>
            <a:r>
              <a:rPr lang="ru-RU" dirty="0" smtClean="0"/>
              <a:t>год-месяц</a:t>
            </a:r>
            <a:r>
              <a:rPr lang="ru-RU" dirty="0"/>
              <a:t>" и "день-время </a:t>
            </a:r>
            <a:r>
              <a:rPr lang="ru-RU" dirty="0" smtClean="0"/>
              <a:t>суток«</a:t>
            </a:r>
          </a:p>
          <a:p>
            <a:r>
              <a:rPr lang="ru-RU" i="1" dirty="0"/>
              <a:t>Временные интервалы</a:t>
            </a:r>
            <a:r>
              <a:rPr lang="ru-RU" dirty="0"/>
              <a:t> языка </a:t>
            </a:r>
            <a:r>
              <a:rPr lang="ru-RU" i="1" dirty="0"/>
              <a:t>SQL</a:t>
            </a:r>
            <a:r>
              <a:rPr lang="ru-RU" dirty="0"/>
              <a:t> не привязываются к начальному и/или конечному значению даты/времени, а описывают только протяженность во времени</a:t>
            </a:r>
            <a:r>
              <a:rPr lang="ru-RU" dirty="0" smtClean="0"/>
              <a:t>.</a:t>
            </a:r>
          </a:p>
          <a:p>
            <a:r>
              <a:rPr lang="ru-RU" dirty="0"/>
              <a:t>В общем случае </a:t>
            </a:r>
            <a:r>
              <a:rPr lang="ru-RU" dirty="0" smtClean="0"/>
              <a:t>при </a:t>
            </a:r>
            <a:r>
              <a:rPr lang="ru-RU" i="1" dirty="0" smtClean="0"/>
              <a:t>определении </a:t>
            </a:r>
            <a:r>
              <a:rPr lang="ru-RU" i="1" dirty="0"/>
              <a:t>столбца</a:t>
            </a:r>
            <a:r>
              <a:rPr lang="ru-RU" dirty="0"/>
              <a:t> </a:t>
            </a:r>
            <a:r>
              <a:rPr lang="ru-RU" i="1" dirty="0"/>
              <a:t>типа временного интервала</a:t>
            </a:r>
            <a:r>
              <a:rPr lang="ru-RU" dirty="0"/>
              <a:t> указывается </a:t>
            </a:r>
            <a:r>
              <a:rPr lang="ru-RU" i="1" dirty="0"/>
              <a:t>INTERVAL</a:t>
            </a:r>
            <a:r>
              <a:rPr lang="ru-RU" dirty="0"/>
              <a:t> </a:t>
            </a:r>
            <a:r>
              <a:rPr lang="ru-RU" dirty="0" err="1"/>
              <a:t>start</a:t>
            </a:r>
            <a:r>
              <a:rPr lang="ru-RU" dirty="0"/>
              <a:t> (p) [ TO </a:t>
            </a:r>
            <a:r>
              <a:rPr lang="ru-RU" dirty="0" err="1"/>
              <a:t>end</a:t>
            </a:r>
            <a:r>
              <a:rPr lang="ru-RU" dirty="0"/>
              <a:t> (q) ], где в качестве " </a:t>
            </a:r>
            <a:r>
              <a:rPr lang="ru-RU" dirty="0" err="1"/>
              <a:t>start</a:t>
            </a:r>
            <a:r>
              <a:rPr lang="ru-RU" dirty="0"/>
              <a:t> " и " </a:t>
            </a:r>
            <a:r>
              <a:rPr lang="ru-RU" dirty="0" err="1"/>
              <a:t>end</a:t>
            </a:r>
            <a:r>
              <a:rPr lang="ru-RU" dirty="0"/>
              <a:t> " могут задаваться YEAR, </a:t>
            </a:r>
            <a:r>
              <a:rPr lang="ru-RU" i="1" dirty="0"/>
              <a:t>MONTH</a:t>
            </a:r>
            <a:r>
              <a:rPr lang="ru-RU" dirty="0"/>
              <a:t>, DAY, </a:t>
            </a:r>
            <a:r>
              <a:rPr lang="ru-RU" i="1" dirty="0"/>
              <a:t>HOUR</a:t>
            </a:r>
            <a:r>
              <a:rPr lang="ru-RU" dirty="0"/>
              <a:t>, MINUTE и </a:t>
            </a:r>
            <a:r>
              <a:rPr lang="ru-RU" i="1" dirty="0"/>
              <a:t>SECOND</a:t>
            </a:r>
            <a:r>
              <a:rPr lang="ru-RU" dirty="0"/>
              <a:t>. Параметр p задает требуемую точность лидирующего поля интервала (число десятичных цифр).</a:t>
            </a:r>
          </a:p>
        </p:txBody>
      </p:sp>
      <p:sp>
        <p:nvSpPr>
          <p:cNvPr id="4" name="Номер слайда 3"/>
          <p:cNvSpPr>
            <a:spLocks noGrp="1"/>
          </p:cNvSpPr>
          <p:nvPr>
            <p:ph type="sldNum" sz="quarter" idx="12"/>
          </p:nvPr>
        </p:nvSpPr>
        <p:spPr/>
        <p:txBody>
          <a:bodyPr/>
          <a:lstStyle/>
          <a:p>
            <a:fld id="{590C5F67-5E4C-4ABB-99F4-36BCAC8BE885}" type="slidenum">
              <a:rPr lang="ru-RU" smtClean="0"/>
              <a:pPr/>
              <a:t>186</a:t>
            </a:fld>
            <a:endParaRPr lang="ru-RU"/>
          </a:p>
        </p:txBody>
      </p:sp>
    </p:spTree>
    <p:extLst>
      <p:ext uri="{BB962C8B-B14F-4D97-AF65-F5344CB8AC3E}">
        <p14:creationId xmlns:p14="http://schemas.microsoft.com/office/powerpoint/2010/main" xmlns="" val="127613986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Типы категории "год-месяц". Можно определить столбцы следующих типов: </a:t>
            </a:r>
            <a:r>
              <a:rPr lang="ru-RU" i="1" dirty="0"/>
              <a:t>INTERVAL</a:t>
            </a:r>
            <a:r>
              <a:rPr lang="ru-RU" dirty="0"/>
              <a:t> YEAR, </a:t>
            </a:r>
            <a:r>
              <a:rPr lang="ru-RU" i="1" dirty="0"/>
              <a:t>INTERVAL</a:t>
            </a:r>
            <a:r>
              <a:rPr lang="ru-RU" dirty="0"/>
              <a:t> YEAR (p) (значения этих типов – </a:t>
            </a:r>
            <a:r>
              <a:rPr lang="ru-RU" i="1" dirty="0"/>
              <a:t>временные интервалы</a:t>
            </a:r>
            <a:r>
              <a:rPr lang="ru-RU" dirty="0"/>
              <a:t> в годах), </a:t>
            </a:r>
            <a:r>
              <a:rPr lang="ru-RU" i="1" dirty="0"/>
              <a:t>INTERVAL</a:t>
            </a:r>
            <a:r>
              <a:rPr lang="ru-RU" dirty="0"/>
              <a:t> </a:t>
            </a:r>
            <a:r>
              <a:rPr lang="ru-RU" i="1" dirty="0"/>
              <a:t>MONTH</a:t>
            </a:r>
            <a:r>
              <a:rPr lang="ru-RU" dirty="0"/>
              <a:t>, </a:t>
            </a:r>
            <a:r>
              <a:rPr lang="ru-RU" i="1" dirty="0"/>
              <a:t>INTERVAL</a:t>
            </a:r>
            <a:r>
              <a:rPr lang="ru-RU" dirty="0"/>
              <a:t> </a:t>
            </a:r>
            <a:r>
              <a:rPr lang="ru-RU" i="1" dirty="0"/>
              <a:t>MONTH</a:t>
            </a:r>
            <a:r>
              <a:rPr lang="ru-RU" dirty="0"/>
              <a:t> (p) (значения этих типов – </a:t>
            </a:r>
            <a:r>
              <a:rPr lang="ru-RU" i="1" dirty="0"/>
              <a:t>временные интервалы</a:t>
            </a:r>
            <a:r>
              <a:rPr lang="ru-RU" dirty="0"/>
              <a:t> в месяцах), </a:t>
            </a:r>
            <a:r>
              <a:rPr lang="ru-RU" i="1" dirty="0"/>
              <a:t>INTERVAL</a:t>
            </a:r>
            <a:r>
              <a:rPr lang="ru-RU" dirty="0"/>
              <a:t> YEAR TO </a:t>
            </a:r>
            <a:r>
              <a:rPr lang="ru-RU" i="1" dirty="0"/>
              <a:t>MONTH</a:t>
            </a:r>
            <a:r>
              <a:rPr lang="ru-RU" dirty="0"/>
              <a:t>, </a:t>
            </a:r>
            <a:r>
              <a:rPr lang="ru-RU" i="1" dirty="0"/>
              <a:t>INTERVAL</a:t>
            </a:r>
            <a:r>
              <a:rPr lang="ru-RU" dirty="0"/>
              <a:t> YEAR (p) TO </a:t>
            </a:r>
            <a:r>
              <a:rPr lang="ru-RU" i="1" dirty="0"/>
              <a:t>MONTH</a:t>
            </a:r>
            <a:r>
              <a:rPr lang="ru-RU" dirty="0"/>
              <a:t> (значения этих типов – </a:t>
            </a:r>
            <a:r>
              <a:rPr lang="ru-RU" i="1" dirty="0"/>
              <a:t>временные интервалы</a:t>
            </a:r>
            <a:r>
              <a:rPr lang="ru-RU" dirty="0"/>
              <a:t> в годах и месяцах). Если значение параметра p не указывается явно, по умолчанию принимается его значение "2".</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187</a:t>
            </a:fld>
            <a:endParaRPr lang="ru-RU"/>
          </a:p>
        </p:txBody>
      </p:sp>
    </p:spTree>
    <p:extLst>
      <p:ext uri="{BB962C8B-B14F-4D97-AF65-F5344CB8AC3E}">
        <p14:creationId xmlns:p14="http://schemas.microsoft.com/office/powerpoint/2010/main" xmlns="" val="16906094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00100"/>
            <a:ext cx="10515600" cy="5376863"/>
          </a:xfrm>
        </p:spPr>
        <p:txBody>
          <a:bodyPr/>
          <a:lstStyle/>
          <a:p>
            <a:r>
              <a:rPr lang="ru-RU" dirty="0"/>
              <a:t>Типы категории "день-время суток". При </a:t>
            </a:r>
            <a:r>
              <a:rPr lang="ru-RU" i="1" dirty="0"/>
              <a:t>определении столбца</a:t>
            </a:r>
            <a:r>
              <a:rPr lang="ru-RU" dirty="0"/>
              <a:t> можно использовать следующие </a:t>
            </a:r>
            <a:r>
              <a:rPr lang="ru-RU" dirty="0" smtClean="0"/>
              <a:t>комбинации:</a:t>
            </a:r>
          </a:p>
          <a:p>
            <a:r>
              <a:rPr lang="en-US" dirty="0" smtClean="0"/>
              <a:t>INTERVAL DAY (p)</a:t>
            </a:r>
          </a:p>
          <a:p>
            <a:r>
              <a:rPr lang="en-US" dirty="0" smtClean="0"/>
              <a:t>INTERVAL DAY (p) TO HOUR</a:t>
            </a:r>
          </a:p>
          <a:p>
            <a:r>
              <a:rPr lang="en-US" dirty="0" smtClean="0"/>
              <a:t>INTERVAL DAY MINUTE TO SECOND(q)</a:t>
            </a:r>
          </a:p>
          <a:p>
            <a:r>
              <a:rPr lang="ru-RU" dirty="0"/>
              <a:t>Если значение параметра p не указывается явно, по умолчанию принимается его значение "2". Значением параметра q по умолчанию является "6</a:t>
            </a:r>
            <a:r>
              <a:rPr lang="ru-RU" dirty="0" smtClean="0"/>
              <a:t>".</a:t>
            </a:r>
            <a:endParaRPr lang="en-US" dirty="0" smtClean="0"/>
          </a:p>
          <a:p>
            <a:r>
              <a:rPr lang="ru-RU" i="1" dirty="0"/>
              <a:t>литерала</a:t>
            </a:r>
            <a:r>
              <a:rPr lang="ru-RU" dirty="0"/>
              <a:t> одной из разновидностей типа </a:t>
            </a:r>
            <a:r>
              <a:rPr lang="ru-RU" i="1" dirty="0"/>
              <a:t>INTERVAL</a:t>
            </a:r>
            <a:r>
              <a:rPr lang="ru-RU" dirty="0"/>
              <a:t>: </a:t>
            </a:r>
            <a:r>
              <a:rPr lang="ru-RU" i="1" dirty="0"/>
              <a:t>INTERVAL</a:t>
            </a:r>
            <a:r>
              <a:rPr lang="ru-RU" dirty="0"/>
              <a:t> ’10:20’ MINUTE TO </a:t>
            </a:r>
            <a:r>
              <a:rPr lang="ru-RU" i="1" dirty="0"/>
              <a:t>SECOND</a:t>
            </a:r>
            <a:r>
              <a:rPr lang="ru-RU" dirty="0"/>
              <a:t> –</a:t>
            </a:r>
            <a:r>
              <a:rPr lang="ru-RU" i="1" dirty="0"/>
              <a:t>временной интервал</a:t>
            </a:r>
            <a:r>
              <a:rPr lang="ru-RU" dirty="0"/>
              <a:t> в 10 минут и 20 секунд.</a:t>
            </a:r>
          </a:p>
        </p:txBody>
      </p:sp>
      <p:sp>
        <p:nvSpPr>
          <p:cNvPr id="4" name="Номер слайда 3"/>
          <p:cNvSpPr>
            <a:spLocks noGrp="1"/>
          </p:cNvSpPr>
          <p:nvPr>
            <p:ph type="sldNum" sz="quarter" idx="12"/>
          </p:nvPr>
        </p:nvSpPr>
        <p:spPr/>
        <p:txBody>
          <a:bodyPr/>
          <a:lstStyle/>
          <a:p>
            <a:fld id="{590C5F67-5E4C-4ABB-99F4-36BCAC8BE885}" type="slidenum">
              <a:rPr lang="ru-RU" smtClean="0"/>
              <a:pPr/>
              <a:t>188</a:t>
            </a:fld>
            <a:endParaRPr lang="ru-RU"/>
          </a:p>
        </p:txBody>
      </p:sp>
    </p:spTree>
    <p:extLst>
      <p:ext uri="{BB962C8B-B14F-4D97-AF65-F5344CB8AC3E}">
        <p14:creationId xmlns:p14="http://schemas.microsoft.com/office/powerpoint/2010/main" xmlns="" val="55101565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Арифметические </a:t>
            </a:r>
            <a:r>
              <a:rPr lang="ru-RU" dirty="0"/>
              <a:t>операции</a:t>
            </a:r>
          </a:p>
        </p:txBody>
      </p:sp>
      <p:graphicFrame>
        <p:nvGraphicFramePr>
          <p:cNvPr id="4" name="Объект 3"/>
          <p:cNvGraphicFramePr>
            <a:graphicFrameLocks noGrp="1"/>
          </p:cNvGraphicFramePr>
          <p:nvPr>
            <p:ph idx="1"/>
          </p:nvPr>
        </p:nvGraphicFramePr>
        <p:xfrm>
          <a:off x="838200" y="2907824"/>
          <a:ext cx="10515600" cy="2186940"/>
        </p:xfrm>
        <a:graphic>
          <a:graphicData uri="http://schemas.openxmlformats.org/drawingml/2006/table">
            <a:tbl>
              <a:tblPr/>
              <a:tblGrid>
                <a:gridCol w="2628900"/>
                <a:gridCol w="2628900"/>
                <a:gridCol w="2628900"/>
                <a:gridCol w="2628900"/>
              </a:tblGrid>
              <a:tr h="0">
                <a:tc>
                  <a:txBody>
                    <a:bodyPr/>
                    <a:lstStyle/>
                    <a:p>
                      <a:pPr algn="ctr"/>
                      <a:r>
                        <a:rPr lang="ru-RU" dirty="0">
                          <a:effectLst/>
                        </a:rPr>
                        <a:t>Тип первого операнда</a:t>
                      </a:r>
                    </a:p>
                  </a:txBody>
                  <a:tcPr marL="19050" marR="19050" marT="19050" marB="19050" anchor="ctr">
                    <a:lnL>
                      <a:noFill/>
                    </a:lnL>
                    <a:lnR>
                      <a:noFill/>
                    </a:lnR>
                    <a:lnT>
                      <a:noFill/>
                    </a:lnT>
                    <a:lnB>
                      <a:noFill/>
                    </a:lnB>
                    <a:solidFill>
                      <a:srgbClr val="FFFFFF"/>
                    </a:solidFill>
                  </a:tcPr>
                </a:tc>
                <a:tc>
                  <a:txBody>
                    <a:bodyPr/>
                    <a:lstStyle/>
                    <a:p>
                      <a:pPr algn="ctr"/>
                      <a:r>
                        <a:rPr lang="ru-RU">
                          <a:effectLst/>
                        </a:rPr>
                        <a:t>Операция</a:t>
                      </a:r>
                    </a:p>
                  </a:txBody>
                  <a:tcPr marL="19050" marR="19050" marT="19050" marB="19050" anchor="ctr">
                    <a:lnL>
                      <a:noFill/>
                    </a:lnL>
                    <a:lnR>
                      <a:noFill/>
                    </a:lnR>
                    <a:lnT>
                      <a:noFill/>
                    </a:lnT>
                    <a:lnB>
                      <a:noFill/>
                    </a:lnB>
                    <a:solidFill>
                      <a:srgbClr val="FFFFFF"/>
                    </a:solidFill>
                  </a:tcPr>
                </a:tc>
                <a:tc>
                  <a:txBody>
                    <a:bodyPr/>
                    <a:lstStyle/>
                    <a:p>
                      <a:pPr algn="ctr"/>
                      <a:r>
                        <a:rPr lang="ru-RU">
                          <a:effectLst/>
                        </a:rPr>
                        <a:t>Тип второго операнда</a:t>
                      </a:r>
                    </a:p>
                  </a:txBody>
                  <a:tcPr marL="19050" marR="19050" marT="19050" marB="19050" anchor="ctr">
                    <a:lnL>
                      <a:noFill/>
                    </a:lnL>
                    <a:lnR>
                      <a:noFill/>
                    </a:lnR>
                    <a:lnT>
                      <a:noFill/>
                    </a:lnT>
                    <a:lnB>
                      <a:noFill/>
                    </a:lnB>
                    <a:solidFill>
                      <a:srgbClr val="FFFFFF"/>
                    </a:solidFill>
                  </a:tcPr>
                </a:tc>
                <a:tc>
                  <a:txBody>
                    <a:bodyPr/>
                    <a:lstStyle/>
                    <a:p>
                      <a:pPr algn="ctr"/>
                      <a:r>
                        <a:rPr lang="ru-RU">
                          <a:effectLst/>
                        </a:rPr>
                        <a:t>Тип результата</a:t>
                      </a:r>
                    </a:p>
                  </a:txBody>
                  <a:tcPr marL="19050" marR="19050" marT="19050" marB="19050" anchor="ctr">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r>
                        <a:rPr lang="ru-RU">
                          <a:effectLst/>
                        </a:rPr>
                        <a:t> или </a:t>
                      </a:r>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dirty="0">
                          <a:solidFill>
                            <a:srgbClr val="8B0000"/>
                          </a:solidFill>
                          <a:effectLst/>
                          <a:latin typeface="Courier New" panose="02070309020205020404" pitchFamily="49" charset="0"/>
                        </a:rPr>
                        <a:t>Interval</a:t>
                      </a:r>
                      <a:endParaRPr lang="en-US" dirty="0">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Datetime</a:t>
                      </a:r>
                      <a:endParaRPr lang="en-US">
                        <a:effectLst/>
                      </a:endParaRPr>
                    </a:p>
                  </a:txBody>
                  <a:tcPr marL="19050" marR="19050" marT="19050" marB="19050">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r>
                        <a:rPr lang="ru-RU">
                          <a:effectLst/>
                        </a:rPr>
                        <a:t> или </a:t>
                      </a:r>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r>
                        <a:rPr lang="ru-RU">
                          <a:effectLst/>
                        </a:rPr>
                        <a:t> или </a:t>
                      </a:r>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Numeric</a:t>
                      </a:r>
                      <a:endParaRPr lang="en-US">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r>
              <a:tr h="0">
                <a:tc>
                  <a:txBody>
                    <a:bodyPr/>
                    <a:lstStyle/>
                    <a:p>
                      <a:r>
                        <a:rPr lang="en-US" i="1">
                          <a:solidFill>
                            <a:srgbClr val="8B0000"/>
                          </a:solidFill>
                          <a:effectLst/>
                          <a:latin typeface="Courier New" panose="02070309020205020404" pitchFamily="49" charset="0"/>
                        </a:rPr>
                        <a:t>Numeric</a:t>
                      </a:r>
                      <a:endParaRPr lang="en-US">
                        <a:effectLst/>
                      </a:endParaRPr>
                    </a:p>
                  </a:txBody>
                  <a:tcPr marL="19050" marR="19050" marT="19050" marB="19050">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a:t>
                      </a:r>
                      <a:endParaRPr lang="ru-RU">
                        <a:effectLst/>
                      </a:endParaRPr>
                    </a:p>
                  </a:txBody>
                  <a:tcPr marL="19050" marR="19050" marT="19050" marB="19050">
                    <a:lnL>
                      <a:noFill/>
                    </a:lnL>
                    <a:lnR>
                      <a:noFill/>
                    </a:lnR>
                    <a:lnT>
                      <a:noFill/>
                    </a:lnT>
                    <a:lnB>
                      <a:noFill/>
                    </a:lnB>
                    <a:solidFill>
                      <a:srgbClr val="FFFFFF"/>
                    </a:solidFill>
                  </a:tcPr>
                </a:tc>
                <a:tc>
                  <a:txBody>
                    <a:bodyPr/>
                    <a:lstStyle/>
                    <a:p>
                      <a:r>
                        <a:rPr lang="en-US" i="1">
                          <a:solidFill>
                            <a:srgbClr val="8B0000"/>
                          </a:solidFill>
                          <a:effectLst/>
                          <a:latin typeface="Courier New" panose="02070309020205020404" pitchFamily="49" charset="0"/>
                        </a:rPr>
                        <a:t>Interval</a:t>
                      </a:r>
                      <a:endParaRPr lang="en-US">
                        <a:effectLst/>
                      </a:endParaRPr>
                    </a:p>
                  </a:txBody>
                  <a:tcPr marL="19050" marR="19050" marT="19050" marB="19050">
                    <a:lnL>
                      <a:noFill/>
                    </a:lnL>
                    <a:lnR>
                      <a:noFill/>
                    </a:lnR>
                    <a:lnT>
                      <a:noFill/>
                    </a:lnT>
                    <a:lnB>
                      <a:noFill/>
                    </a:lnB>
                    <a:solidFill>
                      <a:srgbClr val="FFFFFF"/>
                    </a:solidFill>
                  </a:tcPr>
                </a:tc>
                <a:tc>
                  <a:txBody>
                    <a:bodyPr/>
                    <a:lstStyle/>
                    <a:p>
                      <a:r>
                        <a:rPr lang="en-US" i="1" dirty="0">
                          <a:solidFill>
                            <a:srgbClr val="8B0000"/>
                          </a:solidFill>
                          <a:effectLst/>
                          <a:latin typeface="Courier New" panose="02070309020205020404" pitchFamily="49" charset="0"/>
                        </a:rPr>
                        <a:t>Interval</a:t>
                      </a:r>
                      <a:endParaRPr lang="en-US" dirty="0">
                        <a:effectLst/>
                      </a:endParaRPr>
                    </a:p>
                  </a:txBody>
                  <a:tcPr marL="19050" marR="19050" marT="19050" marB="19050">
                    <a:lnL>
                      <a:noFill/>
                    </a:lnL>
                    <a:lnR>
                      <a:noFill/>
                    </a:lnR>
                    <a:lnT>
                      <a:noFill/>
                    </a:lnT>
                    <a:lnB>
                      <a:noFill/>
                    </a:lnB>
                    <a:solidFill>
                      <a:srgbClr val="FFFFFF"/>
                    </a:solidFill>
                  </a:tcPr>
                </a:tc>
              </a:tr>
            </a:tbl>
          </a:graphicData>
        </a:graphic>
      </p:graphicFrame>
      <p:sp>
        <p:nvSpPr>
          <p:cNvPr id="3" name="Номер слайда 2"/>
          <p:cNvSpPr>
            <a:spLocks noGrp="1"/>
          </p:cNvSpPr>
          <p:nvPr>
            <p:ph type="sldNum" sz="quarter" idx="12"/>
          </p:nvPr>
        </p:nvSpPr>
        <p:spPr/>
        <p:txBody>
          <a:bodyPr/>
          <a:lstStyle/>
          <a:p>
            <a:fld id="{590C5F67-5E4C-4ABB-99F4-36BCAC8BE885}" type="slidenum">
              <a:rPr lang="ru-RU" smtClean="0"/>
              <a:pPr/>
              <a:t>189</a:t>
            </a:fld>
            <a:endParaRPr lang="ru-RU"/>
          </a:p>
        </p:txBody>
      </p:sp>
    </p:spTree>
    <p:extLst>
      <p:ext uri="{BB962C8B-B14F-4D97-AF65-F5344CB8AC3E}">
        <p14:creationId xmlns:p14="http://schemas.microsoft.com/office/powerpoint/2010/main" xmlns="" val="178159883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Булевский тип</a:t>
            </a:r>
            <a:br>
              <a:rPr lang="ru-RU" b="1" dirty="0"/>
            </a:br>
            <a:endParaRPr lang="ru-RU" dirty="0"/>
          </a:p>
        </p:txBody>
      </p:sp>
      <p:sp>
        <p:nvSpPr>
          <p:cNvPr id="3" name="Объект 2"/>
          <p:cNvSpPr>
            <a:spLocks noGrp="1"/>
          </p:cNvSpPr>
          <p:nvPr>
            <p:ph idx="1"/>
          </p:nvPr>
        </p:nvSpPr>
        <p:spPr/>
        <p:txBody>
          <a:bodyPr/>
          <a:lstStyle/>
          <a:p>
            <a:r>
              <a:rPr lang="ru-RU" dirty="0"/>
              <a:t>При </a:t>
            </a:r>
            <a:r>
              <a:rPr lang="ru-RU" i="1" dirty="0"/>
              <a:t>определении столбца</a:t>
            </a:r>
            <a:r>
              <a:rPr lang="ru-RU" dirty="0"/>
              <a:t> </a:t>
            </a:r>
            <a:r>
              <a:rPr lang="ru-RU" i="1" dirty="0"/>
              <a:t>булевского типа</a:t>
            </a:r>
            <a:r>
              <a:rPr lang="ru-RU" dirty="0"/>
              <a:t> </a:t>
            </a:r>
            <a:r>
              <a:rPr lang="ru-RU" dirty="0" smtClean="0"/>
              <a:t>указывается  спецификация</a:t>
            </a:r>
            <a:r>
              <a:rPr lang="ru-RU" dirty="0"/>
              <a:t> </a:t>
            </a:r>
            <a:r>
              <a:rPr lang="ru-RU" i="1" dirty="0"/>
              <a:t>BOOLEAN</a:t>
            </a:r>
            <a:r>
              <a:rPr lang="ru-RU" dirty="0" smtClean="0"/>
              <a:t>.</a:t>
            </a:r>
            <a:endParaRPr lang="en-US" dirty="0" smtClean="0"/>
          </a:p>
          <a:p>
            <a:r>
              <a:rPr lang="ru-RU" b="1" i="1" dirty="0"/>
              <a:t>Булевский тип</a:t>
            </a:r>
            <a:r>
              <a:rPr lang="ru-RU" dirty="0"/>
              <a:t> состоит из трех значений: </a:t>
            </a:r>
            <a:r>
              <a:rPr lang="ru-RU" dirty="0" err="1"/>
              <a:t>true</a:t>
            </a:r>
            <a:r>
              <a:rPr lang="ru-RU" dirty="0"/>
              <a:t>, </a:t>
            </a:r>
            <a:r>
              <a:rPr lang="ru-RU" dirty="0" err="1"/>
              <a:t>false</a:t>
            </a:r>
            <a:r>
              <a:rPr lang="ru-RU" dirty="0"/>
              <a:t> и </a:t>
            </a:r>
            <a:r>
              <a:rPr lang="ru-RU" dirty="0" err="1"/>
              <a:t>unknown</a:t>
            </a:r>
            <a:r>
              <a:rPr lang="ru-RU" dirty="0"/>
              <a:t> (соответствующие </a:t>
            </a:r>
            <a:r>
              <a:rPr lang="ru-RU" i="1" dirty="0"/>
              <a:t>литералы</a:t>
            </a:r>
            <a:r>
              <a:rPr lang="ru-RU" dirty="0"/>
              <a:t> обозначаются TRUE, </a:t>
            </a:r>
            <a:r>
              <a:rPr lang="ru-RU" dirty="0" smtClean="0"/>
              <a:t>FALSE</a:t>
            </a:r>
            <a:r>
              <a:rPr lang="en-US" dirty="0" smtClean="0"/>
              <a:t>  </a:t>
            </a:r>
            <a:r>
              <a:rPr lang="ru-RU" dirty="0"/>
              <a:t> и </a:t>
            </a:r>
            <a:r>
              <a:rPr lang="en-US" dirty="0" smtClean="0"/>
              <a:t>             </a:t>
            </a:r>
            <a:r>
              <a:rPr lang="ru-RU" dirty="0" smtClean="0"/>
              <a:t>UNKNOWN</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190</a:t>
            </a:fld>
            <a:endParaRPr lang="ru-RU"/>
          </a:p>
        </p:txBody>
      </p:sp>
    </p:spTree>
    <p:extLst>
      <p:ext uri="{BB962C8B-B14F-4D97-AF65-F5344CB8AC3E}">
        <p14:creationId xmlns:p14="http://schemas.microsoft.com/office/powerpoint/2010/main" xmlns="" val="92279492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pic>
        <p:nvPicPr>
          <p:cNvPr id="1026" name="Picture 2" descr="Таблицы истинности основных логических операций в трехзначной логике"/>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131" y="365125"/>
            <a:ext cx="8958919" cy="555494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191</a:t>
            </a:fld>
            <a:endParaRPr lang="ru-RU"/>
          </a:p>
        </p:txBody>
      </p:sp>
    </p:spTree>
    <p:extLst>
      <p:ext uri="{BB962C8B-B14F-4D97-AF65-F5344CB8AC3E}">
        <p14:creationId xmlns:p14="http://schemas.microsoft.com/office/powerpoint/2010/main" xmlns="" val="318361312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коллекций</a:t>
            </a:r>
            <a:br>
              <a:rPr lang="ru-RU" b="1" dirty="0"/>
            </a:br>
            <a:endParaRPr lang="ru-RU" dirty="0"/>
          </a:p>
        </p:txBody>
      </p:sp>
      <p:sp>
        <p:nvSpPr>
          <p:cNvPr id="3" name="Объект 2"/>
          <p:cNvSpPr>
            <a:spLocks noGrp="1"/>
          </p:cNvSpPr>
          <p:nvPr>
            <p:ph idx="1"/>
          </p:nvPr>
        </p:nvSpPr>
        <p:spPr/>
        <p:txBody>
          <a:bodyPr/>
          <a:lstStyle/>
          <a:p>
            <a:r>
              <a:rPr lang="ru-RU" dirty="0"/>
              <a:t>Начиная с </a:t>
            </a:r>
            <a:r>
              <a:rPr lang="ru-RU" i="1" dirty="0"/>
              <a:t>SQL:1999</a:t>
            </a:r>
            <a:r>
              <a:rPr lang="ru-RU" dirty="0"/>
              <a:t>, в языке поддерживается возможность использования типов данных, значения которых являются коллекциями значений некоторых других типов. Обычно под термином </a:t>
            </a:r>
            <a:r>
              <a:rPr lang="ru-RU" b="1" i="1" dirty="0"/>
              <a:t>коллекция</a:t>
            </a:r>
            <a:r>
              <a:rPr lang="ru-RU" dirty="0"/>
              <a:t> понимается одно из следующих образований: массив, список, множество и </a:t>
            </a:r>
            <a:r>
              <a:rPr lang="ru-RU" i="1" dirty="0"/>
              <a:t>мультимножество</a:t>
            </a:r>
            <a:r>
              <a:rPr lang="ru-RU" dirty="0"/>
              <a:t>. В варианте </a:t>
            </a:r>
            <a:r>
              <a:rPr lang="ru-RU" i="1" dirty="0"/>
              <a:t>SQL:1999</a:t>
            </a:r>
            <a:r>
              <a:rPr lang="ru-RU" dirty="0"/>
              <a:t>, принятом в 1999 г., были специфицированы только </a:t>
            </a:r>
            <a:r>
              <a:rPr lang="ru-RU" i="1" dirty="0"/>
              <a:t>типы массивов</a:t>
            </a:r>
            <a:r>
              <a:rPr lang="ru-RU" dirty="0"/>
              <a:t>. В новом стандарте </a:t>
            </a:r>
            <a:r>
              <a:rPr lang="ru-RU" i="1" dirty="0"/>
              <a:t>SQL:2003</a:t>
            </a:r>
            <a:r>
              <a:rPr lang="ru-RU" dirty="0"/>
              <a:t> появилась спецификация </a:t>
            </a:r>
            <a:r>
              <a:rPr lang="ru-RU" i="1" dirty="0"/>
              <a:t>типа мультимножества</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192</a:t>
            </a:fld>
            <a:endParaRPr lang="ru-RU"/>
          </a:p>
        </p:txBody>
      </p:sp>
    </p:spTree>
    <p:extLst>
      <p:ext uri="{BB962C8B-B14F-4D97-AF65-F5344CB8AC3E}">
        <p14:creationId xmlns:p14="http://schemas.microsoft.com/office/powerpoint/2010/main" xmlns="" val="181263009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массивов</a:t>
            </a:r>
            <a:br>
              <a:rPr lang="ru-RU" b="1" dirty="0"/>
            </a:br>
            <a:endParaRPr lang="ru-RU" dirty="0"/>
          </a:p>
        </p:txBody>
      </p:sp>
      <p:sp>
        <p:nvSpPr>
          <p:cNvPr id="3" name="Объект 2"/>
          <p:cNvSpPr>
            <a:spLocks noGrp="1"/>
          </p:cNvSpPr>
          <p:nvPr>
            <p:ph idx="1"/>
          </p:nvPr>
        </p:nvSpPr>
        <p:spPr/>
        <p:txBody>
          <a:bodyPr/>
          <a:lstStyle/>
          <a:p>
            <a:r>
              <a:rPr lang="ru-RU" dirty="0"/>
              <a:t>Любой возможный </a:t>
            </a:r>
            <a:r>
              <a:rPr lang="ru-RU" i="1" dirty="0"/>
              <a:t>тип массива</a:t>
            </a:r>
            <a:r>
              <a:rPr lang="ru-RU" dirty="0"/>
              <a:t> получается путем применения </a:t>
            </a:r>
            <a:r>
              <a:rPr lang="ru-RU" i="1" dirty="0"/>
              <a:t>конструктора типов</a:t>
            </a:r>
            <a:r>
              <a:rPr lang="ru-RU" dirty="0"/>
              <a:t>   ARRAY</a:t>
            </a:r>
            <a:r>
              <a:rPr lang="ru-RU" dirty="0" smtClean="0"/>
              <a:t>.</a:t>
            </a:r>
            <a:endParaRPr lang="en-US" dirty="0" smtClean="0"/>
          </a:p>
          <a:p>
            <a:r>
              <a:rPr lang="ru-RU" dirty="0"/>
              <a:t>При </a:t>
            </a:r>
            <a:r>
              <a:rPr lang="ru-RU" i="1" dirty="0"/>
              <a:t>определении столбца</a:t>
            </a:r>
            <a:r>
              <a:rPr lang="ru-RU" dirty="0"/>
              <a:t>, значения которого должны принадлежать некоторому </a:t>
            </a:r>
            <a:r>
              <a:rPr lang="ru-RU" i="1" dirty="0"/>
              <a:t>типу массива</a:t>
            </a:r>
            <a:r>
              <a:rPr lang="ru-RU" dirty="0"/>
              <a:t>, используется конструкция </a:t>
            </a:r>
            <a:r>
              <a:rPr lang="ru-RU" dirty="0" err="1"/>
              <a:t>dt</a:t>
            </a:r>
            <a:r>
              <a:rPr lang="ru-RU" dirty="0"/>
              <a:t> ARRAY [ </a:t>
            </a:r>
            <a:r>
              <a:rPr lang="ru-RU" dirty="0" err="1"/>
              <a:t>mc</a:t>
            </a:r>
            <a:r>
              <a:rPr lang="ru-RU" dirty="0"/>
              <a:t> ], где </a:t>
            </a:r>
            <a:r>
              <a:rPr lang="ru-RU" dirty="0" err="1"/>
              <a:t>dt</a:t>
            </a:r>
            <a:r>
              <a:rPr lang="ru-RU" dirty="0"/>
              <a:t> специфицирует некоторый допустимый в </a:t>
            </a:r>
            <a:r>
              <a:rPr lang="ru-RU" i="1" dirty="0"/>
              <a:t>SQL</a:t>
            </a:r>
            <a:r>
              <a:rPr lang="ru-RU" dirty="0"/>
              <a:t> тип данных, а </a:t>
            </a:r>
            <a:r>
              <a:rPr lang="ru-RU" dirty="0" err="1"/>
              <a:t>mc</a:t>
            </a:r>
            <a:r>
              <a:rPr lang="ru-RU" dirty="0"/>
              <a:t> является </a:t>
            </a:r>
            <a:r>
              <a:rPr lang="ru-RU" i="1" dirty="0"/>
              <a:t>литералом</a:t>
            </a:r>
            <a:r>
              <a:rPr lang="ru-RU" dirty="0"/>
              <a:t> некоторого </a:t>
            </a:r>
            <a:r>
              <a:rPr lang="ru-RU" i="1" dirty="0"/>
              <a:t>точного числового </a:t>
            </a:r>
            <a:r>
              <a:rPr lang="ru-RU" i="1" dirty="0" smtClean="0"/>
              <a:t>типа</a:t>
            </a:r>
            <a:r>
              <a:rPr lang="ru-RU" dirty="0" smtClean="0"/>
              <a:t> и </a:t>
            </a:r>
            <a:r>
              <a:rPr lang="ru-RU" dirty="0"/>
              <a:t>определяет максимальное число элементов в значении </a:t>
            </a:r>
            <a:r>
              <a:rPr lang="ru-RU" i="1" dirty="0"/>
              <a:t>типа массива</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193</a:t>
            </a:fld>
            <a:endParaRPr lang="ru-RU"/>
          </a:p>
        </p:txBody>
      </p:sp>
    </p:spTree>
    <p:extLst>
      <p:ext uri="{BB962C8B-B14F-4D97-AF65-F5344CB8AC3E}">
        <p14:creationId xmlns:p14="http://schemas.microsoft.com/office/powerpoint/2010/main" xmlns="" val="68043695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35572"/>
            <a:ext cx="10515600" cy="5341391"/>
          </a:xfrm>
        </p:spPr>
        <p:txBody>
          <a:bodyPr/>
          <a:lstStyle/>
          <a:p>
            <a:r>
              <a:rPr lang="ru-RU" dirty="0"/>
              <a:t>В стандарте </a:t>
            </a:r>
            <a:r>
              <a:rPr lang="ru-RU" i="1" dirty="0"/>
              <a:t>SQL:1999</a:t>
            </a:r>
            <a:r>
              <a:rPr lang="ru-RU" dirty="0"/>
              <a:t> многомерные массивы и массивы массивов не поддерживались. Однако в </a:t>
            </a:r>
            <a:r>
              <a:rPr lang="ru-RU" dirty="0" smtClean="0"/>
              <a:t>стандарте</a:t>
            </a:r>
            <a:r>
              <a:rPr lang="en-US" dirty="0" smtClean="0"/>
              <a:t> </a:t>
            </a:r>
            <a:r>
              <a:rPr lang="ru-RU" i="1" dirty="0" smtClean="0"/>
              <a:t>SQL:2003</a:t>
            </a:r>
            <a:r>
              <a:rPr lang="ru-RU" dirty="0"/>
              <a:t> это ограничение было снято, и теперь типом элементов любого </a:t>
            </a:r>
            <a:r>
              <a:rPr lang="ru-RU" i="1" dirty="0"/>
              <a:t>типа коллекций</a:t>
            </a:r>
            <a:r>
              <a:rPr lang="ru-RU" dirty="0"/>
              <a:t> может быть любой допустимый в </a:t>
            </a:r>
            <a:r>
              <a:rPr lang="ru-RU" i="1" dirty="0"/>
              <a:t>SQL</a:t>
            </a:r>
            <a:r>
              <a:rPr lang="ru-RU" dirty="0"/>
              <a:t> тип </a:t>
            </a:r>
            <a:r>
              <a:rPr lang="ru-RU" dirty="0" smtClean="0"/>
              <a:t>данных.</a:t>
            </a:r>
            <a:endParaRPr lang="en-US" dirty="0" smtClean="0"/>
          </a:p>
          <a:p>
            <a:r>
              <a:rPr lang="ru-RU" dirty="0"/>
              <a:t>Элементам каждого значения </a:t>
            </a:r>
            <a:r>
              <a:rPr lang="ru-RU" i="1" dirty="0"/>
              <a:t>типа массива</a:t>
            </a:r>
            <a:r>
              <a:rPr lang="ru-RU" dirty="0"/>
              <a:t> соответствуют их порядковые номера, называемые индексами. Значение индекса всегда должно принадлежать отрезку [1, </a:t>
            </a:r>
            <a:r>
              <a:rPr lang="ru-RU" dirty="0" err="1"/>
              <a:t>mc</a:t>
            </a:r>
            <a:r>
              <a:rPr lang="ru-RU" dirty="0" smtClean="0"/>
              <a:t>].</a:t>
            </a:r>
            <a:endParaRPr lang="en-US" dirty="0" smtClean="0"/>
          </a:p>
          <a:p>
            <a:r>
              <a:rPr lang="ru-RU" dirty="0"/>
              <a:t> Обеспечивается доступ к элементам массива по их индексам. В частности, можно объявить столбец типа INTEGER ARRAY [10] и при вставке строки в соответствующую таблицу задать значение только пятого элемента массива. Тогда в строку будет занесен массив из пяти элементов, причем первые четыре элемента будут содержать </a:t>
            </a:r>
            <a:r>
              <a:rPr lang="ru-RU" i="1" dirty="0"/>
              <a:t>неопределенное значение</a:t>
            </a:r>
            <a:r>
              <a:rPr lang="ru-RU" dirty="0"/>
              <a:t> ( NULL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194</a:t>
            </a:fld>
            <a:endParaRPr lang="ru-RU"/>
          </a:p>
        </p:txBody>
      </p:sp>
    </p:spTree>
    <p:extLst>
      <p:ext uri="{BB962C8B-B14F-4D97-AF65-F5344CB8AC3E}">
        <p14:creationId xmlns:p14="http://schemas.microsoft.com/office/powerpoint/2010/main" xmlns="" val="100271846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Основными операциями над массивами являются выборка значения элемента массива по его индексу, изменение некоторого элемента массива или массива целиком и конкатенация (сцепление) двух массивов. Кроме того, для любого значения </a:t>
            </a:r>
            <a:r>
              <a:rPr lang="ru-RU" i="1" dirty="0"/>
              <a:t>типа массива</a:t>
            </a:r>
            <a:r>
              <a:rPr lang="ru-RU" dirty="0"/>
              <a:t> можно узнать значение его </a:t>
            </a:r>
            <a:r>
              <a:rPr lang="ru-RU" dirty="0" smtClean="0"/>
              <a:t>индекса.</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195</a:t>
            </a:fld>
            <a:endParaRPr lang="ru-RU"/>
          </a:p>
        </p:txBody>
      </p:sp>
    </p:spTree>
    <p:extLst>
      <p:ext uri="{BB962C8B-B14F-4D97-AF65-F5344CB8AC3E}">
        <p14:creationId xmlns:p14="http://schemas.microsoft.com/office/powerpoint/2010/main" xmlns="" val="218625025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мультимножеств</a:t>
            </a:r>
            <a:br>
              <a:rPr lang="ru-RU" b="1" dirty="0"/>
            </a:br>
            <a:endParaRPr lang="ru-RU" dirty="0"/>
          </a:p>
        </p:txBody>
      </p:sp>
      <p:sp>
        <p:nvSpPr>
          <p:cNvPr id="3" name="Объект 2"/>
          <p:cNvSpPr>
            <a:spLocks noGrp="1"/>
          </p:cNvSpPr>
          <p:nvPr>
            <p:ph idx="1"/>
          </p:nvPr>
        </p:nvSpPr>
        <p:spPr/>
        <p:txBody>
          <a:bodyPr/>
          <a:lstStyle/>
          <a:p>
            <a:r>
              <a:rPr lang="ru-RU" dirty="0"/>
              <a:t>При </a:t>
            </a:r>
            <a:r>
              <a:rPr lang="ru-RU" i="1" dirty="0"/>
              <a:t>определении столбца</a:t>
            </a:r>
            <a:r>
              <a:rPr lang="ru-RU" dirty="0"/>
              <a:t> таблицы </a:t>
            </a:r>
            <a:r>
              <a:rPr lang="ru-RU" i="1" dirty="0"/>
              <a:t>типа мультимножеств</a:t>
            </a:r>
            <a:r>
              <a:rPr lang="ru-RU" dirty="0"/>
              <a:t> используется конструкция </a:t>
            </a:r>
            <a:r>
              <a:rPr lang="ru-RU" dirty="0" err="1"/>
              <a:t>dt</a:t>
            </a:r>
            <a:r>
              <a:rPr lang="ru-RU" dirty="0"/>
              <a:t> MULTISET, где </a:t>
            </a:r>
            <a:r>
              <a:rPr lang="ru-RU" dirty="0" err="1"/>
              <a:t>dt</a:t>
            </a:r>
            <a:r>
              <a:rPr lang="ru-RU" dirty="0"/>
              <a:t> задает тип данных элементов конструируемого </a:t>
            </a:r>
            <a:r>
              <a:rPr lang="ru-RU" i="1" dirty="0"/>
              <a:t>типа мультимножеств</a:t>
            </a:r>
            <a:r>
              <a:rPr lang="ru-RU" dirty="0"/>
              <a:t>. Значениями </a:t>
            </a:r>
            <a:r>
              <a:rPr lang="ru-RU" i="1" dirty="0"/>
              <a:t>типа мультимножеств</a:t>
            </a:r>
            <a:r>
              <a:rPr lang="ru-RU" dirty="0"/>
              <a:t> являются </a:t>
            </a:r>
            <a:r>
              <a:rPr lang="ru-RU" i="1" dirty="0"/>
              <a:t>мультимножества</a:t>
            </a:r>
            <a:r>
              <a:rPr lang="ru-RU" dirty="0"/>
              <a:t>, т. е. неупорядоченные коллекции элементов одного и того же типа, среди которых допускаются дубликаты. Например, значениями типа INTEGER </a:t>
            </a:r>
            <a:r>
              <a:rPr lang="ru-RU" dirty="0" smtClean="0"/>
              <a:t>MULTISET являются</a:t>
            </a:r>
            <a:r>
              <a:rPr lang="ru-RU" dirty="0"/>
              <a:t> </a:t>
            </a:r>
            <a:r>
              <a:rPr lang="ru-RU" i="1" dirty="0"/>
              <a:t>мультимножества</a:t>
            </a:r>
            <a:r>
              <a:rPr lang="ru-RU" dirty="0"/>
              <a:t>, элементами которых — целые числа. Примером такого значения может быть </a:t>
            </a:r>
            <a:r>
              <a:rPr lang="ru-RU" i="1" dirty="0"/>
              <a:t>мультимножество</a:t>
            </a:r>
            <a:r>
              <a:rPr lang="ru-RU" dirty="0"/>
              <a:t> {12, 34, 12, 45, -64}.</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196</a:t>
            </a:fld>
            <a:endParaRPr lang="ru-RU"/>
          </a:p>
        </p:txBody>
      </p:sp>
    </p:spTree>
    <p:extLst>
      <p:ext uri="{BB962C8B-B14F-4D97-AF65-F5344CB8AC3E}">
        <p14:creationId xmlns:p14="http://schemas.microsoft.com/office/powerpoint/2010/main" xmlns="" val="344017292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В отличие от массива, </a:t>
            </a:r>
            <a:r>
              <a:rPr lang="ru-RU" i="1" dirty="0"/>
              <a:t>мультимножество</a:t>
            </a:r>
            <a:r>
              <a:rPr lang="ru-RU" dirty="0"/>
              <a:t> является неограниченной коллекцией; при конструировании </a:t>
            </a:r>
            <a:r>
              <a:rPr lang="ru-RU" i="1" dirty="0"/>
              <a:t>типа мультимножеств</a:t>
            </a:r>
            <a:r>
              <a:rPr lang="ru-RU" dirty="0"/>
              <a:t> не указывается предельная кардинальность значений этого типа. Однако это не означает, что возможность вставки элементов </a:t>
            </a:r>
            <a:r>
              <a:rPr lang="ru-RU" dirty="0" smtClean="0"/>
              <a:t>в </a:t>
            </a:r>
            <a:r>
              <a:rPr lang="ru-RU" i="1" dirty="0" smtClean="0"/>
              <a:t>мультимножество</a:t>
            </a:r>
            <a:r>
              <a:rPr lang="ru-RU" dirty="0"/>
              <a:t> действительно не ограничена; стандарт всего лишь не требует явного объявления границы.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197</a:t>
            </a:fld>
            <a:endParaRPr lang="ru-RU"/>
          </a:p>
        </p:txBody>
      </p:sp>
    </p:spTree>
    <p:extLst>
      <p:ext uri="{BB962C8B-B14F-4D97-AF65-F5344CB8AC3E}">
        <p14:creationId xmlns:p14="http://schemas.microsoft.com/office/powerpoint/2010/main" xmlns="" val="350704096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4227"/>
          </a:xfrm>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lnSpcReduction="10000"/>
          </a:bodyPr>
          <a:lstStyle/>
          <a:p>
            <a:r>
              <a:rPr lang="ru-RU" dirty="0"/>
              <a:t>Для </a:t>
            </a:r>
            <a:r>
              <a:rPr lang="ru-RU" i="1" dirty="0"/>
              <a:t>типов мультимножеств</a:t>
            </a:r>
            <a:r>
              <a:rPr lang="ru-RU" dirty="0"/>
              <a:t> поддерживаются операции </a:t>
            </a:r>
            <a:r>
              <a:rPr lang="ru-RU" i="1" dirty="0"/>
              <a:t>преобразования типа</a:t>
            </a:r>
            <a:r>
              <a:rPr lang="ru-RU" dirty="0"/>
              <a:t> значения-</a:t>
            </a:r>
            <a:r>
              <a:rPr lang="ru-RU" i="1" dirty="0"/>
              <a:t>мультимножества</a:t>
            </a:r>
            <a:r>
              <a:rPr lang="ru-RU" dirty="0"/>
              <a:t> к </a:t>
            </a:r>
            <a:r>
              <a:rPr lang="ru-RU" i="1" dirty="0"/>
              <a:t>типу массивов</a:t>
            </a:r>
            <a:r>
              <a:rPr lang="ru-RU" dirty="0"/>
              <a:t> или </a:t>
            </a:r>
            <a:r>
              <a:rPr lang="ru-RU" dirty="0" smtClean="0"/>
              <a:t>другому </a:t>
            </a:r>
            <a:r>
              <a:rPr lang="ru-RU" i="1" dirty="0" smtClean="0"/>
              <a:t>типу </a:t>
            </a:r>
            <a:r>
              <a:rPr lang="ru-RU" i="1" dirty="0"/>
              <a:t>мультимножеств</a:t>
            </a:r>
            <a:r>
              <a:rPr lang="ru-RU" dirty="0"/>
              <a:t> с </a:t>
            </a:r>
            <a:r>
              <a:rPr lang="ru-RU" i="1" dirty="0"/>
              <a:t>совместимым типом</a:t>
            </a:r>
            <a:r>
              <a:rPr lang="ru-RU" dirty="0"/>
              <a:t> элементов (операция </a:t>
            </a:r>
            <a:r>
              <a:rPr lang="ru-RU" i="1" dirty="0"/>
              <a:t>CAST</a:t>
            </a:r>
            <a:r>
              <a:rPr lang="ru-RU" dirty="0"/>
              <a:t> ), для удаления дубликатов из </a:t>
            </a:r>
            <a:r>
              <a:rPr lang="ru-RU" i="1" dirty="0"/>
              <a:t>мультимножества</a:t>
            </a:r>
            <a:r>
              <a:rPr lang="ru-RU" dirty="0"/>
              <a:t> (</a:t>
            </a:r>
            <a:r>
              <a:rPr lang="ru-RU" dirty="0" smtClean="0"/>
              <a:t>функция SET</a:t>
            </a:r>
            <a:r>
              <a:rPr lang="ru-RU" dirty="0"/>
              <a:t> ), для определения числа элементов в заданном мультимножестве (функция </a:t>
            </a:r>
            <a:r>
              <a:rPr lang="ru-RU" i="1" dirty="0"/>
              <a:t>CARDINALITY</a:t>
            </a:r>
            <a:r>
              <a:rPr lang="ru-RU" dirty="0"/>
              <a:t> ), для выборки </a:t>
            </a:r>
            <a:r>
              <a:rPr lang="ru-RU" dirty="0" smtClean="0"/>
              <a:t>элемента </a:t>
            </a:r>
            <a:r>
              <a:rPr lang="ru-RU" i="1" dirty="0" smtClean="0"/>
              <a:t>мультимножества</a:t>
            </a:r>
            <a:r>
              <a:rPr lang="ru-RU" dirty="0"/>
              <a:t>, содержащего в точности один элемент (функция </a:t>
            </a:r>
            <a:r>
              <a:rPr lang="ru-RU" i="1" dirty="0"/>
              <a:t>ELEMENT</a:t>
            </a:r>
            <a:r>
              <a:rPr lang="ru-RU" dirty="0"/>
              <a:t> ). Кроме того, для </a:t>
            </a:r>
            <a:r>
              <a:rPr lang="ru-RU" i="1" dirty="0"/>
              <a:t>мультимножеств</a:t>
            </a:r>
            <a:r>
              <a:rPr lang="ru-RU" dirty="0"/>
              <a:t> </a:t>
            </a:r>
            <a:r>
              <a:rPr lang="ru-RU" dirty="0" smtClean="0"/>
              <a:t>обеспечиваются </a:t>
            </a:r>
            <a:r>
              <a:rPr lang="ru-RU" i="1" dirty="0" smtClean="0"/>
              <a:t>операции </a:t>
            </a:r>
            <a:r>
              <a:rPr lang="ru-RU" i="1" dirty="0"/>
              <a:t>объединения</a:t>
            </a:r>
            <a:r>
              <a:rPr lang="ru-RU" dirty="0"/>
              <a:t> ( MULTISET </a:t>
            </a:r>
            <a:r>
              <a:rPr lang="ru-RU" i="1" dirty="0"/>
              <a:t>UNION</a:t>
            </a:r>
            <a:r>
              <a:rPr lang="ru-RU" dirty="0"/>
              <a:t> ), пересечения ( MULTISET </a:t>
            </a:r>
            <a:r>
              <a:rPr lang="ru-RU" i="1" dirty="0"/>
              <a:t>INTERSECT</a:t>
            </a:r>
            <a:r>
              <a:rPr lang="ru-RU" dirty="0"/>
              <a:t> ) и определения разности ( MULTISET EXCEPT ). Каждая из операций может выполняться в режиме с сохранением дубликатов (режим ALL ) или с устранением дубликатов (режим </a:t>
            </a:r>
            <a:r>
              <a:rPr lang="ru-RU" i="1" dirty="0"/>
              <a:t>DISTINCT</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198</a:t>
            </a:fld>
            <a:endParaRPr lang="ru-RU"/>
          </a:p>
        </p:txBody>
      </p:sp>
    </p:spTree>
    <p:extLst>
      <p:ext uri="{BB962C8B-B14F-4D97-AF65-F5344CB8AC3E}">
        <p14:creationId xmlns:p14="http://schemas.microsoft.com/office/powerpoint/2010/main" xmlns="" val="108700320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Типы, определяемые пользователем</a:t>
            </a:r>
            <a:br>
              <a:rPr lang="ru-RU" b="1" dirty="0"/>
            </a:br>
            <a:endParaRPr lang="ru-RU" dirty="0"/>
          </a:p>
        </p:txBody>
      </p:sp>
      <p:sp>
        <p:nvSpPr>
          <p:cNvPr id="3" name="Объект 2"/>
          <p:cNvSpPr>
            <a:spLocks noGrp="1"/>
          </p:cNvSpPr>
          <p:nvPr>
            <p:ph idx="1"/>
          </p:nvPr>
        </p:nvSpPr>
        <p:spPr/>
        <p:txBody>
          <a:bodyPr/>
          <a:lstStyle/>
          <a:p>
            <a:r>
              <a:rPr lang="ru-RU" dirty="0"/>
              <a:t>Эта категория типов данных связана с объектными расширениями языка </a:t>
            </a:r>
            <a:r>
              <a:rPr lang="ru-RU" i="1" dirty="0"/>
              <a:t>SQL</a:t>
            </a:r>
            <a:r>
              <a:rPr lang="ru-RU" dirty="0" smtClean="0"/>
              <a:t>.</a:t>
            </a:r>
          </a:p>
          <a:p>
            <a:r>
              <a:rPr lang="ru-RU" i="1" dirty="0"/>
              <a:t>Структурные типы</a:t>
            </a:r>
            <a:r>
              <a:rPr lang="ru-RU" dirty="0"/>
              <a:t> (</a:t>
            </a:r>
            <a:r>
              <a:rPr lang="en-US" i="1" dirty="0"/>
              <a:t>Structured Types</a:t>
            </a:r>
            <a:r>
              <a:rPr lang="en-US" dirty="0" smtClean="0"/>
              <a:t>).</a:t>
            </a:r>
            <a:endParaRPr lang="ru-RU" dirty="0" smtClean="0"/>
          </a:p>
          <a:p>
            <a:r>
              <a:rPr lang="ru-RU" i="1" dirty="0"/>
              <a:t>Индивидуальные типы</a:t>
            </a:r>
            <a:r>
              <a:rPr lang="ru-RU" dirty="0"/>
              <a:t> (</a:t>
            </a:r>
            <a:r>
              <a:rPr lang="en-US" i="1" dirty="0"/>
              <a:t>Distinct Types</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199</a:t>
            </a:fld>
            <a:endParaRPr lang="ru-RU"/>
          </a:p>
        </p:txBody>
      </p:sp>
    </p:spTree>
    <p:extLst>
      <p:ext uri="{BB962C8B-B14F-4D97-AF65-F5344CB8AC3E}">
        <p14:creationId xmlns:p14="http://schemas.microsoft.com/office/powerpoint/2010/main" xmlns="" val="268691727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Ссылочные типы</a:t>
            </a:r>
            <a:br>
              <a:rPr lang="ru-RU" b="1" dirty="0"/>
            </a:br>
            <a:endParaRPr lang="ru-RU" dirty="0"/>
          </a:p>
        </p:txBody>
      </p:sp>
      <p:sp>
        <p:nvSpPr>
          <p:cNvPr id="3" name="Объект 2"/>
          <p:cNvSpPr>
            <a:spLocks noGrp="1"/>
          </p:cNvSpPr>
          <p:nvPr>
            <p:ph idx="1"/>
          </p:nvPr>
        </p:nvSpPr>
        <p:spPr/>
        <p:txBody>
          <a:bodyPr/>
          <a:lstStyle/>
          <a:p>
            <a:r>
              <a:rPr lang="ru-RU" dirty="0"/>
              <a:t>Эта категория типов данных связана с объектными расширениями языка </a:t>
            </a:r>
            <a:r>
              <a:rPr lang="ru-RU" i="1" dirty="0" smtClean="0"/>
              <a:t>SQL</a:t>
            </a:r>
            <a:r>
              <a:rPr lang="ru-RU" dirty="0" smtClean="0"/>
              <a:t>.</a:t>
            </a:r>
          </a:p>
          <a:p>
            <a:r>
              <a:rPr lang="ru-RU" dirty="0"/>
              <a:t> Обеспечивается механизм конструирования типов (</a:t>
            </a:r>
            <a:r>
              <a:rPr lang="ru-RU" i="1" dirty="0"/>
              <a:t>ссылочных типов</a:t>
            </a:r>
            <a:r>
              <a:rPr lang="ru-RU" dirty="0"/>
              <a:t> ), которые могут использоваться в качестве типов столбцов некоторого вида таблиц ( </a:t>
            </a:r>
            <a:r>
              <a:rPr lang="ru-RU" i="1" dirty="0"/>
              <a:t>типизированных таблиц</a:t>
            </a:r>
            <a:r>
              <a:rPr lang="ru-RU" dirty="0"/>
              <a:t> ).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200</a:t>
            </a:fld>
            <a:endParaRPr lang="ru-RU"/>
          </a:p>
        </p:txBody>
      </p:sp>
    </p:spTree>
    <p:extLst>
      <p:ext uri="{BB962C8B-B14F-4D97-AF65-F5344CB8AC3E}">
        <p14:creationId xmlns:p14="http://schemas.microsoft.com/office/powerpoint/2010/main" xmlns="" val="11769411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Средства определения, изменения определения и отмены определения доменов</a:t>
            </a:r>
            <a:br>
              <a:rPr lang="ru-RU" b="1" dirty="0"/>
            </a:br>
            <a:endParaRPr lang="ru-RU" dirty="0"/>
          </a:p>
        </p:txBody>
      </p:sp>
      <p:sp>
        <p:nvSpPr>
          <p:cNvPr id="3" name="Объект 2"/>
          <p:cNvSpPr>
            <a:spLocks noGrp="1"/>
          </p:cNvSpPr>
          <p:nvPr>
            <p:ph idx="1"/>
          </p:nvPr>
        </p:nvSpPr>
        <p:spPr/>
        <p:txBody>
          <a:bodyPr>
            <a:normAutofit/>
          </a:bodyPr>
          <a:lstStyle/>
          <a:p>
            <a:r>
              <a:rPr lang="ru-RU" dirty="0"/>
              <a:t> </a:t>
            </a:r>
            <a:r>
              <a:rPr lang="ru-RU" i="1" dirty="0"/>
              <a:t>Домен</a:t>
            </a:r>
            <a:r>
              <a:rPr lang="ru-RU" dirty="0"/>
              <a:t> </a:t>
            </a:r>
            <a:r>
              <a:rPr lang="ru-RU" dirty="0" smtClean="0"/>
              <a:t>является хранимым</a:t>
            </a:r>
            <a:r>
              <a:rPr lang="ru-RU" dirty="0"/>
              <a:t>, именованным объектом </a:t>
            </a:r>
            <a:r>
              <a:rPr lang="ru-RU" i="1" dirty="0"/>
              <a:t>схемы базы данных</a:t>
            </a:r>
            <a:r>
              <a:rPr lang="ru-RU" dirty="0"/>
              <a:t>. Домены можно создавать (определять), изменять (изменять определения) и ликвидировать (отменять </a:t>
            </a:r>
            <a:r>
              <a:rPr lang="ru-RU" i="1" dirty="0"/>
              <a:t>определение</a:t>
            </a:r>
            <a:r>
              <a:rPr lang="ru-RU" dirty="0"/>
              <a:t>). Имена доменов можно использовать при определении столбцов таблиц. </a:t>
            </a:r>
            <a:r>
              <a:rPr lang="ru-RU" dirty="0" smtClean="0"/>
              <a:t>В </a:t>
            </a:r>
            <a:r>
              <a:rPr lang="ru-RU" dirty="0"/>
              <a:t>языке </a:t>
            </a:r>
            <a:r>
              <a:rPr lang="ru-RU" i="1" dirty="0"/>
              <a:t>SQL</a:t>
            </a:r>
            <a:r>
              <a:rPr lang="ru-RU" dirty="0"/>
              <a:t> обеспечиваются средства </a:t>
            </a:r>
            <a:r>
              <a:rPr lang="ru-RU" i="1" dirty="0"/>
              <a:t>определения доменов</a:t>
            </a:r>
            <a:r>
              <a:rPr lang="ru-RU" dirty="0"/>
              <a:t>, </a:t>
            </a:r>
            <a:r>
              <a:rPr lang="ru-RU" i="1" dirty="0"/>
              <a:t>изменения</a:t>
            </a:r>
            <a:r>
              <a:rPr lang="ru-RU" dirty="0"/>
              <a:t> и </a:t>
            </a:r>
            <a:r>
              <a:rPr lang="ru-RU" i="1" dirty="0" smtClean="0"/>
              <a:t>отмены </a:t>
            </a:r>
            <a:r>
              <a:rPr lang="ru-RU" dirty="0" smtClean="0"/>
              <a:t>существующих</a:t>
            </a:r>
            <a:r>
              <a:rPr lang="ru-RU" dirty="0"/>
              <a:t> </a:t>
            </a:r>
            <a:r>
              <a:rPr lang="ru-RU" i="1" dirty="0"/>
              <a:t>определений</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201</a:t>
            </a:fld>
            <a:endParaRPr lang="ru-RU"/>
          </a:p>
        </p:txBody>
      </p:sp>
    </p:spTree>
    <p:extLst>
      <p:ext uri="{BB962C8B-B14F-4D97-AF65-F5344CB8AC3E}">
        <p14:creationId xmlns:p14="http://schemas.microsoft.com/office/powerpoint/2010/main" xmlns="" val="21557663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Определение домена</a:t>
            </a:r>
            <a:br>
              <a:rPr lang="ru-RU" b="1" dirty="0"/>
            </a:br>
            <a:endParaRPr lang="ru-RU" dirty="0"/>
          </a:p>
        </p:txBody>
      </p:sp>
      <p:sp>
        <p:nvSpPr>
          <p:cNvPr id="3" name="Объект 2"/>
          <p:cNvSpPr>
            <a:spLocks noGrp="1"/>
          </p:cNvSpPr>
          <p:nvPr>
            <p:ph idx="1"/>
          </p:nvPr>
        </p:nvSpPr>
        <p:spPr/>
        <p:txBody>
          <a:bodyPr/>
          <a:lstStyle/>
          <a:p>
            <a:r>
              <a:rPr lang="ru-RU" dirty="0"/>
              <a:t>Для </a:t>
            </a:r>
            <a:r>
              <a:rPr lang="ru-RU" i="1" dirty="0"/>
              <a:t>определения домена</a:t>
            </a:r>
            <a:r>
              <a:rPr lang="ru-RU" dirty="0"/>
              <a:t> в </a:t>
            </a:r>
            <a:r>
              <a:rPr lang="ru-RU" i="1" dirty="0"/>
              <a:t>SQL</a:t>
            </a:r>
            <a:r>
              <a:rPr lang="ru-RU" dirty="0"/>
              <a:t> используется оператор </a:t>
            </a:r>
            <a:r>
              <a:rPr lang="ru-RU" i="1" dirty="0"/>
              <a:t>CREATE DOMAIN</a:t>
            </a:r>
            <a:r>
              <a:rPr lang="ru-RU" dirty="0"/>
              <a:t> . Общий синтаксис этого оператора следующий</a:t>
            </a:r>
            <a:r>
              <a:rPr lang="ru-RU" dirty="0" smtClean="0"/>
              <a:t>:</a:t>
            </a:r>
          </a:p>
          <a:p>
            <a:r>
              <a:rPr lang="en-US" dirty="0"/>
              <a:t>CREATE DOMAIN </a:t>
            </a:r>
            <a:r>
              <a:rPr lang="en-US" dirty="0" err="1"/>
              <a:t>domain_name</a:t>
            </a:r>
            <a:r>
              <a:rPr lang="en-US" dirty="0"/>
              <a:t> [AS] </a:t>
            </a:r>
            <a:r>
              <a:rPr lang="en-US" dirty="0" err="1"/>
              <a:t>data_type</a:t>
            </a:r>
            <a:endParaRPr lang="en-US" dirty="0"/>
          </a:p>
          <a:p>
            <a:r>
              <a:rPr lang="en-US" dirty="0"/>
              <a:t>    [ </a:t>
            </a:r>
            <a:r>
              <a:rPr lang="en-US" dirty="0" err="1"/>
              <a:t>default_definition</a:t>
            </a:r>
            <a:r>
              <a:rPr lang="en-US" dirty="0"/>
              <a:t> ]</a:t>
            </a:r>
          </a:p>
          <a:p>
            <a:r>
              <a:rPr lang="en-US" dirty="0"/>
              <a:t>    [ </a:t>
            </a:r>
            <a:r>
              <a:rPr lang="en-US" dirty="0" err="1"/>
              <a:t>domain_constraint_definition_list</a:t>
            </a:r>
            <a:r>
              <a:rPr lang="en-US" dirty="0"/>
              <a:t> </a:t>
            </a:r>
            <a:r>
              <a:rPr lang="en-US" dirty="0" smtClean="0"/>
              <a:t>]</a:t>
            </a:r>
            <a:endParaRPr lang="ru-RU" dirty="0" smtClean="0"/>
          </a:p>
          <a:p>
            <a:r>
              <a:rPr lang="ru-RU" dirty="0" err="1"/>
              <a:t>domain_name</a:t>
            </a:r>
            <a:r>
              <a:rPr lang="ru-RU" dirty="0"/>
              <a:t> задает имя создаваемого </a:t>
            </a:r>
            <a:r>
              <a:rPr lang="ru-RU" dirty="0" smtClean="0"/>
              <a:t>домена</a:t>
            </a:r>
          </a:p>
          <a:p>
            <a:r>
              <a:rPr lang="ru-RU" dirty="0" err="1"/>
              <a:t>data_type</a:t>
            </a:r>
            <a:r>
              <a:rPr lang="ru-RU" dirty="0"/>
              <a:t> есть спецификация определяющего типа </a:t>
            </a:r>
            <a:r>
              <a:rPr lang="ru-RU" dirty="0" smtClean="0"/>
              <a:t>данных</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202</a:t>
            </a:fld>
            <a:endParaRPr lang="ru-RU"/>
          </a:p>
        </p:txBody>
      </p:sp>
    </p:spTree>
    <p:extLst>
      <p:ext uri="{BB962C8B-B14F-4D97-AF65-F5344CB8AC3E}">
        <p14:creationId xmlns:p14="http://schemas.microsoft.com/office/powerpoint/2010/main" xmlns="" val="358029072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599090"/>
            <a:ext cx="10515600" cy="5577873"/>
          </a:xfrm>
        </p:spPr>
        <p:txBody>
          <a:bodyPr>
            <a:normAutofit/>
          </a:bodyPr>
          <a:lstStyle/>
          <a:p>
            <a:r>
              <a:rPr lang="ru-RU" dirty="0"/>
              <a:t>В необязательных разделах </a:t>
            </a:r>
            <a:r>
              <a:rPr lang="ru-RU" dirty="0" err="1"/>
              <a:t>default_definition</a:t>
            </a:r>
            <a:r>
              <a:rPr lang="ru-RU" dirty="0"/>
              <a:t> и </a:t>
            </a:r>
            <a:r>
              <a:rPr lang="ru-RU" dirty="0" err="1"/>
              <a:t>domain_constraint_definition_list</a:t>
            </a:r>
            <a:r>
              <a:rPr lang="ru-RU" dirty="0"/>
              <a:t> </a:t>
            </a:r>
            <a:endParaRPr lang="ru-RU" dirty="0" smtClean="0"/>
          </a:p>
          <a:p>
            <a:r>
              <a:rPr lang="ru-RU" dirty="0" smtClean="0"/>
              <a:t>специфицируются</a:t>
            </a:r>
            <a:r>
              <a:rPr lang="ru-RU" dirty="0"/>
              <a:t> </a:t>
            </a:r>
            <a:r>
              <a:rPr lang="ru-RU" i="1" dirty="0"/>
              <a:t>значение домена по умолчанию</a:t>
            </a:r>
            <a:r>
              <a:rPr lang="ru-RU" dirty="0"/>
              <a:t>  и набор </a:t>
            </a:r>
            <a:r>
              <a:rPr lang="ru-RU" i="1" dirty="0"/>
              <a:t>ограничений целостности</a:t>
            </a:r>
            <a:r>
              <a:rPr lang="ru-RU" dirty="0"/>
              <a:t>, которые будут применяться к любому столбцу, определенному на этом домене</a:t>
            </a:r>
            <a:r>
              <a:rPr lang="ru-RU" dirty="0" smtClean="0"/>
              <a:t>.</a:t>
            </a:r>
          </a:p>
          <a:p>
            <a:r>
              <a:rPr lang="ru-RU" dirty="0"/>
              <a:t>Раздел </a:t>
            </a:r>
            <a:r>
              <a:rPr lang="en-US" dirty="0" err="1"/>
              <a:t>default_definition</a:t>
            </a:r>
            <a:r>
              <a:rPr lang="en-US" dirty="0"/>
              <a:t> </a:t>
            </a:r>
            <a:r>
              <a:rPr lang="ru-RU" dirty="0"/>
              <a:t>имеет вид</a:t>
            </a:r>
          </a:p>
          <a:p>
            <a:r>
              <a:rPr lang="en-US" dirty="0"/>
              <a:t>DEFAULT { </a:t>
            </a:r>
            <a:r>
              <a:rPr lang="en-US" i="1" dirty="0"/>
              <a:t>literal</a:t>
            </a:r>
            <a:r>
              <a:rPr lang="en-US" dirty="0"/>
              <a:t> | </a:t>
            </a:r>
            <a:r>
              <a:rPr lang="en-US" dirty="0" err="1"/>
              <a:t>niladic_function</a:t>
            </a:r>
            <a:r>
              <a:rPr lang="en-US" dirty="0"/>
              <a:t> | NULL }</a:t>
            </a:r>
          </a:p>
          <a:p>
            <a:r>
              <a:rPr lang="ru-RU" dirty="0"/>
              <a:t>Здесь </a:t>
            </a:r>
            <a:r>
              <a:rPr lang="ru-RU" i="1" dirty="0" err="1"/>
              <a:t>literal</a:t>
            </a:r>
            <a:r>
              <a:rPr lang="ru-RU" dirty="0"/>
              <a:t> представляет любое допустимое литеральное значение определяющего типа домена, NULL </a:t>
            </a:r>
            <a:r>
              <a:rPr lang="ru-RU" dirty="0" smtClean="0"/>
              <a:t>обозначает </a:t>
            </a:r>
            <a:r>
              <a:rPr lang="ru-RU" i="1" dirty="0" smtClean="0"/>
              <a:t>неопределенное </a:t>
            </a:r>
            <a:r>
              <a:rPr lang="ru-RU" i="1" dirty="0"/>
              <a:t>значение</a:t>
            </a:r>
            <a:r>
              <a:rPr lang="ru-RU" dirty="0"/>
              <a:t>, а </a:t>
            </a:r>
            <a:r>
              <a:rPr lang="ru-RU" dirty="0" err="1"/>
              <a:t>niladic_function</a:t>
            </a:r>
            <a:r>
              <a:rPr lang="ru-RU" dirty="0"/>
              <a:t> может задаваться в одной из следующих форм:</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203</a:t>
            </a:fld>
            <a:endParaRPr lang="ru-RU"/>
          </a:p>
        </p:txBody>
      </p:sp>
    </p:spTree>
    <p:extLst>
      <p:ext uri="{BB962C8B-B14F-4D97-AF65-F5344CB8AC3E}">
        <p14:creationId xmlns:p14="http://schemas.microsoft.com/office/powerpoint/2010/main" xmlns="" val="32313534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30621"/>
            <a:ext cx="10515600" cy="5546342"/>
          </a:xfrm>
        </p:spPr>
        <p:txBody>
          <a:bodyPr/>
          <a:lstStyle/>
          <a:p>
            <a:r>
              <a:rPr lang="en-US" dirty="0"/>
              <a:t>USER</a:t>
            </a:r>
          </a:p>
          <a:p>
            <a:r>
              <a:rPr lang="en-US" dirty="0"/>
              <a:t>CURRENT_USER</a:t>
            </a:r>
          </a:p>
          <a:p>
            <a:r>
              <a:rPr lang="en-US" dirty="0"/>
              <a:t>SESSION_USER</a:t>
            </a:r>
          </a:p>
          <a:p>
            <a:r>
              <a:rPr lang="en-US" dirty="0"/>
              <a:t>SYSTEM_USER</a:t>
            </a:r>
          </a:p>
          <a:p>
            <a:r>
              <a:rPr lang="en-US" dirty="0"/>
              <a:t>CURRENT_DATE</a:t>
            </a:r>
          </a:p>
          <a:p>
            <a:r>
              <a:rPr lang="en-US" dirty="0"/>
              <a:t>CURRENT_TIME</a:t>
            </a:r>
          </a:p>
          <a:p>
            <a:r>
              <a:rPr lang="en-US" dirty="0"/>
              <a:t>CURRENT_TIMESTAMP</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204</a:t>
            </a:fld>
            <a:endParaRPr lang="ru-RU"/>
          </a:p>
        </p:txBody>
      </p:sp>
    </p:spTree>
    <p:extLst>
      <p:ext uri="{BB962C8B-B14F-4D97-AF65-F5344CB8AC3E}">
        <p14:creationId xmlns:p14="http://schemas.microsoft.com/office/powerpoint/2010/main" xmlns="" val="96384401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365125"/>
            <a:ext cx="10515600" cy="5811838"/>
          </a:xfrm>
        </p:spPr>
        <p:txBody>
          <a:bodyPr/>
          <a:lstStyle/>
          <a:p>
            <a:r>
              <a:rPr lang="ru-RU" dirty="0"/>
              <a:t>Элемент списка </a:t>
            </a:r>
            <a:r>
              <a:rPr lang="en-US" dirty="0" err="1"/>
              <a:t>domain_constraint_definition_list</a:t>
            </a:r>
            <a:r>
              <a:rPr lang="en-US" dirty="0"/>
              <a:t> </a:t>
            </a:r>
            <a:r>
              <a:rPr lang="ru-RU" dirty="0"/>
              <a:t>имеет </a:t>
            </a:r>
            <a:r>
              <a:rPr lang="ru-RU" dirty="0" smtClean="0"/>
              <a:t>вид</a:t>
            </a:r>
            <a:endParaRPr lang="ru-RU" dirty="0"/>
          </a:p>
          <a:p>
            <a:r>
              <a:rPr lang="ru-RU" dirty="0"/>
              <a:t>[</a:t>
            </a:r>
            <a:r>
              <a:rPr lang="en-US" dirty="0"/>
              <a:t>CONSTRAINT </a:t>
            </a:r>
            <a:r>
              <a:rPr lang="en-US" dirty="0" err="1"/>
              <a:t>constraint_name</a:t>
            </a:r>
            <a:r>
              <a:rPr lang="en-US" dirty="0"/>
              <a:t>] </a:t>
            </a:r>
          </a:p>
          <a:p>
            <a:r>
              <a:rPr lang="en-US" dirty="0"/>
              <a:t>    </a:t>
            </a:r>
            <a:r>
              <a:rPr lang="en-US" dirty="0" smtClean="0"/>
              <a:t>CHECK </a:t>
            </a:r>
            <a:r>
              <a:rPr lang="en-US" dirty="0"/>
              <a:t>(</a:t>
            </a:r>
            <a:r>
              <a:rPr lang="en-US" dirty="0" err="1"/>
              <a:t>conditional_expression</a:t>
            </a:r>
            <a:r>
              <a:rPr lang="en-US" dirty="0" smtClean="0"/>
              <a:t>)</a:t>
            </a:r>
          </a:p>
          <a:p>
            <a:r>
              <a:rPr lang="ru-RU" dirty="0" smtClean="0"/>
              <a:t>Пример</a:t>
            </a:r>
          </a:p>
          <a:p>
            <a:r>
              <a:rPr lang="en-US" dirty="0"/>
              <a:t>CHECK (VALUE IN (</a:t>
            </a:r>
            <a:r>
              <a:rPr lang="en-US" dirty="0" err="1"/>
              <a:t>list_of_valid_values</a:t>
            </a:r>
            <a:r>
              <a:rPr lang="en-US" dirty="0" smtClean="0"/>
              <a:t>))</a:t>
            </a:r>
            <a:endParaRPr lang="ru-RU" dirty="0" smtClean="0"/>
          </a:p>
          <a:p>
            <a:r>
              <a:rPr lang="ru-RU" dirty="0"/>
              <a:t>Такое ограничение запрещает появление в любом столбце, определенном на данном домене, любого значения определяющего типа, не входящего в список допустимых значений</a:t>
            </a:r>
            <a:r>
              <a:rPr lang="ru-RU" dirty="0" smtClean="0"/>
              <a:t>.</a:t>
            </a:r>
          </a:p>
          <a:p>
            <a:r>
              <a:rPr lang="ru-RU" dirty="0"/>
              <a:t>Необязательный раздел </a:t>
            </a:r>
            <a:r>
              <a:rPr lang="ru-RU" i="1" dirty="0"/>
              <a:t>CONSTRAINT</a:t>
            </a:r>
            <a:r>
              <a:rPr lang="ru-RU" dirty="0"/>
              <a:t> </a:t>
            </a:r>
            <a:r>
              <a:rPr lang="ru-RU" dirty="0" err="1"/>
              <a:t>constraint_name</a:t>
            </a:r>
            <a:r>
              <a:rPr lang="ru-RU" dirty="0"/>
              <a:t> позволяет определить имя нового ограничения целостности.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205</a:t>
            </a:fld>
            <a:endParaRPr lang="ru-RU"/>
          </a:p>
        </p:txBody>
      </p:sp>
    </p:spTree>
    <p:extLst>
      <p:ext uri="{BB962C8B-B14F-4D97-AF65-F5344CB8AC3E}">
        <p14:creationId xmlns:p14="http://schemas.microsoft.com/office/powerpoint/2010/main" xmlns="" val="233143255"/>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Примеры определений доменов</a:t>
            </a:r>
            <a:br>
              <a:rPr lang="ru-RU" b="1" dirty="0"/>
            </a:br>
            <a:endParaRPr lang="ru-RU" dirty="0"/>
          </a:p>
        </p:txBody>
      </p:sp>
      <p:sp>
        <p:nvSpPr>
          <p:cNvPr id="3" name="Объект 2"/>
          <p:cNvSpPr>
            <a:spLocks noGrp="1"/>
          </p:cNvSpPr>
          <p:nvPr>
            <p:ph idx="1"/>
          </p:nvPr>
        </p:nvSpPr>
        <p:spPr/>
        <p:txBody>
          <a:bodyPr/>
          <a:lstStyle/>
          <a:p>
            <a:r>
              <a:rPr lang="en-US" dirty="0"/>
              <a:t>CREATE DOMAIN EMP_NO AS INTEGER</a:t>
            </a:r>
          </a:p>
          <a:p>
            <a:r>
              <a:rPr lang="en-US" dirty="0"/>
              <a:t>    CHECK (VALUE BETWEEN 1 AND 10000</a:t>
            </a:r>
            <a:r>
              <a:rPr lang="en-US" dirty="0" smtClean="0"/>
              <a:t>);</a:t>
            </a:r>
            <a:endParaRPr lang="ru-RU" dirty="0" smtClean="0"/>
          </a:p>
          <a:p>
            <a:endParaRPr lang="ru-RU" dirty="0"/>
          </a:p>
          <a:p>
            <a:r>
              <a:rPr lang="en-US" dirty="0"/>
              <a:t>CREATE DOMAIN SALARY AS NUMERIC (10, 2)</a:t>
            </a:r>
          </a:p>
          <a:p>
            <a:r>
              <a:rPr lang="en-US" dirty="0"/>
              <a:t>    DEFAULT 10000.00</a:t>
            </a:r>
          </a:p>
          <a:p>
            <a:r>
              <a:rPr lang="en-US" dirty="0"/>
              <a:t>    CHECK (VALUE BETWEEN 10000.00 AND 20000000.00)</a:t>
            </a:r>
          </a:p>
          <a:p>
            <a:r>
              <a:rPr lang="en-US" dirty="0"/>
              <a:t>    CONSTRAINT SAL_NOT_NULL CHECK (VALUE IS NOT NULL);</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206</a:t>
            </a:fld>
            <a:endParaRPr lang="ru-RU"/>
          </a:p>
        </p:txBody>
      </p:sp>
    </p:spTree>
    <p:extLst>
      <p:ext uri="{BB962C8B-B14F-4D97-AF65-F5344CB8AC3E}">
        <p14:creationId xmlns:p14="http://schemas.microsoft.com/office/powerpoint/2010/main" xmlns="" val="342137379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Изменение определения домена</a:t>
            </a:r>
            <a:br>
              <a:rPr lang="ru-RU" b="1" dirty="0"/>
            </a:br>
            <a:endParaRPr lang="ru-RU" dirty="0"/>
          </a:p>
        </p:txBody>
      </p:sp>
      <p:sp>
        <p:nvSpPr>
          <p:cNvPr id="3" name="Объект 2"/>
          <p:cNvSpPr>
            <a:spLocks noGrp="1"/>
          </p:cNvSpPr>
          <p:nvPr>
            <p:ph idx="1"/>
          </p:nvPr>
        </p:nvSpPr>
        <p:spPr/>
        <p:txBody>
          <a:bodyPr/>
          <a:lstStyle/>
          <a:p>
            <a:r>
              <a:rPr lang="ru-RU" dirty="0"/>
              <a:t>Для </a:t>
            </a:r>
            <a:r>
              <a:rPr lang="ru-RU" i="1" dirty="0"/>
              <a:t>изменения</a:t>
            </a:r>
            <a:r>
              <a:rPr lang="ru-RU" dirty="0"/>
              <a:t> характеристик ранее определенного домена используется оператор </a:t>
            </a:r>
            <a:r>
              <a:rPr lang="ru-RU" i="1" dirty="0"/>
              <a:t>SQL</a:t>
            </a:r>
            <a:r>
              <a:rPr lang="ru-RU" dirty="0"/>
              <a:t>   </a:t>
            </a:r>
            <a:r>
              <a:rPr lang="ru-RU" i="1" dirty="0"/>
              <a:t>ALTER DOMAIN</a:t>
            </a:r>
            <a:r>
              <a:rPr lang="ru-RU" dirty="0"/>
              <a:t> . Синтаксис этого оператора выглядит следующим образом</a:t>
            </a:r>
            <a:r>
              <a:rPr lang="ru-RU" dirty="0" smtClean="0"/>
              <a:t>:</a:t>
            </a:r>
          </a:p>
          <a:p>
            <a:r>
              <a:rPr lang="fr-FR" dirty="0"/>
              <a:t>ALTER DOMAIN domain_name domain_alternation_action</a:t>
            </a:r>
          </a:p>
          <a:p>
            <a:r>
              <a:rPr lang="fr-FR" dirty="0"/>
              <a:t>domain_alternation_action ::=</a:t>
            </a:r>
          </a:p>
          <a:p>
            <a:r>
              <a:rPr lang="fr-FR" dirty="0"/>
              <a:t>      domain_default_alternation_action</a:t>
            </a:r>
          </a:p>
          <a:p>
            <a:r>
              <a:rPr lang="fr-FR" dirty="0"/>
              <a:t>    | domain_constraint_alternation_action</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207</a:t>
            </a:fld>
            <a:endParaRPr lang="ru-RU"/>
          </a:p>
        </p:txBody>
      </p:sp>
    </p:spTree>
    <p:extLst>
      <p:ext uri="{BB962C8B-B14F-4D97-AF65-F5344CB8AC3E}">
        <p14:creationId xmlns:p14="http://schemas.microsoft.com/office/powerpoint/2010/main" xmlns="" val="102958805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551793"/>
            <a:ext cx="10515600" cy="5625170"/>
          </a:xfrm>
        </p:spPr>
        <p:txBody>
          <a:bodyPr>
            <a:normAutofit fontScale="92500" lnSpcReduction="20000"/>
          </a:bodyPr>
          <a:lstStyle/>
          <a:p>
            <a:r>
              <a:rPr lang="ru-RU" dirty="0"/>
              <a:t>П</a:t>
            </a:r>
            <a:r>
              <a:rPr lang="ru-RU" dirty="0" smtClean="0"/>
              <a:t>ри</a:t>
            </a:r>
            <a:r>
              <a:rPr lang="ru-RU" dirty="0"/>
              <a:t> </a:t>
            </a:r>
            <a:r>
              <a:rPr lang="ru-RU" i="1" dirty="0"/>
              <a:t>изменении определения домена</a:t>
            </a:r>
            <a:r>
              <a:rPr lang="ru-RU" dirty="0"/>
              <a:t> можно выполнить действие по изменению раздела значения по умолчанию либо изменить </a:t>
            </a:r>
            <a:r>
              <a:rPr lang="ru-RU" i="1" dirty="0"/>
              <a:t>ограничение домена</a:t>
            </a:r>
            <a:r>
              <a:rPr lang="ru-RU" dirty="0"/>
              <a:t>. Для первого варианта действует следующий синтаксис</a:t>
            </a:r>
            <a:r>
              <a:rPr lang="ru-RU" dirty="0" smtClean="0"/>
              <a:t>:</a:t>
            </a:r>
          </a:p>
          <a:p>
            <a:r>
              <a:rPr lang="en-US" dirty="0" err="1"/>
              <a:t>domain_default_alternation_action</a:t>
            </a:r>
            <a:r>
              <a:rPr lang="en-US" dirty="0"/>
              <a:t> ::=</a:t>
            </a:r>
          </a:p>
          <a:p>
            <a:r>
              <a:rPr lang="en-US" dirty="0"/>
              <a:t>      SET </a:t>
            </a:r>
            <a:r>
              <a:rPr lang="en-US" dirty="0" err="1"/>
              <a:t>default_definition</a:t>
            </a:r>
            <a:endParaRPr lang="en-US" dirty="0"/>
          </a:p>
          <a:p>
            <a:r>
              <a:rPr lang="en-US" dirty="0"/>
              <a:t>    | DROP </a:t>
            </a:r>
            <a:r>
              <a:rPr lang="en-US" dirty="0" smtClean="0"/>
              <a:t>DEFAULT</a:t>
            </a:r>
            <a:endParaRPr lang="ru-RU" dirty="0" smtClean="0"/>
          </a:p>
          <a:p>
            <a:r>
              <a:rPr lang="ru-RU" dirty="0"/>
              <a:t>В случае установки нового значения по умолчанию ( SET ) это значение автоматически применяется ко всем столбцам, определенным на данном домене. </a:t>
            </a:r>
            <a:r>
              <a:rPr lang="ru-RU" dirty="0" smtClean="0"/>
              <a:t>Операция </a:t>
            </a:r>
            <a:r>
              <a:rPr lang="ru-RU" dirty="0"/>
              <a:t>не оказывает влияния на состояние существующих строк таблиц базы данных. В случае отмены раздела </a:t>
            </a:r>
            <a:r>
              <a:rPr lang="ru-RU" i="1" dirty="0"/>
              <a:t>значения по умолчанию</a:t>
            </a:r>
            <a:r>
              <a:rPr lang="ru-RU" dirty="0"/>
              <a:t> в </a:t>
            </a:r>
            <a:r>
              <a:rPr lang="ru-RU" i="1" dirty="0"/>
              <a:t>определении домена</a:t>
            </a:r>
            <a:r>
              <a:rPr lang="ru-RU" dirty="0"/>
              <a:t> ( </a:t>
            </a:r>
            <a:r>
              <a:rPr lang="ru-RU" i="1" dirty="0"/>
              <a:t>DROP</a:t>
            </a:r>
            <a:r>
              <a:rPr lang="ru-RU" dirty="0"/>
              <a:t> ) </a:t>
            </a:r>
            <a:r>
              <a:rPr lang="ru-RU" dirty="0" smtClean="0"/>
              <a:t>существовавшее</a:t>
            </a:r>
            <a:r>
              <a:rPr lang="ru-RU" dirty="0"/>
              <a:t> </a:t>
            </a:r>
            <a:r>
              <a:rPr lang="ru-RU" i="1" dirty="0"/>
              <a:t>значение домена по умолчанию</a:t>
            </a:r>
            <a:r>
              <a:rPr lang="ru-RU" dirty="0"/>
              <a:t> становится значением по умолчанию каждого столбца, который определен на данном домене и для которого не специфицировано собственное значение по умолчанию.</a:t>
            </a:r>
          </a:p>
        </p:txBody>
      </p:sp>
      <p:sp>
        <p:nvSpPr>
          <p:cNvPr id="4" name="Номер слайда 3"/>
          <p:cNvSpPr>
            <a:spLocks noGrp="1"/>
          </p:cNvSpPr>
          <p:nvPr>
            <p:ph type="sldNum" sz="quarter" idx="12"/>
          </p:nvPr>
        </p:nvSpPr>
        <p:spPr/>
        <p:txBody>
          <a:bodyPr/>
          <a:lstStyle/>
          <a:p>
            <a:fld id="{590C5F67-5E4C-4ABB-99F4-36BCAC8BE885}" type="slidenum">
              <a:rPr lang="ru-RU" smtClean="0"/>
              <a:pPr/>
              <a:t>208</a:t>
            </a:fld>
            <a:endParaRPr lang="ru-RU"/>
          </a:p>
        </p:txBody>
      </p:sp>
    </p:spTree>
    <p:extLst>
      <p:ext uri="{BB962C8B-B14F-4D97-AF65-F5344CB8AC3E}">
        <p14:creationId xmlns:p14="http://schemas.microsoft.com/office/powerpoint/2010/main" xmlns="" val="224705117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Действие по изменению </a:t>
            </a:r>
            <a:r>
              <a:rPr lang="ru-RU" i="1" dirty="0"/>
              <a:t>ограничения домена</a:t>
            </a:r>
            <a:r>
              <a:rPr lang="ru-RU" dirty="0"/>
              <a:t> определяется следующим синтаксисом</a:t>
            </a:r>
            <a:r>
              <a:rPr lang="ru-RU" dirty="0" smtClean="0"/>
              <a:t>:</a:t>
            </a:r>
          </a:p>
          <a:p>
            <a:r>
              <a:rPr lang="fr-FR" dirty="0"/>
              <a:t>domain_constraint_alternation_action ::=</a:t>
            </a:r>
          </a:p>
          <a:p>
            <a:r>
              <a:rPr lang="fr-FR" dirty="0"/>
              <a:t>      ADD domain_constraint_definition</a:t>
            </a:r>
          </a:p>
          <a:p>
            <a:r>
              <a:rPr lang="fr-FR" dirty="0"/>
              <a:t>    | DROP CONSTRAINT constraint_name</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209</a:t>
            </a:fld>
            <a:endParaRPr lang="ru-RU"/>
          </a:p>
        </p:txBody>
      </p:sp>
    </p:spTree>
    <p:extLst>
      <p:ext uri="{BB962C8B-B14F-4D97-AF65-F5344CB8AC3E}">
        <p14:creationId xmlns:p14="http://schemas.microsoft.com/office/powerpoint/2010/main" xmlns="" val="267576626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51338"/>
            <a:ext cx="10515600" cy="5325625"/>
          </a:xfrm>
        </p:spPr>
        <p:txBody>
          <a:bodyPr/>
          <a:lstStyle/>
          <a:p>
            <a:r>
              <a:rPr lang="ru-RU" dirty="0"/>
              <a:t>Действие по добавлению нового определения </a:t>
            </a:r>
            <a:r>
              <a:rPr lang="ru-RU" i="1" dirty="0"/>
              <a:t>ограничения домена</a:t>
            </a:r>
            <a:r>
              <a:rPr lang="ru-RU" dirty="0"/>
              <a:t> ( ADD ) приводит к тому, что новое условие добавляется </a:t>
            </a:r>
            <a:r>
              <a:rPr lang="ru-RU" dirty="0" smtClean="0"/>
              <a:t>через AND</a:t>
            </a:r>
            <a:r>
              <a:rPr lang="ru-RU" dirty="0"/>
              <a:t> к существующему </a:t>
            </a:r>
            <a:r>
              <a:rPr lang="ru-RU" i="1" dirty="0"/>
              <a:t>ограничению домена</a:t>
            </a:r>
            <a:r>
              <a:rPr lang="ru-RU" dirty="0"/>
              <a:t>. Если к моменту выполнения соответствующего оператора </a:t>
            </a:r>
            <a:r>
              <a:rPr lang="ru-RU" i="1" dirty="0"/>
              <a:t>ALTER DOMAIN</a:t>
            </a:r>
            <a:r>
              <a:rPr lang="ru-RU" dirty="0"/>
              <a:t> существуют столбцы некоторых таблиц, текущие значения которых противоречат новому ограничению, то СУБД должна отвергнуть этот </a:t>
            </a:r>
            <a:r>
              <a:rPr lang="ru-RU" dirty="0" smtClean="0"/>
              <a:t>оператор </a:t>
            </a:r>
            <a:r>
              <a:rPr lang="ru-RU" i="1" dirty="0" smtClean="0"/>
              <a:t>ALTER </a:t>
            </a:r>
            <a:r>
              <a:rPr lang="ru-RU" i="1" dirty="0"/>
              <a:t>DOMAIN</a:t>
            </a:r>
            <a:r>
              <a:rPr lang="ru-RU" dirty="0"/>
              <a:t> . Действие по отмене </a:t>
            </a:r>
            <a:r>
              <a:rPr lang="ru-RU" i="1" dirty="0"/>
              <a:t>ограничения домена</a:t>
            </a:r>
            <a:r>
              <a:rPr lang="ru-RU" dirty="0"/>
              <a:t> ( </a:t>
            </a:r>
            <a:r>
              <a:rPr lang="ru-RU" i="1" dirty="0"/>
              <a:t>DROP</a:t>
            </a:r>
            <a:r>
              <a:rPr lang="ru-RU" dirty="0"/>
              <a:t> ) приводит к исчезновению соответствующей части общего ограничения соответствующего домена, и</a:t>
            </a:r>
            <a:r>
              <a:rPr lang="ru-RU" dirty="0" smtClean="0"/>
              <a:t> </a:t>
            </a:r>
            <a:r>
              <a:rPr lang="ru-RU" dirty="0"/>
              <a:t>не влияет на существующие значения столбцов имеющихся таблиц.</a:t>
            </a:r>
          </a:p>
        </p:txBody>
      </p:sp>
      <p:sp>
        <p:nvSpPr>
          <p:cNvPr id="4" name="Номер слайда 3"/>
          <p:cNvSpPr>
            <a:spLocks noGrp="1"/>
          </p:cNvSpPr>
          <p:nvPr>
            <p:ph type="sldNum" sz="quarter" idx="12"/>
          </p:nvPr>
        </p:nvSpPr>
        <p:spPr/>
        <p:txBody>
          <a:bodyPr/>
          <a:lstStyle/>
          <a:p>
            <a:fld id="{590C5F67-5E4C-4ABB-99F4-36BCAC8BE885}" type="slidenum">
              <a:rPr lang="ru-RU" smtClean="0"/>
              <a:pPr/>
              <a:t>210</a:t>
            </a:fld>
            <a:endParaRPr lang="ru-RU"/>
          </a:p>
        </p:txBody>
      </p:sp>
    </p:spTree>
    <p:extLst>
      <p:ext uri="{BB962C8B-B14F-4D97-AF65-F5344CB8AC3E}">
        <p14:creationId xmlns:p14="http://schemas.microsoft.com/office/powerpoint/2010/main" xmlns="" val="127713032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Отмена определения домена</a:t>
            </a:r>
            <a:br>
              <a:rPr lang="ru-RU" b="1" dirty="0"/>
            </a:br>
            <a:endParaRPr lang="ru-RU" dirty="0"/>
          </a:p>
        </p:txBody>
      </p:sp>
      <p:sp>
        <p:nvSpPr>
          <p:cNvPr id="3" name="Объект 2"/>
          <p:cNvSpPr>
            <a:spLocks noGrp="1"/>
          </p:cNvSpPr>
          <p:nvPr>
            <p:ph idx="1"/>
          </p:nvPr>
        </p:nvSpPr>
        <p:spPr/>
        <p:txBody>
          <a:bodyPr/>
          <a:lstStyle/>
          <a:p>
            <a:r>
              <a:rPr lang="ru-RU" dirty="0" smtClean="0"/>
              <a:t>Для отмены </a:t>
            </a:r>
            <a:r>
              <a:rPr lang="ru-RU" i="1" dirty="0" smtClean="0"/>
              <a:t>определение </a:t>
            </a:r>
            <a:r>
              <a:rPr lang="ru-RU" i="1" dirty="0"/>
              <a:t>домена</a:t>
            </a:r>
            <a:r>
              <a:rPr lang="ru-RU" dirty="0"/>
              <a:t>, нужно воспользоваться оператором </a:t>
            </a:r>
            <a:r>
              <a:rPr lang="ru-RU" i="1" dirty="0"/>
              <a:t>DROP DOMAIN</a:t>
            </a:r>
            <a:r>
              <a:rPr lang="ru-RU" dirty="0"/>
              <a:t> в следующем синтаксисе</a:t>
            </a:r>
            <a:r>
              <a:rPr lang="ru-RU" dirty="0" smtClean="0"/>
              <a:t>:</a:t>
            </a:r>
          </a:p>
          <a:p>
            <a:r>
              <a:rPr lang="en-US" dirty="0"/>
              <a:t>DROP DOMAIN </a:t>
            </a:r>
            <a:r>
              <a:rPr lang="en-US" dirty="0" err="1"/>
              <a:t>domain_name</a:t>
            </a:r>
            <a:r>
              <a:rPr lang="en-US" dirty="0"/>
              <a:t> {RESTRICT | CASCADES</a:t>
            </a:r>
            <a:r>
              <a:rPr lang="en-US" dirty="0" smtClean="0"/>
              <a:t>}</a:t>
            </a:r>
            <a:endParaRPr lang="ru-RU" dirty="0" smtClean="0"/>
          </a:p>
          <a:p>
            <a:r>
              <a:rPr lang="ru-RU" dirty="0"/>
              <a:t>Если в операторе указано </a:t>
            </a:r>
            <a:r>
              <a:rPr lang="ru-RU" i="1" dirty="0"/>
              <a:t>RESTRICT</a:t>
            </a:r>
            <a:r>
              <a:rPr lang="ru-RU" dirty="0"/>
              <a:t>, и если соответствующий домен использован в определении некоторого столбца, в определении некоторого представления или в определении ограничения целостности </a:t>
            </a:r>
            <a:r>
              <a:rPr lang="ru-RU" dirty="0" smtClean="0"/>
              <a:t>то </a:t>
            </a:r>
            <a:r>
              <a:rPr lang="ru-RU" dirty="0"/>
              <a:t>оператор </a:t>
            </a:r>
            <a:r>
              <a:rPr lang="ru-RU" i="1" dirty="0"/>
              <a:t>DROP </a:t>
            </a:r>
            <a:r>
              <a:rPr lang="ru-RU" i="1" dirty="0" smtClean="0"/>
              <a:t>DOMAIN </a:t>
            </a:r>
            <a:r>
              <a:rPr lang="ru-RU" dirty="0" smtClean="0"/>
              <a:t>отвергается</a:t>
            </a:r>
            <a:r>
              <a:rPr lang="ru-RU" dirty="0"/>
              <a:t>. В противном случае </a:t>
            </a:r>
            <a:r>
              <a:rPr lang="ru-RU" i="1" dirty="0"/>
              <a:t>определение домена</a:t>
            </a:r>
            <a:r>
              <a:rPr lang="ru-RU" dirty="0"/>
              <a:t> ликвидируется.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211</a:t>
            </a:fld>
            <a:endParaRPr lang="ru-RU"/>
          </a:p>
        </p:txBody>
      </p:sp>
    </p:spTree>
    <p:extLst>
      <p:ext uri="{BB962C8B-B14F-4D97-AF65-F5344CB8AC3E}">
        <p14:creationId xmlns:p14="http://schemas.microsoft.com/office/powerpoint/2010/main" xmlns="" val="391112274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lnSpcReduction="10000"/>
          </a:bodyPr>
          <a:lstStyle/>
          <a:p>
            <a:r>
              <a:rPr lang="ru-RU" dirty="0"/>
              <a:t>Если в операторе </a:t>
            </a:r>
            <a:r>
              <a:rPr lang="ru-RU" i="1" dirty="0"/>
              <a:t>DROP DOMAIN</a:t>
            </a:r>
            <a:r>
              <a:rPr lang="ru-RU" dirty="0"/>
              <a:t> указано </a:t>
            </a:r>
            <a:r>
              <a:rPr lang="ru-RU" i="1" dirty="0"/>
              <a:t>CASCADES</a:t>
            </a:r>
            <a:r>
              <a:rPr lang="ru-RU" dirty="0"/>
              <a:t>, то оператор выполняется всегда. При этом уничтожаются все представления и ограничения целостности, в определении которых использовалось имя данного домена. Столбцы, определенные на этом домене, автоматически переопределяются следующим образом:</a:t>
            </a:r>
          </a:p>
          <a:p>
            <a:r>
              <a:rPr lang="ru-RU" dirty="0"/>
              <a:t>считается, что каждый такой столбец теперь относится к определяющему типу уничтожаемого домена;</a:t>
            </a:r>
          </a:p>
          <a:p>
            <a:r>
              <a:rPr lang="ru-RU" dirty="0"/>
              <a:t>если у столбца не было определено собственное значение по умолчанию, то считается, что теперь у него имеется такое значение по умолчанию, совпадающее со </a:t>
            </a:r>
            <a:r>
              <a:rPr lang="ru-RU" i="1" dirty="0"/>
              <a:t>значением по умолчанию</a:t>
            </a:r>
            <a:r>
              <a:rPr lang="ru-RU" dirty="0"/>
              <a:t> уничтожаемого домена;</a:t>
            </a:r>
          </a:p>
          <a:p>
            <a:r>
              <a:rPr lang="ru-RU" dirty="0"/>
              <a:t>каждый столбец наследует все </a:t>
            </a:r>
            <a:r>
              <a:rPr lang="ru-RU" i="1" dirty="0"/>
              <a:t>ограничения</a:t>
            </a:r>
            <a:r>
              <a:rPr lang="ru-RU" dirty="0"/>
              <a:t> уничтожаемого домена.</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212</a:t>
            </a:fld>
            <a:endParaRPr lang="ru-RU"/>
          </a:p>
        </p:txBody>
      </p:sp>
    </p:spTree>
    <p:extLst>
      <p:ext uri="{BB962C8B-B14F-4D97-AF65-F5344CB8AC3E}">
        <p14:creationId xmlns:p14="http://schemas.microsoft.com/office/powerpoint/2010/main" xmlns="" val="4949212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Неявные и явные преобразования типа или домена</a:t>
            </a:r>
            <a:br>
              <a:rPr lang="ru-RU" b="1" dirty="0"/>
            </a:br>
            <a:endParaRPr lang="ru-RU" dirty="0"/>
          </a:p>
        </p:txBody>
      </p:sp>
      <p:sp>
        <p:nvSpPr>
          <p:cNvPr id="3" name="Объект 2"/>
          <p:cNvSpPr>
            <a:spLocks noGrp="1"/>
          </p:cNvSpPr>
          <p:nvPr>
            <p:ph idx="1"/>
          </p:nvPr>
        </p:nvSpPr>
        <p:spPr/>
        <p:txBody>
          <a:bodyPr/>
          <a:lstStyle/>
          <a:p>
            <a:r>
              <a:rPr lang="ru-RU" dirty="0"/>
              <a:t>В языке </a:t>
            </a:r>
            <a:r>
              <a:rPr lang="ru-RU" i="1" dirty="0"/>
              <a:t>SQL</a:t>
            </a:r>
            <a:r>
              <a:rPr lang="ru-RU" dirty="0"/>
              <a:t> обеспечивается возможность использования в различных операциях не только значений тех типов, для которых предопределена операция, но и значений типов, неявным или явным образом приводимых к требуемому типу.</a:t>
            </a:r>
          </a:p>
        </p:txBody>
      </p:sp>
      <p:sp>
        <p:nvSpPr>
          <p:cNvPr id="4" name="Номер слайда 3"/>
          <p:cNvSpPr>
            <a:spLocks noGrp="1"/>
          </p:cNvSpPr>
          <p:nvPr>
            <p:ph type="sldNum" sz="quarter" idx="12"/>
          </p:nvPr>
        </p:nvSpPr>
        <p:spPr/>
        <p:txBody>
          <a:bodyPr/>
          <a:lstStyle/>
          <a:p>
            <a:fld id="{590C5F67-5E4C-4ABB-99F4-36BCAC8BE885}" type="slidenum">
              <a:rPr lang="ru-RU" smtClean="0"/>
              <a:pPr/>
              <a:t>213</a:t>
            </a:fld>
            <a:endParaRPr lang="ru-RU"/>
          </a:p>
        </p:txBody>
      </p:sp>
    </p:spTree>
    <p:extLst>
      <p:ext uri="{BB962C8B-B14F-4D97-AF65-F5344CB8AC3E}">
        <p14:creationId xmlns:p14="http://schemas.microsoft.com/office/powerpoint/2010/main" xmlns="" val="402236632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Неявные преобразования типов в SQL</a:t>
            </a:r>
            <a:br>
              <a:rPr lang="ru-RU" b="1" dirty="0"/>
            </a:br>
            <a:endParaRPr lang="ru-RU" dirty="0"/>
          </a:p>
        </p:txBody>
      </p:sp>
      <p:sp>
        <p:nvSpPr>
          <p:cNvPr id="3" name="Объект 2"/>
          <p:cNvSpPr>
            <a:spLocks noGrp="1"/>
          </p:cNvSpPr>
          <p:nvPr>
            <p:ph idx="1"/>
          </p:nvPr>
        </p:nvSpPr>
        <p:spPr/>
        <p:txBody>
          <a:bodyPr/>
          <a:lstStyle/>
          <a:p>
            <a:r>
              <a:rPr lang="ru-RU" dirty="0"/>
              <a:t>В </a:t>
            </a:r>
            <a:r>
              <a:rPr lang="ru-RU" i="1" dirty="0"/>
              <a:t>SQL</a:t>
            </a:r>
            <a:r>
              <a:rPr lang="ru-RU" dirty="0"/>
              <a:t> поддерживается совместимость некоторых типов данных за счет </a:t>
            </a:r>
            <a:r>
              <a:rPr lang="ru-RU" i="1" dirty="0"/>
              <a:t>неявного преобразования</a:t>
            </a:r>
            <a:r>
              <a:rPr lang="ru-RU" dirty="0"/>
              <a:t> значений одного типа к значениям другого типа </a:t>
            </a:r>
            <a:r>
              <a:rPr lang="ru-RU" dirty="0" smtClean="0"/>
              <a:t>данных.</a:t>
            </a:r>
          </a:p>
          <a:p>
            <a:r>
              <a:rPr lang="ru-RU" dirty="0"/>
              <a:t>Опишем наиболее важные </a:t>
            </a:r>
            <a:r>
              <a:rPr lang="ru-RU" dirty="0" smtClean="0"/>
              <a:t>правила </a:t>
            </a:r>
            <a:r>
              <a:rPr lang="ru-RU" i="1" dirty="0" smtClean="0"/>
              <a:t>совместимости </a:t>
            </a:r>
            <a:r>
              <a:rPr lang="ru-RU" i="1" dirty="0"/>
              <a:t>типов</a:t>
            </a:r>
            <a:r>
              <a:rPr lang="ru-RU" dirty="0"/>
              <a:t>, принятые в </a:t>
            </a:r>
            <a:r>
              <a:rPr lang="ru-RU" i="1" dirty="0"/>
              <a:t>SQL:1999</a:t>
            </a:r>
            <a:r>
              <a:rPr lang="ru-RU" dirty="0"/>
              <a:t>. Начнем с определения приводимости типов. Тип данных A приводим к типу данных B в том и только в том случае, когда в любом месте, где ожидается значение типа B, может быть использовано значение типа A.</a:t>
            </a:r>
          </a:p>
        </p:txBody>
      </p:sp>
      <p:sp>
        <p:nvSpPr>
          <p:cNvPr id="4" name="Номер слайда 3"/>
          <p:cNvSpPr>
            <a:spLocks noGrp="1"/>
          </p:cNvSpPr>
          <p:nvPr>
            <p:ph type="sldNum" sz="quarter" idx="12"/>
          </p:nvPr>
        </p:nvSpPr>
        <p:spPr/>
        <p:txBody>
          <a:bodyPr/>
          <a:lstStyle/>
          <a:p>
            <a:fld id="{590C5F67-5E4C-4ABB-99F4-36BCAC8BE885}" type="slidenum">
              <a:rPr lang="ru-RU" smtClean="0"/>
              <a:pPr/>
              <a:t>214</a:t>
            </a:fld>
            <a:endParaRPr lang="ru-RU"/>
          </a:p>
        </p:txBody>
      </p:sp>
    </p:spTree>
    <p:extLst>
      <p:ext uri="{BB962C8B-B14F-4D97-AF65-F5344CB8AC3E}">
        <p14:creationId xmlns:p14="http://schemas.microsoft.com/office/powerpoint/2010/main" xmlns="" val="340838031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a:bodyPr>
          <a:lstStyle/>
          <a:p>
            <a:r>
              <a:rPr lang="ru-RU" dirty="0"/>
              <a:t>Основные </a:t>
            </a:r>
            <a:r>
              <a:rPr lang="ru-RU" dirty="0" smtClean="0"/>
              <a:t>правила </a:t>
            </a:r>
            <a:r>
              <a:rPr lang="ru-RU" dirty="0"/>
              <a:t>приводимости типов состоят в следующем</a:t>
            </a:r>
            <a:r>
              <a:rPr lang="ru-RU" dirty="0" smtClean="0"/>
              <a:t>.</a:t>
            </a:r>
          </a:p>
          <a:p>
            <a:r>
              <a:rPr lang="ru-RU" i="1" dirty="0" smtClean="0"/>
              <a:t>Типы </a:t>
            </a:r>
            <a:r>
              <a:rPr lang="ru-RU" i="1" dirty="0"/>
              <a:t>символьных строк</a:t>
            </a:r>
            <a:r>
              <a:rPr lang="ru-RU" dirty="0"/>
              <a:t>. Тип </a:t>
            </a:r>
            <a:r>
              <a:rPr lang="en-US" i="1" dirty="0"/>
              <a:t>CHARACTER</a:t>
            </a:r>
            <a:r>
              <a:rPr lang="en-US" dirty="0"/>
              <a:t> (x) </a:t>
            </a:r>
            <a:r>
              <a:rPr lang="ru-RU" dirty="0"/>
              <a:t>приводим к любому типу </a:t>
            </a:r>
            <a:r>
              <a:rPr lang="en-US" i="1" dirty="0"/>
              <a:t>CHARACTER</a:t>
            </a:r>
            <a:r>
              <a:rPr lang="en-US" dirty="0"/>
              <a:t> (y), </a:t>
            </a:r>
            <a:r>
              <a:rPr lang="ru-RU" dirty="0"/>
              <a:t>если </a:t>
            </a:r>
            <a:r>
              <a:rPr lang="en-US" dirty="0"/>
              <a:t>y&gt;=x. </a:t>
            </a:r>
            <a:r>
              <a:rPr lang="ru-RU" dirty="0"/>
              <a:t>Типы </a:t>
            </a:r>
            <a:r>
              <a:rPr lang="en-US" dirty="0"/>
              <a:t>VARCHAR (x) </a:t>
            </a:r>
            <a:r>
              <a:rPr lang="ru-RU" dirty="0" smtClean="0"/>
              <a:t>и </a:t>
            </a:r>
            <a:r>
              <a:rPr lang="en-US" i="1" dirty="0" smtClean="0"/>
              <a:t>CHARACTER</a:t>
            </a:r>
            <a:r>
              <a:rPr lang="en-US" dirty="0"/>
              <a:t> (x) </a:t>
            </a:r>
            <a:r>
              <a:rPr lang="ru-RU" dirty="0"/>
              <a:t>приводимы к любому типу </a:t>
            </a:r>
            <a:r>
              <a:rPr lang="en-US" dirty="0"/>
              <a:t>VARCHAR (y), </a:t>
            </a:r>
            <a:r>
              <a:rPr lang="ru-RU" dirty="0"/>
              <a:t>если </a:t>
            </a:r>
            <a:r>
              <a:rPr lang="en-US" dirty="0"/>
              <a:t>y&gt;=x. </a:t>
            </a:r>
            <a:r>
              <a:rPr lang="ru-RU" dirty="0"/>
              <a:t>Типы </a:t>
            </a:r>
            <a:r>
              <a:rPr lang="en-US" i="1" dirty="0"/>
              <a:t>CHARACTER</a:t>
            </a:r>
            <a:r>
              <a:rPr lang="en-US" dirty="0"/>
              <a:t> (x) </a:t>
            </a:r>
            <a:r>
              <a:rPr lang="ru-RU" dirty="0"/>
              <a:t>и </a:t>
            </a:r>
            <a:r>
              <a:rPr lang="en-US" dirty="0"/>
              <a:t>VARCHAR (x) </a:t>
            </a:r>
            <a:r>
              <a:rPr lang="ru-RU" dirty="0"/>
              <a:t>приводимы к любому типу </a:t>
            </a:r>
            <a:r>
              <a:rPr lang="en-US" i="1" dirty="0"/>
              <a:t>CLOB</a:t>
            </a:r>
            <a:r>
              <a:rPr lang="en-US" dirty="0"/>
              <a:t>.</a:t>
            </a:r>
          </a:p>
          <a:p>
            <a:r>
              <a:rPr lang="ru-RU" i="1" dirty="0"/>
              <a:t>Типы битовых строк</a:t>
            </a:r>
            <a:r>
              <a:rPr lang="ru-RU" dirty="0"/>
              <a:t>. Тип </a:t>
            </a:r>
            <a:r>
              <a:rPr lang="en-US" dirty="0"/>
              <a:t>BIT (x) </a:t>
            </a:r>
            <a:r>
              <a:rPr lang="ru-RU" dirty="0"/>
              <a:t>приводим к любому типу </a:t>
            </a:r>
            <a:r>
              <a:rPr lang="en-US" dirty="0"/>
              <a:t>BIT (y), </a:t>
            </a:r>
            <a:r>
              <a:rPr lang="ru-RU" dirty="0"/>
              <a:t>если </a:t>
            </a:r>
            <a:r>
              <a:rPr lang="en-US" dirty="0"/>
              <a:t>y&gt;=x. </a:t>
            </a:r>
            <a:r>
              <a:rPr lang="ru-RU" dirty="0"/>
              <a:t>Типы </a:t>
            </a:r>
            <a:r>
              <a:rPr lang="en-US" dirty="0"/>
              <a:t>BIT </a:t>
            </a:r>
            <a:r>
              <a:rPr lang="en-US" i="1" dirty="0"/>
              <a:t>VARYING</a:t>
            </a:r>
            <a:r>
              <a:rPr lang="en-US" dirty="0"/>
              <a:t> (x) </a:t>
            </a:r>
            <a:r>
              <a:rPr lang="ru-RU" dirty="0"/>
              <a:t>и </a:t>
            </a:r>
            <a:r>
              <a:rPr lang="en-US" dirty="0"/>
              <a:t>BIT (x)</a:t>
            </a:r>
            <a:r>
              <a:rPr lang="ru-RU" dirty="0"/>
              <a:t>приводимы к любому типу </a:t>
            </a:r>
            <a:r>
              <a:rPr lang="en-US" dirty="0"/>
              <a:t>BIT </a:t>
            </a:r>
            <a:r>
              <a:rPr lang="en-US" i="1" dirty="0"/>
              <a:t>VARYING</a:t>
            </a:r>
            <a:r>
              <a:rPr lang="en-US" dirty="0"/>
              <a:t> (y), </a:t>
            </a:r>
            <a:r>
              <a:rPr lang="ru-RU" dirty="0"/>
              <a:t>если </a:t>
            </a:r>
            <a:r>
              <a:rPr lang="en-US" dirty="0"/>
              <a:t>y&gt;=x.</a:t>
            </a:r>
          </a:p>
          <a:p>
            <a:r>
              <a:rPr lang="ru-RU" dirty="0"/>
              <a:t>Типы </a:t>
            </a:r>
            <a:r>
              <a:rPr lang="en-US" i="1" dirty="0"/>
              <a:t>BLOB</a:t>
            </a:r>
            <a:r>
              <a:rPr lang="en-US" dirty="0"/>
              <a:t>. </a:t>
            </a:r>
            <a:r>
              <a:rPr lang="ru-RU" dirty="0"/>
              <a:t>Тип </a:t>
            </a:r>
            <a:r>
              <a:rPr lang="en-US" i="1" dirty="0"/>
              <a:t>BLOB</a:t>
            </a:r>
            <a:r>
              <a:rPr lang="en-US" dirty="0"/>
              <a:t> (x) </a:t>
            </a:r>
            <a:r>
              <a:rPr lang="ru-RU" dirty="0"/>
              <a:t>приводим к любому типу </a:t>
            </a:r>
            <a:r>
              <a:rPr lang="en-US" i="1" dirty="0"/>
              <a:t>BLOB</a:t>
            </a:r>
            <a:r>
              <a:rPr lang="en-US" dirty="0"/>
              <a:t> (y), </a:t>
            </a:r>
            <a:r>
              <a:rPr lang="ru-RU" dirty="0"/>
              <a:t>если </a:t>
            </a:r>
            <a:r>
              <a:rPr lang="en-US" dirty="0"/>
              <a:t>y&gt;=x.</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215</a:t>
            </a:fld>
            <a:endParaRPr lang="ru-RU"/>
          </a:p>
        </p:txBody>
      </p:sp>
    </p:spTree>
    <p:extLst>
      <p:ext uri="{BB962C8B-B14F-4D97-AF65-F5344CB8AC3E}">
        <p14:creationId xmlns:p14="http://schemas.microsoft.com/office/powerpoint/2010/main" xmlns="" val="87267739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Явные преобразования типов или доменов и оператор CAST</a:t>
            </a:r>
            <a:br>
              <a:rPr lang="ru-RU" b="1" dirty="0"/>
            </a:br>
            <a:endParaRPr lang="ru-RU" dirty="0"/>
          </a:p>
        </p:txBody>
      </p:sp>
      <p:sp>
        <p:nvSpPr>
          <p:cNvPr id="3" name="Объект 2"/>
          <p:cNvSpPr>
            <a:spLocks noGrp="1"/>
          </p:cNvSpPr>
          <p:nvPr>
            <p:ph idx="1"/>
          </p:nvPr>
        </p:nvSpPr>
        <p:spPr/>
        <p:txBody>
          <a:bodyPr/>
          <a:lstStyle/>
          <a:p>
            <a:r>
              <a:rPr lang="ru-RU" dirty="0" smtClean="0"/>
              <a:t>В</a:t>
            </a:r>
            <a:r>
              <a:rPr lang="ru-RU" dirty="0"/>
              <a:t> </a:t>
            </a:r>
            <a:r>
              <a:rPr lang="ru-RU" i="1" dirty="0"/>
              <a:t>SQL</a:t>
            </a:r>
            <a:r>
              <a:rPr lang="ru-RU" dirty="0"/>
              <a:t> существует специальный оператор </a:t>
            </a:r>
            <a:r>
              <a:rPr lang="ru-RU" i="1" dirty="0"/>
              <a:t>CAST</a:t>
            </a:r>
            <a:r>
              <a:rPr lang="ru-RU" dirty="0"/>
              <a:t> , с помощью которого можно </a:t>
            </a:r>
            <a:r>
              <a:rPr lang="ru-RU" i="1" dirty="0"/>
              <a:t>явно преобразовывать типы или домены</a:t>
            </a:r>
            <a:r>
              <a:rPr lang="ru-RU" dirty="0"/>
              <a:t> в более широких пределах допускаемых преобразований. Конструкция имеет следующий синтаксис</a:t>
            </a:r>
            <a:r>
              <a:rPr lang="ru-RU" dirty="0" smtClean="0"/>
              <a:t>:</a:t>
            </a:r>
          </a:p>
          <a:p>
            <a:r>
              <a:rPr lang="en-US" dirty="0"/>
              <a:t>CAST ({scalar-expression | NULL } AS </a:t>
            </a:r>
          </a:p>
          <a:p>
            <a:r>
              <a:rPr lang="en-US" dirty="0"/>
              <a:t>      {</a:t>
            </a:r>
            <a:r>
              <a:rPr lang="en-US" dirty="0" err="1"/>
              <a:t>data_type</a:t>
            </a:r>
            <a:r>
              <a:rPr lang="en-US" dirty="0"/>
              <a:t> | </a:t>
            </a:r>
            <a:r>
              <a:rPr lang="en-US" dirty="0" err="1"/>
              <a:t>domain_name</a:t>
            </a:r>
            <a:r>
              <a:rPr lang="en-US" dirty="0" smtClean="0"/>
              <a:t>})</a:t>
            </a:r>
            <a:endParaRPr lang="ru-RU" dirty="0" smtClean="0"/>
          </a:p>
          <a:p>
            <a:r>
              <a:rPr lang="ru-RU" dirty="0" smtClean="0"/>
              <a:t>В стандарте </a:t>
            </a:r>
            <a:r>
              <a:rPr lang="ru-RU" dirty="0"/>
              <a:t>приводятся подробные правила выполнения преобразований, которые интуитивно понятны.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216</a:t>
            </a:fld>
            <a:endParaRPr lang="ru-RU"/>
          </a:p>
        </p:txBody>
      </p:sp>
    </p:spTree>
    <p:extLst>
      <p:ext uri="{BB962C8B-B14F-4D97-AF65-F5344CB8AC3E}">
        <p14:creationId xmlns:p14="http://schemas.microsoft.com/office/powerpoint/2010/main" xmlns="" val="287649621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fontScale="85000" lnSpcReduction="20000"/>
          </a:bodyPr>
          <a:lstStyle/>
          <a:p>
            <a:r>
              <a:rPr lang="ru-RU" dirty="0"/>
              <a:t> Примем следующие обозначения типов данных:</a:t>
            </a:r>
          </a:p>
          <a:p>
            <a:r>
              <a:rPr lang="en-US" dirty="0"/>
              <a:t>EN – </a:t>
            </a:r>
            <a:r>
              <a:rPr lang="ru-RU" i="1" dirty="0"/>
              <a:t>точные числовые типы</a:t>
            </a:r>
            <a:r>
              <a:rPr lang="ru-RU" dirty="0"/>
              <a:t> ( </a:t>
            </a:r>
            <a:r>
              <a:rPr lang="en-US" i="1" dirty="0"/>
              <a:t>Exact</a:t>
            </a:r>
            <a:r>
              <a:rPr lang="en-US" dirty="0"/>
              <a:t> </a:t>
            </a:r>
            <a:r>
              <a:rPr lang="en-US" i="1" dirty="0"/>
              <a:t>Numeric</a:t>
            </a:r>
            <a:r>
              <a:rPr lang="en-US" dirty="0"/>
              <a:t> )</a:t>
            </a:r>
          </a:p>
          <a:p>
            <a:r>
              <a:rPr lang="en-US" dirty="0"/>
              <a:t>AN – </a:t>
            </a:r>
            <a:r>
              <a:rPr lang="ru-RU" i="1" dirty="0"/>
              <a:t>приблизительные числовые типы</a:t>
            </a:r>
            <a:r>
              <a:rPr lang="ru-RU" dirty="0"/>
              <a:t> ( </a:t>
            </a:r>
            <a:r>
              <a:rPr lang="en-US" dirty="0"/>
              <a:t>Approximate </a:t>
            </a:r>
            <a:r>
              <a:rPr lang="en-US" i="1" dirty="0"/>
              <a:t>Numeric</a:t>
            </a:r>
            <a:r>
              <a:rPr lang="en-US" dirty="0"/>
              <a:t> )</a:t>
            </a:r>
          </a:p>
          <a:p>
            <a:r>
              <a:rPr lang="en-US" dirty="0"/>
              <a:t>C – </a:t>
            </a:r>
            <a:r>
              <a:rPr lang="ru-RU" i="1" dirty="0"/>
              <a:t>типы символьных строк</a:t>
            </a:r>
            <a:r>
              <a:rPr lang="ru-RU" dirty="0"/>
              <a:t> ( </a:t>
            </a:r>
            <a:r>
              <a:rPr lang="en-US" i="1" dirty="0"/>
              <a:t>Character</a:t>
            </a:r>
            <a:r>
              <a:rPr lang="en-US" dirty="0"/>
              <a:t> )</a:t>
            </a:r>
          </a:p>
          <a:p>
            <a:r>
              <a:rPr lang="en-US" i="1" dirty="0"/>
              <a:t>FC</a:t>
            </a:r>
            <a:r>
              <a:rPr lang="en-US" dirty="0"/>
              <a:t> – </a:t>
            </a:r>
            <a:r>
              <a:rPr lang="ru-RU" i="1" dirty="0"/>
              <a:t>типы символьных строк</a:t>
            </a:r>
            <a:r>
              <a:rPr lang="ru-RU" dirty="0"/>
              <a:t> постоянной длины ( </a:t>
            </a:r>
            <a:r>
              <a:rPr lang="en-US" dirty="0"/>
              <a:t>Fixed-length </a:t>
            </a:r>
            <a:r>
              <a:rPr lang="en-US" i="1" dirty="0"/>
              <a:t>Character</a:t>
            </a:r>
            <a:r>
              <a:rPr lang="en-US" dirty="0"/>
              <a:t> )</a:t>
            </a:r>
          </a:p>
          <a:p>
            <a:r>
              <a:rPr lang="en-US" i="1" dirty="0"/>
              <a:t>VC</a:t>
            </a:r>
            <a:r>
              <a:rPr lang="en-US" dirty="0"/>
              <a:t> – </a:t>
            </a:r>
            <a:r>
              <a:rPr lang="ru-RU" i="1" dirty="0"/>
              <a:t>типы символьных строк</a:t>
            </a:r>
            <a:r>
              <a:rPr lang="ru-RU" dirty="0"/>
              <a:t> переменной длины ( </a:t>
            </a:r>
            <a:r>
              <a:rPr lang="en-US" i="1" dirty="0"/>
              <a:t>Variable-length</a:t>
            </a:r>
            <a:r>
              <a:rPr lang="en-US" dirty="0"/>
              <a:t> </a:t>
            </a:r>
            <a:r>
              <a:rPr lang="en-US" i="1" dirty="0"/>
              <a:t>Character</a:t>
            </a:r>
            <a:r>
              <a:rPr lang="en-US" dirty="0"/>
              <a:t> )</a:t>
            </a:r>
          </a:p>
          <a:p>
            <a:r>
              <a:rPr lang="en-US" dirty="0"/>
              <a:t>B – </a:t>
            </a:r>
            <a:r>
              <a:rPr lang="ru-RU" i="1" dirty="0"/>
              <a:t>типы битовых строк</a:t>
            </a:r>
            <a:r>
              <a:rPr lang="ru-RU" dirty="0"/>
              <a:t> ( </a:t>
            </a:r>
            <a:r>
              <a:rPr lang="en-US" i="1" dirty="0"/>
              <a:t>Bit String</a:t>
            </a:r>
            <a:r>
              <a:rPr lang="en-US" dirty="0"/>
              <a:t> )</a:t>
            </a:r>
          </a:p>
          <a:p>
            <a:r>
              <a:rPr lang="en-US" dirty="0"/>
              <a:t>FB – </a:t>
            </a:r>
            <a:r>
              <a:rPr lang="ru-RU" i="1" dirty="0"/>
              <a:t>типы битовых строк</a:t>
            </a:r>
            <a:r>
              <a:rPr lang="ru-RU" dirty="0"/>
              <a:t> постоянной длины ( </a:t>
            </a:r>
            <a:r>
              <a:rPr lang="en-US" dirty="0"/>
              <a:t>Fixed-length </a:t>
            </a:r>
            <a:r>
              <a:rPr lang="en-US" i="1" dirty="0"/>
              <a:t>Bit String</a:t>
            </a:r>
            <a:r>
              <a:rPr lang="en-US" dirty="0"/>
              <a:t> )</a:t>
            </a:r>
          </a:p>
          <a:p>
            <a:r>
              <a:rPr lang="en-US" dirty="0"/>
              <a:t>VB – </a:t>
            </a:r>
            <a:r>
              <a:rPr lang="ru-RU" i="1" dirty="0"/>
              <a:t>типы битовых строк</a:t>
            </a:r>
            <a:r>
              <a:rPr lang="ru-RU" dirty="0"/>
              <a:t> переменной длины ( </a:t>
            </a:r>
            <a:r>
              <a:rPr lang="en-US" i="1" dirty="0"/>
              <a:t>Variable-length</a:t>
            </a:r>
            <a:r>
              <a:rPr lang="en-US" dirty="0"/>
              <a:t> </a:t>
            </a:r>
            <a:r>
              <a:rPr lang="en-US" i="1" dirty="0"/>
              <a:t>Bit String</a:t>
            </a:r>
            <a:r>
              <a:rPr lang="en-US" dirty="0"/>
              <a:t> )</a:t>
            </a:r>
          </a:p>
          <a:p>
            <a:r>
              <a:rPr lang="en-US" dirty="0"/>
              <a:t>D – </a:t>
            </a:r>
            <a:r>
              <a:rPr lang="ru-RU" dirty="0"/>
              <a:t>тип </a:t>
            </a:r>
            <a:r>
              <a:rPr lang="en-US" dirty="0"/>
              <a:t>Date</a:t>
            </a:r>
          </a:p>
          <a:p>
            <a:r>
              <a:rPr lang="en-US" dirty="0"/>
              <a:t>T – </a:t>
            </a:r>
            <a:r>
              <a:rPr lang="ru-RU" dirty="0"/>
              <a:t>типы </a:t>
            </a:r>
            <a:r>
              <a:rPr lang="en-US" dirty="0"/>
              <a:t>Time</a:t>
            </a:r>
          </a:p>
          <a:p>
            <a:r>
              <a:rPr lang="en-US" dirty="0"/>
              <a:t>TS – </a:t>
            </a:r>
            <a:r>
              <a:rPr lang="ru-RU" dirty="0"/>
              <a:t>типы </a:t>
            </a:r>
            <a:r>
              <a:rPr lang="en-US" i="1" dirty="0"/>
              <a:t>Timestamp</a:t>
            </a:r>
            <a:endParaRPr lang="en-US" dirty="0"/>
          </a:p>
          <a:p>
            <a:r>
              <a:rPr lang="en-US" dirty="0"/>
              <a:t>YM – </a:t>
            </a:r>
            <a:r>
              <a:rPr lang="ru-RU" dirty="0"/>
              <a:t>типы </a:t>
            </a:r>
            <a:r>
              <a:rPr lang="en-US" i="1" dirty="0"/>
              <a:t>Interval</a:t>
            </a:r>
            <a:r>
              <a:rPr lang="en-US" dirty="0"/>
              <a:t> Year-</a:t>
            </a:r>
            <a:r>
              <a:rPr lang="en-US" i="1" dirty="0"/>
              <a:t>Month</a:t>
            </a:r>
            <a:endParaRPr lang="en-US" dirty="0"/>
          </a:p>
          <a:p>
            <a:r>
              <a:rPr lang="en-US" dirty="0"/>
              <a:t>DT – </a:t>
            </a:r>
            <a:r>
              <a:rPr lang="ru-RU" dirty="0"/>
              <a:t>типы </a:t>
            </a:r>
            <a:r>
              <a:rPr lang="en-US" i="1" dirty="0"/>
              <a:t>Interval</a:t>
            </a:r>
            <a:r>
              <a:rPr lang="en-US" dirty="0"/>
              <a:t> Day-Time</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217</a:t>
            </a:fld>
            <a:endParaRPr lang="ru-RU"/>
          </a:p>
        </p:txBody>
      </p:sp>
    </p:spTree>
    <p:extLst>
      <p:ext uri="{BB962C8B-B14F-4D97-AF65-F5344CB8AC3E}">
        <p14:creationId xmlns:p14="http://schemas.microsoft.com/office/powerpoint/2010/main" xmlns="" val="26280607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xmlns="" val="3875150497"/>
              </p:ext>
            </p:extLst>
          </p:nvPr>
        </p:nvGraphicFramePr>
        <p:xfrm>
          <a:off x="838202" y="365123"/>
          <a:ext cx="10515596" cy="5647851"/>
        </p:xfrm>
        <a:graphic>
          <a:graphicData uri="http://schemas.openxmlformats.org/drawingml/2006/table">
            <a:tbl>
              <a:tblPr/>
              <a:tblGrid>
                <a:gridCol w="808892"/>
                <a:gridCol w="808892"/>
                <a:gridCol w="808892"/>
                <a:gridCol w="808892"/>
                <a:gridCol w="808892"/>
                <a:gridCol w="808892"/>
                <a:gridCol w="808892"/>
                <a:gridCol w="808892"/>
                <a:gridCol w="808892"/>
                <a:gridCol w="808892"/>
                <a:gridCol w="808892"/>
                <a:gridCol w="808892"/>
                <a:gridCol w="808892"/>
              </a:tblGrid>
              <a:tr h="513441">
                <a:tc rowSpan="11">
                  <a:txBody>
                    <a:bodyPr/>
                    <a:lstStyle/>
                    <a:p>
                      <a:pPr algn="ctr"/>
                      <a:r>
                        <a:rPr lang="en-US" i="1" dirty="0">
                          <a:effectLst/>
                        </a:rPr>
                        <a:t>SD</a:t>
                      </a:r>
                      <a:endParaRPr lang="en-US" dirty="0">
                        <a:effectLst/>
                      </a:endParaRPr>
                    </a:p>
                  </a:txBody>
                  <a:tcPr anchor="ctr">
                    <a:lnL>
                      <a:noFill/>
                    </a:lnL>
                    <a:lnR>
                      <a:noFill/>
                    </a:lnR>
                    <a:lnT>
                      <a:noFill/>
                    </a:lnT>
                    <a:lnB>
                      <a:noFill/>
                    </a:lnB>
                    <a:solidFill>
                      <a:srgbClr val="FFFFFF"/>
                    </a:solidFill>
                  </a:tcPr>
                </a:tc>
                <a:tc gridSpan="12">
                  <a:txBody>
                    <a:bodyPr/>
                    <a:lstStyle/>
                    <a:p>
                      <a:pPr algn="ctr"/>
                      <a:r>
                        <a:rPr lang="en-US" dirty="0">
                          <a:effectLst/>
                        </a:rPr>
                        <a:t>TD</a:t>
                      </a:r>
                    </a:p>
                  </a:txBody>
                  <a:tcPr anchor="ctr">
                    <a:lnL>
                      <a:noFill/>
                    </a:lnL>
                    <a:lnR>
                      <a:noFill/>
                    </a:lnR>
                    <a:lnT>
                      <a:noFill/>
                    </a:lnT>
                    <a:lnB>
                      <a:noFill/>
                    </a:lnB>
                    <a:solidFill>
                      <a:srgbClr val="FFFFFF"/>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513441">
                <a:tc vMerge="1">
                  <a:txBody>
                    <a:bodyPr/>
                    <a:lstStyle/>
                    <a:p>
                      <a:endParaRPr lang="ru-RU"/>
                    </a:p>
                  </a:txBody>
                  <a:tcPr/>
                </a:tc>
                <a:tc>
                  <a:txBody>
                    <a:bodyPr/>
                    <a:lstStyle/>
                    <a:p>
                      <a:pPr algn="ctr"/>
                      <a:endParaRPr lang="ru-RU">
                        <a:effectLst/>
                      </a:endParaRPr>
                    </a:p>
                  </a:txBody>
                  <a:tcPr anchor="ctr">
                    <a:lnL>
                      <a:noFill/>
                    </a:lnL>
                    <a:lnR>
                      <a:noFill/>
                    </a:lnR>
                    <a:lnT>
                      <a:noFill/>
                    </a:lnT>
                    <a:lnB>
                      <a:noFill/>
                    </a:lnB>
                    <a:solidFill>
                      <a:srgbClr val="FFFFFF"/>
                    </a:solidFill>
                  </a:tcPr>
                </a:tc>
                <a:tc>
                  <a:txBody>
                    <a:bodyPr/>
                    <a:lstStyle/>
                    <a:p>
                      <a:pPr algn="ctr"/>
                      <a:r>
                        <a:rPr lang="en-US">
                          <a:effectLst/>
                        </a:rPr>
                        <a:t>EN</a:t>
                      </a:r>
                    </a:p>
                  </a:txBody>
                  <a:tcPr anchor="ctr">
                    <a:lnL>
                      <a:noFill/>
                    </a:lnL>
                    <a:lnR>
                      <a:noFill/>
                    </a:lnR>
                    <a:lnT>
                      <a:noFill/>
                    </a:lnT>
                    <a:lnB>
                      <a:noFill/>
                    </a:lnB>
                    <a:solidFill>
                      <a:srgbClr val="FFFFFF"/>
                    </a:solidFill>
                  </a:tcPr>
                </a:tc>
                <a:tc>
                  <a:txBody>
                    <a:bodyPr/>
                    <a:lstStyle/>
                    <a:p>
                      <a:pPr algn="ctr"/>
                      <a:r>
                        <a:rPr lang="en-US">
                          <a:effectLst/>
                        </a:rPr>
                        <a:t>AN</a:t>
                      </a:r>
                    </a:p>
                  </a:txBody>
                  <a:tcPr anchor="ctr">
                    <a:lnL>
                      <a:noFill/>
                    </a:lnL>
                    <a:lnR>
                      <a:noFill/>
                    </a:lnR>
                    <a:lnT>
                      <a:noFill/>
                    </a:lnT>
                    <a:lnB>
                      <a:noFill/>
                    </a:lnB>
                    <a:solidFill>
                      <a:srgbClr val="FFFFFF"/>
                    </a:solidFill>
                  </a:tcPr>
                </a:tc>
                <a:tc>
                  <a:txBody>
                    <a:bodyPr/>
                    <a:lstStyle/>
                    <a:p>
                      <a:pPr algn="ctr"/>
                      <a:r>
                        <a:rPr lang="en-US" i="1">
                          <a:effectLst/>
                        </a:rPr>
                        <a:t>VC</a:t>
                      </a:r>
                      <a:endParaRPr lang="en-US">
                        <a:effectLst/>
                      </a:endParaRPr>
                    </a:p>
                  </a:txBody>
                  <a:tcPr anchor="ctr">
                    <a:lnL>
                      <a:noFill/>
                    </a:lnL>
                    <a:lnR>
                      <a:noFill/>
                    </a:lnR>
                    <a:lnT>
                      <a:noFill/>
                    </a:lnT>
                    <a:lnB>
                      <a:noFill/>
                    </a:lnB>
                    <a:solidFill>
                      <a:srgbClr val="FFFFFF"/>
                    </a:solidFill>
                  </a:tcPr>
                </a:tc>
                <a:tc>
                  <a:txBody>
                    <a:bodyPr/>
                    <a:lstStyle/>
                    <a:p>
                      <a:pPr algn="ctr"/>
                      <a:r>
                        <a:rPr lang="en-US" i="1">
                          <a:effectLst/>
                        </a:rPr>
                        <a:t>FC</a:t>
                      </a:r>
                      <a:endParaRPr lang="en-US">
                        <a:effectLst/>
                      </a:endParaRPr>
                    </a:p>
                  </a:txBody>
                  <a:tcPr anchor="ctr">
                    <a:lnL>
                      <a:noFill/>
                    </a:lnL>
                    <a:lnR>
                      <a:noFill/>
                    </a:lnR>
                    <a:lnT>
                      <a:noFill/>
                    </a:lnT>
                    <a:lnB>
                      <a:noFill/>
                    </a:lnB>
                    <a:solidFill>
                      <a:srgbClr val="FFFFFF"/>
                    </a:solidFill>
                  </a:tcPr>
                </a:tc>
                <a:tc>
                  <a:txBody>
                    <a:bodyPr/>
                    <a:lstStyle/>
                    <a:p>
                      <a:pPr algn="ctr"/>
                      <a:r>
                        <a:rPr lang="en-US" dirty="0">
                          <a:effectLst/>
                        </a:rPr>
                        <a:t>VB</a:t>
                      </a:r>
                    </a:p>
                  </a:txBody>
                  <a:tcPr anchor="ctr">
                    <a:lnL>
                      <a:noFill/>
                    </a:lnL>
                    <a:lnR>
                      <a:noFill/>
                    </a:lnR>
                    <a:lnT>
                      <a:noFill/>
                    </a:lnT>
                    <a:lnB>
                      <a:noFill/>
                    </a:lnB>
                    <a:solidFill>
                      <a:srgbClr val="FFFFFF"/>
                    </a:solidFill>
                  </a:tcPr>
                </a:tc>
                <a:tc>
                  <a:txBody>
                    <a:bodyPr/>
                    <a:lstStyle/>
                    <a:p>
                      <a:pPr algn="ctr"/>
                      <a:r>
                        <a:rPr lang="en-US">
                          <a:effectLst/>
                        </a:rPr>
                        <a:t>FB</a:t>
                      </a:r>
                    </a:p>
                  </a:txBody>
                  <a:tcPr anchor="ctr">
                    <a:lnL>
                      <a:noFill/>
                    </a:lnL>
                    <a:lnR>
                      <a:noFill/>
                    </a:lnR>
                    <a:lnT>
                      <a:noFill/>
                    </a:lnT>
                    <a:lnB>
                      <a:noFill/>
                    </a:lnB>
                    <a:solidFill>
                      <a:srgbClr val="FFFFFF"/>
                    </a:solidFill>
                  </a:tcPr>
                </a:tc>
                <a:tc>
                  <a:txBody>
                    <a:bodyPr/>
                    <a:lstStyle/>
                    <a:p>
                      <a:pPr algn="ctr"/>
                      <a:r>
                        <a:rPr lang="en-US">
                          <a:effectLst/>
                        </a:rPr>
                        <a:t>D</a:t>
                      </a:r>
                    </a:p>
                  </a:txBody>
                  <a:tcPr anchor="ctr">
                    <a:lnL>
                      <a:noFill/>
                    </a:lnL>
                    <a:lnR>
                      <a:noFill/>
                    </a:lnR>
                    <a:lnT>
                      <a:noFill/>
                    </a:lnT>
                    <a:lnB>
                      <a:noFill/>
                    </a:lnB>
                    <a:solidFill>
                      <a:srgbClr val="FFFFFF"/>
                    </a:solidFill>
                  </a:tcPr>
                </a:tc>
                <a:tc>
                  <a:txBody>
                    <a:bodyPr/>
                    <a:lstStyle/>
                    <a:p>
                      <a:pPr algn="ctr"/>
                      <a:r>
                        <a:rPr lang="en-US">
                          <a:effectLst/>
                        </a:rPr>
                        <a:t>T</a:t>
                      </a:r>
                    </a:p>
                  </a:txBody>
                  <a:tcPr anchor="ctr">
                    <a:lnL>
                      <a:noFill/>
                    </a:lnL>
                    <a:lnR>
                      <a:noFill/>
                    </a:lnR>
                    <a:lnT>
                      <a:noFill/>
                    </a:lnT>
                    <a:lnB>
                      <a:noFill/>
                    </a:lnB>
                    <a:solidFill>
                      <a:srgbClr val="FFFFFF"/>
                    </a:solidFill>
                  </a:tcPr>
                </a:tc>
                <a:tc>
                  <a:txBody>
                    <a:bodyPr/>
                    <a:lstStyle/>
                    <a:p>
                      <a:pPr algn="ctr"/>
                      <a:r>
                        <a:rPr lang="en-US">
                          <a:effectLst/>
                        </a:rPr>
                        <a:t>TS</a:t>
                      </a:r>
                    </a:p>
                  </a:txBody>
                  <a:tcPr anchor="ctr">
                    <a:lnL>
                      <a:noFill/>
                    </a:lnL>
                    <a:lnR>
                      <a:noFill/>
                    </a:lnR>
                    <a:lnT>
                      <a:noFill/>
                    </a:lnT>
                    <a:lnB>
                      <a:noFill/>
                    </a:lnB>
                    <a:solidFill>
                      <a:srgbClr val="FFFFFF"/>
                    </a:solidFill>
                  </a:tcPr>
                </a:tc>
                <a:tc>
                  <a:txBody>
                    <a:bodyPr/>
                    <a:lstStyle/>
                    <a:p>
                      <a:pPr algn="ctr"/>
                      <a:r>
                        <a:rPr lang="en-US">
                          <a:effectLst/>
                        </a:rPr>
                        <a:t>YM</a:t>
                      </a:r>
                    </a:p>
                  </a:txBody>
                  <a:tcPr anchor="ctr">
                    <a:lnL>
                      <a:noFill/>
                    </a:lnL>
                    <a:lnR>
                      <a:noFill/>
                    </a:lnR>
                    <a:lnT>
                      <a:noFill/>
                    </a:lnT>
                    <a:lnB>
                      <a:noFill/>
                    </a:lnB>
                    <a:solidFill>
                      <a:srgbClr val="FFFFFF"/>
                    </a:solidFill>
                  </a:tcPr>
                </a:tc>
                <a:tc>
                  <a:txBody>
                    <a:bodyPr/>
                    <a:lstStyle/>
                    <a:p>
                      <a:pPr algn="ctr"/>
                      <a:r>
                        <a:rPr lang="en-US">
                          <a:effectLst/>
                        </a:rPr>
                        <a:t>DT</a:t>
                      </a:r>
                    </a:p>
                  </a:txBody>
                  <a:tcPr anchor="ct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EN</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AN</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C</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B</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D</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T</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TS</a:t>
                      </a:r>
                    </a:p>
                  </a:txBody>
                  <a:tcPr anchor="ct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YM</a:t>
                      </a:r>
                    </a:p>
                  </a:txBody>
                  <a:tcPr anchor="ct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r>
              <a:tr h="513441">
                <a:tc vMerge="1">
                  <a:txBody>
                    <a:bodyPr/>
                    <a:lstStyle/>
                    <a:p>
                      <a:endParaRPr lang="ru-RU"/>
                    </a:p>
                  </a:txBody>
                  <a:tcPr/>
                </a:tc>
                <a:tc>
                  <a:txBody>
                    <a:bodyPr/>
                    <a:lstStyle/>
                    <a:p>
                      <a:pPr algn="ctr"/>
                      <a:r>
                        <a:rPr lang="en-US">
                          <a:effectLst/>
                        </a:rPr>
                        <a:t>DT</a:t>
                      </a:r>
                    </a:p>
                  </a:txBody>
                  <a:tcPr anchor="ctr">
                    <a:lnL>
                      <a:noFill/>
                    </a:lnL>
                    <a:lnR>
                      <a:noFill/>
                    </a:lnR>
                    <a:lnT>
                      <a:noFill/>
                    </a:lnT>
                    <a:lnB>
                      <a:noFill/>
                    </a:lnB>
                    <a:solidFill>
                      <a:srgbClr val="FFFFFF"/>
                    </a:solidFill>
                  </a:tcPr>
                </a:tc>
                <a:tc>
                  <a:txBody>
                    <a:bodyPr/>
                    <a:lstStyle/>
                    <a:p>
                      <a:pPr algn="l"/>
                      <a:r>
                        <a:rPr lang="ru-RU">
                          <a:solidFill>
                            <a:srgbClr val="8B0000"/>
                          </a:solidFill>
                          <a:effectLst/>
                          <a:latin typeface="Courier New" panose="02070309020205020404" pitchFamily="49" charset="0"/>
                        </a:rPr>
                        <a:t>?</a:t>
                      </a: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Да</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a:solidFill>
                            <a:srgbClr val="8B0000"/>
                          </a:solidFill>
                          <a:effectLst/>
                          <a:latin typeface="Courier New" panose="02070309020205020404" pitchFamily="49" charset="0"/>
                        </a:rPr>
                        <a:t>Нет</a:t>
                      </a:r>
                      <a:endParaRPr lang="ru-RU">
                        <a:effectLst/>
                      </a:endParaRPr>
                    </a:p>
                  </a:txBody>
                  <a:tcPr>
                    <a:lnL>
                      <a:noFill/>
                    </a:lnL>
                    <a:lnR>
                      <a:noFill/>
                    </a:lnR>
                    <a:lnT>
                      <a:noFill/>
                    </a:lnT>
                    <a:lnB>
                      <a:noFill/>
                    </a:lnB>
                    <a:solidFill>
                      <a:srgbClr val="FFFFFF"/>
                    </a:solidFill>
                  </a:tcPr>
                </a:tc>
                <a:tc>
                  <a:txBody>
                    <a:bodyPr/>
                    <a:lstStyle/>
                    <a:p>
                      <a:r>
                        <a:rPr lang="ru-RU" dirty="0">
                          <a:solidFill>
                            <a:srgbClr val="8B0000"/>
                          </a:solidFill>
                          <a:effectLst/>
                          <a:latin typeface="Courier New" panose="02070309020205020404" pitchFamily="49" charset="0"/>
                        </a:rPr>
                        <a:t>Да</a:t>
                      </a:r>
                      <a:endParaRPr lang="ru-RU" dirty="0">
                        <a:effectLst/>
                      </a:endParaRPr>
                    </a:p>
                  </a:txBody>
                  <a:tcPr>
                    <a:lnL>
                      <a:noFill/>
                    </a:lnL>
                    <a:lnR>
                      <a:noFill/>
                    </a:lnR>
                    <a:lnT>
                      <a:noFill/>
                    </a:lnT>
                    <a:lnB>
                      <a:noFill/>
                    </a:lnB>
                    <a:solidFill>
                      <a:srgbClr val="FFFFFF"/>
                    </a:solidFill>
                  </a:tcPr>
                </a:tc>
              </a:tr>
            </a:tbl>
          </a:graphicData>
        </a:graphic>
      </p:graphicFrame>
      <p:sp>
        <p:nvSpPr>
          <p:cNvPr id="3" name="Номер слайда 2"/>
          <p:cNvSpPr>
            <a:spLocks noGrp="1"/>
          </p:cNvSpPr>
          <p:nvPr>
            <p:ph type="sldNum" sz="quarter" idx="12"/>
          </p:nvPr>
        </p:nvSpPr>
        <p:spPr/>
        <p:txBody>
          <a:bodyPr/>
          <a:lstStyle/>
          <a:p>
            <a:fld id="{590C5F67-5E4C-4ABB-99F4-36BCAC8BE885}" type="slidenum">
              <a:rPr lang="ru-RU" smtClean="0"/>
              <a:pPr/>
              <a:t>218</a:t>
            </a:fld>
            <a:endParaRPr lang="ru-RU"/>
          </a:p>
        </p:txBody>
      </p:sp>
    </p:spTree>
    <p:extLst>
      <p:ext uri="{BB962C8B-B14F-4D97-AF65-F5344CB8AC3E}">
        <p14:creationId xmlns:p14="http://schemas.microsoft.com/office/powerpoint/2010/main" xmlns="" val="337967680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389289"/>
          </a:xfrm>
        </p:spPr>
        <p:txBody>
          <a:bodyPr>
            <a:normAutofit/>
          </a:bodyPr>
          <a:lstStyle/>
          <a:p>
            <a:r>
              <a:rPr lang="ru-RU" b="1" dirty="0"/>
              <a:t> Средства определения базовых таблиц и ограничений целостности</a:t>
            </a:r>
            <a:br>
              <a:rPr lang="ru-RU" b="1" dirty="0"/>
            </a:br>
            <a:endParaRPr lang="ru-RU" dirty="0"/>
          </a:p>
        </p:txBody>
      </p:sp>
      <p:sp>
        <p:nvSpPr>
          <p:cNvPr id="3" name="Объект 2"/>
          <p:cNvSpPr>
            <a:spLocks noGrp="1"/>
          </p:cNvSpPr>
          <p:nvPr>
            <p:ph idx="1"/>
          </p:nvPr>
        </p:nvSpPr>
        <p:spPr/>
        <p:txBody>
          <a:bodyPr/>
          <a:lstStyle/>
          <a:p>
            <a:endParaRPr lang="ru-RU" b="1" dirty="0" smtClean="0"/>
          </a:p>
          <a:p>
            <a:pPr marL="0" indent="0">
              <a:buNone/>
            </a:pPr>
            <a:endParaRPr lang="ru-RU" b="1"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219</a:t>
            </a:fld>
            <a:endParaRPr lang="ru-RU"/>
          </a:p>
        </p:txBody>
      </p:sp>
    </p:spTree>
    <p:extLst>
      <p:ext uri="{BB962C8B-B14F-4D97-AF65-F5344CB8AC3E}">
        <p14:creationId xmlns:p14="http://schemas.microsoft.com/office/powerpoint/2010/main" xmlns="" val="92833974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Средства определения, изменения и ликвидации базовых таблиц</a:t>
            </a:r>
            <a:br>
              <a:rPr lang="ru-RU" b="1" dirty="0"/>
            </a:br>
            <a:endParaRPr lang="ru-RU" dirty="0"/>
          </a:p>
        </p:txBody>
      </p:sp>
      <p:sp>
        <p:nvSpPr>
          <p:cNvPr id="3" name="Объект 2"/>
          <p:cNvSpPr>
            <a:spLocks noGrp="1"/>
          </p:cNvSpPr>
          <p:nvPr>
            <p:ph idx="1"/>
          </p:nvPr>
        </p:nvSpPr>
        <p:spPr/>
        <p:txBody>
          <a:bodyPr/>
          <a:lstStyle/>
          <a:p>
            <a:r>
              <a:rPr lang="ru-RU" i="1" dirty="0"/>
              <a:t>Базовые</a:t>
            </a:r>
            <a:r>
              <a:rPr lang="ru-RU" dirty="0"/>
              <a:t> </a:t>
            </a:r>
            <a:r>
              <a:rPr lang="ru-RU" dirty="0" smtClean="0"/>
              <a:t>таблицы </a:t>
            </a:r>
            <a:r>
              <a:rPr lang="ru-RU" dirty="0"/>
              <a:t>создаются (определяются) с использованием оператора </a:t>
            </a:r>
            <a:r>
              <a:rPr lang="ru-RU" i="1" dirty="0"/>
              <a:t>CREATE TABLE</a:t>
            </a:r>
            <a:r>
              <a:rPr lang="ru-RU" dirty="0"/>
              <a:t> . Для изменения определения </a:t>
            </a:r>
            <a:r>
              <a:rPr lang="ru-RU" i="1" dirty="0"/>
              <a:t>базовой таблицы</a:t>
            </a:r>
            <a:r>
              <a:rPr lang="ru-RU" dirty="0"/>
              <a:t> применяется оператор </a:t>
            </a:r>
            <a:r>
              <a:rPr lang="ru-RU" i="1" dirty="0"/>
              <a:t>ALTER TABLE</a:t>
            </a:r>
            <a:r>
              <a:rPr lang="ru-RU" dirty="0"/>
              <a:t> . Уничтожить хранимую таблицу (отменить </a:t>
            </a:r>
            <a:r>
              <a:rPr lang="ru-RU" dirty="0" smtClean="0"/>
              <a:t>ее </a:t>
            </a:r>
            <a:r>
              <a:rPr lang="ru-RU" i="1" dirty="0" smtClean="0"/>
              <a:t>определение</a:t>
            </a:r>
            <a:r>
              <a:rPr lang="ru-RU" dirty="0"/>
              <a:t>) можно с помощью оператора </a:t>
            </a:r>
            <a:r>
              <a:rPr lang="ru-RU" i="1" dirty="0"/>
              <a:t>DROP TABLE</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220</a:t>
            </a:fld>
            <a:endParaRPr lang="ru-RU"/>
          </a:p>
        </p:txBody>
      </p:sp>
    </p:spTree>
    <p:extLst>
      <p:ext uri="{BB962C8B-B14F-4D97-AF65-F5344CB8AC3E}">
        <p14:creationId xmlns:p14="http://schemas.microsoft.com/office/powerpoint/2010/main" xmlns="" val="29392062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Определение базовой таблицы</a:t>
            </a:r>
            <a:br>
              <a:rPr lang="ru-RU" b="1" dirty="0"/>
            </a:br>
            <a:endParaRPr lang="ru-RU" dirty="0"/>
          </a:p>
        </p:txBody>
      </p:sp>
      <p:sp>
        <p:nvSpPr>
          <p:cNvPr id="3" name="Объект 2"/>
          <p:cNvSpPr>
            <a:spLocks noGrp="1"/>
          </p:cNvSpPr>
          <p:nvPr>
            <p:ph idx="1"/>
          </p:nvPr>
        </p:nvSpPr>
        <p:spPr/>
        <p:txBody>
          <a:bodyPr>
            <a:normAutofit fontScale="92500" lnSpcReduction="20000"/>
          </a:bodyPr>
          <a:lstStyle/>
          <a:p>
            <a:r>
              <a:rPr lang="ru-RU" dirty="0"/>
              <a:t>Оператор создания </a:t>
            </a:r>
            <a:r>
              <a:rPr lang="ru-RU" i="1" dirty="0"/>
              <a:t>базовой таблицы</a:t>
            </a:r>
            <a:r>
              <a:rPr lang="ru-RU" dirty="0"/>
              <a:t>   </a:t>
            </a:r>
            <a:r>
              <a:rPr lang="ru-RU" i="1" dirty="0"/>
              <a:t>CREATE TABLE</a:t>
            </a:r>
            <a:r>
              <a:rPr lang="ru-RU" dirty="0"/>
              <a:t> имеет следующий синтаксис</a:t>
            </a:r>
            <a:r>
              <a:rPr lang="ru-RU" dirty="0" smtClean="0"/>
              <a:t>:</a:t>
            </a:r>
          </a:p>
          <a:p>
            <a:r>
              <a:rPr lang="en-US" dirty="0" err="1"/>
              <a:t>base_table_definition</a:t>
            </a:r>
            <a:r>
              <a:rPr lang="en-US" dirty="0"/>
              <a:t> ::= CREATE TABLE </a:t>
            </a:r>
            <a:r>
              <a:rPr lang="en-US" dirty="0" err="1"/>
              <a:t>base_table_name</a:t>
            </a:r>
            <a:r>
              <a:rPr lang="en-US" dirty="0"/>
              <a:t> (</a:t>
            </a:r>
            <a:r>
              <a:rPr lang="en-US" dirty="0" err="1"/>
              <a:t>base_table_element_commalist</a:t>
            </a:r>
            <a:r>
              <a:rPr lang="en-US" dirty="0"/>
              <a:t>) </a:t>
            </a:r>
          </a:p>
          <a:p>
            <a:endParaRPr lang="en-US" dirty="0"/>
          </a:p>
          <a:p>
            <a:r>
              <a:rPr lang="en-US" dirty="0" err="1"/>
              <a:t>base_table_element</a:t>
            </a:r>
            <a:r>
              <a:rPr lang="en-US" dirty="0"/>
              <a:t> ::= </a:t>
            </a:r>
            <a:r>
              <a:rPr lang="en-US" dirty="0" err="1"/>
              <a:t>column_definition</a:t>
            </a:r>
            <a:r>
              <a:rPr lang="en-US" dirty="0"/>
              <a:t> | </a:t>
            </a:r>
            <a:r>
              <a:rPr lang="en-US" dirty="0" err="1" smtClean="0"/>
              <a:t>base_table_constraint_definition</a:t>
            </a:r>
            <a:endParaRPr lang="ru-RU" dirty="0" smtClean="0"/>
          </a:p>
          <a:p>
            <a:endParaRPr lang="ru-RU" dirty="0"/>
          </a:p>
          <a:p>
            <a:r>
              <a:rPr lang="ru-RU" dirty="0"/>
              <a:t>Здесь </a:t>
            </a:r>
            <a:r>
              <a:rPr lang="ru-RU" dirty="0" err="1"/>
              <a:t>base_table_name</a:t>
            </a:r>
            <a:r>
              <a:rPr lang="ru-RU" dirty="0"/>
              <a:t> задает имя новой (изначально пустой) </a:t>
            </a:r>
            <a:r>
              <a:rPr lang="ru-RU" i="1" dirty="0"/>
              <a:t>базовой таблицы</a:t>
            </a:r>
            <a:r>
              <a:rPr lang="ru-RU" dirty="0"/>
              <a:t>. Каждый элемент определения </a:t>
            </a:r>
            <a:r>
              <a:rPr lang="ru-RU" i="1" dirty="0"/>
              <a:t>базовой </a:t>
            </a:r>
            <a:r>
              <a:rPr lang="ru-RU" i="1" dirty="0" smtClean="0"/>
              <a:t>таблицы </a:t>
            </a:r>
            <a:r>
              <a:rPr lang="ru-RU" dirty="0" smtClean="0"/>
              <a:t>является </a:t>
            </a:r>
            <a:r>
              <a:rPr lang="ru-RU" dirty="0"/>
              <a:t>либо </a:t>
            </a:r>
            <a:r>
              <a:rPr lang="ru-RU" i="1" dirty="0"/>
              <a:t>определением столбца</a:t>
            </a:r>
            <a:r>
              <a:rPr lang="ru-RU" dirty="0"/>
              <a:t>, либо </a:t>
            </a:r>
            <a:r>
              <a:rPr lang="ru-RU" i="1" dirty="0"/>
              <a:t>определением табличного ограничения</a:t>
            </a:r>
            <a:r>
              <a:rPr lang="ru-RU" dirty="0"/>
              <a:t> целостности.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221</a:t>
            </a:fld>
            <a:endParaRPr lang="ru-RU"/>
          </a:p>
        </p:txBody>
      </p:sp>
    </p:spTree>
    <p:extLst>
      <p:ext uri="{BB962C8B-B14F-4D97-AF65-F5344CB8AC3E}">
        <p14:creationId xmlns:p14="http://schemas.microsoft.com/office/powerpoint/2010/main" xmlns="" val="326362210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Определение столбца</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a:t>Элемент </a:t>
            </a:r>
            <a:r>
              <a:rPr lang="ru-RU" i="1" dirty="0"/>
              <a:t>определения столбца</a:t>
            </a:r>
            <a:r>
              <a:rPr lang="ru-RU" dirty="0"/>
              <a:t> специфицируется на основе следующих синтаксических правил</a:t>
            </a:r>
            <a:r>
              <a:rPr lang="ru-RU" dirty="0" smtClean="0"/>
              <a:t>:</a:t>
            </a:r>
          </a:p>
          <a:p>
            <a:r>
              <a:rPr lang="en-US" dirty="0" err="1"/>
              <a:t>column_definition</a:t>
            </a:r>
            <a:r>
              <a:rPr lang="en-US" dirty="0"/>
              <a:t> ::= </a:t>
            </a:r>
            <a:r>
              <a:rPr lang="en-US" dirty="0" err="1"/>
              <a:t>column_name</a:t>
            </a:r>
            <a:r>
              <a:rPr lang="en-US" dirty="0"/>
              <a:t> </a:t>
            </a:r>
          </a:p>
          <a:p>
            <a:r>
              <a:rPr lang="en-US" dirty="0"/>
              <a:t>    { </a:t>
            </a:r>
            <a:r>
              <a:rPr lang="en-US" dirty="0" err="1"/>
              <a:t>data_type</a:t>
            </a:r>
            <a:r>
              <a:rPr lang="en-US" dirty="0"/>
              <a:t> | </a:t>
            </a:r>
            <a:r>
              <a:rPr lang="en-US" dirty="0" err="1"/>
              <a:t>domain_name</a:t>
            </a:r>
            <a:r>
              <a:rPr lang="en-US" dirty="0"/>
              <a:t> }</a:t>
            </a:r>
          </a:p>
          <a:p>
            <a:r>
              <a:rPr lang="en-US" dirty="0"/>
              <a:t>    [ </a:t>
            </a:r>
            <a:r>
              <a:rPr lang="en-US" dirty="0" err="1"/>
              <a:t>default_definition</a:t>
            </a:r>
            <a:r>
              <a:rPr lang="en-US" dirty="0"/>
              <a:t> ]</a:t>
            </a:r>
          </a:p>
          <a:p>
            <a:r>
              <a:rPr lang="en-US" dirty="0"/>
              <a:t>    [ </a:t>
            </a:r>
            <a:r>
              <a:rPr lang="en-US" dirty="0" err="1"/>
              <a:t>column_constraint_definition_list</a:t>
            </a:r>
            <a:r>
              <a:rPr lang="en-US" dirty="0"/>
              <a:t> </a:t>
            </a:r>
            <a:r>
              <a:rPr lang="en-US" dirty="0" smtClean="0"/>
              <a:t>]</a:t>
            </a:r>
            <a:endParaRPr lang="ru-RU" dirty="0" smtClean="0"/>
          </a:p>
          <a:p>
            <a:r>
              <a:rPr lang="ru-RU" dirty="0"/>
              <a:t>В элементе </a:t>
            </a:r>
            <a:r>
              <a:rPr lang="ru-RU" i="1" dirty="0"/>
              <a:t>определения столбца</a:t>
            </a:r>
            <a:r>
              <a:rPr lang="ru-RU" dirty="0"/>
              <a:t>   </a:t>
            </a:r>
            <a:r>
              <a:rPr lang="ru-RU" dirty="0" err="1"/>
              <a:t>column_name</a:t>
            </a:r>
            <a:r>
              <a:rPr lang="ru-RU" dirty="0"/>
              <a:t> задает имя определяемого столбца. Тип столбца специфицируется путем явного указания типа данных ( </a:t>
            </a:r>
            <a:r>
              <a:rPr lang="ru-RU" dirty="0" err="1"/>
              <a:t>data_type</a:t>
            </a:r>
            <a:r>
              <a:rPr lang="ru-RU" dirty="0"/>
              <a:t> ) или путем указания имени ранее определенного домена ( </a:t>
            </a:r>
            <a:r>
              <a:rPr lang="ru-RU" dirty="0" err="1"/>
              <a:t>domain_name</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222</a:t>
            </a:fld>
            <a:endParaRPr lang="ru-RU"/>
          </a:p>
        </p:txBody>
      </p:sp>
    </p:spTree>
    <p:extLst>
      <p:ext uri="{BB962C8B-B14F-4D97-AF65-F5344CB8AC3E}">
        <p14:creationId xmlns:p14="http://schemas.microsoft.com/office/powerpoint/2010/main" xmlns="" val="345626749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Значения столбца по умолчанию</a:t>
            </a:r>
            <a:br>
              <a:rPr lang="ru-RU" b="1" dirty="0"/>
            </a:br>
            <a:endParaRPr lang="ru-RU" dirty="0"/>
          </a:p>
        </p:txBody>
      </p:sp>
      <p:sp>
        <p:nvSpPr>
          <p:cNvPr id="3" name="Объект 2"/>
          <p:cNvSpPr>
            <a:spLocks noGrp="1"/>
          </p:cNvSpPr>
          <p:nvPr>
            <p:ph idx="1"/>
          </p:nvPr>
        </p:nvSpPr>
        <p:spPr>
          <a:xfrm>
            <a:off x="838200" y="1119352"/>
            <a:ext cx="10515600" cy="5057611"/>
          </a:xfrm>
        </p:spPr>
        <p:txBody>
          <a:bodyPr>
            <a:normAutofit fontScale="92500"/>
          </a:bodyPr>
          <a:lstStyle/>
          <a:p>
            <a:r>
              <a:rPr lang="ru-RU" dirty="0"/>
              <a:t>Необязательный раздел определения </a:t>
            </a:r>
            <a:r>
              <a:rPr lang="ru-RU" i="1" dirty="0"/>
              <a:t>значения столбца по умолчанию</a:t>
            </a:r>
            <a:r>
              <a:rPr lang="ru-RU" dirty="0"/>
              <a:t> имеет тот же синтаксис, что и раздел определения </a:t>
            </a:r>
            <a:r>
              <a:rPr lang="ru-RU" i="1" dirty="0"/>
              <a:t>значения по умолчанию</a:t>
            </a:r>
            <a:r>
              <a:rPr lang="ru-RU" dirty="0"/>
              <a:t> в операторах определения или изменения определения </a:t>
            </a:r>
            <a:r>
              <a:rPr lang="ru-RU" dirty="0" err="1" smtClean="0"/>
              <a:t>доменаДействующее</a:t>
            </a:r>
            <a:r>
              <a:rPr lang="ru-RU" dirty="0"/>
              <a:t> </a:t>
            </a:r>
            <a:r>
              <a:rPr lang="ru-RU" i="1" dirty="0"/>
              <a:t>значение по умолчанию</a:t>
            </a:r>
            <a:r>
              <a:rPr lang="ru-RU" dirty="0"/>
              <a:t> для данного столбца определяется следующим образом:</a:t>
            </a:r>
          </a:p>
          <a:p>
            <a:r>
              <a:rPr lang="ru-RU" dirty="0"/>
              <a:t>если в </a:t>
            </a:r>
            <a:r>
              <a:rPr lang="ru-RU" i="1" dirty="0"/>
              <a:t>определении столбца</a:t>
            </a:r>
            <a:r>
              <a:rPr lang="ru-RU" dirty="0"/>
              <a:t> явно присутствует раздел DEFAULT, то </a:t>
            </a:r>
            <a:r>
              <a:rPr lang="ru-RU" i="1" dirty="0"/>
              <a:t>значением столбца по умолчанию</a:t>
            </a:r>
            <a:r>
              <a:rPr lang="ru-RU" dirty="0"/>
              <a:t> является значение, указанное в этом разделе;</a:t>
            </a:r>
          </a:p>
          <a:p>
            <a:r>
              <a:rPr lang="ru-RU" dirty="0"/>
              <a:t>иначе, если столбец определяется на домене и в определении этого домена явно присутствует раздел DEFAULT, то </a:t>
            </a:r>
            <a:r>
              <a:rPr lang="ru-RU" i="1" dirty="0"/>
              <a:t>значением столбца по умолчанию</a:t>
            </a:r>
            <a:r>
              <a:rPr lang="ru-RU" dirty="0"/>
              <a:t> является значение, указанное в этом разделе;</a:t>
            </a:r>
          </a:p>
          <a:p>
            <a:r>
              <a:rPr lang="ru-RU" dirty="0" smtClean="0"/>
              <a:t>иначе </a:t>
            </a:r>
            <a:r>
              <a:rPr lang="ru-RU" i="1" dirty="0" smtClean="0"/>
              <a:t>значением по умолчанию столбца</a:t>
            </a:r>
            <a:r>
              <a:rPr lang="ru-RU" dirty="0" smtClean="0"/>
              <a:t> является NULL.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223</a:t>
            </a:fld>
            <a:endParaRPr lang="ru-RU"/>
          </a:p>
        </p:txBody>
      </p:sp>
    </p:spTree>
    <p:extLst>
      <p:ext uri="{BB962C8B-B14F-4D97-AF65-F5344CB8AC3E}">
        <p14:creationId xmlns:p14="http://schemas.microsoft.com/office/powerpoint/2010/main" xmlns="" val="367021312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Ограничения целостности столбца</a:t>
            </a:r>
            <a:br>
              <a:rPr lang="ru-RU" b="1" dirty="0"/>
            </a:br>
            <a:endParaRPr lang="ru-RU" dirty="0"/>
          </a:p>
        </p:txBody>
      </p:sp>
      <p:sp>
        <p:nvSpPr>
          <p:cNvPr id="3" name="Объект 2"/>
          <p:cNvSpPr>
            <a:spLocks noGrp="1"/>
          </p:cNvSpPr>
          <p:nvPr>
            <p:ph idx="1"/>
          </p:nvPr>
        </p:nvSpPr>
        <p:spPr/>
        <p:txBody>
          <a:bodyPr/>
          <a:lstStyle/>
          <a:p>
            <a:r>
              <a:rPr lang="ru-RU" dirty="0"/>
              <a:t>Элемент необязательного списка </a:t>
            </a:r>
            <a:r>
              <a:rPr lang="ru-RU" i="1" dirty="0"/>
              <a:t>ограничений целостности столбца</a:t>
            </a:r>
            <a:r>
              <a:rPr lang="ru-RU" dirty="0"/>
              <a:t> определяется следующими синтаксическими правилами</a:t>
            </a:r>
            <a:r>
              <a:rPr lang="ru-RU" dirty="0" smtClean="0"/>
              <a:t>:</a:t>
            </a:r>
          </a:p>
          <a:p>
            <a:r>
              <a:rPr lang="en-US" dirty="0" err="1"/>
              <a:t>column_constraint_definition</a:t>
            </a:r>
            <a:r>
              <a:rPr lang="en-US" dirty="0"/>
              <a:t> ::= </a:t>
            </a:r>
          </a:p>
          <a:p>
            <a:r>
              <a:rPr lang="en-US" dirty="0"/>
              <a:t>    [ CONSTRAINT </a:t>
            </a:r>
            <a:r>
              <a:rPr lang="en-US" dirty="0" err="1"/>
              <a:t>constraint_name</a:t>
            </a:r>
            <a:r>
              <a:rPr lang="en-US" dirty="0"/>
              <a:t> ]</a:t>
            </a:r>
          </a:p>
          <a:p>
            <a:r>
              <a:rPr lang="en-US" dirty="0"/>
              <a:t>    NOT NULL</a:t>
            </a:r>
          </a:p>
          <a:p>
            <a:r>
              <a:rPr lang="en-US" dirty="0"/>
              <a:t>    | { PRIMARY KEY | UNIQUE }</a:t>
            </a:r>
          </a:p>
          <a:p>
            <a:r>
              <a:rPr lang="en-US" dirty="0"/>
              <a:t>    | </a:t>
            </a:r>
            <a:r>
              <a:rPr lang="en-US" dirty="0" err="1"/>
              <a:t>references_definition</a:t>
            </a:r>
            <a:endParaRPr lang="en-US" dirty="0"/>
          </a:p>
          <a:p>
            <a:r>
              <a:rPr lang="en-US" dirty="0"/>
              <a:t>    | CHECK ( </a:t>
            </a:r>
            <a:r>
              <a:rPr lang="en-US" dirty="0" err="1"/>
              <a:t>conditional_expression</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224</a:t>
            </a:fld>
            <a:endParaRPr lang="ru-RU"/>
          </a:p>
        </p:txBody>
      </p:sp>
    </p:spTree>
    <p:extLst>
      <p:ext uri="{BB962C8B-B14F-4D97-AF65-F5344CB8AC3E}">
        <p14:creationId xmlns:p14="http://schemas.microsoft.com/office/powerpoint/2010/main" xmlns="" val="313508779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024759"/>
            <a:ext cx="10515600" cy="5152204"/>
          </a:xfrm>
        </p:spPr>
        <p:txBody>
          <a:bodyPr>
            <a:normAutofit/>
          </a:bodyPr>
          <a:lstStyle/>
          <a:p>
            <a:r>
              <a:rPr lang="ru-RU" dirty="0"/>
              <a:t>Ограничение </a:t>
            </a:r>
            <a:r>
              <a:rPr lang="ru-RU" i="1" dirty="0"/>
              <a:t>NOT NULL</a:t>
            </a:r>
            <a:r>
              <a:rPr lang="ru-RU" dirty="0"/>
              <a:t> означает, что в определяемом столбце никогда не должны содержаться неопределенные значения. Если определяемый столбец имеет имя C, то это ограничение эквивалентно следующему табличному ограничению: CHECK (C IS NOT NULL).</a:t>
            </a:r>
          </a:p>
          <a:p>
            <a:r>
              <a:rPr lang="ru-RU" dirty="0"/>
              <a:t>В </a:t>
            </a:r>
            <a:r>
              <a:rPr lang="ru-RU" i="1" dirty="0"/>
              <a:t>определение столбца</a:t>
            </a:r>
            <a:r>
              <a:rPr lang="ru-RU" dirty="0"/>
              <a:t> может входить одно из ограничений уникальности: </a:t>
            </a:r>
            <a:r>
              <a:rPr lang="ru-RU" i="1" dirty="0"/>
              <a:t>ограничение первичного ключа</a:t>
            </a:r>
            <a:r>
              <a:rPr lang="ru-RU" dirty="0"/>
              <a:t> ( </a:t>
            </a:r>
            <a:r>
              <a:rPr lang="ru-RU" i="1" dirty="0"/>
              <a:t>PRIMARY</a:t>
            </a:r>
            <a:r>
              <a:rPr lang="ru-RU" dirty="0"/>
              <a:t> KEY ) </a:t>
            </a:r>
            <a:r>
              <a:rPr lang="ru-RU" dirty="0" smtClean="0"/>
              <a:t>или </a:t>
            </a:r>
            <a:r>
              <a:rPr lang="ru-RU" i="1" dirty="0" smtClean="0"/>
              <a:t>ограничение </a:t>
            </a:r>
            <a:r>
              <a:rPr lang="ru-RU" i="1" dirty="0"/>
              <a:t>возможного ключа</a:t>
            </a:r>
            <a:r>
              <a:rPr lang="ru-RU" dirty="0"/>
              <a:t> ( </a:t>
            </a:r>
            <a:r>
              <a:rPr lang="ru-RU" i="1" dirty="0"/>
              <a:t>UNIQUE</a:t>
            </a:r>
            <a:r>
              <a:rPr lang="ru-RU" dirty="0"/>
              <a:t> ). Включение в </a:t>
            </a:r>
            <a:r>
              <a:rPr lang="ru-RU" i="1" dirty="0"/>
              <a:t>определение столбца</a:t>
            </a:r>
            <a:r>
              <a:rPr lang="ru-RU" dirty="0"/>
              <a:t> любого из этих ограничений означает требование уникальности значений определяемого </a:t>
            </a:r>
            <a:r>
              <a:rPr lang="ru-RU" dirty="0" smtClean="0"/>
              <a:t>столбца</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225</a:t>
            </a:fld>
            <a:endParaRPr lang="ru-RU"/>
          </a:p>
        </p:txBody>
      </p:sp>
    </p:spTree>
    <p:extLst>
      <p:ext uri="{BB962C8B-B14F-4D97-AF65-F5344CB8AC3E}">
        <p14:creationId xmlns:p14="http://schemas.microsoft.com/office/powerpoint/2010/main" xmlns="" val="8638255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88276"/>
            <a:ext cx="10515600" cy="5388687"/>
          </a:xfrm>
        </p:spPr>
        <p:txBody>
          <a:bodyPr/>
          <a:lstStyle/>
          <a:p>
            <a:r>
              <a:rPr lang="ru-RU" dirty="0"/>
              <a:t>Ограничение </a:t>
            </a:r>
            <a:r>
              <a:rPr lang="ru-RU" dirty="0" err="1"/>
              <a:t>references_definition</a:t>
            </a:r>
            <a:r>
              <a:rPr lang="ru-RU" dirty="0"/>
              <a:t> означает объявление определяемого столбца </a:t>
            </a:r>
            <a:r>
              <a:rPr lang="ru-RU" i="1" dirty="0"/>
              <a:t>внешним ключом</a:t>
            </a:r>
            <a:r>
              <a:rPr lang="ru-RU" dirty="0"/>
              <a:t> таблицы и обладает следующим синтаксисом</a:t>
            </a:r>
            <a:r>
              <a:rPr lang="ru-RU" dirty="0" smtClean="0"/>
              <a:t>:</a:t>
            </a:r>
          </a:p>
          <a:p>
            <a:endParaRPr lang="ru-RU" dirty="0"/>
          </a:p>
          <a:p>
            <a:r>
              <a:rPr lang="en-US" dirty="0" err="1"/>
              <a:t>references_definition</a:t>
            </a:r>
            <a:r>
              <a:rPr lang="en-US" dirty="0"/>
              <a:t> ::= </a:t>
            </a:r>
          </a:p>
          <a:p>
            <a:r>
              <a:rPr lang="en-US" dirty="0"/>
              <a:t>    REFERENCES </a:t>
            </a:r>
            <a:r>
              <a:rPr lang="en-US" dirty="0" err="1"/>
              <a:t>base_table_name</a:t>
            </a:r>
            <a:r>
              <a:rPr lang="en-US" dirty="0"/>
              <a:t> [ (</a:t>
            </a:r>
            <a:r>
              <a:rPr lang="en-US" dirty="0" err="1"/>
              <a:t>column_commalist</a:t>
            </a:r>
            <a:r>
              <a:rPr lang="en-US" dirty="0"/>
              <a:t>) ]</a:t>
            </a:r>
          </a:p>
          <a:p>
            <a:r>
              <a:rPr lang="en-US" dirty="0"/>
              <a:t>        [ MATCH { SIMPLE | FULL | PARTIAL } ]</a:t>
            </a:r>
          </a:p>
          <a:p>
            <a:r>
              <a:rPr lang="en-US" dirty="0"/>
              <a:t>        [ ON DELETE </a:t>
            </a:r>
            <a:r>
              <a:rPr lang="en-US" dirty="0" err="1"/>
              <a:t>referential_action</a:t>
            </a:r>
            <a:r>
              <a:rPr lang="en-US" dirty="0"/>
              <a:t> ]</a:t>
            </a:r>
          </a:p>
          <a:p>
            <a:r>
              <a:rPr lang="en-US" dirty="0"/>
              <a:t>        [ ON UPDATE </a:t>
            </a:r>
            <a:r>
              <a:rPr lang="en-US" dirty="0" err="1"/>
              <a:t>referential_action</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226</a:t>
            </a:fld>
            <a:endParaRPr lang="ru-RU"/>
          </a:p>
        </p:txBody>
      </p:sp>
    </p:spTree>
    <p:extLst>
      <p:ext uri="{BB962C8B-B14F-4D97-AF65-F5344CB8AC3E}">
        <p14:creationId xmlns:p14="http://schemas.microsoft.com/office/powerpoint/2010/main" xmlns="" val="38133665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Определение табличного ограничения</a:t>
            </a:r>
            <a:br>
              <a:rPr lang="ru-RU" b="1" dirty="0"/>
            </a:br>
            <a:endParaRPr lang="ru-RU" dirty="0"/>
          </a:p>
        </p:txBody>
      </p:sp>
      <p:sp>
        <p:nvSpPr>
          <p:cNvPr id="3" name="Объект 2"/>
          <p:cNvSpPr>
            <a:spLocks noGrp="1"/>
          </p:cNvSpPr>
          <p:nvPr>
            <p:ph idx="1"/>
          </p:nvPr>
        </p:nvSpPr>
        <p:spPr/>
        <p:txBody>
          <a:bodyPr/>
          <a:lstStyle/>
          <a:p>
            <a:r>
              <a:rPr lang="ru-RU" dirty="0"/>
              <a:t>Элемент </a:t>
            </a:r>
            <a:r>
              <a:rPr lang="ru-RU" i="1" dirty="0"/>
              <a:t>определения табличного ограничения</a:t>
            </a:r>
            <a:r>
              <a:rPr lang="ru-RU" dirty="0"/>
              <a:t> целостности задается в следующем синтаксисе</a:t>
            </a:r>
            <a:r>
              <a:rPr lang="ru-RU" dirty="0" smtClean="0"/>
              <a:t>:</a:t>
            </a:r>
            <a:endParaRPr lang="en-US" dirty="0" smtClean="0"/>
          </a:p>
          <a:p>
            <a:r>
              <a:rPr lang="en-US" dirty="0" err="1"/>
              <a:t>base_table_constraint_definition</a:t>
            </a:r>
            <a:r>
              <a:rPr lang="en-US" dirty="0"/>
              <a:t> ::= </a:t>
            </a:r>
          </a:p>
          <a:p>
            <a:r>
              <a:rPr lang="en-US" dirty="0"/>
              <a:t>    [ CONSTRAINT </a:t>
            </a:r>
            <a:r>
              <a:rPr lang="en-US" dirty="0" err="1"/>
              <a:t>constraint_name</a:t>
            </a:r>
            <a:r>
              <a:rPr lang="en-US" dirty="0"/>
              <a:t> ]</a:t>
            </a:r>
          </a:p>
          <a:p>
            <a:r>
              <a:rPr lang="en-US" dirty="0"/>
              <a:t>    { PRIMARY KEY | UNIQUE } ( </a:t>
            </a:r>
            <a:r>
              <a:rPr lang="en-US" dirty="0" err="1"/>
              <a:t>column_commalist</a:t>
            </a:r>
            <a:r>
              <a:rPr lang="en-US" dirty="0"/>
              <a:t> )</a:t>
            </a:r>
          </a:p>
          <a:p>
            <a:r>
              <a:rPr lang="en-US" dirty="0"/>
              <a:t>    | FOREIGN KEY ( </a:t>
            </a:r>
            <a:r>
              <a:rPr lang="en-US" dirty="0" err="1"/>
              <a:t>column_commalist</a:t>
            </a:r>
            <a:r>
              <a:rPr lang="en-US" dirty="0"/>
              <a:t> ) </a:t>
            </a:r>
          </a:p>
          <a:p>
            <a:r>
              <a:rPr lang="en-US" dirty="0"/>
              <a:t>	    </a:t>
            </a:r>
            <a:r>
              <a:rPr lang="en-US" dirty="0" err="1"/>
              <a:t>references_definition</a:t>
            </a:r>
            <a:endParaRPr lang="en-US" dirty="0"/>
          </a:p>
          <a:p>
            <a:r>
              <a:rPr lang="en-US" dirty="0"/>
              <a:t>    | CHECK ( </a:t>
            </a:r>
            <a:r>
              <a:rPr lang="en-US" dirty="0" err="1"/>
              <a:t>conditional_expression</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227</a:t>
            </a:fld>
            <a:endParaRPr lang="ru-RU"/>
          </a:p>
        </p:txBody>
      </p:sp>
    </p:spTree>
    <p:extLst>
      <p:ext uri="{BB962C8B-B14F-4D97-AF65-F5344CB8AC3E}">
        <p14:creationId xmlns:p14="http://schemas.microsoft.com/office/powerpoint/2010/main" xmlns="" val="3446118249"/>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И</a:t>
            </a:r>
            <a:r>
              <a:rPr lang="ru-RU" dirty="0" smtClean="0"/>
              <a:t>меется </a:t>
            </a:r>
            <a:r>
              <a:rPr lang="ru-RU" dirty="0"/>
              <a:t>три разновидности табличных ограничений: </a:t>
            </a:r>
            <a:r>
              <a:rPr lang="ru-RU" i="1" dirty="0"/>
              <a:t>ограничение первичного</a:t>
            </a:r>
            <a:r>
              <a:rPr lang="ru-RU" dirty="0"/>
              <a:t> или </a:t>
            </a:r>
            <a:r>
              <a:rPr lang="ru-RU" i="1" dirty="0"/>
              <a:t>возможного ключа</a:t>
            </a:r>
            <a:r>
              <a:rPr lang="ru-RU" dirty="0"/>
              <a:t> ( </a:t>
            </a:r>
            <a:r>
              <a:rPr lang="ru-RU" i="1" dirty="0"/>
              <a:t>PRIMARY</a:t>
            </a:r>
            <a:r>
              <a:rPr lang="ru-RU" dirty="0"/>
              <a:t> </a:t>
            </a:r>
            <a:r>
              <a:rPr lang="ru-RU" dirty="0" smtClean="0"/>
              <a:t>KEY или</a:t>
            </a:r>
            <a:r>
              <a:rPr lang="ru-RU" dirty="0"/>
              <a:t> </a:t>
            </a:r>
            <a:r>
              <a:rPr lang="ru-RU" i="1" dirty="0"/>
              <a:t>UNIQUE</a:t>
            </a:r>
            <a:r>
              <a:rPr lang="ru-RU" dirty="0"/>
              <a:t> ), </a:t>
            </a:r>
            <a:r>
              <a:rPr lang="ru-RU" i="1" dirty="0"/>
              <a:t>ограничение внешнего ключа</a:t>
            </a:r>
            <a:r>
              <a:rPr lang="ru-RU" dirty="0"/>
              <a:t> ( </a:t>
            </a:r>
            <a:r>
              <a:rPr lang="ru-RU" i="1" dirty="0"/>
              <a:t>FOREIGN</a:t>
            </a:r>
            <a:r>
              <a:rPr lang="ru-RU" dirty="0"/>
              <a:t> KEY ) и </a:t>
            </a:r>
            <a:r>
              <a:rPr lang="ru-RU" i="1" dirty="0"/>
              <a:t>проверочное ограничение</a:t>
            </a:r>
            <a:r>
              <a:rPr lang="ru-RU" dirty="0"/>
              <a:t> ( CHECK ). Любому ограничению может явным образом назначаться имя, если перед определением ограничения поместить конструкцию </a:t>
            </a:r>
            <a:r>
              <a:rPr lang="ru-RU" i="1" dirty="0"/>
              <a:t>CONSTRAINT</a:t>
            </a:r>
            <a:r>
              <a:rPr lang="ru-RU" dirty="0"/>
              <a:t> </a:t>
            </a:r>
            <a:r>
              <a:rPr lang="ru-RU" dirty="0" err="1"/>
              <a:t>constraint_name</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228</a:t>
            </a:fld>
            <a:endParaRPr lang="ru-RU"/>
          </a:p>
        </p:txBody>
      </p:sp>
    </p:spTree>
    <p:extLst>
      <p:ext uri="{BB962C8B-B14F-4D97-AF65-F5344CB8AC3E}">
        <p14:creationId xmlns:p14="http://schemas.microsoft.com/office/powerpoint/2010/main" xmlns="" val="51002657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 </a:t>
            </a:r>
            <a:r>
              <a:rPr lang="ru-RU" b="1" dirty="0"/>
              <a:t>Табличное ограничение первичного или возможного ключа</a:t>
            </a:r>
            <a:br>
              <a:rPr lang="ru-RU" b="1" dirty="0"/>
            </a:br>
            <a:endParaRPr lang="ru-RU" dirty="0"/>
          </a:p>
        </p:txBody>
      </p:sp>
      <p:sp>
        <p:nvSpPr>
          <p:cNvPr id="3" name="Объект 2"/>
          <p:cNvSpPr>
            <a:spLocks noGrp="1"/>
          </p:cNvSpPr>
          <p:nvPr>
            <p:ph idx="1"/>
          </p:nvPr>
        </p:nvSpPr>
        <p:spPr>
          <a:xfrm>
            <a:off x="838200" y="1355834"/>
            <a:ext cx="10515600" cy="4821129"/>
          </a:xfrm>
        </p:spPr>
        <p:txBody>
          <a:bodyPr>
            <a:normAutofit fontScale="92500" lnSpcReduction="10000"/>
          </a:bodyPr>
          <a:lstStyle/>
          <a:p>
            <a:r>
              <a:rPr lang="ru-RU" b="1" i="1" dirty="0"/>
              <a:t>Табличное ограничение первичного или возможного ключа</a:t>
            </a:r>
            <a:r>
              <a:rPr lang="ru-RU" dirty="0"/>
              <a:t>   { PRIMARY_KEY | </a:t>
            </a:r>
            <a:r>
              <a:rPr lang="ru-RU" i="1" dirty="0"/>
              <a:t>UNIQUE</a:t>
            </a:r>
            <a:r>
              <a:rPr lang="ru-RU" dirty="0"/>
              <a:t> } (</a:t>
            </a:r>
            <a:r>
              <a:rPr lang="ru-RU" dirty="0" err="1"/>
              <a:t>column_commalist</a:t>
            </a:r>
            <a:r>
              <a:rPr lang="ru-RU" dirty="0"/>
              <a:t>)означает требование уникальности составных значений указанной группы столбцов (т. е. во все время существования определяемой таблицы во всех ее строках составные значения данной группы столбцов должны быть различны  ). Ограничение </a:t>
            </a:r>
            <a:r>
              <a:rPr lang="ru-RU" i="1" dirty="0"/>
              <a:t>PRIMARY</a:t>
            </a:r>
            <a:r>
              <a:rPr lang="ru-RU" dirty="0"/>
              <a:t> KEY, в дополнение к этому, влечет ограничение </a:t>
            </a:r>
            <a:r>
              <a:rPr lang="ru-RU" i="1" dirty="0"/>
              <a:t>NOT NULL</a:t>
            </a:r>
            <a:r>
              <a:rPr lang="ru-RU" dirty="0"/>
              <a:t> для всех столбцов, упоминаемых в определении ограничения. В определении таблицы допускается произвольное число определений </a:t>
            </a:r>
            <a:r>
              <a:rPr lang="ru-RU" i="1" dirty="0"/>
              <a:t>возможного ключа</a:t>
            </a:r>
            <a:r>
              <a:rPr lang="ru-RU" dirty="0"/>
              <a:t> (для разных комбинаций столбцов), но не более одного определения </a:t>
            </a:r>
            <a:r>
              <a:rPr lang="ru-RU" i="1" dirty="0"/>
              <a:t>первичного ключа</a:t>
            </a:r>
            <a:r>
              <a:rPr lang="ru-RU" dirty="0"/>
              <a:t>. </a:t>
            </a:r>
            <a:r>
              <a:rPr lang="ru-RU" dirty="0" smtClean="0"/>
              <a:t> </a:t>
            </a:r>
            <a:r>
              <a:rPr lang="ru-RU" dirty="0"/>
              <a:t>В</a:t>
            </a:r>
            <a:r>
              <a:rPr lang="ru-RU" dirty="0" smtClean="0"/>
              <a:t> </a:t>
            </a:r>
            <a:r>
              <a:rPr lang="ru-RU" dirty="0"/>
              <a:t>языке SQL действительно допускается определение таблиц, у которых отсутствуют возможные ключи. Эта особенность языка, среди прочего, очевидным образом противоречит базовым требованиям </a:t>
            </a:r>
            <a:r>
              <a:rPr lang="ru-RU" i="1" dirty="0"/>
              <a:t>реляционной модели данных</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229</a:t>
            </a:fld>
            <a:endParaRPr lang="ru-RU"/>
          </a:p>
        </p:txBody>
      </p:sp>
    </p:spTree>
    <p:extLst>
      <p:ext uri="{BB962C8B-B14F-4D97-AF65-F5344CB8AC3E}">
        <p14:creationId xmlns:p14="http://schemas.microsoft.com/office/powerpoint/2010/main" xmlns="" val="383837089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Проверочное табличное ограничение</a:t>
            </a:r>
            <a:br>
              <a:rPr lang="ru-RU" b="1" dirty="0"/>
            </a:br>
            <a:endParaRPr lang="ru-RU" dirty="0"/>
          </a:p>
        </p:txBody>
      </p:sp>
      <p:sp>
        <p:nvSpPr>
          <p:cNvPr id="3" name="Объект 2"/>
          <p:cNvSpPr>
            <a:spLocks noGrp="1"/>
          </p:cNvSpPr>
          <p:nvPr>
            <p:ph idx="1"/>
          </p:nvPr>
        </p:nvSpPr>
        <p:spPr/>
        <p:txBody>
          <a:bodyPr>
            <a:normAutofit/>
          </a:bodyPr>
          <a:lstStyle/>
          <a:p>
            <a:r>
              <a:rPr lang="ru-RU" i="1" dirty="0"/>
              <a:t>Определение табличного ограничения</a:t>
            </a:r>
            <a:r>
              <a:rPr lang="ru-RU" dirty="0"/>
              <a:t> вида CHECK (</a:t>
            </a:r>
            <a:r>
              <a:rPr lang="ru-RU" dirty="0" err="1"/>
              <a:t>conditional_expression</a:t>
            </a:r>
            <a:r>
              <a:rPr lang="ru-RU" dirty="0"/>
              <a:t>) приводит к тому, что указанное </a:t>
            </a:r>
            <a:r>
              <a:rPr lang="ru-RU" i="1" dirty="0"/>
              <a:t>условное выражение</a:t>
            </a:r>
            <a:r>
              <a:rPr lang="ru-RU" dirty="0"/>
              <a:t> будет вычисляться при каждой попытке обновления соответствующей таблицы </a:t>
            </a:r>
            <a:r>
              <a:rPr lang="ru-RU" dirty="0" smtClean="0"/>
              <a:t>. </a:t>
            </a:r>
            <a:r>
              <a:rPr lang="ru-RU" dirty="0"/>
              <a:t>Считается, что попытка обновления таблицы нарушает </a:t>
            </a:r>
            <a:r>
              <a:rPr lang="ru-RU" i="1" dirty="0"/>
              <a:t>проверочное ограничение</a:t>
            </a:r>
            <a:r>
              <a:rPr lang="ru-RU" dirty="0"/>
              <a:t> целостности, если после выполнения операции обновления вычисление </a:t>
            </a:r>
            <a:r>
              <a:rPr lang="ru-RU" i="1" dirty="0"/>
              <a:t>условного выражения</a:t>
            </a:r>
            <a:r>
              <a:rPr lang="ru-RU" dirty="0"/>
              <a:t> дает результат </a:t>
            </a:r>
            <a:r>
              <a:rPr lang="ru-RU" dirty="0" err="1"/>
              <a:t>false</a:t>
            </a:r>
            <a:r>
              <a:rPr lang="ru-RU" dirty="0"/>
              <a:t>. Другими словами, таблица находится в соответствии с данным </a:t>
            </a:r>
            <a:r>
              <a:rPr lang="ru-RU" i="1" dirty="0"/>
              <a:t>проверочным табличным ограничением</a:t>
            </a:r>
            <a:r>
              <a:rPr lang="ru-RU" dirty="0"/>
              <a:t>, если для всех строк таблицы результатом вычисления соответствующего </a:t>
            </a:r>
            <a:r>
              <a:rPr lang="ru-RU" i="1" dirty="0"/>
              <a:t>условного выражения</a:t>
            </a:r>
            <a:r>
              <a:rPr lang="ru-RU" dirty="0"/>
              <a:t> не является </a:t>
            </a:r>
            <a:r>
              <a:rPr lang="ru-RU" dirty="0" err="1"/>
              <a:t>false</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230</a:t>
            </a:fld>
            <a:endParaRPr lang="ru-RU"/>
          </a:p>
        </p:txBody>
      </p:sp>
    </p:spTree>
    <p:extLst>
      <p:ext uri="{BB962C8B-B14F-4D97-AF65-F5344CB8AC3E}">
        <p14:creationId xmlns:p14="http://schemas.microsoft.com/office/powerpoint/2010/main" xmlns="" val="85659797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Табличное ограничение внешнего ключа</a:t>
            </a:r>
            <a:br>
              <a:rPr lang="ru-RU" b="1" dirty="0"/>
            </a:br>
            <a:endParaRPr lang="ru-RU" dirty="0"/>
          </a:p>
        </p:txBody>
      </p:sp>
      <p:sp>
        <p:nvSpPr>
          <p:cNvPr id="3" name="Объект 2"/>
          <p:cNvSpPr>
            <a:spLocks noGrp="1"/>
          </p:cNvSpPr>
          <p:nvPr>
            <p:ph idx="1"/>
          </p:nvPr>
        </p:nvSpPr>
        <p:spPr/>
        <p:txBody>
          <a:bodyPr/>
          <a:lstStyle/>
          <a:p>
            <a:r>
              <a:rPr lang="ru-RU" dirty="0"/>
              <a:t>Табличное ограничение </a:t>
            </a:r>
            <a:r>
              <a:rPr lang="ru-RU" i="1" dirty="0"/>
              <a:t>FOREIGN</a:t>
            </a:r>
            <a:r>
              <a:rPr lang="ru-RU" dirty="0"/>
              <a:t> KEY (</a:t>
            </a:r>
            <a:r>
              <a:rPr lang="ru-RU" dirty="0" err="1"/>
              <a:t>column_commalist</a:t>
            </a:r>
            <a:r>
              <a:rPr lang="ru-RU" dirty="0"/>
              <a:t>) </a:t>
            </a:r>
            <a:r>
              <a:rPr lang="ru-RU" dirty="0" err="1"/>
              <a:t>references_definition</a:t>
            </a:r>
            <a:r>
              <a:rPr lang="ru-RU" dirty="0"/>
              <a:t> означает объявление </a:t>
            </a:r>
            <a:r>
              <a:rPr lang="ru-RU" i="1" dirty="0"/>
              <a:t>внешним </a:t>
            </a:r>
            <a:r>
              <a:rPr lang="ru-RU" i="1" dirty="0" smtClean="0"/>
              <a:t>ключом </a:t>
            </a:r>
            <a:r>
              <a:rPr lang="ru-RU" dirty="0" smtClean="0"/>
              <a:t>группы </a:t>
            </a:r>
            <a:r>
              <a:rPr lang="ru-RU" dirty="0"/>
              <a:t>столбцов, имена которых перечислены в списке </a:t>
            </a:r>
            <a:r>
              <a:rPr lang="ru-RU" dirty="0" err="1"/>
              <a:t>column_commalist</a:t>
            </a:r>
            <a:r>
              <a:rPr lang="ru-RU" dirty="0"/>
              <a:t>. </a:t>
            </a:r>
            <a:endParaRPr lang="ru-RU" dirty="0" smtClean="0"/>
          </a:p>
          <a:p>
            <a:r>
              <a:rPr lang="en-US" dirty="0" err="1"/>
              <a:t>references_definition</a:t>
            </a:r>
            <a:r>
              <a:rPr lang="en-US" dirty="0"/>
              <a:t> ::= </a:t>
            </a:r>
          </a:p>
          <a:p>
            <a:r>
              <a:rPr lang="en-US" dirty="0"/>
              <a:t>    REFERENCES </a:t>
            </a:r>
            <a:r>
              <a:rPr lang="en-US" dirty="0" err="1"/>
              <a:t>base_table_name</a:t>
            </a:r>
            <a:r>
              <a:rPr lang="en-US" dirty="0"/>
              <a:t> [ (</a:t>
            </a:r>
            <a:r>
              <a:rPr lang="en-US" dirty="0" err="1"/>
              <a:t>column_commalist</a:t>
            </a:r>
            <a:r>
              <a:rPr lang="en-US" dirty="0"/>
              <a:t>) ]</a:t>
            </a:r>
          </a:p>
          <a:p>
            <a:r>
              <a:rPr lang="en-US" dirty="0"/>
              <a:t>        [ MATCH { SIMPLE | FULL | PARTIAL } ]</a:t>
            </a:r>
          </a:p>
          <a:p>
            <a:r>
              <a:rPr lang="en-US" dirty="0"/>
              <a:t>        [ ON DELETE </a:t>
            </a:r>
            <a:r>
              <a:rPr lang="en-US" dirty="0" err="1"/>
              <a:t>referential_action</a:t>
            </a:r>
            <a:r>
              <a:rPr lang="en-US" dirty="0"/>
              <a:t> ]</a:t>
            </a:r>
          </a:p>
          <a:p>
            <a:r>
              <a:rPr lang="en-US" dirty="0"/>
              <a:t>        [ ON UPDATE </a:t>
            </a:r>
            <a:r>
              <a:rPr lang="en-US" dirty="0" err="1"/>
              <a:t>referential_action</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231</a:t>
            </a:fld>
            <a:endParaRPr lang="ru-RU"/>
          </a:p>
        </p:txBody>
      </p:sp>
    </p:spTree>
    <p:extLst>
      <p:ext uri="{BB962C8B-B14F-4D97-AF65-F5344CB8AC3E}">
        <p14:creationId xmlns:p14="http://schemas.microsoft.com/office/powerpoint/2010/main" xmlns="" val="232408817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596572"/>
          </a:xfrm>
        </p:spPr>
        <p:txBody>
          <a:bodyPr>
            <a:normAutofit fontScale="90000"/>
          </a:bodyPr>
          <a:lstStyle/>
          <a:p>
            <a:r>
              <a:rPr lang="ru-RU" dirty="0" smtClean="0"/>
              <a:t> </a:t>
            </a:r>
            <a:endParaRPr lang="ru-RU" dirty="0"/>
          </a:p>
        </p:txBody>
      </p:sp>
      <p:sp>
        <p:nvSpPr>
          <p:cNvPr id="3" name="Объект 2"/>
          <p:cNvSpPr>
            <a:spLocks noGrp="1"/>
          </p:cNvSpPr>
          <p:nvPr>
            <p:ph idx="1"/>
          </p:nvPr>
        </p:nvSpPr>
        <p:spPr>
          <a:xfrm>
            <a:off x="838200" y="709448"/>
            <a:ext cx="10515600" cy="5467515"/>
          </a:xfrm>
        </p:spPr>
        <p:txBody>
          <a:bodyPr/>
          <a:lstStyle/>
          <a:p>
            <a:r>
              <a:rPr lang="ru-RU" dirty="0"/>
              <a:t>В этом определении </a:t>
            </a:r>
            <a:r>
              <a:rPr lang="ru-RU" dirty="0" err="1"/>
              <a:t>base_table_name</a:t>
            </a:r>
            <a:r>
              <a:rPr lang="ru-RU" dirty="0"/>
              <a:t> должно представлять собой имя некоторой </a:t>
            </a:r>
            <a:r>
              <a:rPr lang="ru-RU" i="1" dirty="0"/>
              <a:t>базовой таблицы</a:t>
            </a:r>
            <a:r>
              <a:rPr lang="ru-RU" dirty="0"/>
              <a:t> (пусть, например, эта таблица имеет имя T ). Если определение ссылок включает список столбцов ( </a:t>
            </a:r>
            <a:r>
              <a:rPr lang="ru-RU" dirty="0" err="1"/>
              <a:t>column_commalist</a:t>
            </a:r>
            <a:r>
              <a:rPr lang="ru-RU" dirty="0"/>
              <a:t> ), то этот список должен совпадать (с точностью до порядка следования имен столбцов) со списком имен столбцов, использованных в некотором определении первичного </a:t>
            </a:r>
            <a:r>
              <a:rPr lang="ru-RU" dirty="0" smtClean="0"/>
              <a:t>или </a:t>
            </a:r>
            <a:r>
              <a:rPr lang="ru-RU" i="1" dirty="0" smtClean="0"/>
              <a:t>возможного </a:t>
            </a:r>
            <a:r>
              <a:rPr lang="ru-RU" i="1" dirty="0"/>
              <a:t>ключа</a:t>
            </a:r>
            <a:r>
              <a:rPr lang="ru-RU" dirty="0"/>
              <a:t> ( PRIMARY_KEY или </a:t>
            </a:r>
            <a:r>
              <a:rPr lang="ru-RU" i="1" dirty="0"/>
              <a:t>UNIQUE</a:t>
            </a:r>
            <a:r>
              <a:rPr lang="ru-RU" dirty="0"/>
              <a:t> ) в определении таблицы T. Если в определении ссылок список столбцов явно не задан, то считается, что он совпадает со списком столбцов, использованных в определении </a:t>
            </a:r>
            <a:r>
              <a:rPr lang="ru-RU" i="1" dirty="0"/>
              <a:t>первичного ключа</a:t>
            </a:r>
            <a:r>
              <a:rPr lang="ru-RU" dirty="0"/>
              <a:t> ( PRIMARY_KEY ) таблицы 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232</a:t>
            </a:fld>
            <a:endParaRPr lang="ru-RU"/>
          </a:p>
        </p:txBody>
      </p:sp>
    </p:spTree>
    <p:extLst>
      <p:ext uri="{BB962C8B-B14F-4D97-AF65-F5344CB8AC3E}">
        <p14:creationId xmlns:p14="http://schemas.microsoft.com/office/powerpoint/2010/main" xmlns="" val="353949430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67103"/>
            <a:ext cx="10515600" cy="5309860"/>
          </a:xfrm>
        </p:spPr>
        <p:txBody>
          <a:bodyPr>
            <a:normAutofit fontScale="92500" lnSpcReduction="10000"/>
          </a:bodyPr>
          <a:lstStyle/>
          <a:p>
            <a:r>
              <a:rPr lang="ru-RU" dirty="0"/>
              <a:t>Разновидности способов сопоставления значений внешнего и возможного </a:t>
            </a:r>
            <a:r>
              <a:rPr lang="ru-RU" dirty="0" smtClean="0"/>
              <a:t>ключей</a:t>
            </a:r>
          </a:p>
          <a:p>
            <a:r>
              <a:rPr lang="ru-RU" dirty="0"/>
              <a:t>Пусть определяемая таблица имеет имя S. Обсудим смысл необязательного раздела определения </a:t>
            </a:r>
            <a:r>
              <a:rPr lang="ru-RU" i="1" dirty="0"/>
              <a:t>внешнего ключа</a:t>
            </a:r>
            <a:r>
              <a:rPr lang="ru-RU" dirty="0"/>
              <a:t> </a:t>
            </a:r>
            <a:r>
              <a:rPr lang="ru-RU" i="1" dirty="0"/>
              <a:t>MATCH</a:t>
            </a:r>
            <a:r>
              <a:rPr lang="ru-RU" dirty="0"/>
              <a:t> { SIMPLE | FULL | PARTIAL }. Если этот раздел отсутствует или если присутствует и имеет вид </a:t>
            </a:r>
            <a:r>
              <a:rPr lang="ru-RU" i="1" dirty="0"/>
              <a:t>MATCH</a:t>
            </a:r>
            <a:r>
              <a:rPr lang="ru-RU" dirty="0"/>
              <a:t> SIMPLE, то </a:t>
            </a:r>
            <a:r>
              <a:rPr lang="ru-RU" i="1" dirty="0"/>
              <a:t>ограничение внешнего ключа</a:t>
            </a:r>
            <a:r>
              <a:rPr lang="ru-RU" dirty="0"/>
              <a:t> (ссылочное ограничение) удовлетворяется в том и только в том случае, когда для каждой строки таблицы S выполняется одно из следующих условий:</a:t>
            </a:r>
          </a:p>
          <a:p>
            <a:r>
              <a:rPr lang="ru-RU" dirty="0"/>
              <a:t>(a) какой-либо столбец, входящий в состав </a:t>
            </a:r>
            <a:r>
              <a:rPr lang="ru-RU" i="1" dirty="0"/>
              <a:t>внешнего ключа</a:t>
            </a:r>
            <a:r>
              <a:rPr lang="ru-RU" dirty="0"/>
              <a:t>, содержит NULL ;</a:t>
            </a:r>
          </a:p>
          <a:p>
            <a:r>
              <a:rPr lang="ru-RU" dirty="0"/>
              <a:t>(b) таблица T содержит в точности одну строку, такую, что значение </a:t>
            </a:r>
            <a:r>
              <a:rPr lang="ru-RU" i="1" dirty="0"/>
              <a:t>внешнего ключа</a:t>
            </a:r>
            <a:r>
              <a:rPr lang="ru-RU" dirty="0"/>
              <a:t> в данной строке таблицы S совпадает со значением соответствующего </a:t>
            </a:r>
            <a:r>
              <a:rPr lang="ru-RU" i="1" dirty="0"/>
              <a:t>возможного ключа</a:t>
            </a:r>
            <a:r>
              <a:rPr lang="ru-RU" dirty="0"/>
              <a:t> в этой строке таблицы 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233</a:t>
            </a:fld>
            <a:endParaRPr lang="ru-RU"/>
          </a:p>
        </p:txBody>
      </p:sp>
    </p:spTree>
    <p:extLst>
      <p:ext uri="{BB962C8B-B14F-4D97-AF65-F5344CB8AC3E}">
        <p14:creationId xmlns:p14="http://schemas.microsoft.com/office/powerpoint/2010/main" xmlns="" val="321928316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88276"/>
            <a:ext cx="10515600" cy="5388687"/>
          </a:xfrm>
        </p:spPr>
        <p:txBody>
          <a:bodyPr>
            <a:normAutofit/>
          </a:bodyPr>
          <a:lstStyle/>
          <a:p>
            <a:r>
              <a:rPr lang="ru-RU" dirty="0"/>
              <a:t>Если раздел </a:t>
            </a:r>
            <a:r>
              <a:rPr lang="ru-RU" i="1" dirty="0"/>
              <a:t>MATCH</a:t>
            </a:r>
            <a:r>
              <a:rPr lang="ru-RU" dirty="0"/>
              <a:t> присутствует в определении </a:t>
            </a:r>
            <a:r>
              <a:rPr lang="ru-RU" i="1" dirty="0"/>
              <a:t>внешнего ключа</a:t>
            </a:r>
            <a:r>
              <a:rPr lang="ru-RU" dirty="0"/>
              <a:t> и имеет вид </a:t>
            </a:r>
            <a:r>
              <a:rPr lang="ru-RU" i="1" dirty="0"/>
              <a:t>MATCH</a:t>
            </a:r>
            <a:r>
              <a:rPr lang="ru-RU" dirty="0"/>
              <a:t> PARTIAL, то </a:t>
            </a:r>
            <a:r>
              <a:rPr lang="ru-RU" i="1" dirty="0"/>
              <a:t>ограничение внешнего </a:t>
            </a:r>
            <a:r>
              <a:rPr lang="ru-RU" i="1" dirty="0" smtClean="0"/>
              <a:t>ключа </a:t>
            </a:r>
            <a:r>
              <a:rPr lang="ru-RU" dirty="0" smtClean="0"/>
              <a:t>удовлетворяется </a:t>
            </a:r>
            <a:r>
              <a:rPr lang="ru-RU" dirty="0"/>
              <a:t>в том и только в том случае, когда для каждой строки таблицы S выполняется одно из следующих условий:</a:t>
            </a:r>
          </a:p>
          <a:p>
            <a:r>
              <a:rPr lang="ru-RU" dirty="0"/>
              <a:t>(a) каждый столбец, входящий в состав </a:t>
            </a:r>
            <a:r>
              <a:rPr lang="ru-RU" i="1" dirty="0"/>
              <a:t>внешнего ключа</a:t>
            </a:r>
            <a:r>
              <a:rPr lang="ru-RU" dirty="0"/>
              <a:t>, содержит NULL ;</a:t>
            </a:r>
          </a:p>
          <a:p>
            <a:r>
              <a:rPr lang="ru-RU" dirty="0"/>
              <a:t>(b) таблица T содержит по крайней мере одну такую строку, что для каждого столбца данной строки таблицы S, значение которого отлично от NULL, его значение совпадает со значением соответствующего столбца </a:t>
            </a:r>
            <a:r>
              <a:rPr lang="ru-RU" i="1" dirty="0"/>
              <a:t>возможного ключа</a:t>
            </a:r>
            <a:r>
              <a:rPr lang="ru-RU" dirty="0"/>
              <a:t> в этой строке таблицы 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234</a:t>
            </a:fld>
            <a:endParaRPr lang="ru-RU"/>
          </a:p>
        </p:txBody>
      </p:sp>
    </p:spTree>
    <p:extLst>
      <p:ext uri="{BB962C8B-B14F-4D97-AF65-F5344CB8AC3E}">
        <p14:creationId xmlns:p14="http://schemas.microsoft.com/office/powerpoint/2010/main" xmlns="" val="133833422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40979"/>
            <a:ext cx="10515600" cy="5435984"/>
          </a:xfrm>
        </p:spPr>
        <p:txBody>
          <a:bodyPr>
            <a:normAutofit/>
          </a:bodyPr>
          <a:lstStyle/>
          <a:p>
            <a:r>
              <a:rPr lang="ru-RU" dirty="0"/>
              <a:t>Если раздел </a:t>
            </a:r>
            <a:r>
              <a:rPr lang="ru-RU" i="1" dirty="0"/>
              <a:t>MATCH</a:t>
            </a:r>
            <a:r>
              <a:rPr lang="ru-RU" dirty="0"/>
              <a:t> имеет вид </a:t>
            </a:r>
            <a:r>
              <a:rPr lang="ru-RU" i="1" dirty="0"/>
              <a:t>MATCH</a:t>
            </a:r>
            <a:r>
              <a:rPr lang="ru-RU" dirty="0"/>
              <a:t> FULL, то </a:t>
            </a:r>
            <a:r>
              <a:rPr lang="ru-RU" i="1" dirty="0"/>
              <a:t>ограничение внешнего ключа</a:t>
            </a:r>
            <a:r>
              <a:rPr lang="ru-RU" dirty="0"/>
              <a:t> удовлетворяется в том и только в том случае, когда для каждой строки таблицы S выполняется одно из следующих условий:</a:t>
            </a:r>
          </a:p>
          <a:p>
            <a:r>
              <a:rPr lang="ru-RU" dirty="0"/>
              <a:t>(a) </a:t>
            </a:r>
            <a:r>
              <a:rPr lang="ru-RU" i="1" dirty="0"/>
              <a:t>каждый столбец</a:t>
            </a:r>
            <a:r>
              <a:rPr lang="ru-RU" dirty="0"/>
              <a:t>, входящий в состав </a:t>
            </a:r>
            <a:r>
              <a:rPr lang="ru-RU" i="1" dirty="0"/>
              <a:t>внешнего ключа</a:t>
            </a:r>
            <a:r>
              <a:rPr lang="ru-RU" dirty="0"/>
              <a:t>, содержит NULL ;</a:t>
            </a:r>
          </a:p>
          <a:p>
            <a:r>
              <a:rPr lang="ru-RU" dirty="0"/>
              <a:t>(b) ни один столбец, входящий в состав </a:t>
            </a:r>
            <a:r>
              <a:rPr lang="ru-RU" i="1" dirty="0"/>
              <a:t>внешнего ключа</a:t>
            </a:r>
            <a:r>
              <a:rPr lang="ru-RU" dirty="0"/>
              <a:t>, не содержит NULL, и таблица T содержит в точности одну строку, такую, что значение </a:t>
            </a:r>
            <a:r>
              <a:rPr lang="ru-RU" i="1" dirty="0"/>
              <a:t>внешнего ключа</a:t>
            </a:r>
            <a:r>
              <a:rPr lang="ru-RU" dirty="0"/>
              <a:t> в данной строке таблицы S совпадает со значением соответствующего </a:t>
            </a:r>
            <a:r>
              <a:rPr lang="ru-RU" i="1" dirty="0"/>
              <a:t>возможного ключа</a:t>
            </a:r>
            <a:r>
              <a:rPr lang="ru-RU" dirty="0"/>
              <a:t> в этой строке таблицы 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235</a:t>
            </a:fld>
            <a:endParaRPr lang="ru-RU"/>
          </a:p>
        </p:txBody>
      </p:sp>
    </p:spTree>
    <p:extLst>
      <p:ext uri="{BB962C8B-B14F-4D97-AF65-F5344CB8AC3E}">
        <p14:creationId xmlns:p14="http://schemas.microsoft.com/office/powerpoint/2010/main" xmlns="" val="149142887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008993"/>
            <a:ext cx="10515600" cy="5167970"/>
          </a:xfrm>
        </p:spPr>
        <p:txBody>
          <a:bodyPr/>
          <a:lstStyle/>
          <a:p>
            <a:r>
              <a:rPr lang="ru-RU" dirty="0"/>
              <a:t>Очевидно, что только при наличии спецификации </a:t>
            </a:r>
            <a:r>
              <a:rPr lang="ru-RU" i="1" dirty="0"/>
              <a:t>MATCH</a:t>
            </a:r>
            <a:r>
              <a:rPr lang="ru-RU" dirty="0"/>
              <a:t> FULL ссылочное ограничение соответствует требованиям реляционной модели. Тем не менее в определении </a:t>
            </a:r>
            <a:r>
              <a:rPr lang="ru-RU" i="1" dirty="0"/>
              <a:t>ограничения внешнего ключа</a:t>
            </a:r>
            <a:r>
              <a:rPr lang="ru-RU" dirty="0"/>
              <a:t>   </a:t>
            </a:r>
            <a:r>
              <a:rPr lang="ru-RU" i="1" dirty="0"/>
              <a:t>базовых таблиц</a:t>
            </a:r>
            <a:r>
              <a:rPr lang="ru-RU" dirty="0"/>
              <a:t> в SQL по умолчанию предполагается наличие спецификации </a:t>
            </a:r>
            <a:r>
              <a:rPr lang="ru-RU" i="1" dirty="0"/>
              <a:t>MATCH</a:t>
            </a:r>
            <a:r>
              <a:rPr lang="ru-RU" dirty="0"/>
              <a:t> SIMPLE</a:t>
            </a:r>
          </a:p>
        </p:txBody>
      </p:sp>
      <p:sp>
        <p:nvSpPr>
          <p:cNvPr id="4" name="Номер слайда 3"/>
          <p:cNvSpPr>
            <a:spLocks noGrp="1"/>
          </p:cNvSpPr>
          <p:nvPr>
            <p:ph type="sldNum" sz="quarter" idx="12"/>
          </p:nvPr>
        </p:nvSpPr>
        <p:spPr/>
        <p:txBody>
          <a:bodyPr/>
          <a:lstStyle/>
          <a:p>
            <a:fld id="{590C5F67-5E4C-4ABB-99F4-36BCAC8BE885}" type="slidenum">
              <a:rPr lang="ru-RU" smtClean="0"/>
              <a:pPr/>
              <a:t>236</a:t>
            </a:fld>
            <a:endParaRPr lang="ru-RU"/>
          </a:p>
        </p:txBody>
      </p:sp>
    </p:spTree>
    <p:extLst>
      <p:ext uri="{BB962C8B-B14F-4D97-AF65-F5344CB8AC3E}">
        <p14:creationId xmlns:p14="http://schemas.microsoft.com/office/powerpoint/2010/main" xmlns="" val="50911619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Поддержка ссылочной целостности и ссылочные действия</a:t>
            </a:r>
          </a:p>
        </p:txBody>
      </p:sp>
      <p:sp>
        <p:nvSpPr>
          <p:cNvPr id="3" name="Объект 2"/>
          <p:cNvSpPr>
            <a:spLocks noGrp="1"/>
          </p:cNvSpPr>
          <p:nvPr>
            <p:ph idx="1"/>
          </p:nvPr>
        </p:nvSpPr>
        <p:spPr/>
        <p:txBody>
          <a:bodyPr/>
          <a:lstStyle/>
          <a:p>
            <a:r>
              <a:rPr lang="ru-RU" dirty="0"/>
              <a:t>В связи с определением </a:t>
            </a:r>
            <a:r>
              <a:rPr lang="ru-RU" i="1" dirty="0"/>
              <a:t>ограничения внешнего ключа</a:t>
            </a:r>
            <a:r>
              <a:rPr lang="ru-RU" dirty="0"/>
              <a:t> нам осталось рассмотреть еще два необязательных раздела – ON DELETE </a:t>
            </a:r>
            <a:r>
              <a:rPr lang="ru-RU" dirty="0" err="1"/>
              <a:t>referential_action</a:t>
            </a:r>
            <a:r>
              <a:rPr lang="ru-RU" dirty="0"/>
              <a:t> и ON UPDATE </a:t>
            </a:r>
            <a:r>
              <a:rPr lang="ru-RU" dirty="0" err="1"/>
              <a:t>referential_action</a:t>
            </a:r>
            <a:r>
              <a:rPr lang="ru-RU" dirty="0"/>
              <a:t>. </a:t>
            </a:r>
            <a:r>
              <a:rPr lang="en-US" dirty="0" smtClean="0"/>
              <a:t>C</a:t>
            </a:r>
            <a:r>
              <a:rPr lang="ru-RU" dirty="0" err="1" smtClean="0"/>
              <a:t>интаксическое</a:t>
            </a:r>
            <a:r>
              <a:rPr lang="ru-RU" dirty="0" smtClean="0"/>
              <a:t> </a:t>
            </a:r>
            <a:r>
              <a:rPr lang="ru-RU" dirty="0"/>
              <a:t>правило</a:t>
            </a:r>
            <a:r>
              <a:rPr lang="ru-RU" dirty="0" smtClean="0"/>
              <a:t>:</a:t>
            </a:r>
          </a:p>
          <a:p>
            <a:r>
              <a:rPr lang="en-US" dirty="0" err="1"/>
              <a:t>referential_action</a:t>
            </a:r>
            <a:r>
              <a:rPr lang="en-US" dirty="0"/>
              <a:t> ::= </a:t>
            </a:r>
          </a:p>
          <a:p>
            <a:r>
              <a:rPr lang="en-US" dirty="0"/>
              <a:t>	{ NO ACTION | RESTRICT | CASCADE </a:t>
            </a:r>
          </a:p>
          <a:p>
            <a:r>
              <a:rPr lang="en-US" dirty="0"/>
              <a:t>    | SET DEFAULT | SET NULL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237</a:t>
            </a:fld>
            <a:endParaRPr lang="ru-RU"/>
          </a:p>
        </p:txBody>
      </p:sp>
    </p:spTree>
    <p:extLst>
      <p:ext uri="{BB962C8B-B14F-4D97-AF65-F5344CB8AC3E}">
        <p14:creationId xmlns:p14="http://schemas.microsoft.com/office/powerpoint/2010/main" xmlns="" val="87059575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152"/>
            <a:ext cx="10515600" cy="5514811"/>
          </a:xfrm>
        </p:spPr>
        <p:txBody>
          <a:bodyPr>
            <a:normAutofit fontScale="92500"/>
          </a:bodyPr>
          <a:lstStyle/>
          <a:p>
            <a:r>
              <a:rPr lang="ru-RU" dirty="0"/>
              <a:t> Пусть определение </a:t>
            </a:r>
            <a:r>
              <a:rPr lang="ru-RU" i="1" dirty="0"/>
              <a:t>ограничения внешнего ключа</a:t>
            </a:r>
            <a:r>
              <a:rPr lang="ru-RU" dirty="0"/>
              <a:t> содержит раздел ON DELETE </a:t>
            </a:r>
            <a:r>
              <a:rPr lang="ru-RU" dirty="0" err="1"/>
              <a:t>referential_action</a:t>
            </a:r>
            <a:r>
              <a:rPr lang="ru-RU" dirty="0"/>
              <a:t>. Предположим, что предпринимается попытка удалить строку t из таблицы T. Тогда</a:t>
            </a:r>
            <a:r>
              <a:rPr lang="ru-RU" dirty="0" smtClean="0"/>
              <a:t>:</a:t>
            </a:r>
          </a:p>
          <a:p>
            <a:r>
              <a:rPr lang="ru-RU" dirty="0"/>
              <a:t>если в качестве требуемого </a:t>
            </a:r>
            <a:r>
              <a:rPr lang="ru-RU" i="1" dirty="0"/>
              <a:t>ссылочного действия</a:t>
            </a:r>
            <a:r>
              <a:rPr lang="ru-RU" dirty="0"/>
              <a:t> указано NO ACTION или </a:t>
            </a:r>
            <a:r>
              <a:rPr lang="ru-RU" i="1" dirty="0"/>
              <a:t>RESTRICT</a:t>
            </a:r>
            <a:r>
              <a:rPr lang="ru-RU" dirty="0"/>
              <a:t>, то операция удаления отвергается, если ее выполнение вызвало бы нарушение </a:t>
            </a:r>
            <a:r>
              <a:rPr lang="ru-RU" i="1" dirty="0"/>
              <a:t>ограничения внешнего ключа</a:t>
            </a:r>
            <a:r>
              <a:rPr lang="ru-RU" dirty="0"/>
              <a:t> ;</a:t>
            </a:r>
          </a:p>
          <a:p>
            <a:r>
              <a:rPr lang="ru-RU" dirty="0"/>
              <a:t>если в качестве требуемого </a:t>
            </a:r>
            <a:r>
              <a:rPr lang="ru-RU" i="1" dirty="0"/>
              <a:t>ссылочного действия</a:t>
            </a:r>
            <a:r>
              <a:rPr lang="ru-RU" dirty="0"/>
              <a:t> указано </a:t>
            </a:r>
            <a:r>
              <a:rPr lang="ru-RU" i="1" dirty="0"/>
              <a:t>CASCADE</a:t>
            </a:r>
            <a:r>
              <a:rPr lang="ru-RU" dirty="0"/>
              <a:t>, то строка t удаляется, и если в определении </a:t>
            </a:r>
            <a:r>
              <a:rPr lang="ru-RU" i="1" dirty="0"/>
              <a:t>ограничения внешнего ключа</a:t>
            </a:r>
            <a:r>
              <a:rPr lang="ru-RU" dirty="0"/>
              <a:t> отсутствует раздел </a:t>
            </a:r>
            <a:r>
              <a:rPr lang="ru-RU" i="1" dirty="0"/>
              <a:t>MATCH</a:t>
            </a:r>
            <a:r>
              <a:rPr lang="ru-RU" dirty="0"/>
              <a:t> или присутствуют спецификации </a:t>
            </a:r>
            <a:r>
              <a:rPr lang="ru-RU" i="1" dirty="0"/>
              <a:t>MATCH</a:t>
            </a:r>
            <a:r>
              <a:rPr lang="ru-RU" dirty="0"/>
              <a:t> SIMPLE или </a:t>
            </a:r>
            <a:r>
              <a:rPr lang="ru-RU" i="1" dirty="0"/>
              <a:t>MATCH</a:t>
            </a:r>
            <a:r>
              <a:rPr lang="ru-RU" dirty="0"/>
              <a:t> FULL, то удаляются все строки, ссылающиеся на t. Если же в определении </a:t>
            </a:r>
            <a:r>
              <a:rPr lang="ru-RU" i="1" dirty="0"/>
              <a:t>ограничения внешнего ключа</a:t>
            </a:r>
            <a:r>
              <a:rPr lang="ru-RU" dirty="0"/>
              <a:t> присутствует спецификация </a:t>
            </a:r>
            <a:r>
              <a:rPr lang="ru-RU" i="1" dirty="0" smtClean="0"/>
              <a:t>MATCH </a:t>
            </a:r>
            <a:r>
              <a:rPr lang="ru-RU" dirty="0" smtClean="0"/>
              <a:t>PARTIAL</a:t>
            </a:r>
            <a:r>
              <a:rPr lang="ru-RU" dirty="0"/>
              <a:t>, то удаляются только те строки, которые ссылаются исключительно на строку 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238</a:t>
            </a:fld>
            <a:endParaRPr lang="ru-RU"/>
          </a:p>
        </p:txBody>
      </p:sp>
    </p:spTree>
    <p:extLst>
      <p:ext uri="{BB962C8B-B14F-4D97-AF65-F5344CB8AC3E}">
        <p14:creationId xmlns:p14="http://schemas.microsoft.com/office/powerpoint/2010/main" xmlns="" val="266822914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152"/>
            <a:ext cx="10515600" cy="5514811"/>
          </a:xfrm>
        </p:spPr>
        <p:txBody>
          <a:bodyPr>
            <a:normAutofit fontScale="92500" lnSpcReduction="10000"/>
          </a:bodyPr>
          <a:lstStyle/>
          <a:p>
            <a:r>
              <a:rPr lang="ru-RU" dirty="0"/>
              <a:t>если в качестве требуемого </a:t>
            </a:r>
            <a:r>
              <a:rPr lang="ru-RU" i="1" dirty="0"/>
              <a:t>ссылочного действия</a:t>
            </a:r>
            <a:r>
              <a:rPr lang="ru-RU" dirty="0"/>
              <a:t> указано </a:t>
            </a:r>
            <a:r>
              <a:rPr lang="ru-RU" i="1" dirty="0"/>
              <a:t>SET DEFAULT</a:t>
            </a:r>
            <a:r>
              <a:rPr lang="ru-RU" dirty="0"/>
              <a:t>, то строка t удаляется, и во всех столбцах, которые входят в состав </a:t>
            </a:r>
            <a:r>
              <a:rPr lang="ru-RU" i="1" dirty="0"/>
              <a:t>внешнего ключа</a:t>
            </a:r>
            <a:r>
              <a:rPr lang="ru-RU" dirty="0"/>
              <a:t>, всех строк, ссылающихся на строку t, проставляется заданное при их определении </a:t>
            </a:r>
            <a:r>
              <a:rPr lang="ru-RU" i="1" dirty="0"/>
              <a:t>значение по умолчанию</a:t>
            </a:r>
            <a:r>
              <a:rPr lang="ru-RU" dirty="0"/>
              <a:t>. Если в определении </a:t>
            </a:r>
            <a:r>
              <a:rPr lang="ru-RU" i="1" dirty="0"/>
              <a:t>внешнего ключа</a:t>
            </a:r>
            <a:r>
              <a:rPr lang="ru-RU" dirty="0"/>
              <a:t> содержится спецификация </a:t>
            </a:r>
            <a:r>
              <a:rPr lang="ru-RU" i="1" dirty="0"/>
              <a:t>MATCH</a:t>
            </a:r>
            <a:r>
              <a:rPr lang="ru-RU" dirty="0"/>
              <a:t> PARTIAL, то подобному воздействию подвергаются только те строки таблицы S, которые ссылаются исключительно на строку t ;</a:t>
            </a:r>
          </a:p>
          <a:p>
            <a:r>
              <a:rPr lang="ru-RU" dirty="0"/>
              <a:t>если в качестве требуемого </a:t>
            </a:r>
            <a:r>
              <a:rPr lang="ru-RU" i="1" dirty="0"/>
              <a:t>ссылочного действия</a:t>
            </a:r>
            <a:r>
              <a:rPr lang="ru-RU" dirty="0"/>
              <a:t> указано </a:t>
            </a:r>
            <a:r>
              <a:rPr lang="ru-RU" i="1" dirty="0"/>
              <a:t>SET NULL</a:t>
            </a:r>
            <a:r>
              <a:rPr lang="ru-RU" dirty="0"/>
              <a:t>, то строка t удаляется, и во всех столбцах, которые входят в состав </a:t>
            </a:r>
            <a:r>
              <a:rPr lang="ru-RU" i="1" dirty="0"/>
              <a:t>внешнего ключа</a:t>
            </a:r>
            <a:r>
              <a:rPr lang="ru-RU" dirty="0"/>
              <a:t>, всех строк, ссылающихся на строку t, проставляется NULL. Если в определении </a:t>
            </a:r>
            <a:r>
              <a:rPr lang="ru-RU" i="1" dirty="0"/>
              <a:t>внешнего </a:t>
            </a:r>
            <a:r>
              <a:rPr lang="ru-RU" i="1" dirty="0" smtClean="0"/>
              <a:t>ключа </a:t>
            </a:r>
            <a:r>
              <a:rPr lang="ru-RU" dirty="0" smtClean="0"/>
              <a:t>содержится </a:t>
            </a:r>
            <a:r>
              <a:rPr lang="ru-RU" dirty="0"/>
              <a:t>спецификация </a:t>
            </a:r>
            <a:r>
              <a:rPr lang="ru-RU" i="1" dirty="0"/>
              <a:t>MATCH</a:t>
            </a:r>
            <a:r>
              <a:rPr lang="ru-RU" dirty="0"/>
              <a:t> PARTIAL, то подобному воздействию подвергаются только те строки таблицы S, которые ссылаются исключительно на строку 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239</a:t>
            </a:fld>
            <a:endParaRPr lang="ru-RU"/>
          </a:p>
        </p:txBody>
      </p:sp>
    </p:spTree>
    <p:extLst>
      <p:ext uri="{BB962C8B-B14F-4D97-AF65-F5344CB8AC3E}">
        <p14:creationId xmlns:p14="http://schemas.microsoft.com/office/powerpoint/2010/main" xmlns="" val="55368716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583324"/>
            <a:ext cx="10515600" cy="5593639"/>
          </a:xfrm>
        </p:spPr>
        <p:txBody>
          <a:bodyPr>
            <a:normAutofit fontScale="92500" lnSpcReduction="10000"/>
          </a:bodyPr>
          <a:lstStyle/>
          <a:p>
            <a:r>
              <a:rPr lang="ru-RU" dirty="0"/>
              <a:t>Пусть определение </a:t>
            </a:r>
            <a:r>
              <a:rPr lang="ru-RU" i="1" dirty="0"/>
              <a:t>ограничения внешнего ключа</a:t>
            </a:r>
            <a:r>
              <a:rPr lang="ru-RU" dirty="0"/>
              <a:t> содержит раздел ON UPDATE </a:t>
            </a:r>
            <a:r>
              <a:rPr lang="ru-RU" dirty="0" err="1"/>
              <a:t>referential_action</a:t>
            </a:r>
            <a:r>
              <a:rPr lang="ru-RU" dirty="0"/>
              <a:t>. Предположим, что предпринимается попытка обновить столбцы соответствующего </a:t>
            </a:r>
            <a:r>
              <a:rPr lang="ru-RU" i="1" dirty="0"/>
              <a:t>возможного ключа</a:t>
            </a:r>
            <a:r>
              <a:rPr lang="ru-RU" dirty="0"/>
              <a:t> в строке t из таблицы T. Тогда</a:t>
            </a:r>
            <a:r>
              <a:rPr lang="ru-RU" dirty="0" smtClean="0"/>
              <a:t>:</a:t>
            </a:r>
          </a:p>
          <a:p>
            <a:r>
              <a:rPr lang="ru-RU" dirty="0"/>
              <a:t>если в качестве требуемого </a:t>
            </a:r>
            <a:r>
              <a:rPr lang="ru-RU" i="1" dirty="0"/>
              <a:t>ссылочного действия</a:t>
            </a:r>
            <a:r>
              <a:rPr lang="ru-RU" dirty="0"/>
              <a:t> указано NO ACTION или </a:t>
            </a:r>
            <a:r>
              <a:rPr lang="ru-RU" i="1" dirty="0"/>
              <a:t>RESTRICT</a:t>
            </a:r>
            <a:r>
              <a:rPr lang="ru-RU" dirty="0"/>
              <a:t>, то операция обновления отвергается, если ее выполнение вызвало бы нарушение </a:t>
            </a:r>
            <a:r>
              <a:rPr lang="ru-RU" i="1" dirty="0"/>
              <a:t>ограничения внешнего ключа</a:t>
            </a:r>
            <a:r>
              <a:rPr lang="ru-RU" dirty="0"/>
              <a:t> ;</a:t>
            </a:r>
          </a:p>
          <a:p>
            <a:r>
              <a:rPr lang="ru-RU" dirty="0"/>
              <a:t>если в качестве требуемого </a:t>
            </a:r>
            <a:r>
              <a:rPr lang="ru-RU" i="1" dirty="0"/>
              <a:t>ссылочного действия</a:t>
            </a:r>
            <a:r>
              <a:rPr lang="ru-RU" dirty="0"/>
              <a:t> указано СASCADE, то строка t обновляется, и если в определении </a:t>
            </a:r>
            <a:r>
              <a:rPr lang="ru-RU" i="1" dirty="0"/>
              <a:t>ограничения внешнего ключа</a:t>
            </a:r>
            <a:r>
              <a:rPr lang="ru-RU" dirty="0"/>
              <a:t> отсутствует раздел </a:t>
            </a:r>
            <a:r>
              <a:rPr lang="ru-RU" i="1" dirty="0"/>
              <a:t>MATCH</a:t>
            </a:r>
            <a:r>
              <a:rPr lang="ru-RU" dirty="0"/>
              <a:t> или присутствуют спецификации </a:t>
            </a:r>
            <a:r>
              <a:rPr lang="ru-RU" i="1" dirty="0"/>
              <a:t>MATCH</a:t>
            </a:r>
            <a:r>
              <a:rPr lang="ru-RU" dirty="0"/>
              <a:t> SIMPLE или </a:t>
            </a:r>
            <a:r>
              <a:rPr lang="ru-RU" i="1" dirty="0"/>
              <a:t>MATCH</a:t>
            </a:r>
            <a:r>
              <a:rPr lang="ru-RU" dirty="0"/>
              <a:t> FULL, то соответствующим образом обновляются все строки, ссылающиеся на t (в них должным образом изменяются значения столбцов, входящих в состав </a:t>
            </a:r>
            <a:r>
              <a:rPr lang="ru-RU" i="1" dirty="0"/>
              <a:t>внешнего ключа</a:t>
            </a:r>
            <a:r>
              <a:rPr lang="ru-RU" dirty="0"/>
              <a:t>). Если же в определении </a:t>
            </a:r>
            <a:r>
              <a:rPr lang="ru-RU" i="1" dirty="0"/>
              <a:t>ограничения внешнего ключа</a:t>
            </a:r>
            <a:r>
              <a:rPr lang="ru-RU" dirty="0"/>
              <a:t> присутствует спецификация </a:t>
            </a:r>
            <a:r>
              <a:rPr lang="ru-RU" i="1" dirty="0"/>
              <a:t>MATCH</a:t>
            </a:r>
            <a:r>
              <a:rPr lang="ru-RU" dirty="0"/>
              <a:t>PARTIAL, то обновляются только те строки, которые ссылаются исключительно на строку 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240</a:t>
            </a:fld>
            <a:endParaRPr lang="ru-RU"/>
          </a:p>
        </p:txBody>
      </p:sp>
    </p:spTree>
    <p:extLst>
      <p:ext uri="{BB962C8B-B14F-4D97-AF65-F5344CB8AC3E}">
        <p14:creationId xmlns:p14="http://schemas.microsoft.com/office/powerpoint/2010/main" xmlns="" val="290398878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fontScale="92500" lnSpcReduction="20000"/>
          </a:bodyPr>
          <a:lstStyle/>
          <a:p>
            <a:r>
              <a:rPr lang="ru-RU" dirty="0"/>
              <a:t>если в качестве требуемого </a:t>
            </a:r>
            <a:r>
              <a:rPr lang="ru-RU" i="1" dirty="0"/>
              <a:t>ссылочного действия</a:t>
            </a:r>
            <a:r>
              <a:rPr lang="ru-RU" dirty="0"/>
              <a:t> указано </a:t>
            </a:r>
            <a:r>
              <a:rPr lang="ru-RU" i="1" dirty="0"/>
              <a:t>SET DEFAULT</a:t>
            </a:r>
            <a:r>
              <a:rPr lang="ru-RU" dirty="0"/>
              <a:t>, то строка t обновляется, и во всех столбцах, которые входят в состав </a:t>
            </a:r>
            <a:r>
              <a:rPr lang="ru-RU" i="1" dirty="0"/>
              <a:t>внешнего ключа</a:t>
            </a:r>
            <a:r>
              <a:rPr lang="ru-RU" dirty="0"/>
              <a:t> и соответствуют изменяемым столбцам таблицы T, всех строк, ссылающихся на строку t, проставляется заданное при их определении </a:t>
            </a:r>
            <a:r>
              <a:rPr lang="ru-RU" i="1" dirty="0"/>
              <a:t>значение по умолчанию</a:t>
            </a:r>
            <a:r>
              <a:rPr lang="ru-RU" dirty="0"/>
              <a:t>. Если в определении </a:t>
            </a:r>
            <a:r>
              <a:rPr lang="ru-RU" i="1" dirty="0"/>
              <a:t>внешнего ключа</a:t>
            </a:r>
            <a:r>
              <a:rPr lang="ru-RU" dirty="0"/>
              <a:t> содержится спецификация </a:t>
            </a:r>
            <a:r>
              <a:rPr lang="ru-RU" i="1" dirty="0"/>
              <a:t>MATCH</a:t>
            </a:r>
            <a:r>
              <a:rPr lang="ru-RU" dirty="0"/>
              <a:t> PARTIAL, то подобному воздействию подвергаются только те строки таблицы S, которые ссылаются исключительно на строку t, причем в них изменяются значения только тех столбцов, которые не содержали NULL ;</a:t>
            </a:r>
          </a:p>
          <a:p>
            <a:r>
              <a:rPr lang="ru-RU" dirty="0"/>
              <a:t>если в качестве требуемого </a:t>
            </a:r>
            <a:r>
              <a:rPr lang="ru-RU" i="1" dirty="0"/>
              <a:t>ссылочного действия</a:t>
            </a:r>
            <a:r>
              <a:rPr lang="ru-RU" dirty="0"/>
              <a:t> указано </a:t>
            </a:r>
            <a:r>
              <a:rPr lang="ru-RU" i="1" dirty="0"/>
              <a:t>SET NULL</a:t>
            </a:r>
            <a:r>
              <a:rPr lang="ru-RU" dirty="0"/>
              <a:t>, то строка t обновляется, и во всех столбцах, которые входят в состав </a:t>
            </a:r>
            <a:r>
              <a:rPr lang="ru-RU" i="1" dirty="0"/>
              <a:t>внешнего ключа</a:t>
            </a:r>
            <a:r>
              <a:rPr lang="ru-RU" dirty="0"/>
              <a:t> и соответствуют изменяемым столбцам таблицы T, всех строк, ссылающихся на строку t, проставляется NULL. Если в определении </a:t>
            </a:r>
            <a:r>
              <a:rPr lang="ru-RU" i="1" dirty="0"/>
              <a:t>внешнего ключа</a:t>
            </a:r>
            <a:r>
              <a:rPr lang="ru-RU" dirty="0"/>
              <a:t> содержится спецификация </a:t>
            </a:r>
            <a:r>
              <a:rPr lang="ru-RU" i="1" dirty="0"/>
              <a:t>MATCH</a:t>
            </a:r>
            <a:r>
              <a:rPr lang="ru-RU" dirty="0"/>
              <a:t> PARTIAL, то подобному воздействию подвергаются только те строки таблицы S, которые ссылаются исключительно на строку t.</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241</a:t>
            </a:fld>
            <a:endParaRPr lang="ru-RU"/>
          </a:p>
        </p:txBody>
      </p:sp>
    </p:spTree>
    <p:extLst>
      <p:ext uri="{BB962C8B-B14F-4D97-AF65-F5344CB8AC3E}">
        <p14:creationId xmlns:p14="http://schemas.microsoft.com/office/powerpoint/2010/main" xmlns="" val="111034711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Примеры определений базовых таблиц</a:t>
            </a:r>
            <a:br>
              <a:rPr lang="ru-RU" b="1" dirty="0"/>
            </a:br>
            <a:endParaRPr lang="ru-RU" dirty="0"/>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242</a:t>
            </a:fld>
            <a:endParaRPr lang="ru-RU"/>
          </a:p>
        </p:txBody>
      </p:sp>
    </p:spTree>
    <p:extLst>
      <p:ext uri="{BB962C8B-B14F-4D97-AF65-F5344CB8AC3E}">
        <p14:creationId xmlns:p14="http://schemas.microsoft.com/office/powerpoint/2010/main" xmlns="" val="143764360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pic>
        <p:nvPicPr>
          <p:cNvPr id="7170" name="Picture 2" descr="Заголовки таблиц EMP, DEPT и PRO"/>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77328" y="365125"/>
            <a:ext cx="5672251" cy="581183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243</a:t>
            </a:fld>
            <a:endParaRPr lang="ru-RU"/>
          </a:p>
        </p:txBody>
      </p:sp>
    </p:spTree>
    <p:extLst>
      <p:ext uri="{BB962C8B-B14F-4D97-AF65-F5344CB8AC3E}">
        <p14:creationId xmlns:p14="http://schemas.microsoft.com/office/powerpoint/2010/main" xmlns="" val="349585911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Изменение определения </a:t>
            </a:r>
            <a:r>
              <a:rPr lang="ru-RU" b="1" dirty="0" smtClean="0"/>
              <a:t>таблицы</a:t>
            </a:r>
            <a:r>
              <a:rPr lang="ru-RU" b="1" dirty="0"/>
              <a:t/>
            </a:r>
            <a:br>
              <a:rPr lang="ru-RU" b="1" dirty="0"/>
            </a:br>
            <a:endParaRPr lang="ru-RU" dirty="0"/>
          </a:p>
        </p:txBody>
      </p:sp>
      <p:sp>
        <p:nvSpPr>
          <p:cNvPr id="3" name="Объект 2"/>
          <p:cNvSpPr>
            <a:spLocks noGrp="1"/>
          </p:cNvSpPr>
          <p:nvPr>
            <p:ph idx="1"/>
          </p:nvPr>
        </p:nvSpPr>
        <p:spPr/>
        <p:txBody>
          <a:bodyPr/>
          <a:lstStyle/>
          <a:p>
            <a:r>
              <a:rPr lang="ru-RU" dirty="0"/>
              <a:t>Оператор изменения определения </a:t>
            </a:r>
            <a:r>
              <a:rPr lang="ru-RU" i="1" dirty="0" smtClean="0"/>
              <a:t>таблицы</a:t>
            </a:r>
            <a:r>
              <a:rPr lang="ru-RU" dirty="0"/>
              <a:t>   </a:t>
            </a:r>
            <a:r>
              <a:rPr lang="ru-RU" i="1" dirty="0"/>
              <a:t>ALTER TABLE</a:t>
            </a:r>
            <a:r>
              <a:rPr lang="ru-RU" dirty="0"/>
              <a:t> имеет следующий синтаксис</a:t>
            </a:r>
            <a:r>
              <a:rPr lang="ru-RU" dirty="0" smtClean="0"/>
              <a:t>:</a:t>
            </a:r>
            <a:endParaRPr lang="en-US" dirty="0"/>
          </a:p>
          <a:p>
            <a:r>
              <a:rPr lang="en-US" dirty="0"/>
              <a:t>ALTER TABLE </a:t>
            </a:r>
            <a:r>
              <a:rPr lang="en-US" dirty="0" err="1"/>
              <a:t>base_table_name</a:t>
            </a:r>
            <a:endParaRPr lang="en-US" dirty="0"/>
          </a:p>
          <a:p>
            <a:r>
              <a:rPr lang="en-US" dirty="0"/>
              <a:t>    </a:t>
            </a:r>
            <a:r>
              <a:rPr lang="en-US" dirty="0" err="1"/>
              <a:t>column_alteration_action</a:t>
            </a:r>
            <a:endParaRPr lang="en-US" dirty="0"/>
          </a:p>
          <a:p>
            <a:r>
              <a:rPr lang="en-US" dirty="0"/>
              <a:t>    |  </a:t>
            </a:r>
            <a:r>
              <a:rPr lang="en-US" dirty="0" err="1" smtClean="0"/>
              <a:t>base_table_constraint_alternation_action</a:t>
            </a:r>
            <a:endParaRPr lang="ru-RU" dirty="0" smtClean="0"/>
          </a:p>
          <a:p>
            <a:r>
              <a:rPr lang="ru-RU" dirty="0"/>
              <a:t>при выполнении </a:t>
            </a:r>
            <a:r>
              <a:rPr lang="ru-RU" dirty="0" smtClean="0"/>
              <a:t>оператора</a:t>
            </a:r>
            <a:r>
              <a:rPr lang="ru-RU" dirty="0"/>
              <a:t> </a:t>
            </a:r>
            <a:r>
              <a:rPr lang="ru-RU" i="1" dirty="0"/>
              <a:t>ALTER TABLE</a:t>
            </a:r>
            <a:r>
              <a:rPr lang="ru-RU" dirty="0"/>
              <a:t> может быть выполнено либо действие по изменению </a:t>
            </a:r>
            <a:r>
              <a:rPr lang="ru-RU" i="1" dirty="0"/>
              <a:t>определения столбца</a:t>
            </a:r>
            <a:r>
              <a:rPr lang="ru-RU" dirty="0"/>
              <a:t>, либо действие по изменению </a:t>
            </a:r>
            <a:r>
              <a:rPr lang="ru-RU" i="1" dirty="0"/>
              <a:t>определения табличного ограничения</a:t>
            </a:r>
            <a:r>
              <a:rPr lang="ru-RU" dirty="0"/>
              <a:t> целостности.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244</a:t>
            </a:fld>
            <a:endParaRPr lang="ru-RU"/>
          </a:p>
        </p:txBody>
      </p:sp>
    </p:spTree>
    <p:extLst>
      <p:ext uri="{BB962C8B-B14F-4D97-AF65-F5344CB8AC3E}">
        <p14:creationId xmlns:p14="http://schemas.microsoft.com/office/powerpoint/2010/main" xmlns="" val="149292353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Добавление, изменение или удаление определения столбца</a:t>
            </a:r>
          </a:p>
        </p:txBody>
      </p:sp>
      <p:sp>
        <p:nvSpPr>
          <p:cNvPr id="3" name="Объект 2"/>
          <p:cNvSpPr>
            <a:spLocks noGrp="1"/>
          </p:cNvSpPr>
          <p:nvPr>
            <p:ph idx="1"/>
          </p:nvPr>
        </p:nvSpPr>
        <p:spPr/>
        <p:txBody>
          <a:bodyPr>
            <a:normAutofit fontScale="92500" lnSpcReduction="10000"/>
          </a:bodyPr>
          <a:lstStyle/>
          <a:p>
            <a:r>
              <a:rPr lang="en-US" dirty="0" err="1"/>
              <a:t>column_alteration_action</a:t>
            </a:r>
            <a:r>
              <a:rPr lang="en-US" dirty="0"/>
              <a:t> ::= </a:t>
            </a:r>
          </a:p>
          <a:p>
            <a:r>
              <a:rPr lang="en-US" dirty="0"/>
              <a:t>        ADD [ COLUMN ] </a:t>
            </a:r>
            <a:r>
              <a:rPr lang="en-US" dirty="0" err="1"/>
              <a:t>column_definition</a:t>
            </a:r>
            <a:r>
              <a:rPr lang="en-US" dirty="0"/>
              <a:t> </a:t>
            </a:r>
          </a:p>
          <a:p>
            <a:r>
              <a:rPr lang="en-US" dirty="0"/>
              <a:t>    | ALTER [ COLUMN ] </a:t>
            </a:r>
            <a:r>
              <a:rPr lang="en-US" dirty="0" err="1"/>
              <a:t>column_name</a:t>
            </a:r>
            <a:endParaRPr lang="en-US" dirty="0"/>
          </a:p>
          <a:p>
            <a:r>
              <a:rPr lang="en-US" dirty="0"/>
              <a:t>        { SET </a:t>
            </a:r>
            <a:r>
              <a:rPr lang="en-US" dirty="0" err="1"/>
              <a:t>default_definition</a:t>
            </a:r>
            <a:r>
              <a:rPr lang="en-US" dirty="0"/>
              <a:t> | DROP DEFAULT }</a:t>
            </a:r>
          </a:p>
          <a:p>
            <a:r>
              <a:rPr lang="en-US" dirty="0"/>
              <a:t>    | DROP [ COLUMN ] </a:t>
            </a:r>
            <a:r>
              <a:rPr lang="en-US" dirty="0" err="1"/>
              <a:t>column_name</a:t>
            </a:r>
            <a:endParaRPr lang="en-US" dirty="0"/>
          </a:p>
          <a:p>
            <a:r>
              <a:rPr lang="en-US" dirty="0"/>
              <a:t>					{ RESTRICT | CASCADE </a:t>
            </a:r>
            <a:r>
              <a:rPr lang="en-US" dirty="0" smtClean="0"/>
              <a:t>}</a:t>
            </a:r>
          </a:p>
          <a:p>
            <a:r>
              <a:rPr lang="ru-RU" dirty="0"/>
              <a:t>с использованием оператора </a:t>
            </a:r>
            <a:r>
              <a:rPr lang="ru-RU" i="1" dirty="0"/>
              <a:t>ALTER TABLE</a:t>
            </a:r>
            <a:r>
              <a:rPr lang="ru-RU" dirty="0"/>
              <a:t> можно добавлять к определению таблицы </a:t>
            </a:r>
            <a:r>
              <a:rPr lang="ru-RU" i="1" dirty="0"/>
              <a:t>определение</a:t>
            </a:r>
            <a:r>
              <a:rPr lang="ru-RU" dirty="0"/>
              <a:t> нового столбца (</a:t>
            </a:r>
            <a:r>
              <a:rPr lang="ru-RU" dirty="0" err="1"/>
              <a:t>действиеADD</a:t>
            </a:r>
            <a:r>
              <a:rPr lang="ru-RU" dirty="0"/>
              <a:t> ) и изменять или отменять </a:t>
            </a:r>
            <a:r>
              <a:rPr lang="ru-RU" i="1" dirty="0"/>
              <a:t>определение</a:t>
            </a:r>
            <a:r>
              <a:rPr lang="ru-RU" dirty="0"/>
              <a:t> существующего столбца (действия </a:t>
            </a:r>
            <a:r>
              <a:rPr lang="ru-RU" i="1" dirty="0"/>
              <a:t>ALTER</a:t>
            </a:r>
            <a:r>
              <a:rPr lang="ru-RU" dirty="0"/>
              <a:t> и </a:t>
            </a:r>
            <a:r>
              <a:rPr lang="ru-RU" i="1" dirty="0"/>
              <a:t>DROP</a:t>
            </a:r>
            <a:r>
              <a:rPr lang="ru-RU" dirty="0"/>
              <a:t> соответственно).</a:t>
            </a:r>
          </a:p>
        </p:txBody>
      </p:sp>
      <p:sp>
        <p:nvSpPr>
          <p:cNvPr id="4" name="Номер слайда 3"/>
          <p:cNvSpPr>
            <a:spLocks noGrp="1"/>
          </p:cNvSpPr>
          <p:nvPr>
            <p:ph type="sldNum" sz="quarter" idx="12"/>
          </p:nvPr>
        </p:nvSpPr>
        <p:spPr/>
        <p:txBody>
          <a:bodyPr/>
          <a:lstStyle/>
          <a:p>
            <a:fld id="{590C5F67-5E4C-4ABB-99F4-36BCAC8BE885}" type="slidenum">
              <a:rPr lang="ru-RU" smtClean="0"/>
              <a:pPr/>
              <a:t>245</a:t>
            </a:fld>
            <a:endParaRPr lang="ru-RU"/>
          </a:p>
        </p:txBody>
      </p:sp>
    </p:spTree>
    <p:extLst>
      <p:ext uri="{BB962C8B-B14F-4D97-AF65-F5344CB8AC3E}">
        <p14:creationId xmlns:p14="http://schemas.microsoft.com/office/powerpoint/2010/main" xmlns="" val="18842884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 </a:t>
            </a:r>
            <a:r>
              <a:rPr lang="ru-RU" dirty="0" smtClean="0"/>
              <a:t>Столбец</a:t>
            </a:r>
            <a:r>
              <a:rPr lang="ru-RU" dirty="0"/>
              <a:t>, определяемый в действии ADD, обязательно должен иметь </a:t>
            </a:r>
            <a:r>
              <a:rPr lang="ru-RU" i="1" dirty="0"/>
              <a:t>значение по </a:t>
            </a:r>
            <a:r>
              <a:rPr lang="ru-RU" i="1" dirty="0" smtClean="0"/>
              <a:t>умолчанию.</a:t>
            </a:r>
          </a:p>
          <a:p>
            <a:r>
              <a:rPr lang="ru-RU" dirty="0"/>
              <a:t>В действии </a:t>
            </a:r>
            <a:r>
              <a:rPr lang="ru-RU" i="1" dirty="0"/>
              <a:t>ALTER</a:t>
            </a:r>
            <a:r>
              <a:rPr lang="ru-RU" dirty="0"/>
              <a:t> COLUMN можно изменить ( SET </a:t>
            </a:r>
            <a:r>
              <a:rPr lang="ru-RU" dirty="0" err="1"/>
              <a:t>default_definition</a:t>
            </a:r>
            <a:r>
              <a:rPr lang="ru-RU" dirty="0"/>
              <a:t> ) или отменить определение </a:t>
            </a:r>
            <a:r>
              <a:rPr lang="ru-RU" i="1" dirty="0"/>
              <a:t>значения по умолчанию</a:t>
            </a:r>
            <a:r>
              <a:rPr lang="ru-RU" dirty="0"/>
              <a:t> для существующего столбца. </a:t>
            </a:r>
            <a:r>
              <a:rPr lang="ru-RU" dirty="0" smtClean="0"/>
              <a:t> </a:t>
            </a:r>
          </a:p>
          <a:p>
            <a:r>
              <a:rPr lang="ru-RU" dirty="0"/>
              <a:t> </a:t>
            </a:r>
            <a:r>
              <a:rPr lang="ru-RU" dirty="0" smtClean="0"/>
              <a:t>Изменение</a:t>
            </a:r>
            <a:r>
              <a:rPr lang="ru-RU" dirty="0"/>
              <a:t> </a:t>
            </a:r>
            <a:r>
              <a:rPr lang="ru-RU" i="1" dirty="0"/>
              <a:t>значения столбца по умолчанию</a:t>
            </a:r>
            <a:r>
              <a:rPr lang="ru-RU" dirty="0"/>
              <a:t> не оказывает влияния на состояние существующих строк </a:t>
            </a:r>
            <a:r>
              <a:rPr lang="ru-RU" dirty="0" smtClean="0"/>
              <a:t>таблицы.</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246</a:t>
            </a:fld>
            <a:endParaRPr lang="ru-RU"/>
          </a:p>
        </p:txBody>
      </p:sp>
    </p:spTree>
    <p:extLst>
      <p:ext uri="{BB962C8B-B14F-4D97-AF65-F5344CB8AC3E}">
        <p14:creationId xmlns:p14="http://schemas.microsoft.com/office/powerpoint/2010/main" xmlns="" val="369640647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normAutofit fontScale="92500" lnSpcReduction="10000"/>
          </a:bodyPr>
          <a:lstStyle/>
          <a:p>
            <a:r>
              <a:rPr lang="ru-RU" dirty="0" smtClean="0"/>
              <a:t>Действие</a:t>
            </a:r>
            <a:r>
              <a:rPr lang="ru-RU" dirty="0"/>
              <a:t> </a:t>
            </a:r>
            <a:r>
              <a:rPr lang="ru-RU" i="1" dirty="0"/>
              <a:t>DROP</a:t>
            </a:r>
            <a:r>
              <a:rPr lang="ru-RU" dirty="0"/>
              <a:t> COLUMN отменяет </a:t>
            </a:r>
            <a:r>
              <a:rPr lang="ru-RU" i="1" dirty="0"/>
              <a:t>определение</a:t>
            </a:r>
            <a:r>
              <a:rPr lang="ru-RU" dirty="0"/>
              <a:t> существующего столбца (удаляет его из таблицы). Действие </a:t>
            </a:r>
            <a:r>
              <a:rPr lang="ru-RU" i="1" dirty="0"/>
              <a:t>DROP</a:t>
            </a:r>
            <a:r>
              <a:rPr lang="ru-RU" dirty="0"/>
              <a:t> </a:t>
            </a:r>
            <a:r>
              <a:rPr lang="ru-RU" dirty="0" smtClean="0"/>
              <a:t>COLUMN отвергается</a:t>
            </a:r>
            <a:r>
              <a:rPr lang="ru-RU" dirty="0"/>
              <a:t>, если:</a:t>
            </a:r>
          </a:p>
          <a:p>
            <a:r>
              <a:rPr lang="ru-RU" dirty="0"/>
              <a:t>(a) указанный столбец является единственным столбцом таблицы;</a:t>
            </a:r>
          </a:p>
          <a:p>
            <a:r>
              <a:rPr lang="ru-RU" dirty="0"/>
              <a:t>(b) или в этом действии присутствует спецификация </a:t>
            </a:r>
            <a:r>
              <a:rPr lang="ru-RU" i="1" dirty="0"/>
              <a:t>RESTRICT</a:t>
            </a:r>
            <a:r>
              <a:rPr lang="ru-RU" dirty="0"/>
              <a:t>, и данный столбец используется в определении каких-либо представлений или </a:t>
            </a:r>
            <a:r>
              <a:rPr lang="ru-RU" i="1" dirty="0"/>
              <a:t>ограничений целостности</a:t>
            </a:r>
            <a:r>
              <a:rPr lang="ru-RU" dirty="0"/>
              <a:t> </a:t>
            </a:r>
            <a:endParaRPr lang="ru-RU" dirty="0" smtClean="0"/>
          </a:p>
          <a:p>
            <a:r>
              <a:rPr lang="ru-RU" dirty="0"/>
              <a:t>Если в действии присутствует спецификация </a:t>
            </a:r>
            <a:r>
              <a:rPr lang="ru-RU" i="1" dirty="0"/>
              <a:t>CASCADE</a:t>
            </a:r>
            <a:r>
              <a:rPr lang="ru-RU" dirty="0"/>
              <a:t>, то его выполнение порождает неявное выполнение оператора </a:t>
            </a:r>
            <a:r>
              <a:rPr lang="ru-RU" i="1" dirty="0"/>
              <a:t>DROP</a:t>
            </a:r>
            <a:r>
              <a:rPr lang="ru-RU" dirty="0"/>
              <a:t> для всех представлений и </a:t>
            </a:r>
            <a:r>
              <a:rPr lang="ru-RU" i="1" dirty="0"/>
              <a:t>ограничений целостности</a:t>
            </a:r>
            <a:r>
              <a:rPr lang="ru-RU" dirty="0"/>
              <a:t>, в определении которых используется данный столбец.</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247</a:t>
            </a:fld>
            <a:endParaRPr lang="ru-RU"/>
          </a:p>
        </p:txBody>
      </p:sp>
    </p:spTree>
    <p:extLst>
      <p:ext uri="{BB962C8B-B14F-4D97-AF65-F5344CB8AC3E}">
        <p14:creationId xmlns:p14="http://schemas.microsoft.com/office/powerpoint/2010/main" xmlns="" val="134279042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Отмена определения (уничтожение) </a:t>
            </a:r>
            <a:r>
              <a:rPr lang="ru-RU" b="1" dirty="0" smtClean="0"/>
              <a:t>таблицы</a:t>
            </a:r>
            <a:r>
              <a:rPr lang="ru-RU" b="1" dirty="0"/>
              <a:t/>
            </a:r>
            <a:br>
              <a:rPr lang="ru-RU" b="1" dirty="0"/>
            </a:br>
            <a:endParaRPr lang="ru-RU" dirty="0"/>
          </a:p>
        </p:txBody>
      </p:sp>
      <p:sp>
        <p:nvSpPr>
          <p:cNvPr id="3" name="Объект 2"/>
          <p:cNvSpPr>
            <a:spLocks noGrp="1"/>
          </p:cNvSpPr>
          <p:nvPr>
            <p:ph idx="1"/>
          </p:nvPr>
        </p:nvSpPr>
        <p:spPr/>
        <p:txBody>
          <a:bodyPr>
            <a:normAutofit fontScale="92500" lnSpcReduction="20000"/>
          </a:bodyPr>
          <a:lstStyle/>
          <a:p>
            <a:r>
              <a:rPr lang="ru-RU" dirty="0"/>
              <a:t>Для отмены определения (уничтожения) </a:t>
            </a:r>
            <a:r>
              <a:rPr lang="ru-RU" i="1" dirty="0"/>
              <a:t>базовой таблицы</a:t>
            </a:r>
            <a:r>
              <a:rPr lang="ru-RU" dirty="0"/>
              <a:t> служит оператор </a:t>
            </a:r>
            <a:r>
              <a:rPr lang="ru-RU" i="1" dirty="0"/>
              <a:t>DROP TABLE</a:t>
            </a:r>
            <a:r>
              <a:rPr lang="ru-RU" dirty="0"/>
              <a:t> , задаваемый в следующем синтаксисе</a:t>
            </a:r>
            <a:r>
              <a:rPr lang="ru-RU" dirty="0" smtClean="0"/>
              <a:t>:</a:t>
            </a:r>
          </a:p>
          <a:p>
            <a:r>
              <a:rPr lang="en-US" dirty="0"/>
              <a:t>DROP TABLE </a:t>
            </a:r>
            <a:r>
              <a:rPr lang="en-US" dirty="0" err="1"/>
              <a:t>base_table_name</a:t>
            </a:r>
            <a:r>
              <a:rPr lang="en-US" dirty="0"/>
              <a:t> { RESTRICT | CASCADE </a:t>
            </a:r>
            <a:r>
              <a:rPr lang="en-US" dirty="0" smtClean="0"/>
              <a:t>}</a:t>
            </a:r>
            <a:endParaRPr lang="ru-RU" dirty="0" smtClean="0"/>
          </a:p>
          <a:p>
            <a:r>
              <a:rPr lang="ru-RU" dirty="0"/>
              <a:t>Успешное выполнение оператора приводит к тому, что указанная </a:t>
            </a:r>
            <a:r>
              <a:rPr lang="ru-RU" i="1" dirty="0"/>
              <a:t>базовая таблица</a:t>
            </a:r>
            <a:r>
              <a:rPr lang="ru-RU" dirty="0"/>
              <a:t> перестает существовать. Уничтожаются все ее строки</a:t>
            </a:r>
            <a:r>
              <a:rPr lang="ru-RU" dirty="0" smtClean="0"/>
              <a:t>, </a:t>
            </a:r>
            <a:r>
              <a:rPr lang="ru-RU" i="1" dirty="0" smtClean="0"/>
              <a:t>определения </a:t>
            </a:r>
            <a:r>
              <a:rPr lang="ru-RU" i="1" dirty="0"/>
              <a:t>столбцов</a:t>
            </a:r>
            <a:r>
              <a:rPr lang="ru-RU" dirty="0"/>
              <a:t> и табличные определения целостности. При наличии спецификации </a:t>
            </a:r>
            <a:r>
              <a:rPr lang="ru-RU" i="1" dirty="0"/>
              <a:t>RESTRICT</a:t>
            </a:r>
            <a:r>
              <a:rPr lang="ru-RU" dirty="0"/>
              <a:t> выполнение оператора </a:t>
            </a:r>
            <a:r>
              <a:rPr lang="ru-RU" i="1" dirty="0"/>
              <a:t>DROP TABLE</a:t>
            </a:r>
            <a:r>
              <a:rPr lang="ru-RU" dirty="0"/>
              <a:t> отвергается, если </a:t>
            </a:r>
            <a:r>
              <a:rPr lang="ru-RU" i="1" dirty="0"/>
              <a:t>имя таблицы</a:t>
            </a:r>
            <a:r>
              <a:rPr lang="ru-RU" dirty="0"/>
              <a:t> используется в каком-либо определении представления или </a:t>
            </a:r>
            <a:r>
              <a:rPr lang="ru-RU" i="1" dirty="0"/>
              <a:t>ограничения целостности</a:t>
            </a:r>
            <a:r>
              <a:rPr lang="ru-RU" dirty="0"/>
              <a:t> </a:t>
            </a:r>
            <a:r>
              <a:rPr lang="ru-RU" dirty="0" smtClean="0"/>
              <a:t>. </a:t>
            </a:r>
            <a:r>
              <a:rPr lang="ru-RU" dirty="0"/>
              <a:t>При наличии спецификации </a:t>
            </a:r>
            <a:r>
              <a:rPr lang="ru-RU" i="1" dirty="0"/>
              <a:t>CASCADE</a:t>
            </a:r>
            <a:r>
              <a:rPr lang="ru-RU" dirty="0"/>
              <a:t> оператор выполняется в любом случае, и все определения представлений и </a:t>
            </a:r>
            <a:r>
              <a:rPr lang="ru-RU" i="1" dirty="0"/>
              <a:t>ограничений целостности</a:t>
            </a:r>
            <a:r>
              <a:rPr lang="ru-RU" dirty="0"/>
              <a:t>, содержащие ссылки на данную таблицу, также отменяются.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248</a:t>
            </a:fld>
            <a:endParaRPr lang="ru-RU"/>
          </a:p>
        </p:txBody>
      </p:sp>
    </p:spTree>
    <p:extLst>
      <p:ext uri="{BB962C8B-B14F-4D97-AF65-F5344CB8AC3E}">
        <p14:creationId xmlns:p14="http://schemas.microsoft.com/office/powerpoint/2010/main" xmlns="" val="201618220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Средства определения и отмены общих ограничений целостности</a:t>
            </a:r>
            <a:br>
              <a:rPr lang="ru-RU" b="1" dirty="0"/>
            </a:br>
            <a:endParaRPr lang="ru-RU" dirty="0"/>
          </a:p>
        </p:txBody>
      </p:sp>
      <p:pic>
        <p:nvPicPr>
          <p:cNvPr id="2050" name="Picture 2" descr="Иерархия видов ограничений целостности"/>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32625" y="1690688"/>
            <a:ext cx="9346668" cy="4300345"/>
          </a:xfrm>
          <a:prstGeom prst="rect">
            <a:avLst/>
          </a:prstGeom>
          <a:noFill/>
          <a:extLst>
            <a:ext uri="{909E8E84-426E-40DD-AFC4-6F175D3DCCD1}">
              <a14:hiddenFill xmlns:a14="http://schemas.microsoft.com/office/drawing/2010/main" xmlns="">
                <a:solidFill>
                  <a:srgbClr val="FFFFFF"/>
                </a:solidFill>
              </a14:hiddenFill>
            </a:ext>
          </a:extLst>
        </p:spPr>
      </p:pic>
      <p:sp>
        <p:nvSpPr>
          <p:cNvPr id="3" name="Номер слайда 2"/>
          <p:cNvSpPr>
            <a:spLocks noGrp="1"/>
          </p:cNvSpPr>
          <p:nvPr>
            <p:ph type="sldNum" sz="quarter" idx="12"/>
          </p:nvPr>
        </p:nvSpPr>
        <p:spPr/>
        <p:txBody>
          <a:bodyPr/>
          <a:lstStyle/>
          <a:p>
            <a:fld id="{590C5F67-5E4C-4ABB-99F4-36BCAC8BE885}" type="slidenum">
              <a:rPr lang="ru-RU" smtClean="0"/>
              <a:pPr/>
              <a:t>249</a:t>
            </a:fld>
            <a:endParaRPr lang="ru-RU"/>
          </a:p>
        </p:txBody>
      </p:sp>
    </p:spTree>
    <p:extLst>
      <p:ext uri="{BB962C8B-B14F-4D97-AF65-F5344CB8AC3E}">
        <p14:creationId xmlns:p14="http://schemas.microsoft.com/office/powerpoint/2010/main" xmlns="" val="261403983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Определение общих ограничений целостности</a:t>
            </a:r>
            <a:br>
              <a:rPr lang="ru-RU" b="1" dirty="0"/>
            </a:br>
            <a:endParaRPr lang="ru-RU" dirty="0"/>
          </a:p>
        </p:txBody>
      </p:sp>
      <p:sp>
        <p:nvSpPr>
          <p:cNvPr id="3" name="Объект 2"/>
          <p:cNvSpPr>
            <a:spLocks noGrp="1"/>
          </p:cNvSpPr>
          <p:nvPr>
            <p:ph idx="1"/>
          </p:nvPr>
        </p:nvSpPr>
        <p:spPr/>
        <p:txBody>
          <a:bodyPr/>
          <a:lstStyle/>
          <a:p>
            <a:r>
              <a:rPr lang="ru-RU" dirty="0"/>
              <a:t>Для определения </a:t>
            </a:r>
            <a:r>
              <a:rPr lang="ru-RU" i="1" dirty="0"/>
              <a:t>общего ограничения целостности</a:t>
            </a:r>
            <a:r>
              <a:rPr lang="ru-RU" dirty="0"/>
              <a:t> служит оператор </a:t>
            </a:r>
            <a:r>
              <a:rPr lang="ru-RU" i="1" dirty="0"/>
              <a:t>CREATE ASSERTION</a:t>
            </a:r>
            <a:r>
              <a:rPr lang="ru-RU" dirty="0"/>
              <a:t> , задаваемый в следующем синтаксисе</a:t>
            </a:r>
            <a:r>
              <a:rPr lang="ru-RU" dirty="0" smtClean="0"/>
              <a:t>:</a:t>
            </a:r>
          </a:p>
          <a:p>
            <a:r>
              <a:rPr lang="en-US" dirty="0"/>
              <a:t>CREATE ASSERTION </a:t>
            </a:r>
            <a:r>
              <a:rPr lang="en-US" dirty="0" err="1"/>
              <a:t>constraint_name</a:t>
            </a:r>
            <a:r>
              <a:rPr lang="en-US" dirty="0"/>
              <a:t> </a:t>
            </a:r>
          </a:p>
          <a:p>
            <a:r>
              <a:rPr lang="en-US" dirty="0"/>
              <a:t>    CHECK (</a:t>
            </a:r>
            <a:r>
              <a:rPr lang="en-US" dirty="0" err="1"/>
              <a:t>conditional_expression</a:t>
            </a:r>
            <a:r>
              <a:rPr lang="en-US" dirty="0" smtClean="0"/>
              <a:t>)</a:t>
            </a:r>
          </a:p>
          <a:p>
            <a:r>
              <a:rPr lang="en-US" dirty="0"/>
              <a:t>C</a:t>
            </a:r>
            <a:r>
              <a:rPr lang="ru-RU" dirty="0" err="1" smtClean="0"/>
              <a:t>интаксис</a:t>
            </a:r>
            <a:r>
              <a:rPr lang="ru-RU" dirty="0" smtClean="0"/>
              <a:t> </a:t>
            </a:r>
            <a:r>
              <a:rPr lang="ru-RU" dirty="0"/>
              <a:t>определения общего ограничения совпадает с синтаксисом определений ограничений столбца и таблицы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250</a:t>
            </a:fld>
            <a:endParaRPr lang="ru-RU"/>
          </a:p>
        </p:txBody>
      </p:sp>
    </p:spTree>
    <p:extLst>
      <p:ext uri="{BB962C8B-B14F-4D97-AF65-F5344CB8AC3E}">
        <p14:creationId xmlns:p14="http://schemas.microsoft.com/office/powerpoint/2010/main" xmlns="" val="188994188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Отмена определения общего ограничения целостности</a:t>
            </a:r>
            <a:br>
              <a:rPr lang="ru-RU" b="1" dirty="0"/>
            </a:br>
            <a:endParaRPr lang="ru-RU" dirty="0"/>
          </a:p>
        </p:txBody>
      </p:sp>
      <p:sp>
        <p:nvSpPr>
          <p:cNvPr id="3" name="Объект 2"/>
          <p:cNvSpPr>
            <a:spLocks noGrp="1"/>
          </p:cNvSpPr>
          <p:nvPr>
            <p:ph idx="1"/>
          </p:nvPr>
        </p:nvSpPr>
        <p:spPr/>
        <p:txBody>
          <a:bodyPr/>
          <a:lstStyle/>
          <a:p>
            <a:r>
              <a:rPr lang="ru-RU" dirty="0"/>
              <a:t>Для того чтобы отменить ранее определенное общее ограничение целостности, нужно воспользоваться оператором </a:t>
            </a:r>
            <a:r>
              <a:rPr lang="ru-RU" i="1" dirty="0"/>
              <a:t>DROP ASSERTION</a:t>
            </a:r>
            <a:r>
              <a:rPr lang="ru-RU" dirty="0"/>
              <a:t>, задаваемым в следующем синтаксисе</a:t>
            </a:r>
            <a:r>
              <a:rPr lang="ru-RU" dirty="0" smtClean="0"/>
              <a:t>:</a:t>
            </a:r>
            <a:endParaRPr lang="en-US" dirty="0" smtClean="0"/>
          </a:p>
          <a:p>
            <a:r>
              <a:rPr lang="en-US" dirty="0"/>
              <a:t>DROP ASSERTION </a:t>
            </a:r>
            <a:r>
              <a:rPr lang="en-US" dirty="0" err="1"/>
              <a:t>constraint_name</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251</a:t>
            </a:fld>
            <a:endParaRPr lang="ru-RU"/>
          </a:p>
        </p:txBody>
      </p:sp>
    </p:spTree>
    <p:extLst>
      <p:ext uri="{BB962C8B-B14F-4D97-AF65-F5344CB8AC3E}">
        <p14:creationId xmlns:p14="http://schemas.microsoft.com/office/powerpoint/2010/main" xmlns="" val="1314757376"/>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Общая структура оператора выборки в языке SQL</a:t>
            </a:r>
          </a:p>
        </p:txBody>
      </p:sp>
      <p:sp>
        <p:nvSpPr>
          <p:cNvPr id="3" name="Объект 2"/>
          <p:cNvSpPr>
            <a:spLocks noGrp="1"/>
          </p:cNvSpPr>
          <p:nvPr>
            <p:ph idx="1"/>
          </p:nvPr>
        </p:nvSpPr>
        <p:spPr/>
        <p:txBody>
          <a:bodyPr/>
          <a:lstStyle/>
          <a:p>
            <a:r>
              <a:rPr lang="en-US" dirty="0"/>
              <a:t>SELECT [ ALL | DISTINCT ] </a:t>
            </a:r>
            <a:r>
              <a:rPr lang="en-US" dirty="0" err="1"/>
              <a:t>select_item_commalist</a:t>
            </a:r>
            <a:endParaRPr lang="en-US" dirty="0"/>
          </a:p>
          <a:p>
            <a:r>
              <a:rPr lang="en-US" dirty="0"/>
              <a:t>	FROM </a:t>
            </a:r>
            <a:r>
              <a:rPr lang="en-US" dirty="0" err="1"/>
              <a:t>table_reference_commalist</a:t>
            </a:r>
            <a:endParaRPr lang="en-US" dirty="0"/>
          </a:p>
          <a:p>
            <a:r>
              <a:rPr lang="en-US" dirty="0"/>
              <a:t>	  [ WHERE </a:t>
            </a:r>
            <a:r>
              <a:rPr lang="en-US" dirty="0" err="1"/>
              <a:t>conditional_expression</a:t>
            </a:r>
            <a:r>
              <a:rPr lang="en-US" dirty="0"/>
              <a:t> ]</a:t>
            </a:r>
          </a:p>
          <a:p>
            <a:r>
              <a:rPr lang="en-US" dirty="0"/>
              <a:t>	    [ GROUP BY </a:t>
            </a:r>
            <a:r>
              <a:rPr lang="en-US" dirty="0" err="1"/>
              <a:t>column_name_commalist</a:t>
            </a:r>
            <a:r>
              <a:rPr lang="en-US" dirty="0"/>
              <a:t> ]</a:t>
            </a:r>
          </a:p>
          <a:p>
            <a:r>
              <a:rPr lang="en-US" dirty="0"/>
              <a:t>	      [ HAVING </a:t>
            </a:r>
            <a:r>
              <a:rPr lang="en-US" dirty="0" err="1"/>
              <a:t>conditional_expression</a:t>
            </a:r>
            <a:r>
              <a:rPr lang="en-US" dirty="0"/>
              <a:t> ] </a:t>
            </a:r>
          </a:p>
          <a:p>
            <a:r>
              <a:rPr lang="en-US" dirty="0"/>
              <a:t>	        [ ORDER BY </a:t>
            </a:r>
            <a:r>
              <a:rPr lang="en-US" dirty="0" err="1"/>
              <a:t>order_item_commalist</a:t>
            </a:r>
            <a:r>
              <a:rPr lang="en-US" dirty="0"/>
              <a: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252</a:t>
            </a:fld>
            <a:endParaRPr lang="ru-RU"/>
          </a:p>
        </p:txBody>
      </p:sp>
    </p:spTree>
    <p:extLst>
      <p:ext uri="{BB962C8B-B14F-4D97-AF65-F5344CB8AC3E}">
        <p14:creationId xmlns:p14="http://schemas.microsoft.com/office/powerpoint/2010/main" xmlns="" val="129186223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Семантика оператора выборки</a:t>
            </a:r>
            <a:br>
              <a:rPr lang="ru-RU" b="1" dirty="0"/>
            </a:br>
            <a:endParaRPr lang="ru-RU" dirty="0"/>
          </a:p>
        </p:txBody>
      </p:sp>
      <p:sp>
        <p:nvSpPr>
          <p:cNvPr id="3" name="Объект 2"/>
          <p:cNvSpPr>
            <a:spLocks noGrp="1"/>
          </p:cNvSpPr>
          <p:nvPr>
            <p:ph idx="1"/>
          </p:nvPr>
        </p:nvSpPr>
        <p:spPr/>
        <p:txBody>
          <a:bodyPr>
            <a:normAutofit lnSpcReduction="10000"/>
          </a:bodyPr>
          <a:lstStyle/>
          <a:p>
            <a:r>
              <a:rPr lang="ru-RU" dirty="0"/>
              <a:t> </a:t>
            </a:r>
            <a:r>
              <a:rPr lang="ru-RU" dirty="0" smtClean="0"/>
              <a:t>Общая схема </a:t>
            </a:r>
            <a:r>
              <a:rPr lang="ru-RU" dirty="0"/>
              <a:t>выполнения </a:t>
            </a:r>
            <a:r>
              <a:rPr lang="ru-RU" i="1" dirty="0"/>
              <a:t>оператора SELECT</a:t>
            </a:r>
            <a:r>
              <a:rPr lang="ru-RU" dirty="0"/>
              <a:t> в соответствии с предписаниями </a:t>
            </a:r>
            <a:r>
              <a:rPr lang="ru-RU" dirty="0" smtClean="0"/>
              <a:t>стандарта.</a:t>
            </a:r>
          </a:p>
          <a:p>
            <a:r>
              <a:rPr lang="ru-RU" dirty="0"/>
              <a:t>Выполнение запроса состоит из нескольких шагов, соответствующих разделам оператора выборки. На первом шаге выполняется </a:t>
            </a:r>
            <a:r>
              <a:rPr lang="ru-RU" i="1" dirty="0"/>
              <a:t>раздел FROM</a:t>
            </a:r>
            <a:r>
              <a:rPr lang="ru-RU" dirty="0"/>
              <a:t>. Если список ссылок на таблицы ( </a:t>
            </a:r>
            <a:r>
              <a:rPr lang="ru-RU" dirty="0" err="1"/>
              <a:t>table_reference_commalist</a:t>
            </a:r>
            <a:r>
              <a:rPr lang="ru-RU" dirty="0"/>
              <a:t> ) этого раздела соответствует таблицам A, B, … C </a:t>
            </a:r>
            <a:r>
              <a:rPr lang="ru-RU" dirty="0" smtClean="0"/>
              <a:t>, </a:t>
            </a:r>
            <a:r>
              <a:rPr lang="ru-RU" dirty="0"/>
              <a:t>то в результате выполнения </a:t>
            </a:r>
            <a:r>
              <a:rPr lang="ru-RU" i="1" dirty="0"/>
              <a:t>раздела FROM</a:t>
            </a:r>
            <a:r>
              <a:rPr lang="ru-RU" dirty="0"/>
              <a:t> образуется таблица (назовем ее T ), являющаяся </a:t>
            </a:r>
            <a:r>
              <a:rPr lang="ru-RU" dirty="0" smtClean="0"/>
              <a:t> декартовым </a:t>
            </a:r>
            <a:r>
              <a:rPr lang="ru-RU" dirty="0"/>
              <a:t>произведением таблиц A, B, …, C. Если в </a:t>
            </a:r>
            <a:r>
              <a:rPr lang="ru-RU" i="1" dirty="0"/>
              <a:t>разделе FROM</a:t>
            </a:r>
            <a:r>
              <a:rPr lang="ru-RU" dirty="0"/>
              <a:t> указана только одна таблица, то она же и является результатом выполнения этого раздела.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253</a:t>
            </a:fld>
            <a:endParaRPr lang="ru-RU"/>
          </a:p>
        </p:txBody>
      </p:sp>
    </p:spTree>
    <p:extLst>
      <p:ext uri="{BB962C8B-B14F-4D97-AF65-F5344CB8AC3E}">
        <p14:creationId xmlns:p14="http://schemas.microsoft.com/office/powerpoint/2010/main" xmlns="" val="223148586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087821"/>
            <a:ext cx="10515600" cy="5089142"/>
          </a:xfrm>
        </p:spPr>
        <p:txBody>
          <a:bodyPr/>
          <a:lstStyle/>
          <a:p>
            <a:r>
              <a:rPr lang="ru-RU" dirty="0"/>
              <a:t>На втором шаге выполняется </a:t>
            </a:r>
            <a:r>
              <a:rPr lang="ru-RU" i="1" dirty="0"/>
              <a:t>раздел WHERE</a:t>
            </a:r>
            <a:r>
              <a:rPr lang="ru-RU" dirty="0"/>
              <a:t>. </a:t>
            </a:r>
            <a:r>
              <a:rPr lang="ru-RU" i="1" dirty="0"/>
              <a:t>Условное выражение</a:t>
            </a:r>
            <a:r>
              <a:rPr lang="ru-RU" dirty="0"/>
              <a:t> ( </a:t>
            </a:r>
            <a:r>
              <a:rPr lang="ru-RU" dirty="0" err="1"/>
              <a:t>conditional_expression</a:t>
            </a:r>
            <a:r>
              <a:rPr lang="ru-RU" dirty="0"/>
              <a:t> ) этого раздела применяется к каждой строке таблицы T, и результатом является таблица T1, содержащая те и только те строки таблицы T, для которых результатом вычисления </a:t>
            </a:r>
            <a:r>
              <a:rPr lang="ru-RU" i="1" dirty="0"/>
              <a:t>условного выражения</a:t>
            </a:r>
            <a:r>
              <a:rPr lang="ru-RU" dirty="0"/>
              <a:t> является </a:t>
            </a:r>
            <a:r>
              <a:rPr lang="ru-RU" b="1" dirty="0" err="1"/>
              <a:t>true</a:t>
            </a:r>
            <a:r>
              <a:rPr lang="ru-RU" dirty="0"/>
              <a:t>. (Заголовки таблиц T и T1 совпадают.) Если </a:t>
            </a:r>
            <a:r>
              <a:rPr lang="ru-RU" i="1" dirty="0"/>
              <a:t>раздел WHERE</a:t>
            </a:r>
            <a:r>
              <a:rPr lang="ru-RU" dirty="0"/>
              <a:t> в операторе выборки отсутствует, то это трактуется как наличие раздела WHERE </a:t>
            </a:r>
            <a:r>
              <a:rPr lang="ru-RU" dirty="0" err="1"/>
              <a:t>true</a:t>
            </a:r>
            <a:r>
              <a:rPr lang="ru-RU" dirty="0"/>
              <a:t>  т. е. T1 содержит те и только те строки, которые содержатся в таблице 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254</a:t>
            </a:fld>
            <a:endParaRPr lang="ru-RU"/>
          </a:p>
        </p:txBody>
      </p:sp>
    </p:spTree>
    <p:extLst>
      <p:ext uri="{BB962C8B-B14F-4D97-AF65-F5344CB8AC3E}">
        <p14:creationId xmlns:p14="http://schemas.microsoft.com/office/powerpoint/2010/main" xmlns="" val="149545466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551793"/>
            <a:ext cx="10515600" cy="5625170"/>
          </a:xfrm>
        </p:spPr>
        <p:txBody>
          <a:bodyPr>
            <a:normAutofit/>
          </a:bodyPr>
          <a:lstStyle/>
          <a:p>
            <a:r>
              <a:rPr lang="ru-RU" dirty="0"/>
              <a:t>Если в операторе выборки присутствует </a:t>
            </a:r>
            <a:r>
              <a:rPr lang="ru-RU" i="1" dirty="0"/>
              <a:t>раздел GROUP BY</a:t>
            </a:r>
            <a:r>
              <a:rPr lang="ru-RU" dirty="0"/>
              <a:t>, то он выполняется на третьем шаге. Каждый элемент списка имен столбцов (</a:t>
            </a:r>
            <a:r>
              <a:rPr lang="ru-RU" dirty="0" err="1"/>
              <a:t>column_name_commalist</a:t>
            </a:r>
            <a:r>
              <a:rPr lang="ru-RU" dirty="0"/>
              <a:t> ), указываемого в этом разделе, должен быть одним из имен столбцов таблицы T1. В результате выполнения раздела GROUP BY образуется </a:t>
            </a:r>
            <a:r>
              <a:rPr lang="ru-RU" b="1" dirty="0"/>
              <a:t>сгруппированная таблица</a:t>
            </a:r>
            <a:r>
              <a:rPr lang="ru-RU" dirty="0"/>
              <a:t> T2, в которой строки таблицы T1 расставлены в минимальное число групп, таких, что во всех строках одной группы значения столбцов, указанных в списке имен столбцов </a:t>
            </a:r>
            <a:r>
              <a:rPr lang="ru-RU" dirty="0" smtClean="0"/>
              <a:t>раздела</a:t>
            </a:r>
            <a:r>
              <a:rPr lang="en-US" dirty="0" smtClean="0"/>
              <a:t> </a:t>
            </a:r>
            <a:r>
              <a:rPr lang="ru-RU" dirty="0" smtClean="0"/>
              <a:t>GROUP </a:t>
            </a:r>
            <a:r>
              <a:rPr lang="ru-RU" dirty="0"/>
              <a:t>BY ( </a:t>
            </a:r>
            <a:r>
              <a:rPr lang="ru-RU" b="1" dirty="0"/>
              <a:t>столбцов группировки</a:t>
            </a:r>
            <a:r>
              <a:rPr lang="ru-RU" dirty="0"/>
              <a:t> ), </a:t>
            </a:r>
            <a:r>
              <a:rPr lang="ru-RU" dirty="0" smtClean="0"/>
              <a:t>одинаковы.</a:t>
            </a:r>
            <a:r>
              <a:rPr lang="ru-RU" dirty="0"/>
              <a:t> Заметим, что сгруппированные таблицы не могут являться окончательным результатом оператора выборки. Они существуют только на концептуальном уровне на стадии выполнения запроса, содержащего </a:t>
            </a:r>
            <a:r>
              <a:rPr lang="ru-RU" i="1" dirty="0"/>
              <a:t>раздел GROUP BY</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255</a:t>
            </a:fld>
            <a:endParaRPr lang="ru-RU"/>
          </a:p>
        </p:txBody>
      </p:sp>
    </p:spTree>
    <p:extLst>
      <p:ext uri="{BB962C8B-B14F-4D97-AF65-F5344CB8AC3E}">
        <p14:creationId xmlns:p14="http://schemas.microsoft.com/office/powerpoint/2010/main" xmlns="" val="57256944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365125"/>
            <a:ext cx="10515600" cy="5811838"/>
          </a:xfrm>
        </p:spPr>
        <p:txBody>
          <a:bodyPr>
            <a:normAutofit/>
          </a:bodyPr>
          <a:lstStyle/>
          <a:p>
            <a:r>
              <a:rPr lang="ru-RU" dirty="0"/>
              <a:t>Если в операторе выборки присутствует </a:t>
            </a:r>
            <a:r>
              <a:rPr lang="ru-RU" i="1" dirty="0"/>
              <a:t>раздел HAVING</a:t>
            </a:r>
            <a:r>
              <a:rPr lang="ru-RU" dirty="0"/>
              <a:t>, то он выполняется на следующем шаге. </a:t>
            </a:r>
            <a:r>
              <a:rPr lang="ru-RU" i="1" dirty="0"/>
              <a:t>Условное выражение</a:t>
            </a:r>
            <a:r>
              <a:rPr lang="ru-RU" dirty="0"/>
              <a:t> этого раздела применяется к каждой группе строк таблицы T2, и результатом является сгруппированная таблица T3, содержащая те и только те группы строк таблицы T2, для которых результатом вычисления </a:t>
            </a:r>
            <a:r>
              <a:rPr lang="ru-RU" i="1" dirty="0"/>
              <a:t>условного выражения</a:t>
            </a:r>
            <a:r>
              <a:rPr lang="ru-RU" dirty="0"/>
              <a:t> является </a:t>
            </a:r>
            <a:r>
              <a:rPr lang="ru-RU" b="1" dirty="0" err="1"/>
              <a:t>true</a:t>
            </a:r>
            <a:r>
              <a:rPr lang="ru-RU" dirty="0"/>
              <a:t>. </a:t>
            </a:r>
            <a:r>
              <a:rPr lang="ru-RU" i="1" dirty="0"/>
              <a:t>Условное выражение</a:t>
            </a:r>
            <a:r>
              <a:rPr lang="ru-RU" dirty="0"/>
              <a:t> </a:t>
            </a:r>
            <a:r>
              <a:rPr lang="ru-RU" i="1" dirty="0"/>
              <a:t>раздела HAVING</a:t>
            </a:r>
            <a:r>
              <a:rPr lang="ru-RU" dirty="0"/>
              <a:t> строится по синтаксическим правилам, общим для всех условных выражений, но обладает той спецификой, что применяется к группам строк, а не к отдельным строкам. Поэтому </a:t>
            </a:r>
            <a:r>
              <a:rPr lang="ru-RU" i="1" dirty="0"/>
              <a:t>предикаты</a:t>
            </a:r>
            <a:r>
              <a:rPr lang="ru-RU" dirty="0"/>
              <a:t>, из которых строится это </a:t>
            </a:r>
            <a:r>
              <a:rPr lang="ru-RU" i="1" dirty="0"/>
              <a:t>условное выражение</a:t>
            </a:r>
            <a:r>
              <a:rPr lang="ru-RU" dirty="0"/>
              <a:t>, должны быть </a:t>
            </a:r>
            <a:r>
              <a:rPr lang="ru-RU" i="1" dirty="0" smtClean="0"/>
              <a:t>предикатами</a:t>
            </a:r>
            <a:r>
              <a:rPr lang="en-US" i="1" dirty="0" smtClean="0"/>
              <a:t> </a:t>
            </a:r>
            <a:r>
              <a:rPr lang="ru-RU" dirty="0" smtClean="0"/>
              <a:t>на </a:t>
            </a:r>
            <a:r>
              <a:rPr lang="ru-RU" dirty="0"/>
              <a:t>группу в целом. В них могут использоваться имена столбцов группировки </a:t>
            </a:r>
            <a:r>
              <a:rPr lang="ru-RU" dirty="0" smtClean="0"/>
              <a:t>и </a:t>
            </a:r>
            <a:r>
              <a:rPr lang="ru-RU" dirty="0"/>
              <a:t>так называемые </a:t>
            </a:r>
            <a:r>
              <a:rPr lang="ru-RU" i="1" dirty="0"/>
              <a:t>агрегатные функции</a:t>
            </a:r>
            <a:r>
              <a:rPr lang="ru-RU" dirty="0"/>
              <a:t> ( COUNT, SUM, MIN, MAX, </a:t>
            </a:r>
            <a:r>
              <a:rPr lang="ru-RU" i="1" dirty="0"/>
              <a:t>AVG</a:t>
            </a:r>
            <a:r>
              <a:rPr lang="ru-RU" dirty="0"/>
              <a:t> ) от других столбцов</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256</a:t>
            </a:fld>
            <a:endParaRPr lang="ru-RU"/>
          </a:p>
        </p:txBody>
      </p:sp>
    </p:spTree>
    <p:extLst>
      <p:ext uri="{BB962C8B-B14F-4D97-AF65-F5344CB8AC3E}">
        <p14:creationId xmlns:p14="http://schemas.microsoft.com/office/powerpoint/2010/main" xmlns="" val="125781820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При наличии в запросе </a:t>
            </a:r>
            <a:r>
              <a:rPr lang="ru-RU" i="1" dirty="0"/>
              <a:t>раздела HAVING</a:t>
            </a:r>
            <a:r>
              <a:rPr lang="ru-RU" dirty="0"/>
              <a:t>, которому не предшествует </a:t>
            </a:r>
            <a:r>
              <a:rPr lang="ru-RU" i="1" dirty="0"/>
              <a:t>раздел GROUP BY</a:t>
            </a:r>
            <a:r>
              <a:rPr lang="ru-RU" dirty="0"/>
              <a:t>, таблица T1 рассматривается как сгруппированная таблица, состоящая из одной группы строк, без столбцов группирования. В этом случае </a:t>
            </a:r>
            <a:r>
              <a:rPr lang="ru-RU" i="1" dirty="0"/>
              <a:t>логическое выражение</a:t>
            </a:r>
            <a:r>
              <a:rPr lang="ru-RU" dirty="0"/>
              <a:t> </a:t>
            </a:r>
            <a:r>
              <a:rPr lang="ru-RU" i="1" dirty="0"/>
              <a:t>раздела HAVING</a:t>
            </a:r>
            <a:r>
              <a:rPr lang="ru-RU" dirty="0"/>
              <a:t> может состоять только из предикатов с </a:t>
            </a:r>
            <a:r>
              <a:rPr lang="ru-RU" i="1" dirty="0"/>
              <a:t>агрегатными функциями</a:t>
            </a:r>
            <a:r>
              <a:rPr lang="ru-RU" dirty="0"/>
              <a:t>, а результат вычисления этого раздела T3 либо совпадает с таблицей T1, либо является пустым.</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257</a:t>
            </a:fld>
            <a:endParaRPr lang="ru-RU"/>
          </a:p>
        </p:txBody>
      </p:sp>
    </p:spTree>
    <p:extLst>
      <p:ext uri="{BB962C8B-B14F-4D97-AF65-F5344CB8AC3E}">
        <p14:creationId xmlns:p14="http://schemas.microsoft.com/office/powerpoint/2010/main" xmlns="" val="355109408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Если в операторе выборки присутствует </a:t>
            </a:r>
            <a:r>
              <a:rPr lang="ru-RU" i="1" dirty="0"/>
              <a:t>раздел GROUP BY</a:t>
            </a:r>
            <a:r>
              <a:rPr lang="ru-RU" dirty="0"/>
              <a:t>, но отсутствует </a:t>
            </a:r>
            <a:r>
              <a:rPr lang="ru-RU" i="1" dirty="0"/>
              <a:t>раздел HAVING</a:t>
            </a:r>
            <a:r>
              <a:rPr lang="ru-RU" dirty="0"/>
              <a:t>, то это трактуется как наличие </a:t>
            </a:r>
            <a:r>
              <a:rPr lang="ru-RU" dirty="0" smtClean="0"/>
              <a:t>раздела</a:t>
            </a:r>
            <a:r>
              <a:rPr lang="en-US" dirty="0" smtClean="0"/>
              <a:t> </a:t>
            </a:r>
            <a:r>
              <a:rPr lang="ru-RU" dirty="0" smtClean="0"/>
              <a:t>HAVING </a:t>
            </a:r>
            <a:r>
              <a:rPr lang="ru-RU" dirty="0" err="1"/>
              <a:t>true</a:t>
            </a:r>
            <a:r>
              <a:rPr lang="ru-RU" dirty="0"/>
              <a:t>  т. е. T3 содержит те и только те группы строк, которые содержатся в таблице T2.</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258</a:t>
            </a:fld>
            <a:endParaRPr lang="ru-RU"/>
          </a:p>
        </p:txBody>
      </p:sp>
    </p:spTree>
    <p:extLst>
      <p:ext uri="{BB962C8B-B14F-4D97-AF65-F5344CB8AC3E}">
        <p14:creationId xmlns:p14="http://schemas.microsoft.com/office/powerpoint/2010/main" xmlns="" val="255584092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740979"/>
            <a:ext cx="10515600" cy="5435984"/>
          </a:xfrm>
        </p:spPr>
        <p:txBody>
          <a:bodyPr/>
          <a:lstStyle/>
          <a:p>
            <a:r>
              <a:rPr lang="ru-RU" dirty="0"/>
              <a:t>После выполнения </a:t>
            </a:r>
            <a:r>
              <a:rPr lang="ru-RU" i="1" dirty="0"/>
              <a:t>раздела WHERE</a:t>
            </a:r>
            <a:r>
              <a:rPr lang="ru-RU" dirty="0"/>
              <a:t> (если в запросе отсутствуют </a:t>
            </a:r>
            <a:r>
              <a:rPr lang="ru-RU" i="1" dirty="0"/>
              <a:t>разделы GROUP BY</a:t>
            </a:r>
            <a:r>
              <a:rPr lang="ru-RU" dirty="0"/>
              <a:t> и </a:t>
            </a:r>
            <a:r>
              <a:rPr lang="ru-RU" i="1" dirty="0"/>
              <a:t>HAVING</a:t>
            </a:r>
            <a:r>
              <a:rPr lang="ru-RU" dirty="0"/>
              <a:t>, случай (a)) или явно или неявно заданного </a:t>
            </a:r>
            <a:r>
              <a:rPr lang="ru-RU" i="1" dirty="0"/>
              <a:t>раздела HAVING</a:t>
            </a:r>
            <a:r>
              <a:rPr lang="ru-RU" dirty="0"/>
              <a:t> (случай (b)) выполняется </a:t>
            </a:r>
            <a:r>
              <a:rPr lang="ru-RU" i="1" dirty="0"/>
              <a:t>раздел SELECT</a:t>
            </a:r>
            <a:r>
              <a:rPr lang="ru-RU" dirty="0"/>
              <a:t>. При выполнении этого раздела на основе таблицы T1 в случае (a) или на основе сгруппированной таблицы T3 в случае (b) строится таблица T4, содержащая столько строк, сколько строк или групп строк содержится в таблицах T1 или T3 соответственно. Число столбцов в таблице T4 зависит от числа элементов в списке элементов выборки ( </a:t>
            </a:r>
            <a:r>
              <a:rPr lang="ru-RU" dirty="0" err="1"/>
              <a:t>select_item_commalist</a:t>
            </a:r>
            <a:r>
              <a:rPr lang="ru-RU" dirty="0"/>
              <a:t> ) и от вида элементов.</a:t>
            </a:r>
          </a:p>
        </p:txBody>
      </p:sp>
      <p:sp>
        <p:nvSpPr>
          <p:cNvPr id="4" name="Номер слайда 3"/>
          <p:cNvSpPr>
            <a:spLocks noGrp="1"/>
          </p:cNvSpPr>
          <p:nvPr>
            <p:ph type="sldNum" sz="quarter" idx="12"/>
          </p:nvPr>
        </p:nvSpPr>
        <p:spPr/>
        <p:txBody>
          <a:bodyPr/>
          <a:lstStyle/>
          <a:p>
            <a:fld id="{590C5F67-5E4C-4ABB-99F4-36BCAC8BE885}" type="slidenum">
              <a:rPr lang="ru-RU" smtClean="0"/>
              <a:pPr/>
              <a:t>259</a:t>
            </a:fld>
            <a:endParaRPr lang="ru-RU"/>
          </a:p>
        </p:txBody>
      </p:sp>
    </p:spTree>
    <p:extLst>
      <p:ext uri="{BB962C8B-B14F-4D97-AF65-F5344CB8AC3E}">
        <p14:creationId xmlns:p14="http://schemas.microsoft.com/office/powerpoint/2010/main" xmlns="" val="239853121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98634"/>
            <a:ext cx="10515600" cy="5278329"/>
          </a:xfrm>
        </p:spPr>
        <p:txBody>
          <a:bodyPr/>
          <a:lstStyle/>
          <a:p>
            <a:r>
              <a:rPr lang="ru-RU" dirty="0"/>
              <a:t> Если в спецификации </a:t>
            </a:r>
            <a:r>
              <a:rPr lang="ru-RU" i="1" dirty="0"/>
              <a:t>раздела SELECT</a:t>
            </a:r>
            <a:r>
              <a:rPr lang="ru-RU" dirty="0"/>
              <a:t> отсутствует ключевое слово </a:t>
            </a:r>
            <a:r>
              <a:rPr lang="ru-RU" i="1" dirty="0"/>
              <a:t>DISTINCT</a:t>
            </a:r>
            <a:r>
              <a:rPr lang="ru-RU" dirty="0"/>
              <a:t>, или присутствует ключевое слово ALL, либо отсутствуют и ALL, и </a:t>
            </a:r>
            <a:r>
              <a:rPr lang="ru-RU" i="1" dirty="0"/>
              <a:t>DISTINCT</a:t>
            </a:r>
            <a:r>
              <a:rPr lang="ru-RU" dirty="0"/>
              <a:t>, то T4 является результатом выполнения </a:t>
            </a:r>
            <a:r>
              <a:rPr lang="ru-RU" i="1" dirty="0"/>
              <a:t>раздела SELECT</a:t>
            </a:r>
            <a:r>
              <a:rPr lang="ru-RU" dirty="0"/>
              <a:t>. В противном случае на завершающей стадии выполнения </a:t>
            </a:r>
            <a:r>
              <a:rPr lang="ru-RU" i="1" dirty="0"/>
              <a:t>раздела SELECT</a:t>
            </a:r>
            <a:r>
              <a:rPr lang="ru-RU" dirty="0"/>
              <a:t> в таблице T4 удаляются строки-дубликаты</a:t>
            </a:r>
            <a:r>
              <a:rPr lang="ru-RU" dirty="0" smtClean="0"/>
              <a:t>.</a:t>
            </a:r>
            <a:endParaRPr lang="en-US" dirty="0" smtClean="0"/>
          </a:p>
          <a:p>
            <a:endParaRPr lang="en-US"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260</a:t>
            </a:fld>
            <a:endParaRPr lang="ru-RU"/>
          </a:p>
        </p:txBody>
      </p:sp>
    </p:spTree>
    <p:extLst>
      <p:ext uri="{BB962C8B-B14F-4D97-AF65-F5344CB8AC3E}">
        <p14:creationId xmlns:p14="http://schemas.microsoft.com/office/powerpoint/2010/main" xmlns="" val="271662462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662152"/>
            <a:ext cx="10515600" cy="5514811"/>
          </a:xfrm>
        </p:spPr>
        <p:txBody>
          <a:bodyPr/>
          <a:lstStyle/>
          <a:p>
            <a:r>
              <a:rPr lang="ru-RU" dirty="0"/>
              <a:t>Если в операторе выборки не содержится </a:t>
            </a:r>
            <a:r>
              <a:rPr lang="ru-RU" i="1" dirty="0"/>
              <a:t>раздел ORDER BY</a:t>
            </a:r>
            <a:r>
              <a:rPr lang="ru-RU" dirty="0"/>
              <a:t>, то таблица T4 является результирующей таблицей запроса. Иначе на завершающей стадии выполнения запроса производится сортировка строк таблицы T4 в соответствии со списком элементов сортировки ( </a:t>
            </a:r>
            <a:r>
              <a:rPr lang="ru-RU" dirty="0" err="1"/>
              <a:t>order_item_commalist</a:t>
            </a:r>
            <a:r>
              <a:rPr lang="ru-RU" dirty="0"/>
              <a:t> ) </a:t>
            </a:r>
            <a:r>
              <a:rPr lang="ru-RU" i="1" dirty="0"/>
              <a:t>раздела ORDER BY</a:t>
            </a:r>
            <a:r>
              <a:rPr lang="ru-RU" dirty="0"/>
              <a:t>. В </a:t>
            </a:r>
            <a:r>
              <a:rPr lang="ru-RU" i="1" dirty="0"/>
              <a:t>стандарте SQL:1999</a:t>
            </a:r>
            <a:r>
              <a:rPr lang="ru-RU" dirty="0"/>
              <a:t> элемент списка элементов сортировки имеет следующую синтаксическую форму</a:t>
            </a:r>
            <a:r>
              <a:rPr lang="ru-RU" dirty="0" smtClean="0"/>
              <a:t>:</a:t>
            </a:r>
            <a:endParaRPr lang="en-US" dirty="0" smtClean="0"/>
          </a:p>
          <a:p>
            <a:endParaRPr lang="en-US" dirty="0"/>
          </a:p>
          <a:p>
            <a:r>
              <a:rPr lang="en-US" dirty="0" err="1"/>
              <a:t>order_item</a:t>
            </a:r>
            <a:r>
              <a:rPr lang="en-US" dirty="0"/>
              <a:t> ::= </a:t>
            </a:r>
            <a:r>
              <a:rPr lang="en-US" dirty="0" err="1"/>
              <a:t>value_expression</a:t>
            </a:r>
            <a:r>
              <a:rPr lang="en-US" dirty="0"/>
              <a:t> [ </a:t>
            </a:r>
            <a:r>
              <a:rPr lang="en-US" dirty="0" err="1"/>
              <a:t>collate_clause</a:t>
            </a:r>
            <a:r>
              <a:rPr lang="en-US" dirty="0"/>
              <a:t> ] </a:t>
            </a:r>
          </a:p>
          <a:p>
            <a:r>
              <a:rPr lang="en-US" dirty="0"/>
              <a:t>	[ { ASC | DESC }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261</a:t>
            </a:fld>
            <a:endParaRPr lang="ru-RU"/>
          </a:p>
        </p:txBody>
      </p:sp>
    </p:spTree>
    <p:extLst>
      <p:ext uri="{BB962C8B-B14F-4D97-AF65-F5344CB8AC3E}">
        <p14:creationId xmlns:p14="http://schemas.microsoft.com/office/powerpoint/2010/main" xmlns="" val="413133052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693683"/>
            <a:ext cx="10515600" cy="5483280"/>
          </a:xfrm>
        </p:spPr>
        <p:txBody>
          <a:bodyPr>
            <a:normAutofit fontScale="92500"/>
          </a:bodyPr>
          <a:lstStyle/>
          <a:p>
            <a:r>
              <a:rPr lang="ru-RU" dirty="0"/>
              <a:t>Выполнение </a:t>
            </a:r>
            <a:r>
              <a:rPr lang="ru-RU" i="1" dirty="0"/>
              <a:t>раздела ORDER BY</a:t>
            </a:r>
            <a:r>
              <a:rPr lang="ru-RU" dirty="0"/>
              <a:t> производится следующим </a:t>
            </a:r>
            <a:r>
              <a:rPr lang="ru-RU" dirty="0" smtClean="0"/>
              <a:t>образом</a:t>
            </a:r>
            <a:r>
              <a:rPr lang="ru-RU" dirty="0"/>
              <a:t> Выбирается первый элемент списка сортировки, и строки таблицыT4 расставляются в порядке возрастания (если в элементе присутствует спецификация </a:t>
            </a:r>
            <a:r>
              <a:rPr lang="ru-RU" i="1" dirty="0"/>
              <a:t>ASC</a:t>
            </a:r>
            <a:r>
              <a:rPr lang="ru-RU" dirty="0"/>
              <a:t> ; при отсутствии </a:t>
            </a:r>
            <a:r>
              <a:rPr lang="ru-RU" dirty="0" smtClean="0"/>
              <a:t>спецификации</a:t>
            </a:r>
            <a:r>
              <a:rPr lang="en-US" dirty="0" smtClean="0"/>
              <a:t> </a:t>
            </a:r>
            <a:r>
              <a:rPr lang="ru-RU" i="1" dirty="0" smtClean="0"/>
              <a:t>ASC</a:t>
            </a:r>
            <a:r>
              <a:rPr lang="ru-RU" dirty="0" smtClean="0"/>
              <a:t>/</a:t>
            </a:r>
            <a:r>
              <a:rPr lang="ru-RU" i="1" dirty="0" smtClean="0"/>
              <a:t>DESC</a:t>
            </a:r>
            <a:r>
              <a:rPr lang="ru-RU" dirty="0"/>
              <a:t> предполагается наличие </a:t>
            </a:r>
            <a:r>
              <a:rPr lang="ru-RU" i="1" dirty="0"/>
              <a:t>ASC</a:t>
            </a:r>
            <a:r>
              <a:rPr lang="ru-RU" dirty="0"/>
              <a:t> ) или в порядке убывания (при наличии спецификации </a:t>
            </a:r>
            <a:r>
              <a:rPr lang="ru-RU" i="1" dirty="0"/>
              <a:t>DESC</a:t>
            </a:r>
            <a:r>
              <a:rPr lang="ru-RU" dirty="0"/>
              <a:t> ) в соответствии </a:t>
            </a:r>
            <a:r>
              <a:rPr lang="ru-RU" dirty="0" smtClean="0"/>
              <a:t>со</a:t>
            </a:r>
            <a:r>
              <a:rPr lang="en-US" smtClean="0"/>
              <a:t> </a:t>
            </a:r>
            <a:r>
              <a:rPr lang="ru-RU" i="1" smtClean="0"/>
              <a:t>значениями </a:t>
            </a:r>
            <a:r>
              <a:rPr lang="ru-RU" i="1" dirty="0"/>
              <a:t>выражения</a:t>
            </a:r>
            <a:r>
              <a:rPr lang="ru-RU" dirty="0"/>
              <a:t>, содержащегося в данном элементе, которые вычисляются для каждой строки таблицы T4. Далее выбирается второй элемент списка сортировки, и в соответствии со значениями заданного в нем выражения и порядка сортировки расставляются строки, которые после первого шага сортировки образовали группы с одинаковым значением выражения первого элемента списка сортировки. Операция продолжается до исчерпания списка элементов сортировки. Результирующий отсортированный список строк является окончательным результатом запроса.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262</a:t>
            </a:fld>
            <a:endParaRPr lang="ru-RU"/>
          </a:p>
        </p:txBody>
      </p:sp>
    </p:spTree>
    <p:extLst>
      <p:ext uri="{BB962C8B-B14F-4D97-AF65-F5344CB8AC3E}">
        <p14:creationId xmlns:p14="http://schemas.microsoft.com/office/powerpoint/2010/main" xmlns="" val="167611578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35572"/>
            <a:ext cx="10515600" cy="5341391"/>
          </a:xfrm>
        </p:spPr>
        <p:txBody>
          <a:bodyPr>
            <a:normAutofit/>
          </a:bodyPr>
          <a:lstStyle/>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263</a:t>
            </a:fld>
            <a:endParaRPr lang="ru-RU"/>
          </a:p>
        </p:txBody>
      </p:sp>
    </p:spTree>
    <p:extLst>
      <p:ext uri="{BB962C8B-B14F-4D97-AF65-F5344CB8AC3E}">
        <p14:creationId xmlns:p14="http://schemas.microsoft.com/office/powerpoint/2010/main" xmlns="" val="342473309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Логические выражения раздела </a:t>
            </a:r>
            <a:r>
              <a:rPr lang="en-US" b="1" dirty="0"/>
              <a:t>WHERE</a:t>
            </a:r>
            <a:br>
              <a:rPr lang="en-US" b="1" dirty="0"/>
            </a:br>
            <a:endParaRPr lang="ru-RU" dirty="0"/>
          </a:p>
        </p:txBody>
      </p:sp>
      <p:sp>
        <p:nvSpPr>
          <p:cNvPr id="3" name="Объект 2"/>
          <p:cNvSpPr>
            <a:spLocks noGrp="1"/>
          </p:cNvSpPr>
          <p:nvPr>
            <p:ph idx="1"/>
          </p:nvPr>
        </p:nvSpPr>
        <p:spPr/>
        <p:txBody>
          <a:bodyPr/>
          <a:lstStyle/>
          <a:p>
            <a:r>
              <a:rPr lang="ru-RU" dirty="0"/>
              <a:t>Синтаксически </a:t>
            </a:r>
            <a:r>
              <a:rPr lang="ru-RU" i="1" dirty="0"/>
              <a:t>логическое выражение раздела WHERE</a:t>
            </a:r>
            <a:r>
              <a:rPr lang="ru-RU" dirty="0"/>
              <a:t> определяется как </a:t>
            </a:r>
            <a:r>
              <a:rPr lang="ru-RU" i="1" dirty="0"/>
              <a:t>булевское выражение</a:t>
            </a:r>
            <a:r>
              <a:rPr lang="ru-RU" dirty="0"/>
              <a:t> </a:t>
            </a:r>
            <a:r>
              <a:rPr lang="ru-RU" dirty="0" smtClean="0"/>
              <a:t>.</a:t>
            </a:r>
          </a:p>
          <a:p>
            <a:r>
              <a:rPr lang="ru-RU" dirty="0"/>
              <a:t>Основой логического выражения являются </a:t>
            </a:r>
            <a:r>
              <a:rPr lang="ru-RU" i="1" dirty="0"/>
              <a:t>предикаты</a:t>
            </a:r>
            <a:r>
              <a:rPr lang="ru-RU" dirty="0"/>
              <a:t>. </a:t>
            </a:r>
            <a:r>
              <a:rPr lang="ru-RU" i="1" dirty="0" smtClean="0"/>
              <a:t>Предикат</a:t>
            </a:r>
            <a:r>
              <a:rPr lang="en-US" i="1" dirty="0" smtClean="0"/>
              <a:t> </a:t>
            </a:r>
            <a:r>
              <a:rPr lang="ru-RU" dirty="0" smtClean="0"/>
              <a:t>позволяет </a:t>
            </a:r>
            <a:r>
              <a:rPr lang="ru-RU" dirty="0"/>
              <a:t>специфицировать условие, результатом вычисления которого может быть </a:t>
            </a:r>
            <a:r>
              <a:rPr lang="ru-RU" dirty="0" err="1"/>
              <a:t>true</a:t>
            </a:r>
            <a:r>
              <a:rPr lang="ru-RU" dirty="0"/>
              <a:t>, </a:t>
            </a:r>
            <a:r>
              <a:rPr lang="ru-RU" dirty="0" err="1"/>
              <a:t>false</a:t>
            </a:r>
            <a:r>
              <a:rPr lang="ru-RU" dirty="0"/>
              <a:t> или </a:t>
            </a:r>
            <a:r>
              <a:rPr lang="ru-RU" dirty="0" err="1"/>
              <a:t>unknown</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264</a:t>
            </a:fld>
            <a:endParaRPr lang="ru-RU"/>
          </a:p>
        </p:txBody>
      </p:sp>
    </p:spTree>
    <p:extLst>
      <p:ext uri="{BB962C8B-B14F-4D97-AF65-F5344CB8AC3E}">
        <p14:creationId xmlns:p14="http://schemas.microsoft.com/office/powerpoint/2010/main" xmlns="" val="147130582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p>
        </p:txBody>
      </p:sp>
      <p:sp>
        <p:nvSpPr>
          <p:cNvPr id="3" name="Объект 2"/>
          <p:cNvSpPr>
            <a:spLocks noGrp="1"/>
          </p:cNvSpPr>
          <p:nvPr>
            <p:ph idx="1"/>
          </p:nvPr>
        </p:nvSpPr>
        <p:spPr>
          <a:xfrm>
            <a:off x="838200" y="551793"/>
            <a:ext cx="10515600" cy="5625169"/>
          </a:xfrm>
        </p:spPr>
        <p:txBody>
          <a:bodyPr>
            <a:normAutofit fontScale="92500" lnSpcReduction="20000"/>
          </a:bodyPr>
          <a:lstStyle/>
          <a:p>
            <a:r>
              <a:rPr lang="ru-RU" dirty="0"/>
              <a:t>В языке </a:t>
            </a:r>
            <a:r>
              <a:rPr lang="ru-RU" i="1" dirty="0"/>
              <a:t>SQL</a:t>
            </a:r>
            <a:r>
              <a:rPr lang="ru-RU" dirty="0"/>
              <a:t>:1999 допустимы следующие </a:t>
            </a:r>
            <a:r>
              <a:rPr lang="ru-RU" i="1" dirty="0"/>
              <a:t>предикаты</a:t>
            </a:r>
            <a:r>
              <a:rPr lang="ru-RU" dirty="0" smtClean="0"/>
              <a:t>:</a:t>
            </a:r>
          </a:p>
          <a:p>
            <a:r>
              <a:rPr lang="en-US" dirty="0"/>
              <a:t>predicate ::= </a:t>
            </a:r>
            <a:r>
              <a:rPr lang="en-US" dirty="0" err="1"/>
              <a:t>comparison_predicate</a:t>
            </a:r>
            <a:endParaRPr lang="en-US" dirty="0"/>
          </a:p>
          <a:p>
            <a:r>
              <a:rPr lang="en-US" dirty="0"/>
              <a:t>    | </a:t>
            </a:r>
            <a:r>
              <a:rPr lang="en-US" dirty="0" err="1"/>
              <a:t>between_predicate</a:t>
            </a:r>
            <a:endParaRPr lang="en-US" dirty="0"/>
          </a:p>
          <a:p>
            <a:r>
              <a:rPr lang="en-US" dirty="0"/>
              <a:t>    | </a:t>
            </a:r>
            <a:r>
              <a:rPr lang="en-US" dirty="0" err="1"/>
              <a:t>null_predicate</a:t>
            </a:r>
            <a:r>
              <a:rPr lang="en-US" dirty="0"/>
              <a:t> </a:t>
            </a:r>
          </a:p>
          <a:p>
            <a:r>
              <a:rPr lang="en-US" dirty="0"/>
              <a:t>    | </a:t>
            </a:r>
            <a:r>
              <a:rPr lang="en-US" dirty="0" err="1"/>
              <a:t>in_predicate</a:t>
            </a:r>
            <a:r>
              <a:rPr lang="en-US" dirty="0"/>
              <a:t> </a:t>
            </a:r>
          </a:p>
          <a:p>
            <a:r>
              <a:rPr lang="en-US" dirty="0"/>
              <a:t>    | </a:t>
            </a:r>
            <a:r>
              <a:rPr lang="en-US" dirty="0" err="1"/>
              <a:t>like_predicate</a:t>
            </a:r>
            <a:endParaRPr lang="en-US" dirty="0"/>
          </a:p>
          <a:p>
            <a:r>
              <a:rPr lang="en-US" dirty="0"/>
              <a:t>    | </a:t>
            </a:r>
            <a:r>
              <a:rPr lang="en-US" dirty="0" err="1"/>
              <a:t>similar_predicate</a:t>
            </a:r>
            <a:endParaRPr lang="en-US" dirty="0"/>
          </a:p>
          <a:p>
            <a:r>
              <a:rPr lang="en-US" dirty="0"/>
              <a:t>    | </a:t>
            </a:r>
            <a:r>
              <a:rPr lang="en-US" dirty="0" err="1"/>
              <a:t>exists_predicate</a:t>
            </a:r>
            <a:r>
              <a:rPr lang="en-US" dirty="0"/>
              <a:t> </a:t>
            </a:r>
          </a:p>
          <a:p>
            <a:r>
              <a:rPr lang="en-US" dirty="0"/>
              <a:t>    | </a:t>
            </a:r>
            <a:r>
              <a:rPr lang="en-US" dirty="0" err="1"/>
              <a:t>unique_predicate</a:t>
            </a:r>
            <a:r>
              <a:rPr lang="en-US" dirty="0"/>
              <a:t> </a:t>
            </a:r>
          </a:p>
          <a:p>
            <a:r>
              <a:rPr lang="en-US" dirty="0"/>
              <a:t>    | </a:t>
            </a:r>
            <a:r>
              <a:rPr lang="en-US" dirty="0" err="1"/>
              <a:t>overlaps_predicate</a:t>
            </a:r>
            <a:r>
              <a:rPr lang="en-US" dirty="0"/>
              <a:t> </a:t>
            </a:r>
          </a:p>
          <a:p>
            <a:r>
              <a:rPr lang="en-US" dirty="0"/>
              <a:t>    | </a:t>
            </a:r>
            <a:r>
              <a:rPr lang="en-US" dirty="0" err="1"/>
              <a:t>quantified_comparison_predicate</a:t>
            </a:r>
            <a:r>
              <a:rPr lang="en-US" dirty="0"/>
              <a:t> </a:t>
            </a:r>
          </a:p>
          <a:p>
            <a:r>
              <a:rPr lang="en-US" dirty="0"/>
              <a:t>    | </a:t>
            </a:r>
            <a:r>
              <a:rPr lang="en-US" dirty="0" err="1"/>
              <a:t>match_predicate</a:t>
            </a:r>
            <a:r>
              <a:rPr lang="en-US" dirty="0"/>
              <a:t> </a:t>
            </a:r>
          </a:p>
          <a:p>
            <a:r>
              <a:rPr lang="en-US" dirty="0"/>
              <a:t>    | </a:t>
            </a:r>
            <a:r>
              <a:rPr lang="en-US" dirty="0" err="1"/>
              <a:t>distinct_predicate</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265</a:t>
            </a:fld>
            <a:endParaRPr lang="ru-RU"/>
          </a:p>
        </p:txBody>
      </p:sp>
    </p:spTree>
    <p:extLst>
      <p:ext uri="{BB962C8B-B14F-4D97-AF65-F5344CB8AC3E}">
        <p14:creationId xmlns:p14="http://schemas.microsoft.com/office/powerpoint/2010/main" xmlns="" val="394294028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сравнения</a:t>
            </a:r>
            <a:br>
              <a:rPr lang="ru-RU" b="1" dirty="0"/>
            </a:br>
            <a:endParaRPr lang="ru-RU" dirty="0"/>
          </a:p>
        </p:txBody>
      </p:sp>
      <p:sp>
        <p:nvSpPr>
          <p:cNvPr id="3" name="Объект 2"/>
          <p:cNvSpPr>
            <a:spLocks noGrp="1"/>
          </p:cNvSpPr>
          <p:nvPr>
            <p:ph idx="1"/>
          </p:nvPr>
        </p:nvSpPr>
        <p:spPr/>
        <p:txBody>
          <a:bodyPr/>
          <a:lstStyle/>
          <a:p>
            <a:r>
              <a:rPr lang="ru-RU" dirty="0"/>
              <a:t>Этот </a:t>
            </a:r>
            <a:r>
              <a:rPr lang="ru-RU" i="1" dirty="0"/>
              <a:t>предикат</a:t>
            </a:r>
            <a:r>
              <a:rPr lang="ru-RU" dirty="0"/>
              <a:t> предназначен для спецификации сравнения двух строчных значений. Синтаксис </a:t>
            </a:r>
            <a:r>
              <a:rPr lang="ru-RU" i="1" dirty="0"/>
              <a:t>предиката</a:t>
            </a:r>
            <a:r>
              <a:rPr lang="ru-RU" dirty="0"/>
              <a:t> следующий</a:t>
            </a:r>
            <a:r>
              <a:rPr lang="ru-RU" dirty="0" smtClean="0"/>
              <a:t>:</a:t>
            </a:r>
          </a:p>
          <a:p>
            <a:r>
              <a:rPr lang="en-US" dirty="0" err="1"/>
              <a:t>comparison_predicate</a:t>
            </a:r>
            <a:r>
              <a:rPr lang="en-US" dirty="0"/>
              <a:t> ::= </a:t>
            </a:r>
          </a:p>
          <a:p>
            <a:r>
              <a:rPr lang="en-US" dirty="0"/>
              <a:t>    </a:t>
            </a:r>
            <a:r>
              <a:rPr lang="en-US" dirty="0" err="1"/>
              <a:t>row_value_constructor</a:t>
            </a:r>
            <a:r>
              <a:rPr lang="en-US" dirty="0"/>
              <a:t> </a:t>
            </a:r>
            <a:r>
              <a:rPr lang="en-US" dirty="0" err="1"/>
              <a:t>comp_op</a:t>
            </a:r>
            <a:r>
              <a:rPr lang="en-US" dirty="0"/>
              <a:t> </a:t>
            </a:r>
            <a:r>
              <a:rPr lang="en-US" dirty="0" err="1"/>
              <a:t>row_value_constructor</a:t>
            </a:r>
            <a:endParaRPr lang="en-US" dirty="0"/>
          </a:p>
          <a:p>
            <a:r>
              <a:rPr lang="en-US" dirty="0" err="1"/>
              <a:t>comp_op</a:t>
            </a:r>
            <a:r>
              <a:rPr lang="en-US" dirty="0"/>
              <a:t> ::= = | &lt;&gt; ("</a:t>
            </a:r>
            <a:r>
              <a:rPr lang="ru-RU" dirty="0"/>
              <a:t>неравно")| &lt; | &gt; </a:t>
            </a:r>
          </a:p>
          <a:p>
            <a:r>
              <a:rPr lang="ru-RU" dirty="0"/>
              <a:t>    | &lt;= "меньше или равно"| &gt;= "больше или </a:t>
            </a:r>
            <a:r>
              <a:rPr lang="ru-RU" dirty="0" smtClean="0"/>
              <a:t>равно«</a:t>
            </a:r>
          </a:p>
          <a:p>
            <a:r>
              <a:rPr lang="ru-RU" dirty="0"/>
              <a:t>Типы данных соответствующих значений строк-операндов должны быть совместимы.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266</a:t>
            </a:fld>
            <a:endParaRPr lang="ru-RU"/>
          </a:p>
        </p:txBody>
      </p:sp>
    </p:spTree>
    <p:extLst>
      <p:ext uri="{BB962C8B-B14F-4D97-AF65-F5344CB8AC3E}">
        <p14:creationId xmlns:p14="http://schemas.microsoft.com/office/powerpoint/2010/main" xmlns="" val="130638458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725214"/>
            <a:ext cx="10515600" cy="5451749"/>
          </a:xfrm>
        </p:spPr>
        <p:txBody>
          <a:bodyPr/>
          <a:lstStyle/>
          <a:p>
            <a:r>
              <a:rPr lang="ru-RU"/>
              <a:t>Пусть X и Y обозначают соответствующие элементы строк-операндов, а </a:t>
            </a:r>
            <a:r>
              <a:rPr lang="ru-RU" dirty="0" err="1"/>
              <a:t>xv</a:t>
            </a:r>
            <a:r>
              <a:rPr lang="ru-RU" dirty="0"/>
              <a:t> и </a:t>
            </a:r>
            <a:r>
              <a:rPr lang="ru-RU" dirty="0" err="1"/>
              <a:t>yv</a:t>
            </a:r>
            <a:r>
              <a:rPr lang="ru-RU" dirty="0"/>
              <a:t> - их значения. Тогда:</a:t>
            </a:r>
          </a:p>
          <a:p>
            <a:r>
              <a:rPr lang="ru-RU" dirty="0"/>
              <a:t>если </a:t>
            </a:r>
            <a:r>
              <a:rPr lang="ru-RU" dirty="0" err="1"/>
              <a:t>xv</a:t>
            </a:r>
            <a:r>
              <a:rPr lang="ru-RU" dirty="0"/>
              <a:t> и/или </a:t>
            </a:r>
            <a:r>
              <a:rPr lang="ru-RU" dirty="0" err="1"/>
              <a:t>yv</a:t>
            </a:r>
            <a:r>
              <a:rPr lang="ru-RU" dirty="0"/>
              <a:t> являются неопределенными значениями, то значение условия X </a:t>
            </a:r>
            <a:r>
              <a:rPr lang="ru-RU" dirty="0" err="1"/>
              <a:t>comp_op</a:t>
            </a:r>
            <a:r>
              <a:rPr lang="ru-RU" dirty="0"/>
              <a:t> Y -</a:t>
            </a:r>
            <a:r>
              <a:rPr lang="ru-RU" dirty="0" err="1"/>
              <a:t>unknown</a:t>
            </a:r>
            <a:r>
              <a:rPr lang="ru-RU" dirty="0"/>
              <a:t> ;</a:t>
            </a:r>
          </a:p>
          <a:p>
            <a:r>
              <a:rPr lang="ru-RU" dirty="0"/>
              <a:t>в противном случае значением условия X </a:t>
            </a:r>
            <a:r>
              <a:rPr lang="ru-RU" dirty="0" err="1"/>
              <a:t>comp_op</a:t>
            </a:r>
            <a:r>
              <a:rPr lang="ru-RU" dirty="0"/>
              <a:t> Y является </a:t>
            </a:r>
            <a:r>
              <a:rPr lang="ru-RU" dirty="0" err="1"/>
              <a:t>true</a:t>
            </a:r>
            <a:r>
              <a:rPr lang="ru-RU" dirty="0"/>
              <a:t> или </a:t>
            </a:r>
            <a:r>
              <a:rPr lang="ru-RU" dirty="0" err="1"/>
              <a:t>false</a:t>
            </a:r>
            <a:r>
              <a:rPr lang="ru-RU" dirty="0"/>
              <a:t> в соответствии с естественными правилами применения операции сравнения.</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267</a:t>
            </a:fld>
            <a:endParaRPr lang="ru-RU"/>
          </a:p>
        </p:txBody>
      </p:sp>
    </p:spTree>
    <p:extLst>
      <p:ext uri="{BB962C8B-B14F-4D97-AF65-F5344CB8AC3E}">
        <p14:creationId xmlns:p14="http://schemas.microsoft.com/office/powerpoint/2010/main" xmlns="" val="87311033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between</a:t>
            </a:r>
            <a:br>
              <a:rPr lang="en-US" b="1" dirty="0"/>
            </a:br>
            <a:endParaRPr lang="ru-RU" dirty="0"/>
          </a:p>
        </p:txBody>
      </p:sp>
      <p:sp>
        <p:nvSpPr>
          <p:cNvPr id="3" name="Объект 2"/>
          <p:cNvSpPr>
            <a:spLocks noGrp="1"/>
          </p:cNvSpPr>
          <p:nvPr>
            <p:ph idx="1"/>
          </p:nvPr>
        </p:nvSpPr>
        <p:spPr/>
        <p:txBody>
          <a:bodyPr/>
          <a:lstStyle/>
          <a:p>
            <a:r>
              <a:rPr lang="ru-RU" i="1" dirty="0"/>
              <a:t>Предикат</a:t>
            </a:r>
            <a:r>
              <a:rPr lang="ru-RU" dirty="0"/>
              <a:t> позволяет специфицировать условие вхождения в диапазон значений. Операндами являются строки</a:t>
            </a:r>
            <a:r>
              <a:rPr lang="ru-RU" dirty="0" smtClean="0"/>
              <a:t>:</a:t>
            </a:r>
          </a:p>
          <a:p>
            <a:r>
              <a:rPr lang="en-US" dirty="0" err="1"/>
              <a:t>between_predicate</a:t>
            </a:r>
            <a:r>
              <a:rPr lang="en-US" dirty="0"/>
              <a:t> ::=</a:t>
            </a:r>
          </a:p>
          <a:p>
            <a:r>
              <a:rPr lang="en-US" dirty="0"/>
              <a:t>    </a:t>
            </a:r>
            <a:r>
              <a:rPr lang="en-US" dirty="0" err="1"/>
              <a:t>row_value_constructor</a:t>
            </a:r>
            <a:r>
              <a:rPr lang="en-US" dirty="0"/>
              <a:t> [ NOT ] BETWEEN</a:t>
            </a:r>
          </a:p>
          <a:p>
            <a:r>
              <a:rPr lang="en-US" dirty="0"/>
              <a:t>    </a:t>
            </a:r>
            <a:r>
              <a:rPr lang="en-US" dirty="0" err="1"/>
              <a:t>row_value_constructor</a:t>
            </a:r>
            <a:r>
              <a:rPr lang="en-US" dirty="0"/>
              <a:t> AND </a:t>
            </a:r>
            <a:r>
              <a:rPr lang="en-US" dirty="0" err="1" smtClean="0"/>
              <a:t>row_value_constructor</a:t>
            </a:r>
            <a:endParaRPr lang="ru-RU" dirty="0" smtClean="0"/>
          </a:p>
          <a:p>
            <a:r>
              <a:rPr lang="ru-RU" dirty="0"/>
              <a:t>Типы данных соответствующих значений строк-операндов должны быть совместимыми.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268</a:t>
            </a:fld>
            <a:endParaRPr lang="ru-RU"/>
          </a:p>
        </p:txBody>
      </p:sp>
    </p:spTree>
    <p:extLst>
      <p:ext uri="{BB962C8B-B14F-4D97-AF65-F5344CB8AC3E}">
        <p14:creationId xmlns:p14="http://schemas.microsoft.com/office/powerpoint/2010/main" xmlns="" val="402902510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is null</a:t>
            </a:r>
            <a:br>
              <a:rPr lang="en-US" b="1" dirty="0"/>
            </a:br>
            <a:endParaRPr lang="ru-RU" dirty="0"/>
          </a:p>
        </p:txBody>
      </p:sp>
      <p:sp>
        <p:nvSpPr>
          <p:cNvPr id="3" name="Объект 2"/>
          <p:cNvSpPr>
            <a:spLocks noGrp="1"/>
          </p:cNvSpPr>
          <p:nvPr>
            <p:ph idx="1"/>
          </p:nvPr>
        </p:nvSpPr>
        <p:spPr/>
        <p:txBody>
          <a:bodyPr/>
          <a:lstStyle/>
          <a:p>
            <a:r>
              <a:rPr lang="ru-RU" dirty="0"/>
              <a:t>Предикат </a:t>
            </a:r>
            <a:r>
              <a:rPr lang="ru-RU" i="1" dirty="0" err="1"/>
              <a:t>is</a:t>
            </a:r>
            <a:r>
              <a:rPr lang="ru-RU" i="1" dirty="0"/>
              <a:t> </a:t>
            </a:r>
            <a:r>
              <a:rPr lang="ru-RU" i="1" dirty="0" err="1"/>
              <a:t>null</a:t>
            </a:r>
            <a:r>
              <a:rPr lang="ru-RU" dirty="0"/>
              <a:t> позволяет проверить, являются ли неопределенными значения всех элементов строки-операнда</a:t>
            </a:r>
            <a:r>
              <a:rPr lang="ru-RU" dirty="0" smtClean="0"/>
              <a:t>:</a:t>
            </a:r>
          </a:p>
          <a:p>
            <a:r>
              <a:rPr lang="en-US" dirty="0" err="1"/>
              <a:t>null_predicate</a:t>
            </a:r>
            <a:r>
              <a:rPr lang="en-US" dirty="0"/>
              <a:t> ::= </a:t>
            </a:r>
            <a:r>
              <a:rPr lang="en-US" dirty="0" err="1"/>
              <a:t>row_value_constructor</a:t>
            </a:r>
            <a:r>
              <a:rPr lang="en-US" dirty="0"/>
              <a:t> IS [ NOT ] NULL</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269</a:t>
            </a:fld>
            <a:endParaRPr lang="ru-RU"/>
          </a:p>
        </p:txBody>
      </p:sp>
    </p:spTree>
    <p:extLst>
      <p:ext uri="{BB962C8B-B14F-4D97-AF65-F5344CB8AC3E}">
        <p14:creationId xmlns:p14="http://schemas.microsoft.com/office/powerpoint/2010/main" xmlns="" val="251430119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in</a:t>
            </a:r>
            <a:br>
              <a:rPr lang="en-US" b="1" dirty="0"/>
            </a:br>
            <a:endParaRPr lang="ru-RU" dirty="0"/>
          </a:p>
        </p:txBody>
      </p:sp>
      <p:sp>
        <p:nvSpPr>
          <p:cNvPr id="3" name="Объект 2"/>
          <p:cNvSpPr>
            <a:spLocks noGrp="1"/>
          </p:cNvSpPr>
          <p:nvPr>
            <p:ph idx="1"/>
          </p:nvPr>
        </p:nvSpPr>
        <p:spPr/>
        <p:txBody>
          <a:bodyPr/>
          <a:lstStyle/>
          <a:p>
            <a:r>
              <a:rPr lang="ru-RU" i="1" dirty="0"/>
              <a:t>Предикат</a:t>
            </a:r>
            <a:r>
              <a:rPr lang="ru-RU" dirty="0"/>
              <a:t> позволяет специфицировать условие вхождения строчного значения в указанное множество значений. Синтаксические правила следующие</a:t>
            </a:r>
            <a:r>
              <a:rPr lang="ru-RU" dirty="0" smtClean="0"/>
              <a:t>:</a:t>
            </a:r>
          </a:p>
          <a:p>
            <a:endParaRPr lang="ru-RU" dirty="0"/>
          </a:p>
          <a:p>
            <a:r>
              <a:rPr lang="en-US" dirty="0" err="1"/>
              <a:t>in_predicate</a:t>
            </a:r>
            <a:r>
              <a:rPr lang="en-US" dirty="0"/>
              <a:t> ::= </a:t>
            </a:r>
            <a:r>
              <a:rPr lang="en-US" dirty="0" err="1"/>
              <a:t>row_value_constructor</a:t>
            </a:r>
            <a:r>
              <a:rPr lang="en-US" dirty="0"/>
              <a:t> [ NOT ]</a:t>
            </a:r>
          </a:p>
          <a:p>
            <a:r>
              <a:rPr lang="en-US" dirty="0"/>
              <a:t>    IN </a:t>
            </a:r>
            <a:r>
              <a:rPr lang="en-US" dirty="0" err="1"/>
              <a:t>in_predicate_value</a:t>
            </a:r>
            <a:endParaRPr lang="en-US" dirty="0"/>
          </a:p>
          <a:p>
            <a:r>
              <a:rPr lang="en-US" dirty="0" err="1"/>
              <a:t>in_predicate_value</a:t>
            </a:r>
            <a:r>
              <a:rPr lang="en-US" dirty="0"/>
              <a:t> ::= </a:t>
            </a:r>
            <a:r>
              <a:rPr lang="en-US" dirty="0" err="1"/>
              <a:t>table_subquery</a:t>
            </a:r>
            <a:endParaRPr lang="en-US" dirty="0"/>
          </a:p>
          <a:p>
            <a:r>
              <a:rPr lang="en-US" dirty="0"/>
              <a:t>    | (</a:t>
            </a:r>
            <a:r>
              <a:rPr lang="en-US" dirty="0" err="1"/>
              <a:t>value_expression_comma_list</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270</a:t>
            </a:fld>
            <a:endParaRPr lang="ru-RU"/>
          </a:p>
        </p:txBody>
      </p:sp>
    </p:spTree>
    <p:extLst>
      <p:ext uri="{BB962C8B-B14F-4D97-AF65-F5344CB8AC3E}">
        <p14:creationId xmlns:p14="http://schemas.microsoft.com/office/powerpoint/2010/main" xmlns="" val="1553116660"/>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like</a:t>
            </a:r>
            <a:br>
              <a:rPr lang="en-US" b="1" dirty="0"/>
            </a:br>
            <a:endParaRPr lang="ru-RU" dirty="0"/>
          </a:p>
        </p:txBody>
      </p:sp>
      <p:sp>
        <p:nvSpPr>
          <p:cNvPr id="3" name="Объект 2"/>
          <p:cNvSpPr>
            <a:spLocks noGrp="1"/>
          </p:cNvSpPr>
          <p:nvPr>
            <p:ph idx="1"/>
          </p:nvPr>
        </p:nvSpPr>
        <p:spPr/>
        <p:txBody>
          <a:bodyPr/>
          <a:lstStyle/>
          <a:p>
            <a:r>
              <a:rPr lang="ru-RU" dirty="0"/>
              <a:t>Формально предикат </a:t>
            </a:r>
            <a:r>
              <a:rPr lang="ru-RU" i="1" dirty="0" err="1"/>
              <a:t>like</a:t>
            </a:r>
            <a:r>
              <a:rPr lang="ru-RU" dirty="0"/>
              <a:t> определяется следующими синтаксическими правилами</a:t>
            </a:r>
            <a:r>
              <a:rPr lang="ru-RU" dirty="0" smtClean="0"/>
              <a:t>:</a:t>
            </a:r>
          </a:p>
          <a:p>
            <a:r>
              <a:rPr lang="en-US" dirty="0" err="1"/>
              <a:t>like_predicate</a:t>
            </a:r>
            <a:r>
              <a:rPr lang="en-US" dirty="0"/>
              <a:t> ::= </a:t>
            </a:r>
            <a:r>
              <a:rPr lang="en-US" dirty="0" err="1"/>
              <a:t>source_value</a:t>
            </a:r>
            <a:r>
              <a:rPr lang="en-US" dirty="0"/>
              <a:t> [ NOT ] </a:t>
            </a:r>
          </a:p>
          <a:p>
            <a:r>
              <a:rPr lang="en-US" dirty="0"/>
              <a:t>    LIKE </a:t>
            </a:r>
            <a:r>
              <a:rPr lang="en-US" dirty="0" err="1"/>
              <a:t>pattern_value</a:t>
            </a:r>
            <a:r>
              <a:rPr lang="en-US" dirty="0"/>
              <a:t> </a:t>
            </a:r>
            <a:endParaRPr lang="ru-RU" dirty="0" smtClean="0"/>
          </a:p>
          <a:p>
            <a:r>
              <a:rPr lang="en-US" dirty="0" err="1" smtClean="0"/>
              <a:t>source_value</a:t>
            </a:r>
            <a:r>
              <a:rPr lang="en-US" dirty="0" smtClean="0"/>
              <a:t> </a:t>
            </a:r>
            <a:r>
              <a:rPr lang="en-US" dirty="0"/>
              <a:t>::= </a:t>
            </a:r>
            <a:r>
              <a:rPr lang="en-US" dirty="0" err="1"/>
              <a:t>value_expression</a:t>
            </a:r>
            <a:r>
              <a:rPr lang="en-US" dirty="0"/>
              <a:t> </a:t>
            </a:r>
          </a:p>
          <a:p>
            <a:r>
              <a:rPr lang="en-US" dirty="0" err="1"/>
              <a:t>pattern_value</a:t>
            </a:r>
            <a:r>
              <a:rPr lang="en-US" dirty="0"/>
              <a:t> ::= </a:t>
            </a:r>
            <a:r>
              <a:rPr lang="en-US" dirty="0" err="1" smtClean="0"/>
              <a:t>value_expression</a:t>
            </a:r>
            <a:endParaRPr lang="en-US"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271</a:t>
            </a:fld>
            <a:endParaRPr lang="ru-RU"/>
          </a:p>
        </p:txBody>
      </p:sp>
    </p:spTree>
    <p:extLst>
      <p:ext uri="{BB962C8B-B14F-4D97-AF65-F5344CB8AC3E}">
        <p14:creationId xmlns:p14="http://schemas.microsoft.com/office/powerpoint/2010/main" xmlns="" val="88387042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similar</a:t>
            </a:r>
            <a:br>
              <a:rPr lang="en-US" b="1" dirty="0"/>
            </a:br>
            <a:endParaRPr lang="ru-RU" dirty="0"/>
          </a:p>
        </p:txBody>
      </p:sp>
      <p:sp>
        <p:nvSpPr>
          <p:cNvPr id="3" name="Объект 2"/>
          <p:cNvSpPr>
            <a:spLocks noGrp="1"/>
          </p:cNvSpPr>
          <p:nvPr>
            <p:ph idx="1"/>
          </p:nvPr>
        </p:nvSpPr>
        <p:spPr/>
        <p:txBody>
          <a:bodyPr/>
          <a:lstStyle/>
          <a:p>
            <a:r>
              <a:rPr lang="ru-RU" dirty="0"/>
              <a:t>Формально предикат </a:t>
            </a:r>
            <a:r>
              <a:rPr lang="ru-RU" i="1" dirty="0" err="1"/>
              <a:t>similar</a:t>
            </a:r>
            <a:r>
              <a:rPr lang="ru-RU" dirty="0"/>
              <a:t> определяется следующими синтаксическими правилами</a:t>
            </a:r>
            <a:r>
              <a:rPr lang="ru-RU" dirty="0" smtClean="0"/>
              <a:t>:</a:t>
            </a:r>
          </a:p>
          <a:p>
            <a:r>
              <a:rPr lang="en-US" dirty="0" err="1"/>
              <a:t>similar_predicate</a:t>
            </a:r>
            <a:r>
              <a:rPr lang="en-US" dirty="0"/>
              <a:t> ::= </a:t>
            </a:r>
            <a:r>
              <a:rPr lang="en-US" dirty="0" err="1"/>
              <a:t>source_value</a:t>
            </a:r>
            <a:r>
              <a:rPr lang="en-US" dirty="0"/>
              <a:t> [ NOT ] </a:t>
            </a:r>
          </a:p>
          <a:p>
            <a:r>
              <a:rPr lang="en-US" dirty="0"/>
              <a:t>    SIMILAR TO </a:t>
            </a:r>
            <a:r>
              <a:rPr lang="en-US" dirty="0" err="1"/>
              <a:t>pattern_value</a:t>
            </a:r>
            <a:r>
              <a:rPr lang="en-US" dirty="0"/>
              <a:t> </a:t>
            </a:r>
            <a:endParaRPr lang="ru-RU" dirty="0" smtClean="0"/>
          </a:p>
          <a:p>
            <a:r>
              <a:rPr lang="en-US" dirty="0" err="1" smtClean="0"/>
              <a:t>source_value</a:t>
            </a:r>
            <a:r>
              <a:rPr lang="en-US" dirty="0" smtClean="0"/>
              <a:t> </a:t>
            </a:r>
            <a:r>
              <a:rPr lang="en-US" dirty="0"/>
              <a:t>::= </a:t>
            </a:r>
            <a:r>
              <a:rPr lang="en-US" dirty="0" err="1"/>
              <a:t>character_expression</a:t>
            </a:r>
            <a:r>
              <a:rPr lang="en-US" dirty="0"/>
              <a:t> </a:t>
            </a:r>
          </a:p>
          <a:p>
            <a:r>
              <a:rPr lang="en-US" dirty="0" err="1"/>
              <a:t>pattern_value</a:t>
            </a:r>
            <a:r>
              <a:rPr lang="en-US" dirty="0"/>
              <a:t> ::= </a:t>
            </a:r>
            <a:r>
              <a:rPr lang="en-US" dirty="0" err="1" smtClean="0"/>
              <a:t>character_expression</a:t>
            </a:r>
            <a:endParaRPr lang="en-US"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272</a:t>
            </a:fld>
            <a:endParaRPr lang="ru-RU"/>
          </a:p>
        </p:txBody>
      </p:sp>
    </p:spTree>
    <p:extLst>
      <p:ext uri="{BB962C8B-B14F-4D97-AF65-F5344CB8AC3E}">
        <p14:creationId xmlns:p14="http://schemas.microsoft.com/office/powerpoint/2010/main" xmlns="" val="229784822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690688"/>
            <a:ext cx="10515600" cy="4486275"/>
          </a:xfrm>
        </p:spPr>
        <p:txBody>
          <a:bodyPr/>
          <a:lstStyle/>
          <a:p>
            <a:r>
              <a:rPr lang="ru-RU" dirty="0"/>
              <a:t>Основное отличие предиката </a:t>
            </a:r>
            <a:r>
              <a:rPr lang="ru-RU" i="1" dirty="0" err="1"/>
              <a:t>similar</a:t>
            </a:r>
            <a:r>
              <a:rPr lang="ru-RU" dirty="0"/>
              <a:t> от рассмотренного ранее предиката </a:t>
            </a:r>
            <a:r>
              <a:rPr lang="ru-RU" i="1" dirty="0" err="1"/>
              <a:t>like</a:t>
            </a:r>
            <a:r>
              <a:rPr lang="ru-RU" dirty="0"/>
              <a:t> состоит в существенно расширенных возможностях задания шаблона, основанных на использовании правил построения </a:t>
            </a:r>
            <a:r>
              <a:rPr lang="ru-RU" b="1" dirty="0"/>
              <a:t>регулярных выражений</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273</a:t>
            </a:fld>
            <a:endParaRPr lang="ru-RU"/>
          </a:p>
        </p:txBody>
      </p:sp>
    </p:spTree>
    <p:extLst>
      <p:ext uri="{BB962C8B-B14F-4D97-AF65-F5344CB8AC3E}">
        <p14:creationId xmlns:p14="http://schemas.microsoft.com/office/powerpoint/2010/main" xmlns="" val="329430361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exists</a:t>
            </a:r>
            <a:br>
              <a:rPr lang="en-US" b="1" dirty="0"/>
            </a:br>
            <a:endParaRPr lang="ru-RU" dirty="0"/>
          </a:p>
        </p:txBody>
      </p:sp>
      <p:sp>
        <p:nvSpPr>
          <p:cNvPr id="3" name="Объект 2"/>
          <p:cNvSpPr>
            <a:spLocks noGrp="1"/>
          </p:cNvSpPr>
          <p:nvPr>
            <p:ph idx="1"/>
          </p:nvPr>
        </p:nvSpPr>
        <p:spPr/>
        <p:txBody>
          <a:bodyPr/>
          <a:lstStyle/>
          <a:p>
            <a:r>
              <a:rPr lang="ru-RU" dirty="0"/>
              <a:t>Предикат </a:t>
            </a:r>
            <a:r>
              <a:rPr lang="ru-RU" i="1" dirty="0" err="1"/>
              <a:t>exists</a:t>
            </a:r>
            <a:r>
              <a:rPr lang="ru-RU" dirty="0"/>
              <a:t> определяется следующим синтаксическим правилом</a:t>
            </a:r>
            <a:r>
              <a:rPr lang="ru-RU" dirty="0" smtClean="0"/>
              <a:t>:</a:t>
            </a:r>
          </a:p>
          <a:p>
            <a:endParaRPr lang="en-US" dirty="0"/>
          </a:p>
          <a:p>
            <a:r>
              <a:rPr lang="en-US" dirty="0" err="1"/>
              <a:t>exists_predicate</a:t>
            </a:r>
            <a:r>
              <a:rPr lang="en-US" dirty="0"/>
              <a:t> ::= EXISTS (</a:t>
            </a:r>
            <a:r>
              <a:rPr lang="en-US" dirty="0" err="1"/>
              <a:t>query_expression</a:t>
            </a:r>
            <a:r>
              <a:rPr lang="en-US" dirty="0" smtClean="0"/>
              <a:t>)</a:t>
            </a:r>
            <a:endParaRPr lang="ru-RU" dirty="0" smtClean="0"/>
          </a:p>
          <a:p>
            <a:r>
              <a:rPr lang="ru-RU" dirty="0"/>
              <a:t>Значением условия EXISTS (</a:t>
            </a:r>
            <a:r>
              <a:rPr lang="ru-RU" dirty="0" err="1"/>
              <a:t>query_expression</a:t>
            </a:r>
            <a:r>
              <a:rPr lang="ru-RU" dirty="0"/>
              <a:t>) является </a:t>
            </a:r>
            <a:r>
              <a:rPr lang="ru-RU" dirty="0" err="1"/>
              <a:t>true</a:t>
            </a:r>
            <a:r>
              <a:rPr lang="ru-RU" dirty="0"/>
              <a:t> в том и только в том случае, когда мощность таблицы-результата выражения запросов больше нуля, иначе значением условия является </a:t>
            </a:r>
            <a:r>
              <a:rPr lang="ru-RU" dirty="0" err="1"/>
              <a:t>false</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274</a:t>
            </a:fld>
            <a:endParaRPr lang="ru-RU"/>
          </a:p>
        </p:txBody>
      </p:sp>
    </p:spTree>
    <p:extLst>
      <p:ext uri="{BB962C8B-B14F-4D97-AF65-F5344CB8AC3E}">
        <p14:creationId xmlns:p14="http://schemas.microsoft.com/office/powerpoint/2010/main" xmlns="" val="1633223028"/>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unique</a:t>
            </a:r>
            <a:br>
              <a:rPr lang="en-US" b="1" dirty="0"/>
            </a:br>
            <a:endParaRPr lang="ru-RU" dirty="0"/>
          </a:p>
        </p:txBody>
      </p:sp>
      <p:sp>
        <p:nvSpPr>
          <p:cNvPr id="3" name="Объект 2"/>
          <p:cNvSpPr>
            <a:spLocks noGrp="1"/>
          </p:cNvSpPr>
          <p:nvPr>
            <p:ph idx="1"/>
          </p:nvPr>
        </p:nvSpPr>
        <p:spPr/>
        <p:txBody>
          <a:bodyPr/>
          <a:lstStyle/>
          <a:p>
            <a:r>
              <a:rPr lang="ru-RU" dirty="0"/>
              <a:t>Этот </a:t>
            </a:r>
            <a:r>
              <a:rPr lang="ru-RU" i="1" dirty="0"/>
              <a:t>предикат</a:t>
            </a:r>
            <a:r>
              <a:rPr lang="ru-RU" dirty="0"/>
              <a:t> позволяет сформулировать условие отсутствия дубликатов в результате запроса</a:t>
            </a:r>
            <a:r>
              <a:rPr lang="ru-RU" dirty="0" smtClean="0"/>
              <a:t>:</a:t>
            </a:r>
          </a:p>
          <a:p>
            <a:r>
              <a:rPr lang="en-US" dirty="0" err="1"/>
              <a:t>unique_predicate</a:t>
            </a:r>
            <a:r>
              <a:rPr lang="en-US" dirty="0"/>
              <a:t> ::= UNIQUE (</a:t>
            </a:r>
            <a:r>
              <a:rPr lang="en-US" dirty="0" err="1"/>
              <a:t>query_expression</a:t>
            </a:r>
            <a:r>
              <a:rPr lang="en-US" dirty="0" smtClean="0"/>
              <a:t>)</a:t>
            </a:r>
            <a:endParaRPr lang="ru-RU" dirty="0" smtClean="0"/>
          </a:p>
          <a:p>
            <a:r>
              <a:rPr lang="ru-RU" dirty="0"/>
              <a:t>Результатом вычисления условия </a:t>
            </a:r>
            <a:r>
              <a:rPr lang="ru-RU" i="1" dirty="0"/>
              <a:t>UNIQUE</a:t>
            </a:r>
            <a:r>
              <a:rPr lang="ru-RU" dirty="0"/>
              <a:t> (</a:t>
            </a:r>
            <a:r>
              <a:rPr lang="ru-RU" dirty="0" err="1"/>
              <a:t>query_expression</a:t>
            </a:r>
            <a:r>
              <a:rPr lang="ru-RU" dirty="0"/>
              <a:t>) является </a:t>
            </a:r>
            <a:r>
              <a:rPr lang="ru-RU" dirty="0" err="1"/>
              <a:t>true</a:t>
            </a:r>
            <a:r>
              <a:rPr lang="ru-RU" dirty="0"/>
              <a:t> в том и только в том случае, когда в таблице-результате выражения запросов отсутствуют какие-либо две строки, одна из которых является дубликатом другой. В противном случае значение условия есть </a:t>
            </a:r>
            <a:r>
              <a:rPr lang="ru-RU" dirty="0" err="1"/>
              <a:t>false</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275</a:t>
            </a:fld>
            <a:endParaRPr lang="ru-RU"/>
          </a:p>
        </p:txBody>
      </p:sp>
    </p:spTree>
    <p:extLst>
      <p:ext uri="{BB962C8B-B14F-4D97-AF65-F5344CB8AC3E}">
        <p14:creationId xmlns:p14="http://schemas.microsoft.com/office/powerpoint/2010/main" xmlns="" val="1543241997"/>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overlaps</a:t>
            </a:r>
            <a:br>
              <a:rPr lang="en-US" b="1" dirty="0"/>
            </a:br>
            <a:endParaRPr lang="ru-RU" dirty="0"/>
          </a:p>
        </p:txBody>
      </p:sp>
      <p:sp>
        <p:nvSpPr>
          <p:cNvPr id="3" name="Объект 2"/>
          <p:cNvSpPr>
            <a:spLocks noGrp="1"/>
          </p:cNvSpPr>
          <p:nvPr>
            <p:ph idx="1"/>
          </p:nvPr>
        </p:nvSpPr>
        <p:spPr/>
        <p:txBody>
          <a:bodyPr/>
          <a:lstStyle/>
          <a:p>
            <a:r>
              <a:rPr lang="ru-RU" dirty="0"/>
              <a:t>Этот </a:t>
            </a:r>
            <a:r>
              <a:rPr lang="ru-RU" i="1" dirty="0"/>
              <a:t>предикат</a:t>
            </a:r>
            <a:r>
              <a:rPr lang="ru-RU" dirty="0"/>
              <a:t> служит для проверки перекрытия во времени двух событий. Условие определяется следующим синтаксисом</a:t>
            </a:r>
            <a:r>
              <a:rPr lang="ru-RU" dirty="0" smtClean="0"/>
              <a:t>:</a:t>
            </a:r>
          </a:p>
          <a:p>
            <a:endParaRPr lang="ru-RU" dirty="0"/>
          </a:p>
          <a:p>
            <a:r>
              <a:rPr lang="en-US" dirty="0" err="1"/>
              <a:t>overlaps_predicate</a:t>
            </a:r>
            <a:r>
              <a:rPr lang="en-US" dirty="0"/>
              <a:t> ::= </a:t>
            </a:r>
            <a:r>
              <a:rPr lang="en-US" dirty="0" err="1"/>
              <a:t>row_value_constructor</a:t>
            </a:r>
            <a:r>
              <a:rPr lang="en-US" dirty="0"/>
              <a:t> OVERLAPS</a:t>
            </a:r>
          </a:p>
          <a:p>
            <a:r>
              <a:rPr lang="en-US" dirty="0"/>
              <a:t>    </a:t>
            </a:r>
            <a:r>
              <a:rPr lang="en-US" dirty="0" err="1"/>
              <a:t>row_value_constructor</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276</a:t>
            </a:fld>
            <a:endParaRPr lang="ru-RU"/>
          </a:p>
        </p:txBody>
      </p:sp>
    </p:spTree>
    <p:extLst>
      <p:ext uri="{BB962C8B-B14F-4D97-AF65-F5344CB8AC3E}">
        <p14:creationId xmlns:p14="http://schemas.microsoft.com/office/powerpoint/2010/main" xmlns="" val="232265858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is distinct</a:t>
            </a:r>
            <a:br>
              <a:rPr lang="en-US" b="1" dirty="0"/>
            </a:br>
            <a:endParaRPr lang="ru-RU" dirty="0"/>
          </a:p>
        </p:txBody>
      </p:sp>
      <p:sp>
        <p:nvSpPr>
          <p:cNvPr id="3" name="Объект 2"/>
          <p:cNvSpPr>
            <a:spLocks noGrp="1"/>
          </p:cNvSpPr>
          <p:nvPr>
            <p:ph idx="1"/>
          </p:nvPr>
        </p:nvSpPr>
        <p:spPr/>
        <p:txBody>
          <a:bodyPr/>
          <a:lstStyle/>
          <a:p>
            <a:r>
              <a:rPr lang="ru-RU" i="1" dirty="0"/>
              <a:t>Предикат</a:t>
            </a:r>
            <a:r>
              <a:rPr lang="ru-RU" dirty="0"/>
              <a:t> позволяет проверить, являются ли две строки дубликатами. Условие определяется следующим синтаксическим правилом</a:t>
            </a:r>
            <a:r>
              <a:rPr lang="ru-RU" dirty="0" smtClean="0"/>
              <a:t>:</a:t>
            </a:r>
            <a:endParaRPr lang="en-US" dirty="0" smtClean="0"/>
          </a:p>
          <a:p>
            <a:r>
              <a:rPr lang="en-US" dirty="0" err="1"/>
              <a:t>distinct_predicate</a:t>
            </a:r>
            <a:r>
              <a:rPr lang="en-US" dirty="0"/>
              <a:t> ::= </a:t>
            </a:r>
            <a:r>
              <a:rPr lang="en-US" dirty="0" err="1"/>
              <a:t>row_value_constructor</a:t>
            </a:r>
            <a:r>
              <a:rPr lang="en-US" dirty="0"/>
              <a:t> IS DISTINCT FROM</a:t>
            </a:r>
          </a:p>
          <a:p>
            <a:r>
              <a:rPr lang="en-US" dirty="0"/>
              <a:t>    </a:t>
            </a:r>
            <a:r>
              <a:rPr lang="en-US" dirty="0" err="1"/>
              <a:t>row_value_constructor</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277</a:t>
            </a:fld>
            <a:endParaRPr lang="ru-RU"/>
          </a:p>
        </p:txBody>
      </p:sp>
    </p:spTree>
    <p:extLst>
      <p:ext uri="{BB962C8B-B14F-4D97-AF65-F5344CB8AC3E}">
        <p14:creationId xmlns:p14="http://schemas.microsoft.com/office/powerpoint/2010/main" xmlns="" val="1324330869"/>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Агрегатные функции, группировка и условия раздела HAVING</a:t>
            </a:r>
            <a:br>
              <a:rPr lang="ru-RU" b="1" dirty="0"/>
            </a:br>
            <a:endParaRPr lang="ru-RU" dirty="0"/>
          </a:p>
        </p:txBody>
      </p:sp>
      <p:sp>
        <p:nvSpPr>
          <p:cNvPr id="3" name="Объект 2"/>
          <p:cNvSpPr>
            <a:spLocks noGrp="1"/>
          </p:cNvSpPr>
          <p:nvPr>
            <p:ph idx="1"/>
          </p:nvPr>
        </p:nvSpPr>
        <p:spPr>
          <a:xfrm>
            <a:off x="838200" y="1355834"/>
            <a:ext cx="10515600" cy="4821129"/>
          </a:xfrm>
        </p:spPr>
        <p:txBody>
          <a:bodyPr>
            <a:normAutofit/>
          </a:bodyPr>
          <a:lstStyle/>
          <a:p>
            <a:r>
              <a:rPr lang="ru-RU" i="1" dirty="0"/>
              <a:t>Агрегатные функции</a:t>
            </a:r>
            <a:r>
              <a:rPr lang="ru-RU" dirty="0"/>
              <a:t> (в стандарте SQL они называются функциями над множествами)  определяются следующими синтаксическими правилами</a:t>
            </a:r>
            <a:r>
              <a:rPr lang="ru-RU" dirty="0" smtClean="0"/>
              <a:t>:</a:t>
            </a:r>
          </a:p>
          <a:p>
            <a:endParaRPr lang="en-US" dirty="0"/>
          </a:p>
          <a:p>
            <a:r>
              <a:rPr lang="en-US" dirty="0"/>
              <a:t>	&lt;</a:t>
            </a:r>
            <a:r>
              <a:rPr lang="en-US" dirty="0" err="1"/>
              <a:t>set_function_specification</a:t>
            </a:r>
            <a:r>
              <a:rPr lang="en-US" dirty="0"/>
              <a:t>&gt; ::=</a:t>
            </a:r>
          </a:p>
          <a:p>
            <a:r>
              <a:rPr lang="en-US" dirty="0"/>
              <a:t>	  COUNT(*) </a:t>
            </a:r>
          </a:p>
          <a:p>
            <a:r>
              <a:rPr lang="en-US" dirty="0"/>
              <a:t>	| </a:t>
            </a:r>
            <a:r>
              <a:rPr lang="en-US" dirty="0" err="1"/>
              <a:t>set_function_type</a:t>
            </a:r>
            <a:r>
              <a:rPr lang="en-US" dirty="0"/>
              <a:t> ([DISTINCT | ALL ] </a:t>
            </a:r>
            <a:r>
              <a:rPr lang="en-US" dirty="0" err="1"/>
              <a:t>value_expression</a:t>
            </a:r>
            <a:r>
              <a:rPr lang="en-US" dirty="0"/>
              <a:t>) </a:t>
            </a:r>
          </a:p>
          <a:p>
            <a:r>
              <a:rPr lang="en-US" dirty="0"/>
              <a:t>	| GROUPING (</a:t>
            </a:r>
            <a:r>
              <a:rPr lang="en-US" dirty="0" err="1"/>
              <a:t>column_reference</a:t>
            </a:r>
            <a:r>
              <a:rPr lang="en-US" dirty="0"/>
              <a:t>)</a:t>
            </a:r>
          </a:p>
          <a:p>
            <a:r>
              <a:rPr lang="en-US" dirty="0"/>
              <a:t>&lt;</a:t>
            </a:r>
            <a:r>
              <a:rPr lang="en-US" dirty="0" err="1"/>
              <a:t>set_function_type</a:t>
            </a:r>
            <a:r>
              <a:rPr lang="en-US" dirty="0"/>
              <a:t>&gt; ::= </a:t>
            </a:r>
          </a:p>
          <a:p>
            <a:r>
              <a:rPr lang="en-US" dirty="0"/>
              <a:t>	{ AVG | MAX | MIN | SUM | EVERY | ANY | SOME | COUNT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278</a:t>
            </a:fld>
            <a:endParaRPr lang="ru-RU"/>
          </a:p>
        </p:txBody>
      </p:sp>
    </p:spTree>
    <p:extLst>
      <p:ext uri="{BB962C8B-B14F-4D97-AF65-F5344CB8AC3E}">
        <p14:creationId xmlns:p14="http://schemas.microsoft.com/office/powerpoint/2010/main" xmlns="" val="134391848"/>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в </a:t>
            </a:r>
            <a:r>
              <a:rPr lang="ru-RU" i="1" dirty="0"/>
              <a:t>стандарте SQL:1999</a:t>
            </a:r>
            <a:r>
              <a:rPr lang="ru-RU" dirty="0"/>
              <a:t> определены пять стандартных </a:t>
            </a:r>
            <a:r>
              <a:rPr lang="ru-RU" i="1" dirty="0"/>
              <a:t>агрегатных функций</a:t>
            </a:r>
            <a:r>
              <a:rPr lang="ru-RU" dirty="0"/>
              <a:t>: COUNT - число строк или значений, MAX - максимальное значение, MIN - минимальное значение, SUM - суммарное значение и </a:t>
            </a:r>
            <a:r>
              <a:rPr lang="ru-RU" i="1" dirty="0"/>
              <a:t>AVG</a:t>
            </a:r>
            <a:r>
              <a:rPr lang="ru-RU" dirty="0"/>
              <a:t> - </a:t>
            </a:r>
            <a:r>
              <a:rPr lang="ru-RU" i="1" dirty="0"/>
              <a:t>среднее значение</a:t>
            </a:r>
            <a:r>
              <a:rPr lang="ru-RU" dirty="0"/>
              <a:t>, а также две </a:t>
            </a:r>
            <a:r>
              <a:rPr lang="ru-RU" dirty="0" smtClean="0"/>
              <a:t> </a:t>
            </a:r>
            <a:r>
              <a:rPr lang="ru-RU" dirty="0"/>
              <a:t>функции EVERY и SOME ( ANY </a:t>
            </a:r>
            <a:r>
              <a:rPr lang="ru-RU" dirty="0" smtClean="0"/>
              <a:t>) над булевским типом.</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279</a:t>
            </a:fld>
            <a:endParaRPr lang="ru-RU"/>
          </a:p>
        </p:txBody>
      </p:sp>
    </p:spTree>
    <p:extLst>
      <p:ext uri="{BB962C8B-B14F-4D97-AF65-F5344CB8AC3E}">
        <p14:creationId xmlns:p14="http://schemas.microsoft.com/office/powerpoint/2010/main" xmlns="" val="199691486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Логические выражения раздела </a:t>
            </a:r>
            <a:r>
              <a:rPr lang="en-US" b="1" dirty="0"/>
              <a:t>HAVING</a:t>
            </a:r>
            <a:br>
              <a:rPr lang="en-US" b="1" dirty="0"/>
            </a:br>
            <a:endParaRPr lang="ru-RU" dirty="0"/>
          </a:p>
        </p:txBody>
      </p:sp>
      <p:sp>
        <p:nvSpPr>
          <p:cNvPr id="3" name="Объект 2"/>
          <p:cNvSpPr>
            <a:spLocks noGrp="1"/>
          </p:cNvSpPr>
          <p:nvPr>
            <p:ph idx="1"/>
          </p:nvPr>
        </p:nvSpPr>
        <p:spPr/>
        <p:txBody>
          <a:bodyPr/>
          <a:lstStyle/>
          <a:p>
            <a:r>
              <a:rPr lang="ru-RU" b="1" dirty="0"/>
              <a:t>Предикаты сравнения</a:t>
            </a:r>
          </a:p>
          <a:p>
            <a:r>
              <a:rPr lang="en-US" dirty="0"/>
              <a:t>SELECT DEPT_NO</a:t>
            </a:r>
          </a:p>
          <a:p>
            <a:r>
              <a:rPr lang="en-US" dirty="0"/>
              <a:t>FROM EMP</a:t>
            </a:r>
          </a:p>
          <a:p>
            <a:r>
              <a:rPr lang="en-US" dirty="0"/>
              <a:t>WHERE DEPT_NO IS NOT NULL</a:t>
            </a:r>
          </a:p>
          <a:p>
            <a:r>
              <a:rPr lang="en-US" dirty="0"/>
              <a:t>GROUP BY DEPT_NO</a:t>
            </a:r>
          </a:p>
          <a:p>
            <a:r>
              <a:rPr lang="en-US" dirty="0"/>
              <a:t>HAVING COUNT(*) = 30</a:t>
            </a:r>
            <a:r>
              <a:rPr lang="en-US" dirty="0" smtClean="0"/>
              <a:t>;</a:t>
            </a:r>
            <a:endParaRPr lang="ru-RU" dirty="0" smtClean="0"/>
          </a:p>
          <a:p>
            <a:r>
              <a:rPr lang="ru-RU" dirty="0"/>
              <a:t>Найти номера отделов, в которых работает ровно 30 служащих.</a:t>
            </a:r>
          </a:p>
        </p:txBody>
      </p:sp>
      <p:sp>
        <p:nvSpPr>
          <p:cNvPr id="4" name="Номер слайда 3"/>
          <p:cNvSpPr>
            <a:spLocks noGrp="1"/>
          </p:cNvSpPr>
          <p:nvPr>
            <p:ph type="sldNum" sz="quarter" idx="12"/>
          </p:nvPr>
        </p:nvSpPr>
        <p:spPr/>
        <p:txBody>
          <a:bodyPr/>
          <a:lstStyle/>
          <a:p>
            <a:fld id="{590C5F67-5E4C-4ABB-99F4-36BCAC8BE885}" type="slidenum">
              <a:rPr lang="ru-RU" smtClean="0"/>
              <a:pPr/>
              <a:t>280</a:t>
            </a:fld>
            <a:endParaRPr lang="ru-RU"/>
          </a:p>
        </p:txBody>
      </p:sp>
    </p:spTree>
    <p:extLst>
      <p:ext uri="{BB962C8B-B14F-4D97-AF65-F5344CB8AC3E}">
        <p14:creationId xmlns:p14="http://schemas.microsoft.com/office/powerpoint/2010/main" xmlns="" val="316522128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between</a:t>
            </a:r>
            <a:br>
              <a:rPr lang="en-US" b="1" dirty="0"/>
            </a:br>
            <a:endParaRPr lang="ru-RU" dirty="0"/>
          </a:p>
        </p:txBody>
      </p:sp>
      <p:sp>
        <p:nvSpPr>
          <p:cNvPr id="3" name="Объект 2"/>
          <p:cNvSpPr>
            <a:spLocks noGrp="1"/>
          </p:cNvSpPr>
          <p:nvPr>
            <p:ph idx="1"/>
          </p:nvPr>
        </p:nvSpPr>
        <p:spPr/>
        <p:txBody>
          <a:bodyPr/>
          <a:lstStyle/>
          <a:p>
            <a:r>
              <a:rPr lang="en-US" dirty="0"/>
              <a:t>SELECT DEPT_NO, MIN(EMP_SAL), MAX(EMP_SAL)</a:t>
            </a:r>
          </a:p>
          <a:p>
            <a:r>
              <a:rPr lang="en-US" dirty="0"/>
              <a:t>FROM EMP</a:t>
            </a:r>
          </a:p>
          <a:p>
            <a:r>
              <a:rPr lang="en-US" dirty="0"/>
              <a:t>WHERE DEPT_NO IS NOT NULL</a:t>
            </a:r>
          </a:p>
          <a:p>
            <a:r>
              <a:rPr lang="en-US" dirty="0"/>
              <a:t>GROUP BY DEPT_NO</a:t>
            </a:r>
          </a:p>
          <a:p>
            <a:r>
              <a:rPr lang="en-US" dirty="0"/>
              <a:t>HAVING AVG(EMP_SAL) BETWEEN</a:t>
            </a:r>
          </a:p>
          <a:p>
            <a:r>
              <a:rPr lang="en-US" dirty="0"/>
              <a:t>	(SELECT AVG(EMP_SAL)</a:t>
            </a:r>
          </a:p>
          <a:p>
            <a:r>
              <a:rPr lang="en-US" dirty="0"/>
              <a:t>	FROM EMP) AND 30000.00;</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281</a:t>
            </a:fld>
            <a:endParaRPr lang="ru-RU"/>
          </a:p>
        </p:txBody>
      </p:sp>
    </p:spTree>
    <p:extLst>
      <p:ext uri="{BB962C8B-B14F-4D97-AF65-F5344CB8AC3E}">
        <p14:creationId xmlns:p14="http://schemas.microsoft.com/office/powerpoint/2010/main" xmlns="" val="2784532960"/>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Найти номера отделов и минимальный и максимальный размер зарплаты служащих для отделов, в которых средний размер зарплаты служащих не меньше среднего размера зарплаты служащих во всей компании и не больше 30000 руб.</a:t>
            </a:r>
          </a:p>
        </p:txBody>
      </p:sp>
      <p:sp>
        <p:nvSpPr>
          <p:cNvPr id="4" name="Номер слайда 3"/>
          <p:cNvSpPr>
            <a:spLocks noGrp="1"/>
          </p:cNvSpPr>
          <p:nvPr>
            <p:ph type="sldNum" sz="quarter" idx="12"/>
          </p:nvPr>
        </p:nvSpPr>
        <p:spPr/>
        <p:txBody>
          <a:bodyPr/>
          <a:lstStyle/>
          <a:p>
            <a:fld id="{590C5F67-5E4C-4ABB-99F4-36BCAC8BE885}" type="slidenum">
              <a:rPr lang="ru-RU" smtClean="0"/>
              <a:pPr/>
              <a:t>282</a:t>
            </a:fld>
            <a:endParaRPr lang="ru-RU"/>
          </a:p>
        </p:txBody>
      </p:sp>
    </p:spTree>
    <p:extLst>
      <p:ext uri="{BB962C8B-B14F-4D97-AF65-F5344CB8AC3E}">
        <p14:creationId xmlns:p14="http://schemas.microsoft.com/office/powerpoint/2010/main" xmlns="" val="378770734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null</a:t>
            </a:r>
            <a:br>
              <a:rPr lang="en-US" b="1" dirty="0"/>
            </a:br>
            <a:endParaRPr lang="ru-RU" dirty="0"/>
          </a:p>
        </p:txBody>
      </p:sp>
      <p:sp>
        <p:nvSpPr>
          <p:cNvPr id="3" name="Объект 2"/>
          <p:cNvSpPr>
            <a:spLocks noGrp="1"/>
          </p:cNvSpPr>
          <p:nvPr>
            <p:ph idx="1"/>
          </p:nvPr>
        </p:nvSpPr>
        <p:spPr/>
        <p:txBody>
          <a:bodyPr/>
          <a:lstStyle/>
          <a:p>
            <a:r>
              <a:rPr lang="en-US" dirty="0"/>
              <a:t>SELECT DEPT.DEPT_NO, COUNT(*)</a:t>
            </a:r>
          </a:p>
          <a:p>
            <a:r>
              <a:rPr lang="en-US" dirty="0"/>
              <a:t>FROM DEPT, EMP EMP1, EMP EMP2</a:t>
            </a:r>
          </a:p>
          <a:p>
            <a:r>
              <a:rPr lang="en-US" dirty="0"/>
              <a:t>WHERE DEPT.DEPT_NO = EMP2.DEPT_NO</a:t>
            </a:r>
          </a:p>
          <a:p>
            <a:r>
              <a:rPr lang="en-US" dirty="0"/>
              <a:t> AND DEPT.DEPT_MNG = EMP1.EMP_NO</a:t>
            </a:r>
          </a:p>
          <a:p>
            <a:r>
              <a:rPr lang="en-US" dirty="0"/>
              <a:t>GROUP BY DEPT.DEPT_NO, EMP1.DEPT_NO</a:t>
            </a:r>
          </a:p>
          <a:p>
            <a:r>
              <a:rPr lang="en-US" dirty="0"/>
              <a:t>HAVING EMP1.DEPT_NO IS NULL;</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283</a:t>
            </a:fld>
            <a:endParaRPr lang="ru-RU"/>
          </a:p>
        </p:txBody>
      </p:sp>
    </p:spTree>
    <p:extLst>
      <p:ext uri="{BB962C8B-B14F-4D97-AF65-F5344CB8AC3E}">
        <p14:creationId xmlns:p14="http://schemas.microsoft.com/office/powerpoint/2010/main" xmlns="" val="123370074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Найти номера и число служащих отделов, данные о руководителях которых не содержат номер </a:t>
            </a:r>
            <a:r>
              <a:rPr lang="ru-RU" dirty="0" smtClean="0"/>
              <a:t>отдела</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284</a:t>
            </a:fld>
            <a:endParaRPr lang="ru-RU"/>
          </a:p>
        </p:txBody>
      </p:sp>
    </p:spTree>
    <p:extLst>
      <p:ext uri="{BB962C8B-B14F-4D97-AF65-F5344CB8AC3E}">
        <p14:creationId xmlns:p14="http://schemas.microsoft.com/office/powerpoint/2010/main" xmlns="" val="116393042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in</a:t>
            </a:r>
            <a:br>
              <a:rPr lang="en-US" b="1" dirty="0"/>
            </a:br>
            <a:endParaRPr lang="ru-RU" dirty="0"/>
          </a:p>
        </p:txBody>
      </p:sp>
      <p:sp>
        <p:nvSpPr>
          <p:cNvPr id="3" name="Объект 2"/>
          <p:cNvSpPr>
            <a:spLocks noGrp="1"/>
          </p:cNvSpPr>
          <p:nvPr>
            <p:ph idx="1"/>
          </p:nvPr>
        </p:nvSpPr>
        <p:spPr/>
        <p:txBody>
          <a:bodyPr>
            <a:normAutofit fontScale="92500" lnSpcReduction="20000"/>
          </a:bodyPr>
          <a:lstStyle/>
          <a:p>
            <a:r>
              <a:rPr lang="en-US" dirty="0"/>
              <a:t>SELECT DEPT.DEPT_NO</a:t>
            </a:r>
          </a:p>
          <a:p>
            <a:r>
              <a:rPr lang="en-US" dirty="0"/>
              <a:t>FROM DEPT, EMP</a:t>
            </a:r>
          </a:p>
          <a:p>
            <a:r>
              <a:rPr lang="en-US" dirty="0"/>
              <a:t>WHERE DEPT.DEPT_NO = EMP.DEPT_NO</a:t>
            </a:r>
          </a:p>
          <a:p>
            <a:r>
              <a:rPr lang="en-US" dirty="0"/>
              <a:t>GROUP BY DEPT.DEPT_NO</a:t>
            </a:r>
          </a:p>
          <a:p>
            <a:r>
              <a:rPr lang="en-US" dirty="0"/>
              <a:t>HAVING AVG(EMP.EMP_SAL) IN</a:t>
            </a:r>
          </a:p>
          <a:p>
            <a:r>
              <a:rPr lang="en-US" dirty="0"/>
              <a:t>	(SELECT MAX(EMP1.EMP_SAL)</a:t>
            </a:r>
          </a:p>
          <a:p>
            <a:r>
              <a:rPr lang="en-US" dirty="0"/>
              <a:t>	  FROM EMP, DEPT DEPT1</a:t>
            </a:r>
          </a:p>
          <a:p>
            <a:r>
              <a:rPr lang="en-US" dirty="0"/>
              <a:t>	  WHERE EMP.DEPT_NO = DEPT1.DEPT_NO</a:t>
            </a:r>
          </a:p>
          <a:p>
            <a:r>
              <a:rPr lang="en-US" dirty="0"/>
              <a:t>	  AND DEPT1.DEPT_NO &lt;&gt; DEPT.DEPT_NO</a:t>
            </a:r>
          </a:p>
          <a:p>
            <a:r>
              <a:rPr lang="en-US" dirty="0"/>
              <a:t>	  GROUP BY DEPT.DEPT_NO);</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285</a:t>
            </a:fld>
            <a:endParaRPr lang="ru-RU"/>
          </a:p>
        </p:txBody>
      </p:sp>
    </p:spTree>
    <p:extLst>
      <p:ext uri="{BB962C8B-B14F-4D97-AF65-F5344CB8AC3E}">
        <p14:creationId xmlns:p14="http://schemas.microsoft.com/office/powerpoint/2010/main" xmlns="" val="11967650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Найти номера отделов, в которых средний размер зарплаты служащих равен максимальному размеру зарплаты служащих какого-либо другого отдела.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286</a:t>
            </a:fld>
            <a:endParaRPr lang="ru-RU"/>
          </a:p>
        </p:txBody>
      </p:sp>
    </p:spTree>
    <p:extLst>
      <p:ext uri="{BB962C8B-B14F-4D97-AF65-F5344CB8AC3E}">
        <p14:creationId xmlns:p14="http://schemas.microsoft.com/office/powerpoint/2010/main" xmlns="" val="261628191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like</a:t>
            </a:r>
            <a:br>
              <a:rPr lang="en-US" b="1" dirty="0"/>
            </a:br>
            <a:endParaRPr lang="ru-RU" dirty="0"/>
          </a:p>
        </p:txBody>
      </p:sp>
      <p:sp>
        <p:nvSpPr>
          <p:cNvPr id="3" name="Объект 2"/>
          <p:cNvSpPr>
            <a:spLocks noGrp="1"/>
          </p:cNvSpPr>
          <p:nvPr>
            <p:ph idx="1"/>
          </p:nvPr>
        </p:nvSpPr>
        <p:spPr/>
        <p:txBody>
          <a:bodyPr/>
          <a:lstStyle/>
          <a:p>
            <a:r>
              <a:rPr lang="en-US" dirty="0"/>
              <a:t>SELECT EMP_NAME, COUNT(*)</a:t>
            </a:r>
          </a:p>
          <a:p>
            <a:r>
              <a:rPr lang="en-US" dirty="0"/>
              <a:t>FROM EMP, DEPT</a:t>
            </a:r>
          </a:p>
          <a:p>
            <a:r>
              <a:rPr lang="en-US" dirty="0"/>
              <a:t>WHERE EMP.DEPT_NO = DEPT.DEPT_NO </a:t>
            </a:r>
          </a:p>
          <a:p>
            <a:r>
              <a:rPr lang="en-US" dirty="0"/>
              <a:t>GROUP BY DEPT.DEPT_NO, EMP_NAME</a:t>
            </a:r>
          </a:p>
          <a:p>
            <a:r>
              <a:rPr lang="en-US" dirty="0"/>
              <a:t>HAVING COUNT(*) &gt; 1 </a:t>
            </a:r>
          </a:p>
          <a:p>
            <a:r>
              <a:rPr lang="en-US" dirty="0"/>
              <a:t>	AND EMP.EMP_NAME LIKE (SELECT EMP1.EMP_NAME</a:t>
            </a:r>
          </a:p>
          <a:p>
            <a:r>
              <a:rPr lang="en-US" dirty="0"/>
              <a:t>	  FROM EMP EMP1</a:t>
            </a:r>
          </a:p>
          <a:p>
            <a:r>
              <a:rPr lang="en-US" dirty="0"/>
              <a:t>	  WHERE EMP1.EMP_NO = DEPT.DEPT_MNG) ||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287</a:t>
            </a:fld>
            <a:endParaRPr lang="ru-RU"/>
          </a:p>
        </p:txBody>
      </p:sp>
    </p:spTree>
    <p:extLst>
      <p:ext uri="{BB962C8B-B14F-4D97-AF65-F5344CB8AC3E}">
        <p14:creationId xmlns:p14="http://schemas.microsoft.com/office/powerpoint/2010/main" xmlns="" val="121957013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Во всех отделах найти имена и число служащих, у которых в данном отделе имеются однофамильцы и фамилии которых начинаются со строки символов, изображающей фамилию руководителя отдела.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288</a:t>
            </a:fld>
            <a:endParaRPr lang="ru-RU"/>
          </a:p>
        </p:txBody>
      </p:sp>
    </p:spTree>
    <p:extLst>
      <p:ext uri="{BB962C8B-B14F-4D97-AF65-F5344CB8AC3E}">
        <p14:creationId xmlns:p14="http://schemas.microsoft.com/office/powerpoint/2010/main" xmlns="" val="142451140"/>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Предикат </a:t>
            </a:r>
            <a:r>
              <a:rPr lang="en-US" b="1" dirty="0"/>
              <a:t>exists</a:t>
            </a:r>
            <a:br>
              <a:rPr lang="en-US" b="1" dirty="0"/>
            </a:br>
            <a:endParaRPr lang="ru-RU" dirty="0"/>
          </a:p>
        </p:txBody>
      </p:sp>
      <p:sp>
        <p:nvSpPr>
          <p:cNvPr id="3" name="Объект 2"/>
          <p:cNvSpPr>
            <a:spLocks noGrp="1"/>
          </p:cNvSpPr>
          <p:nvPr>
            <p:ph idx="1"/>
          </p:nvPr>
        </p:nvSpPr>
        <p:spPr/>
        <p:txBody>
          <a:bodyPr>
            <a:normAutofit lnSpcReduction="10000"/>
          </a:bodyPr>
          <a:lstStyle/>
          <a:p>
            <a:r>
              <a:rPr lang="en-US" dirty="0"/>
              <a:t>SELECT DEPT.DEPT_NO</a:t>
            </a:r>
          </a:p>
          <a:p>
            <a:r>
              <a:rPr lang="en-US" dirty="0"/>
              <a:t>FROM DEPT, EMP</a:t>
            </a:r>
          </a:p>
          <a:p>
            <a:r>
              <a:rPr lang="en-US" dirty="0"/>
              <a:t>WHERE DEPT.DEPT_NO = EMP.DEPT_NO</a:t>
            </a:r>
          </a:p>
          <a:p>
            <a:r>
              <a:rPr lang="en-US" dirty="0"/>
              <a:t>GROUP BY DEPT.DEPT_NO</a:t>
            </a:r>
          </a:p>
          <a:p>
            <a:r>
              <a:rPr lang="en-US" dirty="0"/>
              <a:t>HAVING EXISTS (SELECT *</a:t>
            </a:r>
          </a:p>
          <a:p>
            <a:r>
              <a:rPr lang="en-US" dirty="0"/>
              <a:t>	FROM EMP EMP1</a:t>
            </a:r>
          </a:p>
          <a:p>
            <a:r>
              <a:rPr lang="en-US" dirty="0"/>
              <a:t>	WHERE EMP1.DEPT_NO &lt;&gt; DEPT.DEPT_NO</a:t>
            </a:r>
          </a:p>
          <a:p>
            <a:r>
              <a:rPr lang="en-US" dirty="0"/>
              <a:t>	GROUP BY EMP1.DEPT_NO </a:t>
            </a:r>
          </a:p>
          <a:p>
            <a:r>
              <a:rPr lang="en-US" dirty="0"/>
              <a:t>	HAVING MAX (EMP1.EMP_SAL)= AVG (EMP.EMP_SAL));</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289</a:t>
            </a:fld>
            <a:endParaRPr lang="ru-RU"/>
          </a:p>
        </p:txBody>
      </p:sp>
    </p:spTree>
    <p:extLst>
      <p:ext uri="{BB962C8B-B14F-4D97-AF65-F5344CB8AC3E}">
        <p14:creationId xmlns:p14="http://schemas.microsoft.com/office/powerpoint/2010/main" xmlns="" val="295598742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 Найти номера отделов, в которых средний размер зарплаты служащих равен максимальному размеру зарплаты служащих какого-либо другого отдела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290</a:t>
            </a:fld>
            <a:endParaRPr lang="ru-RU"/>
          </a:p>
        </p:txBody>
      </p:sp>
    </p:spTree>
    <p:extLst>
      <p:ext uri="{BB962C8B-B14F-4D97-AF65-F5344CB8AC3E}">
        <p14:creationId xmlns:p14="http://schemas.microsoft.com/office/powerpoint/2010/main" xmlns="" val="1219610451"/>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Объединение таблиц</a:t>
            </a:r>
            <a:endParaRPr lang="ru-RU" dirty="0"/>
          </a:p>
        </p:txBody>
      </p:sp>
      <p:sp>
        <p:nvSpPr>
          <p:cNvPr id="3" name="Объект 2"/>
          <p:cNvSpPr>
            <a:spLocks noGrp="1"/>
          </p:cNvSpPr>
          <p:nvPr>
            <p:ph idx="1"/>
          </p:nvPr>
        </p:nvSpPr>
        <p:spPr/>
        <p:txBody>
          <a:bodyPr>
            <a:normAutofit/>
          </a:bodyPr>
          <a:lstStyle/>
          <a:p>
            <a:r>
              <a:rPr lang="ru-RU" dirty="0" smtClean="0"/>
              <a:t>Различают</a:t>
            </a:r>
            <a:r>
              <a:rPr lang="en-US" dirty="0" smtClean="0"/>
              <a:t>:</a:t>
            </a:r>
            <a:endParaRPr lang="ru-RU" dirty="0" smtClean="0"/>
          </a:p>
          <a:p>
            <a:r>
              <a:rPr lang="ru-RU" dirty="0" smtClean="0"/>
              <a:t>Полное или перекрестное объединение</a:t>
            </a:r>
            <a:r>
              <a:rPr lang="ru-RU" dirty="0"/>
              <a:t> </a:t>
            </a:r>
            <a:r>
              <a:rPr lang="en-US" dirty="0" smtClean="0"/>
              <a:t>(CROSS </a:t>
            </a:r>
            <a:r>
              <a:rPr lang="en-US" dirty="0"/>
              <a:t>JOIN</a:t>
            </a:r>
            <a:r>
              <a:rPr lang="en-US" dirty="0" smtClean="0"/>
              <a:t>)</a:t>
            </a:r>
            <a:endParaRPr lang="ru-RU" dirty="0" smtClean="0"/>
          </a:p>
          <a:p>
            <a:r>
              <a:rPr lang="ru-RU" dirty="0"/>
              <a:t>Естественное </a:t>
            </a:r>
            <a:r>
              <a:rPr lang="ru-RU" dirty="0" smtClean="0"/>
              <a:t>объединение </a:t>
            </a:r>
            <a:r>
              <a:rPr lang="en-US" dirty="0" smtClean="0"/>
              <a:t>(NATURAL </a:t>
            </a:r>
            <a:r>
              <a:rPr lang="en-US" dirty="0"/>
              <a:t>JOIN</a:t>
            </a:r>
            <a:r>
              <a:rPr lang="en-US" dirty="0" smtClean="0"/>
              <a:t>)</a:t>
            </a:r>
            <a:endParaRPr lang="ru-RU" dirty="0" smtClean="0"/>
          </a:p>
          <a:p>
            <a:r>
              <a:rPr lang="ru-RU" dirty="0"/>
              <a:t>Внутреннее </a:t>
            </a:r>
            <a:r>
              <a:rPr lang="ru-RU" dirty="0" smtClean="0"/>
              <a:t>объединение </a:t>
            </a:r>
            <a:r>
              <a:rPr lang="en-US" dirty="0" smtClean="0"/>
              <a:t>(INNER </a:t>
            </a:r>
            <a:r>
              <a:rPr lang="en-US" dirty="0"/>
              <a:t>JOIN</a:t>
            </a:r>
            <a:r>
              <a:rPr lang="en-US" dirty="0" smtClean="0"/>
              <a:t>)</a:t>
            </a:r>
            <a:endParaRPr lang="ru-RU" dirty="0" smtClean="0"/>
          </a:p>
          <a:p>
            <a:r>
              <a:rPr lang="ru-RU" dirty="0"/>
              <a:t>Левое </a:t>
            </a:r>
            <a:r>
              <a:rPr lang="ru-RU" dirty="0" smtClean="0"/>
              <a:t>внешнее объединение</a:t>
            </a:r>
            <a:r>
              <a:rPr lang="ru-RU" dirty="0"/>
              <a:t> </a:t>
            </a:r>
            <a:r>
              <a:rPr lang="en-US" dirty="0" smtClean="0"/>
              <a:t>(LEFT </a:t>
            </a:r>
            <a:r>
              <a:rPr lang="en-US" dirty="0"/>
              <a:t>OUTER JOIN</a:t>
            </a:r>
            <a:r>
              <a:rPr lang="en-US" dirty="0" smtClean="0"/>
              <a:t>)</a:t>
            </a:r>
            <a:endParaRPr lang="ru-RU" dirty="0" smtClean="0"/>
          </a:p>
          <a:p>
            <a:r>
              <a:rPr lang="ru-RU" dirty="0"/>
              <a:t>Правое </a:t>
            </a:r>
            <a:r>
              <a:rPr lang="ru-RU" dirty="0" smtClean="0"/>
              <a:t>внешнее объединение</a:t>
            </a:r>
            <a:r>
              <a:rPr lang="ru-RU" dirty="0"/>
              <a:t> </a:t>
            </a:r>
            <a:r>
              <a:rPr lang="en-US" dirty="0" smtClean="0"/>
              <a:t>(RIGHT </a:t>
            </a:r>
            <a:r>
              <a:rPr lang="en-US" dirty="0"/>
              <a:t>OUTER JOIN</a:t>
            </a:r>
            <a:r>
              <a:rPr lang="en-US" dirty="0" smtClean="0"/>
              <a:t>)</a:t>
            </a:r>
            <a:endParaRPr lang="ru-RU" dirty="0" smtClean="0"/>
          </a:p>
          <a:p>
            <a:r>
              <a:rPr lang="ru-RU" dirty="0" smtClean="0"/>
              <a:t>Полное внешнее объединение </a:t>
            </a:r>
            <a:r>
              <a:rPr lang="en-US" dirty="0" smtClean="0"/>
              <a:t>(FULL </a:t>
            </a:r>
            <a:r>
              <a:rPr lang="en-US" dirty="0"/>
              <a:t>OUTER JOIN</a:t>
            </a:r>
            <a:r>
              <a:rPr lang="en-US" dirty="0" smtClean="0"/>
              <a:t>)</a:t>
            </a:r>
            <a:endParaRPr lang="ru-RU" dirty="0" smtClean="0"/>
          </a:p>
          <a:p>
            <a:r>
              <a:rPr lang="ru-RU" dirty="0"/>
              <a:t>Тривиальное </a:t>
            </a:r>
            <a:r>
              <a:rPr lang="ru-RU" dirty="0" smtClean="0"/>
              <a:t>объединение, </a:t>
            </a:r>
            <a:r>
              <a:rPr lang="ru-RU" dirty="0" err="1" smtClean="0"/>
              <a:t>самообъединение</a:t>
            </a:r>
            <a:r>
              <a:rPr lang="ru-RU" dirty="0"/>
              <a:t> </a:t>
            </a:r>
            <a:r>
              <a:rPr lang="en-US" dirty="0" smtClean="0"/>
              <a:t>(SELF </a:t>
            </a:r>
            <a:r>
              <a:rPr lang="en-US" dirty="0"/>
              <a:t>JOIN)</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291</a:t>
            </a:fld>
            <a:endParaRPr lang="ru-RU"/>
          </a:p>
        </p:txBody>
      </p:sp>
    </p:spTree>
    <p:extLst>
      <p:ext uri="{BB962C8B-B14F-4D97-AF65-F5344CB8AC3E}">
        <p14:creationId xmlns:p14="http://schemas.microsoft.com/office/powerpoint/2010/main" xmlns="" val="118218034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Синтаксис объединения</a:t>
            </a:r>
            <a:endParaRPr lang="ru-RU" dirty="0"/>
          </a:p>
        </p:txBody>
      </p:sp>
      <p:sp>
        <p:nvSpPr>
          <p:cNvPr id="3" name="Объект 2"/>
          <p:cNvSpPr>
            <a:spLocks noGrp="1"/>
          </p:cNvSpPr>
          <p:nvPr>
            <p:ph idx="1"/>
          </p:nvPr>
        </p:nvSpPr>
        <p:spPr/>
        <p:txBody>
          <a:bodyPr/>
          <a:lstStyle/>
          <a:p>
            <a:r>
              <a:rPr lang="en-US" dirty="0"/>
              <a:t>SELECT </a:t>
            </a:r>
            <a:r>
              <a:rPr lang="en-US" i="1" dirty="0"/>
              <a:t>columns</a:t>
            </a:r>
          </a:p>
          <a:p>
            <a:r>
              <a:rPr lang="en-US" dirty="0"/>
              <a:t>FROM </a:t>
            </a:r>
            <a:r>
              <a:rPr lang="en-US" i="1" dirty="0"/>
              <a:t>table1 </a:t>
            </a:r>
            <a:r>
              <a:rPr lang="en-US" i="1" dirty="0" err="1"/>
              <a:t>join_type</a:t>
            </a:r>
            <a:r>
              <a:rPr lang="en-US" i="1" dirty="0"/>
              <a:t> table2</a:t>
            </a:r>
          </a:p>
          <a:p>
            <a:r>
              <a:rPr lang="en-US" dirty="0"/>
              <a:t>ON </a:t>
            </a:r>
            <a:r>
              <a:rPr lang="en-US" i="1" dirty="0" err="1"/>
              <a:t>join_conditions</a:t>
            </a:r>
            <a:endParaRPr lang="en-US" i="1" dirty="0"/>
          </a:p>
          <a:p>
            <a:r>
              <a:rPr lang="en-US" dirty="0"/>
              <a:t>[WHERE </a:t>
            </a:r>
            <a:r>
              <a:rPr lang="en-US" i="1" dirty="0" err="1"/>
              <a:t>search_condition</a:t>
            </a:r>
            <a:r>
              <a:rPr lang="en-US" dirty="0"/>
              <a:t>]</a:t>
            </a:r>
          </a:p>
          <a:p>
            <a:r>
              <a:rPr lang="en-US" dirty="0"/>
              <a:t>[GROUP BY </a:t>
            </a:r>
            <a:r>
              <a:rPr lang="en-US" i="1" dirty="0" err="1"/>
              <a:t>grouping_conditions</a:t>
            </a:r>
            <a:r>
              <a:rPr lang="en-US" dirty="0"/>
              <a:t>]</a:t>
            </a:r>
          </a:p>
          <a:p>
            <a:r>
              <a:rPr lang="en-US" dirty="0"/>
              <a:t>[HAVING </a:t>
            </a:r>
            <a:r>
              <a:rPr lang="en-US" i="1" dirty="0" err="1"/>
              <a:t>search_condition</a:t>
            </a:r>
            <a:r>
              <a:rPr lang="en-US" dirty="0"/>
              <a:t>]</a:t>
            </a:r>
          </a:p>
          <a:p>
            <a:r>
              <a:rPr lang="en-US" dirty="0"/>
              <a:t>[ORDER BY </a:t>
            </a:r>
            <a:r>
              <a:rPr lang="en-US" i="1" dirty="0" err="1"/>
              <a:t>sort_columns</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292</a:t>
            </a:fld>
            <a:endParaRPr lang="ru-RU"/>
          </a:p>
        </p:txBody>
      </p:sp>
    </p:spTree>
    <p:extLst>
      <p:ext uri="{BB962C8B-B14F-4D97-AF65-F5344CB8AC3E}">
        <p14:creationId xmlns:p14="http://schemas.microsoft.com/office/powerpoint/2010/main" xmlns="" val="65540135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1678700"/>
            <a:ext cx="10515600" cy="4486275"/>
          </a:xfrm>
        </p:spPr>
        <p:txBody>
          <a:bodyPr/>
          <a:lstStyle/>
          <a:p>
            <a:r>
              <a:rPr lang="ru-RU" dirty="0"/>
              <a:t>любое условие объединения </a:t>
            </a:r>
            <a:r>
              <a:rPr lang="ru-RU" dirty="0" smtClean="0"/>
              <a:t>всегда</a:t>
            </a:r>
            <a:r>
              <a:rPr lang="en-US" dirty="0" smtClean="0"/>
              <a:t> </a:t>
            </a:r>
            <a:r>
              <a:rPr lang="ru-RU" dirty="0" smtClean="0"/>
              <a:t>принимает </a:t>
            </a:r>
            <a:r>
              <a:rPr lang="ru-RU" dirty="0"/>
              <a:t>следующую форму:</a:t>
            </a:r>
          </a:p>
          <a:p>
            <a:r>
              <a:rPr lang="en-US" i="1" dirty="0"/>
              <a:t>[table1.]column op [table2.]</a:t>
            </a:r>
            <a:r>
              <a:rPr lang="en-US" i="1" dirty="0" smtClean="0"/>
              <a:t>column </a:t>
            </a:r>
            <a:r>
              <a:rPr lang="ru-RU" i="1" dirty="0" smtClean="0"/>
              <a:t>где </a:t>
            </a:r>
            <a:r>
              <a:rPr lang="en-US" i="1" dirty="0"/>
              <a:t>op </a:t>
            </a:r>
            <a:r>
              <a:rPr lang="en-US" dirty="0"/>
              <a:t>– </a:t>
            </a:r>
            <a:r>
              <a:rPr lang="ru-RU" dirty="0"/>
              <a:t>оператор </a:t>
            </a:r>
            <a:r>
              <a:rPr lang="ru-RU" dirty="0" smtClean="0"/>
              <a:t>сравнения</a:t>
            </a:r>
          </a:p>
          <a:p>
            <a:r>
              <a:rPr lang="ru-RU" dirty="0" smtClean="0"/>
              <a:t>Условия объединения можно комбинировать </a:t>
            </a:r>
            <a:r>
              <a:rPr lang="ru-RU" dirty="0"/>
              <a:t>с </a:t>
            </a:r>
            <a:r>
              <a:rPr lang="ru-RU" dirty="0" smtClean="0"/>
              <a:t>помощью </a:t>
            </a:r>
            <a:r>
              <a:rPr lang="ru-RU" dirty="0"/>
              <a:t>операторов AND, OR и NOT</a:t>
            </a:r>
          </a:p>
        </p:txBody>
      </p:sp>
      <p:sp>
        <p:nvSpPr>
          <p:cNvPr id="4" name="Номер слайда 3"/>
          <p:cNvSpPr>
            <a:spLocks noGrp="1"/>
          </p:cNvSpPr>
          <p:nvPr>
            <p:ph type="sldNum" sz="quarter" idx="12"/>
          </p:nvPr>
        </p:nvSpPr>
        <p:spPr/>
        <p:txBody>
          <a:bodyPr/>
          <a:lstStyle/>
          <a:p>
            <a:fld id="{590C5F67-5E4C-4ABB-99F4-36BCAC8BE885}" type="slidenum">
              <a:rPr lang="ru-RU" smtClean="0"/>
              <a:pPr/>
              <a:t>293</a:t>
            </a:fld>
            <a:endParaRPr lang="ru-RU"/>
          </a:p>
        </p:txBody>
      </p:sp>
    </p:spTree>
    <p:extLst>
      <p:ext uri="{BB962C8B-B14F-4D97-AF65-F5344CB8AC3E}">
        <p14:creationId xmlns:p14="http://schemas.microsoft.com/office/powerpoint/2010/main" xmlns="" val="2482288839"/>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CROSS JOIN</a:t>
            </a:r>
            <a:endParaRPr lang="ru-RU" dirty="0"/>
          </a:p>
        </p:txBody>
      </p:sp>
      <p:sp>
        <p:nvSpPr>
          <p:cNvPr id="3" name="Объект 2"/>
          <p:cNvSpPr>
            <a:spLocks noGrp="1"/>
          </p:cNvSpPr>
          <p:nvPr>
            <p:ph idx="1"/>
          </p:nvPr>
        </p:nvSpPr>
        <p:spPr/>
        <p:txBody>
          <a:bodyPr>
            <a:normAutofit lnSpcReduction="10000"/>
          </a:bodyPr>
          <a:lstStyle/>
          <a:p>
            <a:r>
              <a:rPr lang="ru-RU" dirty="0"/>
              <a:t>О</a:t>
            </a:r>
            <a:r>
              <a:rPr lang="ru-RU" dirty="0" smtClean="0"/>
              <a:t>сновные </a:t>
            </a:r>
            <a:r>
              <a:rPr lang="ru-RU" dirty="0"/>
              <a:t>характеристики </a:t>
            </a:r>
            <a:r>
              <a:rPr lang="ru-RU" dirty="0" smtClean="0"/>
              <a:t>перекрестного объединения</a:t>
            </a:r>
            <a:r>
              <a:rPr lang="en-US" dirty="0" smtClean="0"/>
              <a:t>:</a:t>
            </a:r>
          </a:p>
          <a:p>
            <a:r>
              <a:rPr lang="ru-RU" dirty="0"/>
              <a:t>любое перекрестное объединение </a:t>
            </a:r>
            <a:r>
              <a:rPr lang="ru-RU" dirty="0" smtClean="0"/>
              <a:t>всегда</a:t>
            </a:r>
            <a:r>
              <a:rPr lang="en-US" dirty="0" smtClean="0"/>
              <a:t> </a:t>
            </a:r>
            <a:r>
              <a:rPr lang="ru-RU" dirty="0" smtClean="0"/>
              <a:t>выдает </a:t>
            </a:r>
            <a:r>
              <a:rPr lang="ru-RU" dirty="0"/>
              <a:t>все возможные </a:t>
            </a:r>
            <a:r>
              <a:rPr lang="ru-RU" dirty="0" smtClean="0"/>
              <a:t>комбинации</a:t>
            </a:r>
            <a:r>
              <a:rPr lang="en-US" dirty="0" smtClean="0"/>
              <a:t> </a:t>
            </a:r>
            <a:r>
              <a:rPr lang="ru-RU" dirty="0" smtClean="0"/>
              <a:t>строк </a:t>
            </a:r>
            <a:r>
              <a:rPr lang="ru-RU" dirty="0"/>
              <a:t>двух таблиц так, что </a:t>
            </a:r>
            <a:r>
              <a:rPr lang="ru-RU" i="1" dirty="0"/>
              <a:t>каждая </a:t>
            </a:r>
            <a:r>
              <a:rPr lang="ru-RU" dirty="0" smtClean="0"/>
              <a:t>строка </a:t>
            </a:r>
            <a:r>
              <a:rPr lang="ru-RU" dirty="0"/>
              <a:t>первой таблицы объединяется с </a:t>
            </a:r>
            <a:r>
              <a:rPr lang="ru-RU" i="1" dirty="0" smtClean="0"/>
              <a:t>каждой </a:t>
            </a:r>
            <a:r>
              <a:rPr lang="ru-RU" dirty="0"/>
              <a:t>строкой второй таблицы</a:t>
            </a:r>
            <a:r>
              <a:rPr lang="ru-RU" dirty="0" smtClean="0"/>
              <a:t>;</a:t>
            </a:r>
            <a:endParaRPr lang="en-US" dirty="0" smtClean="0"/>
          </a:p>
          <a:p>
            <a:r>
              <a:rPr lang="ru-RU" dirty="0"/>
              <a:t>никакое перекрестное объединение </a:t>
            </a:r>
            <a:r>
              <a:rPr lang="ru-RU" dirty="0" smtClean="0"/>
              <a:t>никогда </a:t>
            </a:r>
            <a:r>
              <a:rPr lang="ru-RU" dirty="0"/>
              <a:t>не </a:t>
            </a:r>
            <a:r>
              <a:rPr lang="ru-RU" dirty="0" smtClean="0"/>
              <a:t>применяет</a:t>
            </a:r>
            <a:r>
              <a:rPr lang="en-US" dirty="0" smtClean="0"/>
              <a:t> </a:t>
            </a:r>
            <a:r>
              <a:rPr lang="ru-RU" dirty="0" smtClean="0"/>
              <a:t>никаких условий</a:t>
            </a:r>
            <a:r>
              <a:rPr lang="en-US" dirty="0" smtClean="0"/>
              <a:t> </a:t>
            </a:r>
            <a:r>
              <a:rPr lang="ru-RU" dirty="0" smtClean="0"/>
              <a:t>объединения.</a:t>
            </a:r>
            <a:endParaRPr lang="en-US" dirty="0" smtClean="0"/>
          </a:p>
          <a:p>
            <a:r>
              <a:rPr lang="ru-RU" dirty="0"/>
              <a:t>перекрестные объединения редко </a:t>
            </a:r>
            <a:r>
              <a:rPr lang="ru-RU" dirty="0" smtClean="0"/>
              <a:t>применяют </a:t>
            </a:r>
            <a:r>
              <a:rPr lang="ru-RU" dirty="0"/>
              <a:t>на практике, потому что их </a:t>
            </a:r>
            <a:r>
              <a:rPr lang="ru-RU" dirty="0" smtClean="0"/>
              <a:t>результаты </a:t>
            </a:r>
            <a:r>
              <a:rPr lang="ru-RU" dirty="0"/>
              <a:t>трудно интерпретировать</a:t>
            </a:r>
            <a:r>
              <a:rPr lang="ru-RU" dirty="0" smtClean="0"/>
              <a:t>;</a:t>
            </a:r>
            <a:endParaRPr lang="en-US" dirty="0" smtClean="0"/>
          </a:p>
          <a:p>
            <a:r>
              <a:rPr lang="ru-RU" dirty="0"/>
              <a:t>перекрестные объединения могут </a:t>
            </a:r>
            <a:r>
              <a:rPr lang="ru-RU" dirty="0" smtClean="0"/>
              <a:t>выдавать </a:t>
            </a:r>
            <a:r>
              <a:rPr lang="ru-RU" dirty="0"/>
              <a:t>огромные результаты даже </a:t>
            </a:r>
            <a:r>
              <a:rPr lang="ru-RU" dirty="0" smtClean="0"/>
              <a:t>при</a:t>
            </a:r>
            <a:r>
              <a:rPr lang="en-US" dirty="0" smtClean="0"/>
              <a:t> </a:t>
            </a:r>
            <a:r>
              <a:rPr lang="ru-RU" dirty="0" smtClean="0"/>
              <a:t>обработке </a:t>
            </a:r>
            <a:r>
              <a:rPr lang="ru-RU" dirty="0"/>
              <a:t>маленьких </a:t>
            </a:r>
            <a:r>
              <a:rPr lang="ru-RU" dirty="0" smtClean="0"/>
              <a:t>таблиц</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294</a:t>
            </a:fld>
            <a:endParaRPr lang="ru-RU"/>
          </a:p>
        </p:txBody>
      </p:sp>
    </p:spTree>
    <p:extLst>
      <p:ext uri="{BB962C8B-B14F-4D97-AF65-F5344CB8AC3E}">
        <p14:creationId xmlns:p14="http://schemas.microsoft.com/office/powerpoint/2010/main" xmlns="" val="357414981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49275"/>
          </a:xfrm>
        </p:spPr>
        <p:txBody>
          <a:bodyPr>
            <a:normAutofit fontScale="90000"/>
          </a:bodyPr>
          <a:lstStyle/>
          <a:p>
            <a:r>
              <a:rPr lang="en-US" dirty="0" smtClean="0"/>
              <a:t> </a:t>
            </a:r>
            <a:endParaRPr lang="ru-RU" dirty="0"/>
          </a:p>
        </p:txBody>
      </p:sp>
      <p:sp>
        <p:nvSpPr>
          <p:cNvPr id="3" name="Объект 2"/>
          <p:cNvSpPr>
            <a:spLocks noGrp="1"/>
          </p:cNvSpPr>
          <p:nvPr>
            <p:ph idx="1"/>
          </p:nvPr>
        </p:nvSpPr>
        <p:spPr>
          <a:xfrm>
            <a:off x="838200" y="693683"/>
            <a:ext cx="10515600" cy="5483280"/>
          </a:xfrm>
        </p:spPr>
        <p:txBody>
          <a:bodyPr/>
          <a:lstStyle/>
          <a:p>
            <a:r>
              <a:rPr lang="ru-RU" dirty="0"/>
              <a:t>перекрестное объединение еще </a:t>
            </a:r>
            <a:r>
              <a:rPr lang="ru-RU" dirty="0" smtClean="0"/>
              <a:t>называют </a:t>
            </a:r>
            <a:r>
              <a:rPr lang="ru-RU" i="1" dirty="0"/>
              <a:t>Декартовым</a:t>
            </a:r>
            <a:r>
              <a:rPr lang="ru-RU" dirty="0"/>
              <a:t>, или </a:t>
            </a:r>
            <a:r>
              <a:rPr lang="ru-RU" i="1" dirty="0"/>
              <a:t>прямым </a:t>
            </a:r>
            <a:r>
              <a:rPr lang="ru-RU" i="1" dirty="0" smtClean="0"/>
              <a:t>произведением</a:t>
            </a:r>
            <a:r>
              <a:rPr lang="ru-RU" dirty="0" smtClean="0"/>
              <a:t>.</a:t>
            </a:r>
            <a:endParaRPr lang="en-US" dirty="0" smtClean="0"/>
          </a:p>
          <a:p>
            <a:r>
              <a:rPr lang="ru-RU" dirty="0"/>
              <a:t>перекрестное объединение </a:t>
            </a:r>
            <a:r>
              <a:rPr lang="ru-RU" dirty="0" smtClean="0"/>
              <a:t>требует</a:t>
            </a:r>
            <a:r>
              <a:rPr lang="en-US" dirty="0" smtClean="0"/>
              <a:t> </a:t>
            </a:r>
            <a:r>
              <a:rPr lang="ru-RU" dirty="0" smtClean="0"/>
              <a:t>слишком </a:t>
            </a:r>
            <a:r>
              <a:rPr lang="ru-RU" dirty="0"/>
              <a:t>больших затрат на любой </a:t>
            </a:r>
            <a:r>
              <a:rPr lang="ru-RU" dirty="0" smtClean="0"/>
              <a:t>запрос</a:t>
            </a:r>
            <a:r>
              <a:rPr lang="en-US" dirty="0" smtClean="0"/>
              <a:t>.</a:t>
            </a:r>
          </a:p>
          <a:p>
            <a:endParaRPr lang="en-US" dirty="0"/>
          </a:p>
          <a:p>
            <a:r>
              <a:rPr lang="ru-RU" dirty="0" smtClean="0"/>
              <a:t>Пример</a:t>
            </a:r>
            <a:r>
              <a:rPr lang="en-US" dirty="0" smtClean="0"/>
              <a:t>: </a:t>
            </a:r>
          </a:p>
          <a:p>
            <a:r>
              <a:rPr lang="en-US" dirty="0" smtClean="0"/>
              <a:t>SELECT </a:t>
            </a:r>
            <a:r>
              <a:rPr lang="en-US" i="1" dirty="0"/>
              <a:t>columns</a:t>
            </a:r>
          </a:p>
          <a:p>
            <a:r>
              <a:rPr lang="en-US" dirty="0"/>
              <a:t>FROM </a:t>
            </a:r>
            <a:r>
              <a:rPr lang="en-US" i="1" dirty="0"/>
              <a:t>table1</a:t>
            </a:r>
          </a:p>
          <a:p>
            <a:r>
              <a:rPr lang="en-US" dirty="0"/>
              <a:t>CROSS JOIN </a:t>
            </a:r>
            <a:r>
              <a:rPr lang="en-US" i="1" dirty="0"/>
              <a:t>table2</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295</a:t>
            </a:fld>
            <a:endParaRPr lang="ru-RU"/>
          </a:p>
        </p:txBody>
      </p:sp>
    </p:spTree>
    <p:extLst>
      <p:ext uri="{BB962C8B-B14F-4D97-AF65-F5344CB8AC3E}">
        <p14:creationId xmlns:p14="http://schemas.microsoft.com/office/powerpoint/2010/main" xmlns="" val="2368912874"/>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NATURAL JOIN</a:t>
            </a:r>
            <a:endParaRPr lang="ru-RU" dirty="0"/>
          </a:p>
        </p:txBody>
      </p:sp>
      <p:sp>
        <p:nvSpPr>
          <p:cNvPr id="3" name="Объект 2"/>
          <p:cNvSpPr>
            <a:spLocks noGrp="1"/>
          </p:cNvSpPr>
          <p:nvPr>
            <p:ph idx="1"/>
          </p:nvPr>
        </p:nvSpPr>
        <p:spPr/>
        <p:txBody>
          <a:bodyPr>
            <a:normAutofit lnSpcReduction="10000"/>
          </a:bodyPr>
          <a:lstStyle/>
          <a:p>
            <a:r>
              <a:rPr lang="ru-RU" dirty="0"/>
              <a:t>Е</a:t>
            </a:r>
            <a:r>
              <a:rPr lang="ru-RU" dirty="0" smtClean="0"/>
              <a:t>стественное</a:t>
            </a:r>
            <a:r>
              <a:rPr lang="ru-RU" dirty="0"/>
              <a:t>, или натуральное, </a:t>
            </a:r>
            <a:r>
              <a:rPr lang="ru-RU" dirty="0" smtClean="0"/>
              <a:t>объединение </a:t>
            </a:r>
            <a:r>
              <a:rPr lang="ru-RU" dirty="0"/>
              <a:t>обладает следующими </a:t>
            </a:r>
            <a:r>
              <a:rPr lang="ru-RU" dirty="0" smtClean="0"/>
              <a:t>характеристиками:</a:t>
            </a:r>
          </a:p>
          <a:p>
            <a:r>
              <a:rPr lang="ru-RU" dirty="0"/>
              <a:t>является частным случаем </a:t>
            </a:r>
            <a:r>
              <a:rPr lang="ru-RU" dirty="0" smtClean="0"/>
              <a:t>объединения </a:t>
            </a:r>
            <a:r>
              <a:rPr lang="ru-RU" dirty="0"/>
              <a:t>по равенству, и в нем </a:t>
            </a:r>
            <a:r>
              <a:rPr lang="ru-RU" dirty="0" smtClean="0"/>
              <a:t>связанными столбцами </a:t>
            </a:r>
            <a:r>
              <a:rPr lang="ru-RU" dirty="0"/>
              <a:t>считаются те, которые в </a:t>
            </a:r>
            <a:r>
              <a:rPr lang="ru-RU" dirty="0" smtClean="0"/>
              <a:t>двух таблицах </a:t>
            </a:r>
            <a:r>
              <a:rPr lang="ru-RU" dirty="0"/>
              <a:t>имеют одинаковые имена</a:t>
            </a:r>
            <a:r>
              <a:rPr lang="ru-RU" dirty="0" smtClean="0"/>
              <a:t>.</a:t>
            </a:r>
          </a:p>
          <a:p>
            <a:r>
              <a:rPr lang="ru-RU" dirty="0"/>
              <a:t>работает только в том случае, если </a:t>
            </a:r>
            <a:r>
              <a:rPr lang="ru-RU" dirty="0" smtClean="0"/>
              <a:t>во входных таблицах </a:t>
            </a:r>
            <a:r>
              <a:rPr lang="ru-RU" dirty="0"/>
              <a:t>найдется хотя бы одна пара </a:t>
            </a:r>
            <a:r>
              <a:rPr lang="ru-RU" dirty="0" smtClean="0"/>
              <a:t>столбцов </a:t>
            </a:r>
            <a:r>
              <a:rPr lang="ru-RU" dirty="0"/>
              <a:t>с одинаковыми </a:t>
            </a:r>
            <a:r>
              <a:rPr lang="ru-RU" dirty="0" smtClean="0"/>
              <a:t>именами и они были сравнимы.</a:t>
            </a:r>
          </a:p>
          <a:p>
            <a:r>
              <a:rPr lang="ru-RU" dirty="0"/>
              <a:t>выполняет объединения </a:t>
            </a:r>
            <a:r>
              <a:rPr lang="ru-RU" dirty="0" smtClean="0"/>
              <a:t>неявно, не </a:t>
            </a:r>
            <a:r>
              <a:rPr lang="ru-RU" dirty="0"/>
              <a:t>надо определять для </a:t>
            </a:r>
            <a:r>
              <a:rPr lang="ru-RU" dirty="0" smtClean="0"/>
              <a:t>естественного запроса </a:t>
            </a:r>
            <a:r>
              <a:rPr lang="ru-RU" dirty="0"/>
              <a:t>ни предложение ON, ни </a:t>
            </a:r>
            <a:r>
              <a:rPr lang="ru-RU" dirty="0" smtClean="0"/>
              <a:t>предложение </a:t>
            </a:r>
            <a:r>
              <a:rPr lang="en-US" dirty="0"/>
              <a:t>USING;</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296</a:t>
            </a:fld>
            <a:endParaRPr lang="ru-RU"/>
          </a:p>
        </p:txBody>
      </p:sp>
    </p:spTree>
    <p:extLst>
      <p:ext uri="{BB962C8B-B14F-4D97-AF65-F5344CB8AC3E}">
        <p14:creationId xmlns:p14="http://schemas.microsoft.com/office/powerpoint/2010/main" xmlns="" val="60203407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smtClean="0"/>
              <a:t>Пример</a:t>
            </a:r>
            <a:r>
              <a:rPr lang="en-US" dirty="0" smtClean="0"/>
              <a:t>:</a:t>
            </a:r>
          </a:p>
          <a:p>
            <a:r>
              <a:rPr lang="en-US" dirty="0"/>
              <a:t>SELECT </a:t>
            </a:r>
            <a:r>
              <a:rPr lang="en-US" i="1" dirty="0"/>
              <a:t>columns</a:t>
            </a:r>
          </a:p>
          <a:p>
            <a:r>
              <a:rPr lang="en-US" dirty="0"/>
              <a:t>FROM </a:t>
            </a:r>
            <a:r>
              <a:rPr lang="en-US" i="1" dirty="0"/>
              <a:t>table1</a:t>
            </a:r>
          </a:p>
          <a:p>
            <a:r>
              <a:rPr lang="en-US" dirty="0"/>
              <a:t>NATURAL JOIN </a:t>
            </a:r>
            <a:r>
              <a:rPr lang="en-US" i="1" dirty="0"/>
              <a:t>table2</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297</a:t>
            </a:fld>
            <a:endParaRPr lang="ru-RU"/>
          </a:p>
        </p:txBody>
      </p:sp>
    </p:spTree>
    <p:extLst>
      <p:ext uri="{BB962C8B-B14F-4D97-AF65-F5344CB8AC3E}">
        <p14:creationId xmlns:p14="http://schemas.microsoft.com/office/powerpoint/2010/main" xmlns="" val="421350022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a:bodyPr>
          <a:lstStyle/>
          <a:p>
            <a:r>
              <a:rPr lang="ru-RU" dirty="0"/>
              <a:t>С</a:t>
            </a:r>
            <a:r>
              <a:rPr lang="ru-RU" dirty="0" smtClean="0"/>
              <a:t>интаксис NATURAL JOIN </a:t>
            </a:r>
            <a:r>
              <a:rPr lang="ru-RU" dirty="0"/>
              <a:t>фактически создает некое </a:t>
            </a:r>
            <a:r>
              <a:rPr lang="ru-RU" dirty="0" smtClean="0"/>
              <a:t>внутреннее </a:t>
            </a:r>
            <a:r>
              <a:rPr lang="ru-RU" dirty="0"/>
              <a:t>объединение, и именно поэтому </a:t>
            </a:r>
            <a:r>
              <a:rPr lang="ru-RU" dirty="0" smtClean="0"/>
              <a:t>предложения </a:t>
            </a:r>
            <a:r>
              <a:rPr lang="en-US" dirty="0"/>
              <a:t>NATURAL JOIN </a:t>
            </a:r>
            <a:r>
              <a:rPr lang="ru-RU" dirty="0"/>
              <a:t>и </a:t>
            </a:r>
            <a:r>
              <a:rPr lang="en-US" dirty="0"/>
              <a:t>NATURAL </a:t>
            </a:r>
            <a:r>
              <a:rPr lang="en-US" dirty="0" smtClean="0"/>
              <a:t>INNER</a:t>
            </a:r>
            <a:r>
              <a:rPr lang="ru-RU" dirty="0" smtClean="0"/>
              <a:t> JOIN </a:t>
            </a:r>
            <a:r>
              <a:rPr lang="ru-RU" dirty="0"/>
              <a:t>полностью эквивалентны, а </a:t>
            </a:r>
            <a:r>
              <a:rPr lang="ru-RU" dirty="0" smtClean="0"/>
              <a:t>ключевое слово </a:t>
            </a:r>
            <a:r>
              <a:rPr lang="ru-RU" dirty="0"/>
              <a:t>INNER всегда опускают при </a:t>
            </a:r>
            <a:r>
              <a:rPr lang="ru-RU" dirty="0" smtClean="0"/>
              <a:t>построении </a:t>
            </a:r>
            <a:r>
              <a:rPr lang="ru-RU" dirty="0"/>
              <a:t>соответствующего объединения. </a:t>
            </a:r>
            <a:r>
              <a:rPr lang="ru-RU" dirty="0" smtClean="0"/>
              <a:t>Но вы </a:t>
            </a:r>
            <a:r>
              <a:rPr lang="ru-RU" dirty="0"/>
              <a:t>можете создавать не только </a:t>
            </a:r>
            <a:r>
              <a:rPr lang="ru-RU" dirty="0" smtClean="0"/>
              <a:t>естественные </a:t>
            </a:r>
            <a:r>
              <a:rPr lang="ru-RU" dirty="0"/>
              <a:t>внутренние, но и естественные </a:t>
            </a:r>
            <a:r>
              <a:rPr lang="ru-RU" dirty="0" smtClean="0"/>
              <a:t>внешние </a:t>
            </a:r>
            <a:r>
              <a:rPr lang="ru-RU" dirty="0"/>
              <a:t>объединения с использованием </a:t>
            </a:r>
            <a:r>
              <a:rPr lang="ru-RU" dirty="0" smtClean="0"/>
              <a:t>следующих </a:t>
            </a:r>
            <a:r>
              <a:rPr lang="ru-RU" dirty="0"/>
              <a:t>предложений:</a:t>
            </a:r>
          </a:p>
          <a:p>
            <a:r>
              <a:rPr lang="en-US" dirty="0" smtClean="0"/>
              <a:t>NATURAL </a:t>
            </a:r>
            <a:r>
              <a:rPr lang="en-US" dirty="0"/>
              <a:t>LEFT [OUTER] JOIN;</a:t>
            </a:r>
          </a:p>
          <a:p>
            <a:r>
              <a:rPr lang="en-US" dirty="0" smtClean="0"/>
              <a:t>NATURAL </a:t>
            </a:r>
            <a:r>
              <a:rPr lang="en-US" dirty="0"/>
              <a:t>RIGHT [OUTER] JOIN;</a:t>
            </a:r>
          </a:p>
          <a:p>
            <a:r>
              <a:rPr lang="en-US" dirty="0" smtClean="0"/>
              <a:t>NATURAL </a:t>
            </a:r>
            <a:r>
              <a:rPr lang="en-US" dirty="0"/>
              <a:t>FULL [OUTER] JOIN.</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298</a:t>
            </a:fld>
            <a:endParaRPr lang="ru-RU"/>
          </a:p>
        </p:txBody>
      </p:sp>
    </p:spTree>
    <p:extLst>
      <p:ext uri="{BB962C8B-B14F-4D97-AF65-F5344CB8AC3E}">
        <p14:creationId xmlns:p14="http://schemas.microsoft.com/office/powerpoint/2010/main" xmlns="" val="3071366530"/>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INNER JOIN</a:t>
            </a:r>
            <a:endParaRPr lang="ru-RU" dirty="0"/>
          </a:p>
        </p:txBody>
      </p:sp>
      <p:sp>
        <p:nvSpPr>
          <p:cNvPr id="3" name="Объект 2"/>
          <p:cNvSpPr>
            <a:spLocks noGrp="1"/>
          </p:cNvSpPr>
          <p:nvPr>
            <p:ph idx="1"/>
          </p:nvPr>
        </p:nvSpPr>
        <p:spPr/>
        <p:txBody>
          <a:bodyPr/>
          <a:lstStyle/>
          <a:p>
            <a:r>
              <a:rPr lang="ru-RU" i="1" dirty="0"/>
              <a:t>Внутреннее объединение </a:t>
            </a:r>
            <a:r>
              <a:rPr lang="ru-RU" dirty="0"/>
              <a:t>отличается </a:t>
            </a:r>
            <a:r>
              <a:rPr lang="ru-RU" dirty="0" smtClean="0"/>
              <a:t>следующими </a:t>
            </a:r>
            <a:r>
              <a:rPr lang="ru-RU" dirty="0"/>
              <a:t>характеристиками</a:t>
            </a:r>
            <a:r>
              <a:rPr lang="ru-RU" dirty="0" smtClean="0"/>
              <a:t>:</a:t>
            </a:r>
          </a:p>
          <a:p>
            <a:r>
              <a:rPr lang="ru-RU" dirty="0"/>
              <a:t>использует оператор сравнения (=, &lt;&gt;, </a:t>
            </a:r>
            <a:r>
              <a:rPr lang="ru-RU" dirty="0" smtClean="0"/>
              <a:t>&lt;,&lt;=, </a:t>
            </a:r>
            <a:r>
              <a:rPr lang="ru-RU" dirty="0"/>
              <a:t>&gt; или &gt;=), чтобы сопоставить </a:t>
            </a:r>
            <a:r>
              <a:rPr lang="ru-RU" dirty="0" smtClean="0"/>
              <a:t>строки </a:t>
            </a:r>
            <a:r>
              <a:rPr lang="ru-RU" dirty="0"/>
              <a:t>в двух таблицах на основании </a:t>
            </a:r>
            <a:r>
              <a:rPr lang="ru-RU" dirty="0" smtClean="0"/>
              <a:t>значений </a:t>
            </a:r>
            <a:r>
              <a:rPr lang="ru-RU" dirty="0"/>
              <a:t>в общих столбцах каждой таблицы</a:t>
            </a:r>
            <a:r>
              <a:rPr lang="ru-RU" dirty="0" smtClean="0"/>
              <a:t>.</a:t>
            </a:r>
          </a:p>
          <a:p>
            <a:r>
              <a:rPr lang="ru-RU" dirty="0"/>
              <a:t>считывает результат, который </a:t>
            </a:r>
            <a:r>
              <a:rPr lang="ru-RU" dirty="0" smtClean="0"/>
              <a:t>включает </a:t>
            </a:r>
            <a:r>
              <a:rPr lang="ru-RU" dirty="0"/>
              <a:t>только объединенные строки, </a:t>
            </a:r>
            <a:r>
              <a:rPr lang="ru-RU" dirty="0" smtClean="0"/>
              <a:t>соответствующие </a:t>
            </a:r>
            <a:r>
              <a:rPr lang="ru-RU" dirty="0"/>
              <a:t>условиям объединения</a:t>
            </a:r>
            <a:r>
              <a:rPr lang="ru-RU" dirty="0" smtClean="0"/>
              <a:t>;</a:t>
            </a:r>
          </a:p>
          <a:p>
            <a:r>
              <a:rPr lang="ru-RU" dirty="0"/>
              <a:t>является самым распространенным </a:t>
            </a:r>
            <a:r>
              <a:rPr lang="ru-RU" dirty="0" smtClean="0"/>
              <a:t>типом </a:t>
            </a:r>
            <a:r>
              <a:rPr lang="ru-RU" dirty="0"/>
              <a:t>объединения.</a:t>
            </a:r>
          </a:p>
        </p:txBody>
      </p:sp>
      <p:sp>
        <p:nvSpPr>
          <p:cNvPr id="4" name="Номер слайда 3"/>
          <p:cNvSpPr>
            <a:spLocks noGrp="1"/>
          </p:cNvSpPr>
          <p:nvPr>
            <p:ph type="sldNum" sz="quarter" idx="12"/>
          </p:nvPr>
        </p:nvSpPr>
        <p:spPr/>
        <p:txBody>
          <a:bodyPr/>
          <a:lstStyle/>
          <a:p>
            <a:fld id="{590C5F67-5E4C-4ABB-99F4-36BCAC8BE885}" type="slidenum">
              <a:rPr lang="ru-RU" smtClean="0"/>
              <a:pPr/>
              <a:t>299</a:t>
            </a:fld>
            <a:endParaRPr lang="ru-RU"/>
          </a:p>
        </p:txBody>
      </p:sp>
    </p:spTree>
    <p:extLst>
      <p:ext uri="{BB962C8B-B14F-4D97-AF65-F5344CB8AC3E}">
        <p14:creationId xmlns:p14="http://schemas.microsoft.com/office/powerpoint/2010/main" xmlns="" val="2567087830"/>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smtClean="0"/>
              <a:t>Пример</a:t>
            </a:r>
            <a:r>
              <a:rPr lang="en-US" dirty="0" smtClean="0"/>
              <a:t>:</a:t>
            </a:r>
          </a:p>
          <a:p>
            <a:r>
              <a:rPr lang="en-US" dirty="0"/>
              <a:t>SELECT </a:t>
            </a:r>
            <a:r>
              <a:rPr lang="en-US" i="1" dirty="0"/>
              <a:t>columns</a:t>
            </a:r>
          </a:p>
          <a:p>
            <a:r>
              <a:rPr lang="en-US" dirty="0"/>
              <a:t>FROM </a:t>
            </a:r>
            <a:r>
              <a:rPr lang="en-US" i="1" dirty="0"/>
              <a:t>table1</a:t>
            </a:r>
          </a:p>
          <a:p>
            <a:r>
              <a:rPr lang="en-US" dirty="0"/>
              <a:t>INNER JOIN </a:t>
            </a:r>
            <a:r>
              <a:rPr lang="en-US" i="1" dirty="0"/>
              <a:t>table2</a:t>
            </a:r>
          </a:p>
          <a:p>
            <a:r>
              <a:rPr lang="en-US" dirty="0"/>
              <a:t>ON </a:t>
            </a:r>
            <a:r>
              <a:rPr lang="en-US" i="1" dirty="0" err="1"/>
              <a:t>join_conditions</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300</a:t>
            </a:fld>
            <a:endParaRPr lang="ru-RU"/>
          </a:p>
        </p:txBody>
      </p:sp>
    </p:spTree>
    <p:extLst>
      <p:ext uri="{BB962C8B-B14F-4D97-AF65-F5344CB8AC3E}">
        <p14:creationId xmlns:p14="http://schemas.microsoft.com/office/powerpoint/2010/main" xmlns="" val="22667200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OUTER JOIN</a:t>
            </a:r>
            <a:endParaRPr lang="ru-RU" dirty="0"/>
          </a:p>
        </p:txBody>
      </p:sp>
      <p:sp>
        <p:nvSpPr>
          <p:cNvPr id="3" name="Объект 2"/>
          <p:cNvSpPr>
            <a:spLocks noGrp="1"/>
          </p:cNvSpPr>
          <p:nvPr>
            <p:ph idx="1"/>
          </p:nvPr>
        </p:nvSpPr>
        <p:spPr/>
        <p:txBody>
          <a:bodyPr>
            <a:normAutofit/>
          </a:bodyPr>
          <a:lstStyle/>
          <a:p>
            <a:r>
              <a:rPr lang="ru-RU" dirty="0"/>
              <a:t>Внешние объединения полезны для </a:t>
            </a:r>
            <a:r>
              <a:rPr lang="ru-RU" dirty="0" smtClean="0"/>
              <a:t>ответов </a:t>
            </a:r>
            <a:r>
              <a:rPr lang="ru-RU" dirty="0"/>
              <a:t>на вопросы, в которых есть </a:t>
            </a:r>
            <a:r>
              <a:rPr lang="ru-RU" dirty="0" smtClean="0"/>
              <a:t>пропущенные </a:t>
            </a:r>
            <a:r>
              <a:rPr lang="ru-RU" dirty="0"/>
              <a:t>значения: например, авторы, </a:t>
            </a:r>
            <a:r>
              <a:rPr lang="ru-RU" dirty="0" smtClean="0"/>
              <a:t>не</a:t>
            </a:r>
            <a:r>
              <a:rPr lang="en-US" dirty="0" smtClean="0"/>
              <a:t> </a:t>
            </a:r>
            <a:r>
              <a:rPr lang="ru-RU" dirty="0" smtClean="0"/>
              <a:t>написавшие </a:t>
            </a:r>
            <a:r>
              <a:rPr lang="ru-RU" dirty="0"/>
              <a:t>ни одной книги, или </a:t>
            </a:r>
            <a:r>
              <a:rPr lang="ru-RU" dirty="0" smtClean="0"/>
              <a:t>курсы,</a:t>
            </a:r>
            <a:r>
              <a:rPr lang="en-US" dirty="0" smtClean="0"/>
              <a:t> </a:t>
            </a:r>
            <a:r>
              <a:rPr lang="ru-RU" dirty="0" smtClean="0"/>
              <a:t>на </a:t>
            </a:r>
            <a:r>
              <a:rPr lang="ru-RU" dirty="0"/>
              <a:t>которые не записался ни один студент</a:t>
            </a:r>
            <a:r>
              <a:rPr lang="ru-RU" dirty="0" smtClean="0"/>
              <a:t>.</a:t>
            </a:r>
            <a:endParaRPr lang="en-US" dirty="0" smtClean="0"/>
          </a:p>
          <a:p>
            <a:r>
              <a:rPr lang="ru-RU" dirty="0"/>
              <a:t>В отличие от других объединений, </a:t>
            </a:r>
            <a:r>
              <a:rPr lang="ru-RU" dirty="0" smtClean="0"/>
              <a:t>порядок,</a:t>
            </a:r>
            <a:r>
              <a:rPr lang="en-US" dirty="0" smtClean="0"/>
              <a:t> </a:t>
            </a:r>
            <a:r>
              <a:rPr lang="ru-RU" dirty="0" smtClean="0"/>
              <a:t>в </a:t>
            </a:r>
            <a:r>
              <a:rPr lang="ru-RU" dirty="0"/>
              <a:t>котором вы задаете таблицы для </a:t>
            </a:r>
            <a:r>
              <a:rPr lang="ru-RU" dirty="0" smtClean="0"/>
              <a:t>внешнего </a:t>
            </a:r>
            <a:r>
              <a:rPr lang="ru-RU" dirty="0"/>
              <a:t>объединения, имеет значение</a:t>
            </a:r>
            <a:r>
              <a:rPr lang="ru-RU" dirty="0" smtClean="0"/>
              <a:t>.</a:t>
            </a:r>
            <a:endParaRPr lang="en-US" dirty="0" smtClean="0"/>
          </a:p>
          <a:p>
            <a:r>
              <a:rPr lang="ru-RU" dirty="0"/>
              <a:t>Р</a:t>
            </a:r>
            <a:r>
              <a:rPr lang="ru-RU" dirty="0" smtClean="0"/>
              <a:t>абочие </a:t>
            </a:r>
            <a:r>
              <a:rPr lang="ru-RU" dirty="0"/>
              <a:t>таблицы внешнего </a:t>
            </a:r>
            <a:r>
              <a:rPr lang="ru-RU" dirty="0" smtClean="0"/>
              <a:t>объединения называются </a:t>
            </a:r>
            <a:r>
              <a:rPr lang="ru-RU" i="1" dirty="0"/>
              <a:t>левой таблицей </a:t>
            </a:r>
            <a:r>
              <a:rPr lang="ru-RU" dirty="0"/>
              <a:t>и </a:t>
            </a:r>
            <a:r>
              <a:rPr lang="ru-RU" i="1" dirty="0"/>
              <a:t>правой </a:t>
            </a:r>
            <a:r>
              <a:rPr lang="ru-RU" i="1" dirty="0" smtClean="0"/>
              <a:t>таблицей</a:t>
            </a:r>
            <a:r>
              <a:rPr lang="ru-RU" dirty="0"/>
              <a:t>. </a:t>
            </a:r>
          </a:p>
        </p:txBody>
      </p:sp>
      <p:sp>
        <p:nvSpPr>
          <p:cNvPr id="4" name="Номер слайда 3"/>
          <p:cNvSpPr>
            <a:spLocks noGrp="1"/>
          </p:cNvSpPr>
          <p:nvPr>
            <p:ph type="sldNum" sz="quarter" idx="12"/>
          </p:nvPr>
        </p:nvSpPr>
        <p:spPr/>
        <p:txBody>
          <a:bodyPr/>
          <a:lstStyle/>
          <a:p>
            <a:fld id="{590C5F67-5E4C-4ABB-99F4-36BCAC8BE885}" type="slidenum">
              <a:rPr lang="ru-RU" smtClean="0"/>
              <a:pPr/>
              <a:t>301</a:t>
            </a:fld>
            <a:endParaRPr lang="ru-RU"/>
          </a:p>
        </p:txBody>
      </p:sp>
    </p:spTree>
    <p:extLst>
      <p:ext uri="{BB962C8B-B14F-4D97-AF65-F5344CB8AC3E}">
        <p14:creationId xmlns:p14="http://schemas.microsoft.com/office/powerpoint/2010/main" xmlns="" val="266490490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150883"/>
            <a:ext cx="10515600" cy="5026080"/>
          </a:xfrm>
        </p:spPr>
        <p:txBody>
          <a:bodyPr/>
          <a:lstStyle/>
          <a:p>
            <a:r>
              <a:rPr lang="ru-RU" dirty="0"/>
              <a:t>Внешние объединения </a:t>
            </a:r>
            <a:r>
              <a:rPr lang="ru-RU" dirty="0" smtClean="0"/>
              <a:t>бывают трех видов</a:t>
            </a:r>
            <a:r>
              <a:rPr lang="en-US" dirty="0" smtClean="0"/>
              <a:t>:</a:t>
            </a:r>
          </a:p>
          <a:p>
            <a:r>
              <a:rPr lang="ru-RU" i="1" dirty="0"/>
              <a:t>Левое внешнее объединение </a:t>
            </a:r>
            <a:r>
              <a:rPr lang="ru-RU" dirty="0"/>
              <a:t>(LEFT OUTER JOIN</a:t>
            </a:r>
            <a:r>
              <a:rPr lang="ru-RU" dirty="0" smtClean="0"/>
              <a:t>).</a:t>
            </a:r>
            <a:endParaRPr lang="en-US" dirty="0" smtClean="0"/>
          </a:p>
          <a:p>
            <a:r>
              <a:rPr lang="ru-RU" i="1" dirty="0"/>
              <a:t>Правое внешнее объединение </a:t>
            </a:r>
            <a:r>
              <a:rPr lang="ru-RU" dirty="0"/>
              <a:t>(RIGHT </a:t>
            </a:r>
            <a:r>
              <a:rPr lang="ru-RU" dirty="0" smtClean="0"/>
              <a:t>OUTER</a:t>
            </a:r>
            <a:r>
              <a:rPr lang="en-US" dirty="0" smtClean="0"/>
              <a:t> JOIN).</a:t>
            </a:r>
          </a:p>
          <a:p>
            <a:r>
              <a:rPr lang="ru-RU" i="1" dirty="0"/>
              <a:t>Полное внешнее объединение </a:t>
            </a:r>
            <a:r>
              <a:rPr lang="ru-RU" dirty="0"/>
              <a:t>(FULL </a:t>
            </a:r>
            <a:r>
              <a:rPr lang="ru-RU" dirty="0" smtClean="0"/>
              <a:t>OUTER</a:t>
            </a:r>
            <a:r>
              <a:rPr lang="en-US" dirty="0" smtClean="0"/>
              <a:t> JOIN).</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302</a:t>
            </a:fld>
            <a:endParaRPr lang="ru-RU"/>
          </a:p>
        </p:txBody>
      </p:sp>
    </p:spTree>
    <p:extLst>
      <p:ext uri="{BB962C8B-B14F-4D97-AF65-F5344CB8AC3E}">
        <p14:creationId xmlns:p14="http://schemas.microsoft.com/office/powerpoint/2010/main" xmlns="" val="8380792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LEFT OUTER JOIN</a:t>
            </a:r>
          </a:p>
        </p:txBody>
      </p:sp>
      <p:sp>
        <p:nvSpPr>
          <p:cNvPr id="3" name="Объект 2"/>
          <p:cNvSpPr>
            <a:spLocks noGrp="1"/>
          </p:cNvSpPr>
          <p:nvPr>
            <p:ph idx="1"/>
          </p:nvPr>
        </p:nvSpPr>
        <p:spPr/>
        <p:txBody>
          <a:bodyPr>
            <a:normAutofit/>
          </a:bodyPr>
          <a:lstStyle/>
          <a:p>
            <a:r>
              <a:rPr lang="ru-RU" dirty="0"/>
              <a:t>Результат исполнения левого </a:t>
            </a:r>
            <a:r>
              <a:rPr lang="ru-RU" dirty="0" smtClean="0"/>
              <a:t>внешнего</a:t>
            </a:r>
            <a:r>
              <a:rPr lang="en-US" dirty="0" smtClean="0"/>
              <a:t> </a:t>
            </a:r>
            <a:r>
              <a:rPr lang="ru-RU" dirty="0" smtClean="0"/>
              <a:t>объединения </a:t>
            </a:r>
            <a:r>
              <a:rPr lang="ru-RU" dirty="0"/>
              <a:t>включает все строки из </a:t>
            </a:r>
            <a:r>
              <a:rPr lang="ru-RU" dirty="0" smtClean="0"/>
              <a:t>левой</a:t>
            </a:r>
            <a:r>
              <a:rPr lang="en-US" dirty="0" smtClean="0"/>
              <a:t> </a:t>
            </a:r>
            <a:r>
              <a:rPr lang="ru-RU" dirty="0"/>
              <a:t>таблицы, заданные в пункте LEFT </a:t>
            </a:r>
            <a:r>
              <a:rPr lang="ru-RU" dirty="0" smtClean="0"/>
              <a:t>OUTER</a:t>
            </a:r>
            <a:r>
              <a:rPr lang="en-US" dirty="0" smtClean="0"/>
              <a:t> </a:t>
            </a:r>
            <a:r>
              <a:rPr lang="ru-RU" dirty="0" smtClean="0"/>
              <a:t>JOIN</a:t>
            </a:r>
            <a:r>
              <a:rPr lang="ru-RU" dirty="0"/>
              <a:t>, а не только строки, которые </a:t>
            </a:r>
            <a:r>
              <a:rPr lang="ru-RU" dirty="0" smtClean="0"/>
              <a:t>совпадают </a:t>
            </a:r>
            <a:r>
              <a:rPr lang="ru-RU" dirty="0"/>
              <a:t>для связанных столбцов. Если </a:t>
            </a:r>
            <a:r>
              <a:rPr lang="ru-RU" dirty="0" smtClean="0"/>
              <a:t>для</a:t>
            </a:r>
            <a:r>
              <a:rPr lang="en-US" dirty="0" smtClean="0"/>
              <a:t> </a:t>
            </a:r>
            <a:r>
              <a:rPr lang="ru-RU" dirty="0" smtClean="0"/>
              <a:t>строки </a:t>
            </a:r>
            <a:r>
              <a:rPr lang="ru-RU" dirty="0"/>
              <a:t>в левой таблице нет соответствия </a:t>
            </a:r>
            <a:r>
              <a:rPr lang="ru-RU" dirty="0" smtClean="0"/>
              <a:t>в</a:t>
            </a:r>
            <a:r>
              <a:rPr lang="en-US" dirty="0" smtClean="0"/>
              <a:t> </a:t>
            </a:r>
            <a:r>
              <a:rPr lang="ru-RU" dirty="0" smtClean="0"/>
              <a:t>правой </a:t>
            </a:r>
            <a:r>
              <a:rPr lang="ru-RU" dirty="0"/>
              <a:t>таблице, то в результате </a:t>
            </a:r>
            <a:r>
              <a:rPr lang="ru-RU" dirty="0" smtClean="0"/>
              <a:t>строка</a:t>
            </a:r>
            <a:r>
              <a:rPr lang="en-US" dirty="0" smtClean="0"/>
              <a:t> </a:t>
            </a:r>
            <a:r>
              <a:rPr lang="ru-RU" dirty="0" smtClean="0"/>
              <a:t>будет </a:t>
            </a:r>
            <a:r>
              <a:rPr lang="ru-RU" dirty="0"/>
              <a:t>содержать NULL для всех столбцов </a:t>
            </a:r>
            <a:r>
              <a:rPr lang="ru-RU" dirty="0" smtClean="0"/>
              <a:t>в</a:t>
            </a:r>
            <a:r>
              <a:rPr lang="en-US" dirty="0" smtClean="0"/>
              <a:t> </a:t>
            </a:r>
            <a:r>
              <a:rPr lang="ru-RU" dirty="0" smtClean="0"/>
              <a:t>списке </a:t>
            </a:r>
            <a:r>
              <a:rPr lang="ru-RU" dirty="0"/>
              <a:t>SELECT, которые были считаны </a:t>
            </a:r>
            <a:r>
              <a:rPr lang="ru-RU" dirty="0" smtClean="0"/>
              <a:t>из</a:t>
            </a:r>
            <a:r>
              <a:rPr lang="en-US" dirty="0" smtClean="0"/>
              <a:t> </a:t>
            </a:r>
            <a:r>
              <a:rPr lang="ru-RU" dirty="0" smtClean="0"/>
              <a:t>правой </a:t>
            </a:r>
            <a:r>
              <a:rPr lang="ru-RU" dirty="0"/>
              <a:t>таблицы</a:t>
            </a:r>
            <a:r>
              <a:rPr lang="ru-RU" dirty="0" smtClean="0"/>
              <a:t>.</a:t>
            </a:r>
            <a:endParaRPr lang="en-US" dirty="0" smtClean="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303</a:t>
            </a:fld>
            <a:endParaRPr lang="ru-RU"/>
          </a:p>
        </p:txBody>
      </p:sp>
    </p:spTree>
    <p:extLst>
      <p:ext uri="{BB962C8B-B14F-4D97-AF65-F5344CB8AC3E}">
        <p14:creationId xmlns:p14="http://schemas.microsoft.com/office/powerpoint/2010/main" xmlns="" val="4074880658"/>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82869"/>
            <a:ext cx="10515600" cy="5294094"/>
          </a:xfrm>
        </p:spPr>
        <p:txBody>
          <a:bodyPr/>
          <a:lstStyle/>
          <a:p>
            <a:r>
              <a:rPr lang="ru-RU" dirty="0" smtClean="0"/>
              <a:t>Пример</a:t>
            </a:r>
            <a:r>
              <a:rPr lang="en-US" dirty="0" smtClean="0"/>
              <a:t>:</a:t>
            </a:r>
          </a:p>
          <a:p>
            <a:r>
              <a:rPr lang="en-US" dirty="0"/>
              <a:t>SELECT </a:t>
            </a:r>
            <a:r>
              <a:rPr lang="en-US" i="1" dirty="0"/>
              <a:t>columns</a:t>
            </a:r>
          </a:p>
          <a:p>
            <a:r>
              <a:rPr lang="en-US" dirty="0"/>
              <a:t>FROM </a:t>
            </a:r>
            <a:r>
              <a:rPr lang="en-US" i="1" dirty="0" err="1"/>
              <a:t>left_table</a:t>
            </a:r>
            <a:endParaRPr lang="en-US" i="1" dirty="0"/>
          </a:p>
          <a:p>
            <a:r>
              <a:rPr lang="en-US" dirty="0"/>
              <a:t>LEFT [OUTER] JOIN </a:t>
            </a:r>
            <a:r>
              <a:rPr lang="en-US" i="1" dirty="0" err="1"/>
              <a:t>right_table</a:t>
            </a:r>
            <a:endParaRPr lang="en-US" i="1" dirty="0"/>
          </a:p>
          <a:p>
            <a:r>
              <a:rPr lang="en-US" dirty="0"/>
              <a:t>ON </a:t>
            </a:r>
            <a:r>
              <a:rPr lang="en-US" i="1" dirty="0" err="1"/>
              <a:t>join_conditions</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304</a:t>
            </a:fld>
            <a:endParaRPr lang="ru-RU"/>
          </a:p>
        </p:txBody>
      </p:sp>
    </p:spTree>
    <p:extLst>
      <p:ext uri="{BB962C8B-B14F-4D97-AF65-F5344CB8AC3E}">
        <p14:creationId xmlns:p14="http://schemas.microsoft.com/office/powerpoint/2010/main" xmlns="" val="17886451"/>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RIGHT OUTER</a:t>
            </a:r>
            <a:r>
              <a:rPr lang="ru-RU" dirty="0" smtClean="0"/>
              <a:t> </a:t>
            </a:r>
            <a:r>
              <a:rPr lang="en-US" dirty="0" smtClean="0"/>
              <a:t>JOIN</a:t>
            </a:r>
            <a:endParaRPr lang="ru-RU" dirty="0"/>
          </a:p>
        </p:txBody>
      </p:sp>
      <p:sp>
        <p:nvSpPr>
          <p:cNvPr id="3" name="Объект 2"/>
          <p:cNvSpPr>
            <a:spLocks noGrp="1"/>
          </p:cNvSpPr>
          <p:nvPr>
            <p:ph idx="1"/>
          </p:nvPr>
        </p:nvSpPr>
        <p:spPr/>
        <p:txBody>
          <a:bodyPr>
            <a:normAutofit lnSpcReduction="10000"/>
          </a:bodyPr>
          <a:lstStyle/>
          <a:p>
            <a:r>
              <a:rPr lang="ru-RU" i="1" dirty="0"/>
              <a:t>Правое внешнее объединение </a:t>
            </a:r>
            <a:r>
              <a:rPr lang="ru-RU" dirty="0"/>
              <a:t>(RIGHT </a:t>
            </a:r>
            <a:r>
              <a:rPr lang="ru-RU" dirty="0" smtClean="0"/>
              <a:t>OUTER </a:t>
            </a:r>
            <a:r>
              <a:rPr lang="en-US" dirty="0" smtClean="0"/>
              <a:t>JOIN</a:t>
            </a:r>
            <a:r>
              <a:rPr lang="en-US" dirty="0"/>
              <a:t>) </a:t>
            </a:r>
            <a:r>
              <a:rPr lang="ru-RU" dirty="0"/>
              <a:t>является прямой </a:t>
            </a:r>
            <a:r>
              <a:rPr lang="ru-RU" dirty="0" smtClean="0"/>
              <a:t>противоположностью </a:t>
            </a:r>
            <a:r>
              <a:rPr lang="ru-RU" dirty="0"/>
              <a:t>левому. Считываются все строки </a:t>
            </a:r>
            <a:r>
              <a:rPr lang="ru-RU" dirty="0" smtClean="0"/>
              <a:t>из правой </a:t>
            </a:r>
            <a:r>
              <a:rPr lang="ru-RU" dirty="0"/>
              <a:t>таблицы. Если для строки из </a:t>
            </a:r>
            <a:r>
              <a:rPr lang="ru-RU" dirty="0" smtClean="0"/>
              <a:t>правой </a:t>
            </a:r>
            <a:r>
              <a:rPr lang="ru-RU" dirty="0"/>
              <a:t>таблицы нет соответствия в </a:t>
            </a:r>
            <a:r>
              <a:rPr lang="ru-RU" dirty="0" smtClean="0"/>
              <a:t>правой таблице</a:t>
            </a:r>
            <a:r>
              <a:rPr lang="ru-RU" dirty="0"/>
              <a:t>, то для левой таблицы </a:t>
            </a:r>
            <a:r>
              <a:rPr lang="ru-RU" dirty="0" smtClean="0"/>
              <a:t>считываются </a:t>
            </a:r>
            <a:r>
              <a:rPr lang="en-US" dirty="0"/>
              <a:t>NULL</a:t>
            </a:r>
            <a:r>
              <a:rPr lang="en-US" dirty="0" smtClean="0"/>
              <a:t>.</a:t>
            </a:r>
            <a:endParaRPr lang="ru-RU" dirty="0" smtClean="0"/>
          </a:p>
          <a:p>
            <a:r>
              <a:rPr lang="ru-RU" dirty="0" smtClean="0"/>
              <a:t>Пример</a:t>
            </a:r>
            <a:r>
              <a:rPr lang="en-US" dirty="0" smtClean="0"/>
              <a:t>:</a:t>
            </a:r>
          </a:p>
          <a:p>
            <a:r>
              <a:rPr lang="en-US" dirty="0"/>
              <a:t>SELECT </a:t>
            </a:r>
            <a:r>
              <a:rPr lang="en-US" i="1" dirty="0"/>
              <a:t>columns</a:t>
            </a:r>
          </a:p>
          <a:p>
            <a:r>
              <a:rPr lang="en-US" dirty="0"/>
              <a:t>FROM </a:t>
            </a:r>
            <a:r>
              <a:rPr lang="en-US" i="1" dirty="0" err="1" smtClean="0"/>
              <a:t>right_table</a:t>
            </a:r>
            <a:endParaRPr lang="en-US" i="1" dirty="0"/>
          </a:p>
          <a:p>
            <a:r>
              <a:rPr lang="en-US" dirty="0"/>
              <a:t>RIGHT [OUTER] JOIN </a:t>
            </a:r>
            <a:r>
              <a:rPr lang="en-US" i="1" dirty="0" err="1"/>
              <a:t>right_table</a:t>
            </a:r>
            <a:endParaRPr lang="en-US" i="1" dirty="0"/>
          </a:p>
          <a:p>
            <a:r>
              <a:rPr lang="en-US" dirty="0"/>
              <a:t>ON </a:t>
            </a:r>
            <a:r>
              <a:rPr lang="en-US" i="1" dirty="0" err="1"/>
              <a:t>join_conditions</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305</a:t>
            </a:fld>
            <a:endParaRPr lang="ru-RU"/>
          </a:p>
        </p:txBody>
      </p:sp>
    </p:spTree>
    <p:extLst>
      <p:ext uri="{BB962C8B-B14F-4D97-AF65-F5344CB8AC3E}">
        <p14:creationId xmlns:p14="http://schemas.microsoft.com/office/powerpoint/2010/main" xmlns="" val="3286514590"/>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FULL OUTER JOIN</a:t>
            </a:r>
            <a:endParaRPr lang="ru-RU" dirty="0"/>
          </a:p>
        </p:txBody>
      </p:sp>
      <p:sp>
        <p:nvSpPr>
          <p:cNvPr id="3" name="Объект 2"/>
          <p:cNvSpPr>
            <a:spLocks noGrp="1"/>
          </p:cNvSpPr>
          <p:nvPr>
            <p:ph idx="1"/>
          </p:nvPr>
        </p:nvSpPr>
        <p:spPr/>
        <p:txBody>
          <a:bodyPr>
            <a:normAutofit/>
          </a:bodyPr>
          <a:lstStyle/>
          <a:p>
            <a:r>
              <a:rPr lang="ru-RU" i="1" dirty="0"/>
              <a:t>Полное внешнее объединение </a:t>
            </a:r>
            <a:r>
              <a:rPr lang="ru-RU" dirty="0"/>
              <a:t>(FULL </a:t>
            </a:r>
            <a:r>
              <a:rPr lang="ru-RU" dirty="0" smtClean="0"/>
              <a:t>OUTER</a:t>
            </a:r>
            <a:r>
              <a:rPr lang="en-US" dirty="0" smtClean="0"/>
              <a:t> </a:t>
            </a:r>
            <a:r>
              <a:rPr lang="ru-RU" dirty="0" smtClean="0"/>
              <a:t>JOIN</a:t>
            </a:r>
            <a:r>
              <a:rPr lang="ru-RU" dirty="0"/>
              <a:t>) является комбинацией левого и </a:t>
            </a:r>
            <a:r>
              <a:rPr lang="ru-RU" dirty="0" smtClean="0"/>
              <a:t>правого </a:t>
            </a:r>
            <a:r>
              <a:rPr lang="ru-RU" dirty="0"/>
              <a:t>внешних объединений. </a:t>
            </a:r>
            <a:endParaRPr lang="en-US" dirty="0" smtClean="0"/>
          </a:p>
          <a:p>
            <a:r>
              <a:rPr lang="ru-RU" dirty="0" smtClean="0"/>
              <a:t>Считывает</a:t>
            </a:r>
            <a:r>
              <a:rPr lang="en-US" dirty="0"/>
              <a:t> </a:t>
            </a:r>
            <a:r>
              <a:rPr lang="ru-RU" dirty="0" smtClean="0"/>
              <a:t>все </a:t>
            </a:r>
            <a:r>
              <a:rPr lang="ru-RU" dirty="0"/>
              <a:t>строки как из левой, так и из </a:t>
            </a:r>
            <a:r>
              <a:rPr lang="ru-RU" dirty="0" smtClean="0"/>
              <a:t>правой</a:t>
            </a:r>
            <a:r>
              <a:rPr lang="en-US" dirty="0" smtClean="0"/>
              <a:t> </a:t>
            </a:r>
            <a:r>
              <a:rPr lang="ru-RU" dirty="0" smtClean="0"/>
              <a:t>таблиц</a:t>
            </a:r>
            <a:r>
              <a:rPr lang="ru-RU" dirty="0"/>
              <a:t>. Если для строки нет </a:t>
            </a:r>
            <a:r>
              <a:rPr lang="ru-RU" dirty="0" smtClean="0"/>
              <a:t>соответствия </a:t>
            </a:r>
            <a:r>
              <a:rPr lang="ru-RU" dirty="0"/>
              <a:t>в другой таблице, столбцы в </a:t>
            </a:r>
            <a:r>
              <a:rPr lang="ru-RU" dirty="0" smtClean="0"/>
              <a:t>списке </a:t>
            </a:r>
            <a:r>
              <a:rPr lang="ru-RU" dirty="0"/>
              <a:t>SELECT другой таблицы будут </a:t>
            </a:r>
            <a:r>
              <a:rPr lang="ru-RU" dirty="0" smtClean="0"/>
              <a:t>содержать </a:t>
            </a:r>
            <a:r>
              <a:rPr lang="ru-RU" dirty="0"/>
              <a:t>NULL. </a:t>
            </a:r>
            <a:endParaRPr lang="en-US" dirty="0" smtClean="0"/>
          </a:p>
          <a:p>
            <a:r>
              <a:rPr lang="ru-RU" dirty="0" smtClean="0"/>
              <a:t>Если </a:t>
            </a:r>
            <a:r>
              <a:rPr lang="ru-RU" dirty="0"/>
              <a:t>в таблицах есть </a:t>
            </a:r>
            <a:r>
              <a:rPr lang="ru-RU" dirty="0" smtClean="0"/>
              <a:t>соответствие</a:t>
            </a:r>
            <a:r>
              <a:rPr lang="ru-RU" dirty="0"/>
              <a:t>, то строка будет содержать </a:t>
            </a:r>
            <a:r>
              <a:rPr lang="ru-RU" dirty="0" smtClean="0"/>
              <a:t>значения</a:t>
            </a:r>
            <a:r>
              <a:rPr lang="en-US" dirty="0" smtClean="0"/>
              <a:t> </a:t>
            </a:r>
            <a:r>
              <a:rPr lang="ru-RU" dirty="0" smtClean="0"/>
              <a:t>из </a:t>
            </a:r>
            <a:r>
              <a:rPr lang="ru-RU" dirty="0"/>
              <a:t>двух таблиц.</a:t>
            </a:r>
          </a:p>
        </p:txBody>
      </p:sp>
      <p:sp>
        <p:nvSpPr>
          <p:cNvPr id="4" name="Номер слайда 3"/>
          <p:cNvSpPr>
            <a:spLocks noGrp="1"/>
          </p:cNvSpPr>
          <p:nvPr>
            <p:ph type="sldNum" sz="quarter" idx="12"/>
          </p:nvPr>
        </p:nvSpPr>
        <p:spPr/>
        <p:txBody>
          <a:bodyPr/>
          <a:lstStyle/>
          <a:p>
            <a:fld id="{590C5F67-5E4C-4ABB-99F4-36BCAC8BE885}" type="slidenum">
              <a:rPr lang="ru-RU" smtClean="0"/>
              <a:pPr/>
              <a:t>306</a:t>
            </a:fld>
            <a:endParaRPr lang="ru-RU"/>
          </a:p>
        </p:txBody>
      </p:sp>
    </p:spTree>
    <p:extLst>
      <p:ext uri="{BB962C8B-B14F-4D97-AF65-F5344CB8AC3E}">
        <p14:creationId xmlns:p14="http://schemas.microsoft.com/office/powerpoint/2010/main" xmlns="" val="268009396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smtClean="0"/>
              <a:t>Пример</a:t>
            </a:r>
            <a:r>
              <a:rPr lang="en-US" dirty="0" smtClean="0"/>
              <a:t>:</a:t>
            </a:r>
          </a:p>
          <a:p>
            <a:r>
              <a:rPr lang="en-US" dirty="0"/>
              <a:t>SELECT </a:t>
            </a:r>
            <a:r>
              <a:rPr lang="en-US" i="1" dirty="0"/>
              <a:t>columns</a:t>
            </a:r>
          </a:p>
          <a:p>
            <a:r>
              <a:rPr lang="en-US" dirty="0"/>
              <a:t>FROM </a:t>
            </a:r>
            <a:r>
              <a:rPr lang="en-US" i="1" dirty="0" err="1"/>
              <a:t>left_table</a:t>
            </a:r>
            <a:endParaRPr lang="en-US" i="1" dirty="0"/>
          </a:p>
          <a:p>
            <a:r>
              <a:rPr lang="en-US" dirty="0"/>
              <a:t>FULL [OUTER] JOIN </a:t>
            </a:r>
            <a:r>
              <a:rPr lang="en-US" i="1" dirty="0" err="1"/>
              <a:t>right_table</a:t>
            </a:r>
            <a:endParaRPr lang="en-US" i="1" dirty="0"/>
          </a:p>
          <a:p>
            <a:r>
              <a:rPr lang="en-US" dirty="0"/>
              <a:t>ON </a:t>
            </a:r>
            <a:r>
              <a:rPr lang="en-US" i="1" dirty="0" err="1"/>
              <a:t>join_conditions</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307</a:t>
            </a:fld>
            <a:endParaRPr lang="ru-RU"/>
          </a:p>
        </p:txBody>
      </p:sp>
    </p:spTree>
    <p:extLst>
      <p:ext uri="{BB962C8B-B14F-4D97-AF65-F5344CB8AC3E}">
        <p14:creationId xmlns:p14="http://schemas.microsoft.com/office/powerpoint/2010/main" xmlns="" val="3755032157"/>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a:t>
            </a:r>
            <a:r>
              <a:rPr lang="ru-RU" dirty="0" err="1" smtClean="0"/>
              <a:t>амообъединения</a:t>
            </a:r>
            <a:endParaRPr lang="ru-RU" dirty="0"/>
          </a:p>
        </p:txBody>
      </p:sp>
      <p:sp>
        <p:nvSpPr>
          <p:cNvPr id="3" name="Объект 2"/>
          <p:cNvSpPr>
            <a:spLocks noGrp="1"/>
          </p:cNvSpPr>
          <p:nvPr>
            <p:ph idx="1"/>
          </p:nvPr>
        </p:nvSpPr>
        <p:spPr/>
        <p:txBody>
          <a:bodyPr>
            <a:normAutofit lnSpcReduction="10000"/>
          </a:bodyPr>
          <a:lstStyle/>
          <a:p>
            <a:r>
              <a:rPr lang="ru-RU" i="1" dirty="0" err="1"/>
              <a:t>Самообъединение</a:t>
            </a:r>
            <a:r>
              <a:rPr lang="ru-RU" i="1" dirty="0"/>
              <a:t> </a:t>
            </a:r>
            <a:r>
              <a:rPr lang="ru-RU" dirty="0"/>
              <a:t>– это обычное </a:t>
            </a:r>
            <a:r>
              <a:rPr lang="ru-RU" dirty="0" smtClean="0"/>
              <a:t>объединение </a:t>
            </a:r>
            <a:r>
              <a:rPr lang="ru-RU" dirty="0"/>
              <a:t>SQL, которое объединяет </a:t>
            </a:r>
            <a:r>
              <a:rPr lang="ru-RU" dirty="0" smtClean="0"/>
              <a:t>таблицу</a:t>
            </a:r>
            <a:r>
              <a:rPr lang="en-US" dirty="0" smtClean="0"/>
              <a:t> </a:t>
            </a:r>
            <a:r>
              <a:rPr lang="ru-RU" dirty="0" smtClean="0"/>
              <a:t>с </a:t>
            </a:r>
            <a:r>
              <a:rPr lang="ru-RU" dirty="0"/>
              <a:t>самой собой и считывает строки из нее</a:t>
            </a:r>
          </a:p>
          <a:p>
            <a:r>
              <a:rPr lang="ru-RU" dirty="0"/>
              <a:t>путем сравнения значений в </a:t>
            </a:r>
            <a:r>
              <a:rPr lang="ru-RU" dirty="0" smtClean="0"/>
              <a:t>нескольких</a:t>
            </a:r>
            <a:r>
              <a:rPr lang="en-US" dirty="0" smtClean="0"/>
              <a:t> </a:t>
            </a:r>
            <a:r>
              <a:rPr lang="ru-RU" dirty="0" smtClean="0"/>
              <a:t>столбцах </a:t>
            </a:r>
            <a:r>
              <a:rPr lang="ru-RU" dirty="0"/>
              <a:t>одной таблицы. </a:t>
            </a:r>
            <a:r>
              <a:rPr lang="ru-RU" dirty="0" err="1" smtClean="0"/>
              <a:t>Самообъединения</a:t>
            </a:r>
            <a:r>
              <a:rPr lang="ru-RU" dirty="0" smtClean="0"/>
              <a:t> </a:t>
            </a:r>
            <a:r>
              <a:rPr lang="ru-RU" dirty="0"/>
              <a:t>часто используются в таблицах с </a:t>
            </a:r>
            <a:r>
              <a:rPr lang="ru-RU" i="1" dirty="0" smtClean="0"/>
              <a:t>рефлексивными связями</a:t>
            </a:r>
            <a:endParaRPr lang="en-US" i="1" dirty="0" smtClean="0"/>
          </a:p>
          <a:p>
            <a:r>
              <a:rPr lang="ru-RU" i="1" dirty="0" smtClean="0"/>
              <a:t>Пример</a:t>
            </a:r>
            <a:r>
              <a:rPr lang="en-US" i="1" dirty="0" smtClean="0"/>
              <a:t>:</a:t>
            </a:r>
          </a:p>
          <a:p>
            <a:r>
              <a:rPr lang="en-US" dirty="0"/>
              <a:t>SELECT </a:t>
            </a:r>
            <a:r>
              <a:rPr lang="en-US" i="1" dirty="0"/>
              <a:t>columns</a:t>
            </a:r>
          </a:p>
          <a:p>
            <a:r>
              <a:rPr lang="en-US" dirty="0"/>
              <a:t>FROM </a:t>
            </a:r>
            <a:r>
              <a:rPr lang="en-US" i="1" dirty="0"/>
              <a:t>table </a:t>
            </a:r>
            <a:r>
              <a:rPr lang="en-US" dirty="0"/>
              <a:t>[AS] </a:t>
            </a:r>
            <a:r>
              <a:rPr lang="en-US" i="1" dirty="0"/>
              <a:t>alias1</a:t>
            </a:r>
          </a:p>
          <a:p>
            <a:r>
              <a:rPr lang="en-US" dirty="0"/>
              <a:t>INNER JOIN </a:t>
            </a:r>
            <a:r>
              <a:rPr lang="en-US" i="1" dirty="0"/>
              <a:t>table </a:t>
            </a:r>
            <a:r>
              <a:rPr lang="en-US" dirty="0"/>
              <a:t>[AS] </a:t>
            </a:r>
            <a:r>
              <a:rPr lang="en-US" i="1" dirty="0"/>
              <a:t>alias2</a:t>
            </a:r>
          </a:p>
          <a:p>
            <a:r>
              <a:rPr lang="en-US" dirty="0"/>
              <a:t>ON </a:t>
            </a:r>
            <a:r>
              <a:rPr lang="en-US" i="1" dirty="0" err="1"/>
              <a:t>join_conditions</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308</a:t>
            </a:fld>
            <a:endParaRPr lang="ru-RU"/>
          </a:p>
        </p:txBody>
      </p:sp>
    </p:spTree>
    <p:extLst>
      <p:ext uri="{BB962C8B-B14F-4D97-AF65-F5344CB8AC3E}">
        <p14:creationId xmlns:p14="http://schemas.microsoft.com/office/powerpoint/2010/main" xmlns="" val="41480762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Комбинирование </a:t>
            </a:r>
            <a:r>
              <a:rPr lang="ru-RU" dirty="0" smtClean="0"/>
              <a:t>строк</a:t>
            </a:r>
            <a:r>
              <a:rPr lang="en-US" dirty="0" smtClean="0"/>
              <a:t> </a:t>
            </a:r>
            <a:r>
              <a:rPr lang="ru-RU" dirty="0" smtClean="0"/>
              <a:t>с </a:t>
            </a:r>
            <a:r>
              <a:rPr lang="ru-RU" dirty="0"/>
              <a:t>помощью оператора</a:t>
            </a:r>
            <a:br>
              <a:rPr lang="ru-RU" dirty="0"/>
            </a:br>
            <a:r>
              <a:rPr lang="en-US" dirty="0"/>
              <a:t>UNION</a:t>
            </a:r>
            <a:endParaRPr lang="ru-RU" dirty="0"/>
          </a:p>
        </p:txBody>
      </p:sp>
      <p:sp>
        <p:nvSpPr>
          <p:cNvPr id="3" name="Объект 2"/>
          <p:cNvSpPr>
            <a:spLocks noGrp="1"/>
          </p:cNvSpPr>
          <p:nvPr>
            <p:ph idx="1"/>
          </p:nvPr>
        </p:nvSpPr>
        <p:spPr/>
        <p:txBody>
          <a:bodyPr>
            <a:normAutofit/>
          </a:bodyPr>
          <a:lstStyle/>
          <a:p>
            <a:r>
              <a:rPr lang="ru-RU" dirty="0" smtClean="0"/>
              <a:t>Оператор </a:t>
            </a:r>
            <a:r>
              <a:rPr lang="en-US" dirty="0" smtClean="0"/>
              <a:t>UNION</a:t>
            </a:r>
            <a:r>
              <a:rPr lang="ru-RU" dirty="0" smtClean="0"/>
              <a:t> предназначен </a:t>
            </a:r>
            <a:r>
              <a:rPr lang="ru-RU" dirty="0"/>
              <a:t>для </a:t>
            </a:r>
            <a:r>
              <a:rPr lang="ru-RU" dirty="0" smtClean="0"/>
              <a:t>преобразования </a:t>
            </a:r>
            <a:r>
              <a:rPr lang="ru-RU" dirty="0"/>
              <a:t>результатов двух команд </a:t>
            </a:r>
            <a:r>
              <a:rPr lang="ru-RU" dirty="0" smtClean="0"/>
              <a:t>SELECT в </a:t>
            </a:r>
            <a:r>
              <a:rPr lang="ru-RU" dirty="0"/>
              <a:t>единый результат</a:t>
            </a:r>
            <a:r>
              <a:rPr lang="ru-RU" dirty="0" smtClean="0"/>
              <a:t>.</a:t>
            </a:r>
          </a:p>
          <a:p>
            <a:r>
              <a:rPr lang="ru-RU" dirty="0"/>
              <a:t>Оператор </a:t>
            </a:r>
            <a:r>
              <a:rPr lang="en-US" dirty="0"/>
              <a:t>UNION </a:t>
            </a:r>
            <a:r>
              <a:rPr lang="ru-RU" dirty="0"/>
              <a:t>комбинирует </a:t>
            </a:r>
            <a:r>
              <a:rPr lang="ru-RU" dirty="0" smtClean="0"/>
              <a:t>результаты двух </a:t>
            </a:r>
            <a:r>
              <a:rPr lang="ru-RU" dirty="0"/>
              <a:t>запросов в один результат, </a:t>
            </a:r>
            <a:r>
              <a:rPr lang="ru-RU" dirty="0" smtClean="0"/>
              <a:t>который объединяет </a:t>
            </a:r>
            <a:r>
              <a:rPr lang="ru-RU" dirty="0"/>
              <a:t>строки, считанные двумя </a:t>
            </a:r>
            <a:r>
              <a:rPr lang="ru-RU" dirty="0" smtClean="0"/>
              <a:t>запросами.</a:t>
            </a:r>
          </a:p>
          <a:p>
            <a:r>
              <a:rPr lang="ru-RU" dirty="0" smtClean="0"/>
              <a:t> Выражение </a:t>
            </a:r>
            <a:r>
              <a:rPr lang="ru-RU" dirty="0"/>
              <a:t>UNION удаляет из </a:t>
            </a:r>
            <a:r>
              <a:rPr lang="ru-RU" dirty="0" smtClean="0"/>
              <a:t>результата повторяющиеся </a:t>
            </a:r>
            <a:r>
              <a:rPr lang="ru-RU" dirty="0"/>
              <a:t>строки; выражение </a:t>
            </a:r>
            <a:r>
              <a:rPr lang="en-US" dirty="0" smtClean="0"/>
              <a:t>UNION</a:t>
            </a:r>
            <a:r>
              <a:rPr lang="ru-RU" dirty="0" smtClean="0"/>
              <a:t> ALL </a:t>
            </a:r>
            <a:r>
              <a:rPr lang="ru-RU" dirty="0"/>
              <a:t>сохраняет повторы</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309</a:t>
            </a:fld>
            <a:endParaRPr lang="ru-RU"/>
          </a:p>
        </p:txBody>
      </p:sp>
    </p:spTree>
    <p:extLst>
      <p:ext uri="{BB962C8B-B14F-4D97-AF65-F5344CB8AC3E}">
        <p14:creationId xmlns:p14="http://schemas.microsoft.com/office/powerpoint/2010/main" xmlns="" val="776076163"/>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152"/>
            <a:ext cx="10515600" cy="5514811"/>
          </a:xfrm>
        </p:spPr>
        <p:txBody>
          <a:bodyPr>
            <a:normAutofit/>
          </a:bodyPr>
          <a:lstStyle/>
          <a:p>
            <a:r>
              <a:rPr lang="ru-RU" dirty="0"/>
              <a:t> </a:t>
            </a:r>
            <a:r>
              <a:rPr lang="ru-RU" dirty="0" smtClean="0"/>
              <a:t>Оператор UNION имеет </a:t>
            </a:r>
            <a:r>
              <a:rPr lang="ru-RU" dirty="0"/>
              <a:t>ряд ограничений</a:t>
            </a:r>
            <a:r>
              <a:rPr lang="ru-RU" dirty="0" smtClean="0"/>
              <a:t>:</a:t>
            </a:r>
          </a:p>
          <a:p>
            <a:r>
              <a:rPr lang="ru-RU" dirty="0"/>
              <a:t>списки столбцов команды SELECT в </a:t>
            </a:r>
            <a:r>
              <a:rPr lang="ru-RU" dirty="0" smtClean="0"/>
              <a:t>двух запросах </a:t>
            </a:r>
            <a:r>
              <a:rPr lang="ru-RU" dirty="0"/>
              <a:t>должны включать </a:t>
            </a:r>
            <a:r>
              <a:rPr lang="ru-RU" dirty="0" smtClean="0"/>
              <a:t>одинаковое число </a:t>
            </a:r>
            <a:r>
              <a:rPr lang="ru-RU" dirty="0"/>
              <a:t>столбцов (названий </a:t>
            </a:r>
            <a:r>
              <a:rPr lang="ru-RU" dirty="0" smtClean="0"/>
              <a:t>столбцов, арифметических </a:t>
            </a:r>
            <a:r>
              <a:rPr lang="ru-RU" dirty="0"/>
              <a:t>выражений, функций </a:t>
            </a:r>
            <a:r>
              <a:rPr lang="ru-RU" dirty="0" smtClean="0"/>
              <a:t>и т.д.);</a:t>
            </a:r>
          </a:p>
          <a:p>
            <a:r>
              <a:rPr lang="ru-RU" dirty="0"/>
              <a:t>соответствующие столбцы в двух </a:t>
            </a:r>
            <a:r>
              <a:rPr lang="ru-RU" dirty="0" smtClean="0"/>
              <a:t>запросах </a:t>
            </a:r>
            <a:r>
              <a:rPr lang="ru-RU" dirty="0"/>
              <a:t>должны быть заданы в </a:t>
            </a:r>
            <a:r>
              <a:rPr lang="ru-RU" dirty="0" smtClean="0"/>
              <a:t>одинаковом </a:t>
            </a:r>
            <a:r>
              <a:rPr lang="ru-RU" dirty="0"/>
              <a:t>порядке</a:t>
            </a:r>
            <a:r>
              <a:rPr lang="ru-RU" dirty="0" smtClean="0"/>
              <a:t>;</a:t>
            </a:r>
            <a:endParaRPr lang="ru-RU" dirty="0" smtClean="0"/>
          </a:p>
          <a:p>
            <a:r>
              <a:rPr lang="ru-RU" dirty="0"/>
              <a:t>предложение ORDER BY может </a:t>
            </a:r>
            <a:r>
              <a:rPr lang="ru-RU" dirty="0" smtClean="0"/>
              <a:t>использоваться </a:t>
            </a:r>
            <a:r>
              <a:rPr lang="ru-RU" dirty="0"/>
              <a:t>только в последнем </a:t>
            </a:r>
            <a:r>
              <a:rPr lang="ru-RU" dirty="0" smtClean="0"/>
              <a:t>запросе команды </a:t>
            </a:r>
            <a:r>
              <a:rPr lang="ru-RU" dirty="0"/>
              <a:t>UNION. Эта сортировка </a:t>
            </a:r>
            <a:r>
              <a:rPr lang="ru-RU" dirty="0" smtClean="0"/>
              <a:t>применяется </a:t>
            </a:r>
            <a:r>
              <a:rPr lang="ru-RU" dirty="0"/>
              <a:t>к конечному результату </a:t>
            </a:r>
            <a:r>
              <a:rPr lang="ru-RU" dirty="0" smtClean="0"/>
              <a:t>после </a:t>
            </a:r>
            <a:r>
              <a:rPr lang="ru-RU" dirty="0"/>
              <a:t>комбинирования.</a:t>
            </a:r>
            <a:endParaRPr lang="ru-RU" dirty="0" smtClean="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310</a:t>
            </a:fld>
            <a:endParaRPr lang="ru-RU"/>
          </a:p>
        </p:txBody>
      </p:sp>
    </p:spTree>
    <p:extLst>
      <p:ext uri="{BB962C8B-B14F-4D97-AF65-F5344CB8AC3E}">
        <p14:creationId xmlns:p14="http://schemas.microsoft.com/office/powerpoint/2010/main" xmlns="" val="1358897957"/>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662152"/>
            <a:ext cx="10515600" cy="5514811"/>
          </a:xfrm>
        </p:spPr>
        <p:txBody>
          <a:bodyPr>
            <a:normAutofit lnSpcReduction="10000"/>
          </a:bodyPr>
          <a:lstStyle/>
          <a:p>
            <a:r>
              <a:rPr lang="ru-RU" dirty="0"/>
              <a:t>можно задавать предложения GROUP BY </a:t>
            </a:r>
            <a:r>
              <a:rPr lang="ru-RU" dirty="0" smtClean="0"/>
              <a:t>и HAVING </a:t>
            </a:r>
            <a:r>
              <a:rPr lang="ru-RU" dirty="0"/>
              <a:t>только в отдельных запросах; </a:t>
            </a:r>
            <a:r>
              <a:rPr lang="ru-RU" dirty="0" smtClean="0"/>
              <a:t>их нельзя </a:t>
            </a:r>
            <a:r>
              <a:rPr lang="ru-RU" dirty="0"/>
              <a:t>использовать для изменения </a:t>
            </a:r>
            <a:r>
              <a:rPr lang="ru-RU" dirty="0" smtClean="0"/>
              <a:t>конечного </a:t>
            </a:r>
            <a:r>
              <a:rPr lang="ru-RU" dirty="0"/>
              <a:t>результата</a:t>
            </a:r>
            <a:r>
              <a:rPr lang="ru-RU" dirty="0" smtClean="0"/>
              <a:t>.</a:t>
            </a:r>
          </a:p>
          <a:p>
            <a:r>
              <a:rPr lang="en-US" dirty="0"/>
              <a:t>UNION </a:t>
            </a:r>
            <a:r>
              <a:rPr lang="ru-RU" dirty="0"/>
              <a:t>является коммутативной командой:</a:t>
            </a:r>
          </a:p>
          <a:p>
            <a:r>
              <a:rPr lang="ru-RU" dirty="0"/>
              <a:t>A UNION B – это то же самое, что B UNION A.</a:t>
            </a:r>
            <a:endParaRPr lang="ru-RU" dirty="0" smtClean="0"/>
          </a:p>
          <a:p>
            <a:r>
              <a:rPr lang="ru-RU" dirty="0" smtClean="0"/>
              <a:t>Пример</a:t>
            </a:r>
            <a:r>
              <a:rPr lang="en-US" dirty="0" smtClean="0"/>
              <a:t>:</a:t>
            </a:r>
          </a:p>
          <a:p>
            <a:r>
              <a:rPr lang="en-US" i="1" dirty="0"/>
              <a:t>select_statement1</a:t>
            </a:r>
          </a:p>
          <a:p>
            <a:r>
              <a:rPr lang="en-US" dirty="0"/>
              <a:t>UNION [ALL]</a:t>
            </a:r>
          </a:p>
          <a:p>
            <a:r>
              <a:rPr lang="en-US" i="1" dirty="0"/>
              <a:t>select statement2</a:t>
            </a:r>
            <a:r>
              <a:rPr lang="en-US" i="1" dirty="0" smtClean="0"/>
              <a:t>;</a:t>
            </a:r>
          </a:p>
          <a:p>
            <a:r>
              <a:rPr lang="ru-RU" i="1" dirty="0" smtClean="0"/>
              <a:t>Задача</a:t>
            </a:r>
            <a:r>
              <a:rPr lang="en-US" i="1" dirty="0" smtClean="0"/>
              <a:t>:</a:t>
            </a:r>
          </a:p>
          <a:p>
            <a:r>
              <a:rPr lang="ru-RU" dirty="0"/>
              <a:t>Отобразить список </a:t>
            </a:r>
            <a:r>
              <a:rPr lang="ru-RU" dirty="0" smtClean="0"/>
              <a:t>городов,</a:t>
            </a:r>
            <a:r>
              <a:rPr lang="en-US" dirty="0" smtClean="0"/>
              <a:t> </a:t>
            </a:r>
            <a:r>
              <a:rPr lang="ru-RU" dirty="0" smtClean="0"/>
              <a:t>в </a:t>
            </a:r>
            <a:r>
              <a:rPr lang="ru-RU" dirty="0"/>
              <a:t>которых живут авторы и находятся </a:t>
            </a:r>
            <a:r>
              <a:rPr lang="ru-RU" dirty="0" smtClean="0"/>
              <a:t>издательства.</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311</a:t>
            </a:fld>
            <a:endParaRPr lang="ru-RU"/>
          </a:p>
        </p:txBody>
      </p:sp>
    </p:spTree>
    <p:extLst>
      <p:ext uri="{BB962C8B-B14F-4D97-AF65-F5344CB8AC3E}">
        <p14:creationId xmlns:p14="http://schemas.microsoft.com/office/powerpoint/2010/main" xmlns="" val="205197722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Поиск общих </a:t>
            </a:r>
            <a:r>
              <a:rPr lang="ru-RU" dirty="0" smtClean="0"/>
              <a:t>строк с </a:t>
            </a:r>
            <a:r>
              <a:rPr lang="ru-RU" dirty="0"/>
              <a:t>помощью команды</a:t>
            </a:r>
            <a:br>
              <a:rPr lang="ru-RU" dirty="0"/>
            </a:br>
            <a:r>
              <a:rPr lang="en-US" dirty="0"/>
              <a:t>INTERSECT</a:t>
            </a:r>
            <a:endParaRPr lang="ru-RU" dirty="0"/>
          </a:p>
        </p:txBody>
      </p:sp>
      <p:sp>
        <p:nvSpPr>
          <p:cNvPr id="3" name="Объект 2"/>
          <p:cNvSpPr>
            <a:spLocks noGrp="1"/>
          </p:cNvSpPr>
          <p:nvPr>
            <p:ph idx="1"/>
          </p:nvPr>
        </p:nvSpPr>
        <p:spPr/>
        <p:txBody>
          <a:bodyPr/>
          <a:lstStyle/>
          <a:p>
            <a:r>
              <a:rPr lang="ru-RU" dirty="0"/>
              <a:t>Команда </a:t>
            </a:r>
            <a:r>
              <a:rPr lang="en-US" dirty="0"/>
              <a:t>INTERSECT </a:t>
            </a:r>
            <a:r>
              <a:rPr lang="ru-RU" dirty="0"/>
              <a:t>преобразует </a:t>
            </a:r>
            <a:r>
              <a:rPr lang="ru-RU" dirty="0" smtClean="0"/>
              <a:t>результаты двух </a:t>
            </a:r>
            <a:r>
              <a:rPr lang="ru-RU" dirty="0"/>
              <a:t>запросов в один результат, </a:t>
            </a:r>
            <a:r>
              <a:rPr lang="ru-RU" dirty="0" smtClean="0"/>
              <a:t>который включает </a:t>
            </a:r>
            <a:r>
              <a:rPr lang="ru-RU" dirty="0"/>
              <a:t>все общие строки в </a:t>
            </a:r>
            <a:r>
              <a:rPr lang="ru-RU" dirty="0" smtClean="0"/>
              <a:t>результатах выполнения </a:t>
            </a:r>
            <a:r>
              <a:rPr lang="ru-RU" dirty="0"/>
              <a:t>двух запросов. </a:t>
            </a:r>
            <a:r>
              <a:rPr lang="ru-RU" i="1" dirty="0" smtClean="0"/>
              <a:t>Пересечения </a:t>
            </a:r>
            <a:r>
              <a:rPr lang="ru-RU" dirty="0" smtClean="0"/>
              <a:t>имеют </a:t>
            </a:r>
            <a:r>
              <a:rPr lang="ru-RU" dirty="0"/>
              <a:t>такие же ограничения, как и </a:t>
            </a:r>
            <a:r>
              <a:rPr lang="ru-RU" dirty="0" smtClean="0"/>
              <a:t>объединения </a:t>
            </a:r>
            <a:r>
              <a:rPr lang="en-US" dirty="0" smtClean="0"/>
              <a:t>union</a:t>
            </a:r>
            <a:endParaRPr lang="ru-RU" dirty="0" smtClean="0"/>
          </a:p>
          <a:p>
            <a:r>
              <a:rPr lang="ru-RU" dirty="0" smtClean="0"/>
              <a:t>Пример</a:t>
            </a:r>
            <a:r>
              <a:rPr lang="en-US" dirty="0" smtClean="0"/>
              <a:t>:</a:t>
            </a:r>
          </a:p>
          <a:p>
            <a:r>
              <a:rPr lang="en-US" i="1" dirty="0"/>
              <a:t>select_statement1</a:t>
            </a:r>
          </a:p>
          <a:p>
            <a:r>
              <a:rPr lang="en-US" dirty="0"/>
              <a:t>INTERSECT</a:t>
            </a:r>
          </a:p>
          <a:p>
            <a:r>
              <a:rPr lang="en-US" i="1" dirty="0"/>
              <a:t>select_statement2</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312</a:t>
            </a:fld>
            <a:endParaRPr lang="ru-RU"/>
          </a:p>
        </p:txBody>
      </p:sp>
    </p:spTree>
    <p:extLst>
      <p:ext uri="{BB962C8B-B14F-4D97-AF65-F5344CB8AC3E}">
        <p14:creationId xmlns:p14="http://schemas.microsoft.com/office/powerpoint/2010/main" xmlns="" val="39018584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51338"/>
            <a:ext cx="10515600" cy="5325625"/>
          </a:xfrm>
        </p:spPr>
        <p:txBody>
          <a:bodyPr/>
          <a:lstStyle/>
          <a:p>
            <a:r>
              <a:rPr lang="en-US" dirty="0"/>
              <a:t>INTERSECT </a:t>
            </a:r>
            <a:r>
              <a:rPr lang="ru-RU" dirty="0"/>
              <a:t>является коммутативной </a:t>
            </a:r>
            <a:r>
              <a:rPr lang="ru-RU" dirty="0" smtClean="0"/>
              <a:t>командой</a:t>
            </a:r>
            <a:r>
              <a:rPr lang="ru-RU" dirty="0"/>
              <a:t>: A INTERSECT B – это то же </a:t>
            </a:r>
            <a:r>
              <a:rPr lang="ru-RU" dirty="0" smtClean="0"/>
              <a:t>самое,</a:t>
            </a:r>
            <a:r>
              <a:rPr lang="en-US" dirty="0" smtClean="0"/>
              <a:t> </a:t>
            </a:r>
            <a:r>
              <a:rPr lang="ru-RU" dirty="0" smtClean="0"/>
              <a:t>что </a:t>
            </a:r>
            <a:r>
              <a:rPr lang="en-US" dirty="0"/>
              <a:t>B INTERSECT A</a:t>
            </a:r>
            <a:r>
              <a:rPr lang="en-US" dirty="0" smtClean="0"/>
              <a:t>.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313</a:t>
            </a:fld>
            <a:endParaRPr lang="ru-RU"/>
          </a:p>
        </p:txBody>
      </p:sp>
    </p:spTree>
    <p:extLst>
      <p:ext uri="{BB962C8B-B14F-4D97-AF65-F5344CB8AC3E}">
        <p14:creationId xmlns:p14="http://schemas.microsoft.com/office/powerpoint/2010/main" xmlns="" val="2703926645"/>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Поиск разных </a:t>
            </a:r>
            <a:r>
              <a:rPr lang="ru-RU" dirty="0" smtClean="0"/>
              <a:t>строк с </a:t>
            </a:r>
            <a:r>
              <a:rPr lang="ru-RU" dirty="0"/>
              <a:t>помощью команды</a:t>
            </a:r>
            <a:br>
              <a:rPr lang="ru-RU" dirty="0"/>
            </a:br>
            <a:r>
              <a:rPr lang="en-US" dirty="0"/>
              <a:t>EXCEPT</a:t>
            </a:r>
            <a:endParaRPr lang="ru-RU" dirty="0"/>
          </a:p>
        </p:txBody>
      </p:sp>
      <p:sp>
        <p:nvSpPr>
          <p:cNvPr id="3" name="Объект 2"/>
          <p:cNvSpPr>
            <a:spLocks noGrp="1"/>
          </p:cNvSpPr>
          <p:nvPr>
            <p:ph idx="1"/>
          </p:nvPr>
        </p:nvSpPr>
        <p:spPr/>
        <p:txBody>
          <a:bodyPr>
            <a:normAutofit/>
          </a:bodyPr>
          <a:lstStyle/>
          <a:p>
            <a:r>
              <a:rPr lang="ru-RU" dirty="0"/>
              <a:t>Команда EXCEPT (по-другому ее </a:t>
            </a:r>
            <a:r>
              <a:rPr lang="ru-RU" dirty="0" smtClean="0"/>
              <a:t>называют </a:t>
            </a:r>
            <a:r>
              <a:rPr lang="ru-RU" i="1" dirty="0" smtClean="0"/>
              <a:t>отличием</a:t>
            </a:r>
            <a:r>
              <a:rPr lang="ru-RU" dirty="0"/>
              <a:t>) преобразует результаты двух </a:t>
            </a:r>
            <a:r>
              <a:rPr lang="ru-RU" dirty="0" smtClean="0"/>
              <a:t>запросов </a:t>
            </a:r>
            <a:r>
              <a:rPr lang="ru-RU" dirty="0"/>
              <a:t>в один результат, который </a:t>
            </a:r>
            <a:r>
              <a:rPr lang="ru-RU" dirty="0" smtClean="0"/>
              <a:t>включает </a:t>
            </a:r>
            <a:r>
              <a:rPr lang="ru-RU" dirty="0"/>
              <a:t>только строки первого запроса. </a:t>
            </a:r>
            <a:r>
              <a:rPr lang="ru-RU" dirty="0" smtClean="0"/>
              <a:t>Разница </a:t>
            </a:r>
            <a:r>
              <a:rPr lang="ru-RU" dirty="0"/>
              <a:t>между INTERSECT и EXCEPT </a:t>
            </a:r>
            <a:r>
              <a:rPr lang="ru-RU" dirty="0" smtClean="0"/>
              <a:t>состоит в </a:t>
            </a:r>
            <a:r>
              <a:rPr lang="ru-RU" dirty="0"/>
              <a:t>том, что A INTERSECT B включает </a:t>
            </a:r>
            <a:r>
              <a:rPr lang="ru-RU" dirty="0" smtClean="0"/>
              <a:t>строки из </a:t>
            </a:r>
            <a:r>
              <a:rPr lang="ru-RU" dirty="0"/>
              <a:t>таблицы A, которые повторяются в </a:t>
            </a:r>
            <a:r>
              <a:rPr lang="ru-RU" dirty="0" smtClean="0"/>
              <a:t>таблице </a:t>
            </a:r>
            <a:r>
              <a:rPr lang="ru-RU" dirty="0"/>
              <a:t>B, а A EXCEPT B включает строки </a:t>
            </a:r>
            <a:r>
              <a:rPr lang="ru-RU" dirty="0" smtClean="0"/>
              <a:t>из таблицы </a:t>
            </a:r>
            <a:r>
              <a:rPr lang="ru-RU" dirty="0"/>
              <a:t>A, которые не повторяются в </a:t>
            </a:r>
            <a:r>
              <a:rPr lang="ru-RU" dirty="0" smtClean="0"/>
              <a:t>таблице </a:t>
            </a:r>
            <a:r>
              <a:rPr lang="ru-RU" dirty="0"/>
              <a:t>B. Отличия имеют такие же </a:t>
            </a:r>
            <a:r>
              <a:rPr lang="ru-RU" dirty="0" smtClean="0"/>
              <a:t>ограничения</a:t>
            </a:r>
            <a:r>
              <a:rPr lang="ru-RU" dirty="0"/>
              <a:t>, как и объединения </a:t>
            </a:r>
            <a:r>
              <a:rPr lang="ru-RU" dirty="0" err="1" smtClean="0"/>
              <a:t>union</a:t>
            </a:r>
            <a:r>
              <a:rPr lang="ru-RU"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314</a:t>
            </a:fld>
            <a:endParaRPr lang="ru-RU"/>
          </a:p>
        </p:txBody>
      </p:sp>
    </p:spTree>
    <p:extLst>
      <p:ext uri="{BB962C8B-B14F-4D97-AF65-F5344CB8AC3E}">
        <p14:creationId xmlns:p14="http://schemas.microsoft.com/office/powerpoint/2010/main" xmlns="" val="2114491509"/>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smtClean="0"/>
              <a:t>Пример</a:t>
            </a:r>
            <a:r>
              <a:rPr lang="en-US" dirty="0" smtClean="0"/>
              <a:t>:</a:t>
            </a:r>
          </a:p>
          <a:p>
            <a:r>
              <a:rPr lang="en-US" i="1" dirty="0"/>
              <a:t>select_statement1</a:t>
            </a:r>
          </a:p>
          <a:p>
            <a:r>
              <a:rPr lang="en-US" dirty="0"/>
              <a:t>EXCEPT</a:t>
            </a:r>
          </a:p>
          <a:p>
            <a:r>
              <a:rPr lang="en-US" i="1" dirty="0"/>
              <a:t>select_statement2</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315</a:t>
            </a:fld>
            <a:endParaRPr lang="ru-RU"/>
          </a:p>
        </p:txBody>
      </p:sp>
    </p:spTree>
    <p:extLst>
      <p:ext uri="{BB962C8B-B14F-4D97-AF65-F5344CB8AC3E}">
        <p14:creationId xmlns:p14="http://schemas.microsoft.com/office/powerpoint/2010/main" xmlns="" val="759839043"/>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Подзапросы</a:t>
            </a:r>
            <a:endParaRPr lang="ru-RU" dirty="0"/>
          </a:p>
        </p:txBody>
      </p:sp>
      <p:sp>
        <p:nvSpPr>
          <p:cNvPr id="3" name="Объект 2"/>
          <p:cNvSpPr>
            <a:spLocks noGrp="1"/>
          </p:cNvSpPr>
          <p:nvPr>
            <p:ph idx="1"/>
          </p:nvPr>
        </p:nvSpPr>
        <p:spPr/>
        <p:txBody>
          <a:bodyPr/>
          <a:lstStyle/>
          <a:p>
            <a:r>
              <a:rPr lang="ru-RU" i="1" dirty="0"/>
              <a:t>Подзапрос </a:t>
            </a:r>
            <a:r>
              <a:rPr lang="ru-RU" dirty="0"/>
              <a:t>– это команда SELECT, </a:t>
            </a:r>
            <a:r>
              <a:rPr lang="ru-RU" dirty="0" smtClean="0"/>
              <a:t>встроенная </a:t>
            </a:r>
            <a:r>
              <a:rPr lang="ru-RU" dirty="0"/>
              <a:t>в другую команду SQL. </a:t>
            </a:r>
            <a:endParaRPr lang="en-US" dirty="0" smtClean="0"/>
          </a:p>
          <a:p>
            <a:r>
              <a:rPr lang="ru-RU" dirty="0" smtClean="0"/>
              <a:t>Вы можете располагать </a:t>
            </a:r>
            <a:r>
              <a:rPr lang="ru-RU" dirty="0"/>
              <a:t>подзапрос в:</a:t>
            </a:r>
          </a:p>
          <a:p>
            <a:pPr marL="0" indent="0">
              <a:buNone/>
            </a:pPr>
            <a:r>
              <a:rPr lang="en-US" dirty="0" smtClean="0"/>
              <a:t>1).</a:t>
            </a:r>
            <a:r>
              <a:rPr lang="ru-RU" dirty="0" smtClean="0"/>
              <a:t>Предложении </a:t>
            </a:r>
            <a:r>
              <a:rPr lang="en-US" dirty="0"/>
              <a:t>SELECT, FROM, WHERE </a:t>
            </a:r>
            <a:r>
              <a:rPr lang="ru-RU" dirty="0" smtClean="0"/>
              <a:t>или </a:t>
            </a:r>
            <a:r>
              <a:rPr lang="en-US" dirty="0" smtClean="0"/>
              <a:t>HAVING </a:t>
            </a:r>
            <a:r>
              <a:rPr lang="ru-RU" dirty="0"/>
              <a:t>другой команды </a:t>
            </a:r>
            <a:r>
              <a:rPr lang="en-US" dirty="0"/>
              <a:t>SELECT;</a:t>
            </a:r>
          </a:p>
          <a:p>
            <a:pPr marL="0" indent="0">
              <a:buNone/>
            </a:pPr>
            <a:r>
              <a:rPr lang="ru-RU" dirty="0" smtClean="0"/>
              <a:t>2).другом </a:t>
            </a:r>
            <a:r>
              <a:rPr lang="ru-RU" dirty="0"/>
              <a:t>подзапросе;</a:t>
            </a:r>
          </a:p>
          <a:p>
            <a:pPr marL="0" indent="0">
              <a:buNone/>
            </a:pPr>
            <a:r>
              <a:rPr lang="ru-RU" dirty="0" smtClean="0"/>
              <a:t>3).В команде </a:t>
            </a:r>
            <a:r>
              <a:rPr lang="en-US" dirty="0"/>
              <a:t>INSERT, UPDATE </a:t>
            </a:r>
            <a:r>
              <a:rPr lang="ru-RU" dirty="0"/>
              <a:t>или </a:t>
            </a:r>
            <a:r>
              <a:rPr lang="en-US" dirty="0"/>
              <a:t>DELETE</a:t>
            </a:r>
            <a:r>
              <a:rPr lang="en-US" dirty="0" smtClean="0"/>
              <a:t>.</a:t>
            </a:r>
            <a:endParaRPr lang="ru-RU" dirty="0" smtClean="0"/>
          </a:p>
        </p:txBody>
      </p:sp>
      <p:sp>
        <p:nvSpPr>
          <p:cNvPr id="4" name="Номер слайда 3"/>
          <p:cNvSpPr>
            <a:spLocks noGrp="1"/>
          </p:cNvSpPr>
          <p:nvPr>
            <p:ph type="sldNum" sz="quarter" idx="12"/>
          </p:nvPr>
        </p:nvSpPr>
        <p:spPr/>
        <p:txBody>
          <a:bodyPr/>
          <a:lstStyle/>
          <a:p>
            <a:fld id="{590C5F67-5E4C-4ABB-99F4-36BCAC8BE885}" type="slidenum">
              <a:rPr lang="ru-RU" smtClean="0"/>
              <a:pPr/>
              <a:t>316</a:t>
            </a:fld>
            <a:endParaRPr lang="ru-RU"/>
          </a:p>
        </p:txBody>
      </p:sp>
    </p:spTree>
    <p:extLst>
      <p:ext uri="{BB962C8B-B14F-4D97-AF65-F5344CB8AC3E}">
        <p14:creationId xmlns:p14="http://schemas.microsoft.com/office/powerpoint/2010/main" xmlns="" val="1437545904"/>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Структура подзапросов</a:t>
            </a:r>
          </a:p>
        </p:txBody>
      </p:sp>
      <p:sp>
        <p:nvSpPr>
          <p:cNvPr id="3" name="Объект 2"/>
          <p:cNvSpPr>
            <a:spLocks noGrp="1"/>
          </p:cNvSpPr>
          <p:nvPr>
            <p:ph idx="1"/>
          </p:nvPr>
        </p:nvSpPr>
        <p:spPr/>
        <p:txBody>
          <a:bodyPr/>
          <a:lstStyle/>
          <a:p>
            <a:r>
              <a:rPr lang="ru-RU" dirty="0"/>
              <a:t>Структура подзапросов такая же, как </a:t>
            </a:r>
            <a:r>
              <a:rPr lang="ru-RU" dirty="0" smtClean="0"/>
              <a:t>структура </a:t>
            </a:r>
            <a:r>
              <a:rPr lang="ru-RU" dirty="0"/>
              <a:t>обычной команды </a:t>
            </a:r>
            <a:r>
              <a:rPr lang="en-US" dirty="0" smtClean="0"/>
              <a:t>SELECT</a:t>
            </a:r>
          </a:p>
          <a:p>
            <a:r>
              <a:rPr lang="ru-RU" dirty="0"/>
              <a:t>Отличия заключаются в следующем</a:t>
            </a:r>
            <a:r>
              <a:rPr lang="ru-RU" dirty="0" smtClean="0"/>
              <a:t>:</a:t>
            </a:r>
            <a:endParaRPr lang="en-US" dirty="0" smtClean="0"/>
          </a:p>
          <a:p>
            <a:r>
              <a:rPr lang="ru-RU" dirty="0"/>
              <a:t>вы можете поместить подзапрос в </a:t>
            </a:r>
            <a:r>
              <a:rPr lang="ru-RU" dirty="0" smtClean="0"/>
              <a:t>пред</a:t>
            </a:r>
            <a:r>
              <a:rPr lang="en-US" dirty="0" err="1" smtClean="0"/>
              <a:t>ложение</a:t>
            </a:r>
            <a:r>
              <a:rPr lang="en-US" dirty="0" smtClean="0"/>
              <a:t> </a:t>
            </a:r>
            <a:r>
              <a:rPr lang="en-US" dirty="0"/>
              <a:t>SELECT, FROM, WHERE, HAVING </a:t>
            </a:r>
            <a:r>
              <a:rPr lang="en-US" dirty="0" err="1" smtClean="0"/>
              <a:t>или</a:t>
            </a:r>
            <a:r>
              <a:rPr lang="en-US" dirty="0"/>
              <a:t> </a:t>
            </a:r>
            <a:r>
              <a:rPr lang="ru-RU" dirty="0" smtClean="0"/>
              <a:t>в </a:t>
            </a:r>
            <a:r>
              <a:rPr lang="ru-RU" dirty="0"/>
              <a:t>другой запрос</a:t>
            </a:r>
            <a:r>
              <a:rPr lang="ru-RU" dirty="0" smtClean="0"/>
              <a:t>;</a:t>
            </a:r>
            <a:endParaRPr lang="en-US" dirty="0" smtClean="0"/>
          </a:p>
          <a:p>
            <a:r>
              <a:rPr lang="ru-RU" dirty="0"/>
              <a:t>подзапрос всегда должен заключаться </a:t>
            </a:r>
            <a:r>
              <a:rPr lang="ru-RU" dirty="0" smtClean="0"/>
              <a:t>в</a:t>
            </a:r>
            <a:r>
              <a:rPr lang="en-US" dirty="0" smtClean="0"/>
              <a:t> </a:t>
            </a:r>
            <a:r>
              <a:rPr lang="ru-RU" dirty="0" smtClean="0"/>
              <a:t>круглые </a:t>
            </a:r>
            <a:r>
              <a:rPr lang="ru-RU" dirty="0"/>
              <a:t>скобки</a:t>
            </a:r>
            <a:r>
              <a:rPr lang="ru-RU" dirty="0" smtClean="0"/>
              <a:t>;</a:t>
            </a:r>
            <a:endParaRPr lang="en-US" dirty="0" smtClean="0"/>
          </a:p>
          <a:p>
            <a:r>
              <a:rPr lang="ru-RU" dirty="0"/>
              <a:t>не заканчивайте подзапрос точкой </a:t>
            </a:r>
            <a:r>
              <a:rPr lang="ru-RU" dirty="0" smtClean="0"/>
              <a:t>с</a:t>
            </a:r>
            <a:r>
              <a:rPr lang="en-US" dirty="0" smtClean="0"/>
              <a:t> </a:t>
            </a:r>
            <a:r>
              <a:rPr lang="ru-RU" dirty="0" smtClean="0"/>
              <a:t>запятой</a:t>
            </a:r>
            <a:r>
              <a:rPr lang="en-US" dirty="0" smtClean="0"/>
              <a:t>;</a:t>
            </a:r>
          </a:p>
          <a:p>
            <a:r>
              <a:rPr lang="ru-RU" dirty="0"/>
              <a:t>не помещайте в подзапрос </a:t>
            </a:r>
            <a:r>
              <a:rPr lang="ru-RU" dirty="0" smtClean="0"/>
              <a:t>предложение </a:t>
            </a:r>
            <a:r>
              <a:rPr lang="en-US" dirty="0"/>
              <a:t>ORDER </a:t>
            </a:r>
            <a:r>
              <a:rPr lang="en-US" dirty="0" smtClean="0"/>
              <a:t>BY(</a:t>
            </a:r>
            <a:r>
              <a:rPr lang="ru-RU" dirty="0"/>
              <a:t>сортировка запроса бессмысленна</a:t>
            </a:r>
            <a:r>
              <a:rPr lang="en-US" dirty="0" smtClean="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317</a:t>
            </a:fld>
            <a:endParaRPr lang="ru-RU"/>
          </a:p>
        </p:txBody>
      </p:sp>
    </p:spTree>
    <p:extLst>
      <p:ext uri="{BB962C8B-B14F-4D97-AF65-F5344CB8AC3E}">
        <p14:creationId xmlns:p14="http://schemas.microsoft.com/office/powerpoint/2010/main" xmlns="" val="618268194"/>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1403131"/>
            <a:ext cx="10515600" cy="4773832"/>
          </a:xfrm>
        </p:spPr>
        <p:txBody>
          <a:bodyPr/>
          <a:lstStyle/>
          <a:p>
            <a:r>
              <a:rPr lang="ru-RU" dirty="0"/>
              <a:t>подзапрос может использовать </a:t>
            </a:r>
            <a:r>
              <a:rPr lang="ru-RU" dirty="0" smtClean="0"/>
              <a:t>столбцы</a:t>
            </a:r>
            <a:r>
              <a:rPr lang="en-US" dirty="0"/>
              <a:t> </a:t>
            </a:r>
            <a:r>
              <a:rPr lang="ru-RU" dirty="0" smtClean="0"/>
              <a:t>в </a:t>
            </a:r>
            <a:r>
              <a:rPr lang="ru-RU" dirty="0"/>
              <a:t>таблицах, которые приводятся в </a:t>
            </a:r>
            <a:r>
              <a:rPr lang="ru-RU" dirty="0" smtClean="0"/>
              <a:t>предложении </a:t>
            </a:r>
            <a:r>
              <a:rPr lang="ru-RU" dirty="0"/>
              <a:t>FROM самого подзапроса </a:t>
            </a:r>
            <a:r>
              <a:rPr lang="ru-RU" dirty="0" smtClean="0"/>
              <a:t>или</a:t>
            </a:r>
            <a:r>
              <a:rPr lang="en-US" dirty="0" smtClean="0"/>
              <a:t> </a:t>
            </a:r>
            <a:r>
              <a:rPr lang="ru-RU" dirty="0" smtClean="0"/>
              <a:t>другого </a:t>
            </a:r>
            <a:r>
              <a:rPr lang="ru-RU" dirty="0"/>
              <a:t>подзапроса</a:t>
            </a:r>
            <a:r>
              <a:rPr lang="ru-RU" dirty="0" smtClean="0"/>
              <a:t>;</a:t>
            </a:r>
            <a:endParaRPr lang="en-US" dirty="0" smtClean="0"/>
          </a:p>
          <a:p>
            <a:r>
              <a:rPr lang="ru-RU" dirty="0"/>
              <a:t>если таблица появляется во </a:t>
            </a:r>
            <a:r>
              <a:rPr lang="ru-RU" dirty="0" smtClean="0"/>
              <a:t>внутреннем,</a:t>
            </a:r>
            <a:r>
              <a:rPr lang="en-US" dirty="0" smtClean="0"/>
              <a:t> </a:t>
            </a:r>
            <a:r>
              <a:rPr lang="ru-RU" dirty="0" smtClean="0"/>
              <a:t>а </a:t>
            </a:r>
            <a:r>
              <a:rPr lang="ru-RU" dirty="0"/>
              <a:t>не во внешнем запросе, вы не </a:t>
            </a:r>
            <a:r>
              <a:rPr lang="ru-RU" dirty="0" smtClean="0"/>
              <a:t>сможете</a:t>
            </a:r>
            <a:r>
              <a:rPr lang="en-US" dirty="0" smtClean="0"/>
              <a:t> </a:t>
            </a:r>
            <a:r>
              <a:rPr lang="ru-RU" dirty="0" smtClean="0"/>
              <a:t>включить </a:t>
            </a:r>
            <a:r>
              <a:rPr lang="ru-RU" dirty="0"/>
              <a:t>столбцы этой таблицы в </a:t>
            </a:r>
            <a:r>
              <a:rPr lang="ru-RU" dirty="0" smtClean="0"/>
              <a:t>конечный </a:t>
            </a:r>
            <a:r>
              <a:rPr lang="ru-RU" dirty="0"/>
              <a:t>результат</a:t>
            </a:r>
          </a:p>
        </p:txBody>
      </p:sp>
      <p:sp>
        <p:nvSpPr>
          <p:cNvPr id="4" name="Номер слайда 3"/>
          <p:cNvSpPr>
            <a:spLocks noGrp="1"/>
          </p:cNvSpPr>
          <p:nvPr>
            <p:ph type="sldNum" sz="quarter" idx="12"/>
          </p:nvPr>
        </p:nvSpPr>
        <p:spPr/>
        <p:txBody>
          <a:bodyPr/>
          <a:lstStyle/>
          <a:p>
            <a:fld id="{590C5F67-5E4C-4ABB-99F4-36BCAC8BE885}" type="slidenum">
              <a:rPr lang="ru-RU" smtClean="0"/>
              <a:pPr/>
              <a:t>318</a:t>
            </a:fld>
            <a:endParaRPr lang="ru-RU"/>
          </a:p>
        </p:txBody>
      </p:sp>
    </p:spTree>
    <p:extLst>
      <p:ext uri="{BB962C8B-B14F-4D97-AF65-F5344CB8AC3E}">
        <p14:creationId xmlns:p14="http://schemas.microsoft.com/office/powerpoint/2010/main" xmlns="" val="734018664"/>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35572"/>
            <a:ext cx="10515600" cy="5341391"/>
          </a:xfrm>
        </p:spPr>
        <p:txBody>
          <a:bodyPr/>
          <a:lstStyle/>
          <a:p>
            <a:r>
              <a:rPr lang="ru-RU" dirty="0"/>
              <a:t>Чаще всего </a:t>
            </a:r>
            <a:r>
              <a:rPr lang="ru-RU" dirty="0" smtClean="0"/>
              <a:t>подзапросы используются</a:t>
            </a:r>
            <a:r>
              <a:rPr lang="en-US" dirty="0" smtClean="0"/>
              <a:t> </a:t>
            </a:r>
            <a:r>
              <a:rPr lang="ru-RU" dirty="0" smtClean="0"/>
              <a:t> </a:t>
            </a:r>
            <a:r>
              <a:rPr lang="ru-RU" dirty="0"/>
              <a:t>в предложении WHERE, которые </a:t>
            </a:r>
            <a:r>
              <a:rPr lang="ru-RU" dirty="0" smtClean="0"/>
              <a:t>будут </a:t>
            </a:r>
            <a:r>
              <a:rPr lang="ru-RU" dirty="0"/>
              <a:t>принимать одну из следующих форм:</a:t>
            </a:r>
          </a:p>
          <a:p>
            <a:r>
              <a:rPr lang="en-US" dirty="0" smtClean="0"/>
              <a:t>WHERE </a:t>
            </a:r>
            <a:r>
              <a:rPr lang="en-US" i="1" dirty="0" err="1"/>
              <a:t>test_expr</a:t>
            </a:r>
            <a:r>
              <a:rPr lang="en-US" i="1" dirty="0"/>
              <a:t> op </a:t>
            </a:r>
            <a:r>
              <a:rPr lang="en-US" dirty="0"/>
              <a:t>(</a:t>
            </a:r>
            <a:r>
              <a:rPr lang="en-US" i="1" dirty="0" err="1"/>
              <a:t>subquery</a:t>
            </a:r>
            <a:r>
              <a:rPr lang="en-US" dirty="0"/>
              <a:t>);</a:t>
            </a:r>
          </a:p>
          <a:p>
            <a:r>
              <a:rPr lang="en-US" dirty="0" smtClean="0"/>
              <a:t>WHERE </a:t>
            </a:r>
            <a:r>
              <a:rPr lang="en-US" i="1" dirty="0" err="1"/>
              <a:t>test_expr</a:t>
            </a:r>
            <a:r>
              <a:rPr lang="en-US" i="1" dirty="0"/>
              <a:t> </a:t>
            </a:r>
            <a:r>
              <a:rPr lang="en-US" dirty="0"/>
              <a:t>[NOT] IN (</a:t>
            </a:r>
            <a:r>
              <a:rPr lang="en-US" i="1" dirty="0" err="1"/>
              <a:t>subquery</a:t>
            </a:r>
            <a:r>
              <a:rPr lang="en-US" dirty="0"/>
              <a:t>);</a:t>
            </a:r>
          </a:p>
          <a:p>
            <a:r>
              <a:rPr lang="en-US" dirty="0" smtClean="0"/>
              <a:t>WHERE </a:t>
            </a:r>
            <a:r>
              <a:rPr lang="en-US" i="1" dirty="0" err="1"/>
              <a:t>test_expr</a:t>
            </a:r>
            <a:r>
              <a:rPr lang="en-US" i="1" dirty="0"/>
              <a:t> op </a:t>
            </a:r>
            <a:r>
              <a:rPr lang="en-US" dirty="0"/>
              <a:t>ALL (</a:t>
            </a:r>
            <a:r>
              <a:rPr lang="en-US" i="1" dirty="0" err="1"/>
              <a:t>subquery</a:t>
            </a:r>
            <a:r>
              <a:rPr lang="en-US" dirty="0"/>
              <a:t>);</a:t>
            </a:r>
          </a:p>
          <a:p>
            <a:r>
              <a:rPr lang="en-US" dirty="0" smtClean="0"/>
              <a:t>WHERE </a:t>
            </a:r>
            <a:r>
              <a:rPr lang="en-US" i="1" dirty="0" err="1"/>
              <a:t>test_expr</a:t>
            </a:r>
            <a:r>
              <a:rPr lang="en-US" i="1" dirty="0"/>
              <a:t> op </a:t>
            </a:r>
            <a:r>
              <a:rPr lang="en-US" dirty="0"/>
              <a:t>ANY (</a:t>
            </a:r>
            <a:r>
              <a:rPr lang="en-US" i="1" dirty="0" err="1"/>
              <a:t>subquery</a:t>
            </a:r>
            <a:r>
              <a:rPr lang="en-US" dirty="0"/>
              <a:t>);</a:t>
            </a:r>
          </a:p>
          <a:p>
            <a:r>
              <a:rPr lang="en-US" dirty="0" smtClean="0"/>
              <a:t>WHERE </a:t>
            </a:r>
            <a:r>
              <a:rPr lang="en-US" dirty="0"/>
              <a:t>[NOT] EXISTS (</a:t>
            </a:r>
            <a:r>
              <a:rPr lang="en-US" i="1" dirty="0" err="1"/>
              <a:t>subquery</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319</a:t>
            </a:fld>
            <a:endParaRPr lang="ru-RU"/>
          </a:p>
        </p:txBody>
      </p:sp>
    </p:spTree>
    <p:extLst>
      <p:ext uri="{BB962C8B-B14F-4D97-AF65-F5344CB8AC3E}">
        <p14:creationId xmlns:p14="http://schemas.microsoft.com/office/powerpoint/2010/main" xmlns="" val="222295515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smtClean="0"/>
              <a:t>Задача</a:t>
            </a:r>
            <a:r>
              <a:rPr lang="en-US" dirty="0" smtClean="0"/>
              <a:t>:</a:t>
            </a:r>
          </a:p>
          <a:p>
            <a:r>
              <a:rPr lang="ru-RU" dirty="0"/>
              <a:t>отобразить список всех авторов, </a:t>
            </a:r>
            <a:r>
              <a:rPr lang="ru-RU" dirty="0" smtClean="0"/>
              <a:t>которые</a:t>
            </a:r>
            <a:r>
              <a:rPr lang="en-US" dirty="0" smtClean="0"/>
              <a:t> </a:t>
            </a:r>
            <a:r>
              <a:rPr lang="ru-RU" dirty="0" smtClean="0"/>
              <a:t>живут </a:t>
            </a:r>
            <a:r>
              <a:rPr lang="ru-RU" dirty="0"/>
              <a:t>в городе, где находится издатель.</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320</a:t>
            </a:fld>
            <a:endParaRPr lang="ru-RU"/>
          </a:p>
        </p:txBody>
      </p:sp>
    </p:spTree>
    <p:extLst>
      <p:ext uri="{BB962C8B-B14F-4D97-AF65-F5344CB8AC3E}">
        <p14:creationId xmlns:p14="http://schemas.microsoft.com/office/powerpoint/2010/main" xmlns="" val="2662501028"/>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Простые и </a:t>
            </a:r>
            <a:r>
              <a:rPr lang="ru-RU" dirty="0" smtClean="0"/>
              <a:t>сложные</a:t>
            </a:r>
            <a:r>
              <a:rPr lang="en-US" dirty="0" smtClean="0"/>
              <a:t> </a:t>
            </a:r>
            <a:r>
              <a:rPr lang="ru-RU" dirty="0" smtClean="0"/>
              <a:t>запросы</a:t>
            </a:r>
            <a:endParaRPr lang="ru-RU" dirty="0"/>
          </a:p>
        </p:txBody>
      </p:sp>
      <p:sp>
        <p:nvSpPr>
          <p:cNvPr id="3" name="Объект 2"/>
          <p:cNvSpPr>
            <a:spLocks noGrp="1"/>
          </p:cNvSpPr>
          <p:nvPr>
            <p:ph idx="1"/>
          </p:nvPr>
        </p:nvSpPr>
        <p:spPr/>
        <p:txBody>
          <a:bodyPr>
            <a:normAutofit fontScale="92500" lnSpcReduction="10000"/>
          </a:bodyPr>
          <a:lstStyle/>
          <a:p>
            <a:r>
              <a:rPr lang="ru-RU" dirty="0"/>
              <a:t>Простой подзапрос – это запрос, </a:t>
            </a:r>
            <a:r>
              <a:rPr lang="ru-RU" dirty="0" smtClean="0"/>
              <a:t>который</a:t>
            </a:r>
            <a:r>
              <a:rPr lang="en-US" dirty="0" smtClean="0"/>
              <a:t> </a:t>
            </a:r>
            <a:r>
              <a:rPr lang="ru-RU" dirty="0" smtClean="0"/>
              <a:t>может </a:t>
            </a:r>
            <a:r>
              <a:rPr lang="ru-RU" dirty="0"/>
              <a:t>рассматриваться независимо от </a:t>
            </a:r>
            <a:r>
              <a:rPr lang="ru-RU" dirty="0" smtClean="0"/>
              <a:t>его</a:t>
            </a:r>
            <a:r>
              <a:rPr lang="en-US" dirty="0" smtClean="0"/>
              <a:t> </a:t>
            </a:r>
            <a:r>
              <a:rPr lang="ru-RU" dirty="0" smtClean="0"/>
              <a:t>внешнего </a:t>
            </a:r>
            <a:r>
              <a:rPr lang="ru-RU" dirty="0"/>
              <a:t>запроса и обрабатывается </a:t>
            </a:r>
            <a:r>
              <a:rPr lang="ru-RU" dirty="0" smtClean="0"/>
              <a:t>только </a:t>
            </a:r>
            <a:r>
              <a:rPr lang="ru-RU" dirty="0"/>
              <a:t>один раз для всей команды</a:t>
            </a:r>
            <a:r>
              <a:rPr lang="ru-RU" dirty="0" smtClean="0"/>
              <a:t>.</a:t>
            </a:r>
            <a:endParaRPr lang="en-US" dirty="0" smtClean="0"/>
          </a:p>
          <a:p>
            <a:r>
              <a:rPr lang="ru-RU" dirty="0"/>
              <a:t>Сложный подзапрос не может </a:t>
            </a:r>
            <a:r>
              <a:rPr lang="ru-RU" dirty="0" smtClean="0"/>
              <a:t>рассматриваться </a:t>
            </a:r>
            <a:r>
              <a:rPr lang="ru-RU" dirty="0"/>
              <a:t>отдельно от внешнего запроса; </a:t>
            </a:r>
            <a:r>
              <a:rPr lang="ru-RU" dirty="0" smtClean="0"/>
              <a:t>он</a:t>
            </a:r>
            <a:r>
              <a:rPr lang="en-US" dirty="0" smtClean="0"/>
              <a:t> </a:t>
            </a:r>
            <a:r>
              <a:rPr lang="ru-RU" dirty="0" smtClean="0"/>
              <a:t>представляет </a:t>
            </a:r>
            <a:r>
              <a:rPr lang="ru-RU" dirty="0"/>
              <a:t>собой внутренний </a:t>
            </a:r>
            <a:r>
              <a:rPr lang="ru-RU" dirty="0" smtClean="0"/>
              <a:t>запрос,</a:t>
            </a:r>
            <a:r>
              <a:rPr lang="en-US" dirty="0" smtClean="0"/>
              <a:t> </a:t>
            </a:r>
            <a:r>
              <a:rPr lang="ru-RU" dirty="0" smtClean="0"/>
              <a:t>который </a:t>
            </a:r>
            <a:r>
              <a:rPr lang="ru-RU" dirty="0"/>
              <a:t>зависит от данных </a:t>
            </a:r>
            <a:r>
              <a:rPr lang="ru-RU" dirty="0" smtClean="0"/>
              <a:t>внешнего</a:t>
            </a:r>
            <a:r>
              <a:rPr lang="en-US" dirty="0" smtClean="0"/>
              <a:t> </a:t>
            </a:r>
            <a:r>
              <a:rPr lang="ru-RU" dirty="0" smtClean="0"/>
              <a:t>запроса</a:t>
            </a:r>
            <a:r>
              <a:rPr lang="ru-RU" dirty="0"/>
              <a:t>. </a:t>
            </a:r>
            <a:endParaRPr lang="en-US" dirty="0" smtClean="0"/>
          </a:p>
          <a:p>
            <a:r>
              <a:rPr lang="ru-RU" dirty="0" smtClean="0"/>
              <a:t>Сложный </a:t>
            </a:r>
            <a:r>
              <a:rPr lang="ru-RU" dirty="0"/>
              <a:t>запрос </a:t>
            </a:r>
            <a:r>
              <a:rPr lang="ru-RU" dirty="0" smtClean="0"/>
              <a:t>используется</a:t>
            </a:r>
            <a:r>
              <a:rPr lang="en-US" dirty="0" smtClean="0"/>
              <a:t> </a:t>
            </a:r>
            <a:r>
              <a:rPr lang="ru-RU" dirty="0" smtClean="0"/>
              <a:t>в </a:t>
            </a:r>
            <a:r>
              <a:rPr lang="ru-RU" dirty="0"/>
              <a:t>том случае, если команде необходимо</a:t>
            </a:r>
          </a:p>
          <a:p>
            <a:r>
              <a:rPr lang="ru-RU" dirty="0"/>
              <a:t>обработать таблицу во внутреннем </a:t>
            </a:r>
            <a:r>
              <a:rPr lang="ru-RU" dirty="0" smtClean="0"/>
              <a:t>запросе </a:t>
            </a:r>
            <a:r>
              <a:rPr lang="ru-RU" dirty="0"/>
              <a:t>для каждой строки внешнего запроса.</a:t>
            </a:r>
          </a:p>
          <a:p>
            <a:r>
              <a:rPr lang="ru-RU" dirty="0"/>
              <a:t>Сложные запросы имеют более </a:t>
            </a:r>
            <a:r>
              <a:rPr lang="ru-RU" dirty="0" smtClean="0"/>
              <a:t>сложную</a:t>
            </a:r>
            <a:r>
              <a:rPr lang="en-US" dirty="0" smtClean="0"/>
              <a:t> </a:t>
            </a:r>
            <a:r>
              <a:rPr lang="ru-RU" dirty="0" smtClean="0"/>
              <a:t>структуру </a:t>
            </a:r>
            <a:r>
              <a:rPr lang="ru-RU" dirty="0"/>
              <a:t>и другой порядок </a:t>
            </a:r>
            <a:r>
              <a:rPr lang="ru-RU" dirty="0" smtClean="0"/>
              <a:t>исполнения,</a:t>
            </a:r>
            <a:r>
              <a:rPr lang="en-US" dirty="0" smtClean="0"/>
              <a:t> </a:t>
            </a:r>
            <a:r>
              <a:rPr lang="ru-RU" dirty="0" smtClean="0"/>
              <a:t>чем </a:t>
            </a:r>
            <a:r>
              <a:rPr lang="ru-RU" dirty="0"/>
              <a:t>простые запросы.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321</a:t>
            </a:fld>
            <a:endParaRPr lang="ru-RU"/>
          </a:p>
        </p:txBody>
      </p:sp>
    </p:spTree>
    <p:extLst>
      <p:ext uri="{BB962C8B-B14F-4D97-AF65-F5344CB8AC3E}">
        <p14:creationId xmlns:p14="http://schemas.microsoft.com/office/powerpoint/2010/main" xmlns="" val="183947269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693683"/>
            <a:ext cx="10515600" cy="5483280"/>
          </a:xfrm>
        </p:spPr>
        <p:txBody>
          <a:bodyPr>
            <a:normAutofit/>
          </a:bodyPr>
          <a:lstStyle/>
          <a:p>
            <a:r>
              <a:rPr lang="ru-RU" dirty="0"/>
              <a:t>Чтобы рассчитать простой запрос, </a:t>
            </a:r>
            <a:r>
              <a:rPr lang="ru-RU" dirty="0" smtClean="0"/>
              <a:t>СУБД</a:t>
            </a:r>
            <a:r>
              <a:rPr lang="en-US" dirty="0" smtClean="0"/>
              <a:t> </a:t>
            </a:r>
            <a:r>
              <a:rPr lang="ru-RU" dirty="0" smtClean="0"/>
              <a:t>запускает </a:t>
            </a:r>
            <a:r>
              <a:rPr lang="ru-RU" dirty="0"/>
              <a:t>внутренний запрос один </a:t>
            </a:r>
            <a:r>
              <a:rPr lang="ru-RU" dirty="0" smtClean="0"/>
              <a:t>раз,</a:t>
            </a:r>
            <a:r>
              <a:rPr lang="en-US" dirty="0" smtClean="0"/>
              <a:t> </a:t>
            </a:r>
            <a:r>
              <a:rPr lang="ru-RU" dirty="0" smtClean="0"/>
              <a:t>затем </a:t>
            </a:r>
            <a:r>
              <a:rPr lang="ru-RU" dirty="0"/>
              <a:t>помещает его результат во </a:t>
            </a:r>
            <a:r>
              <a:rPr lang="ru-RU" dirty="0" smtClean="0"/>
              <a:t>внешний</a:t>
            </a:r>
            <a:r>
              <a:rPr lang="en-US" dirty="0" smtClean="0"/>
              <a:t> </a:t>
            </a:r>
            <a:r>
              <a:rPr lang="ru-RU" dirty="0" smtClean="0"/>
              <a:t>запрос</a:t>
            </a:r>
            <a:r>
              <a:rPr lang="ru-RU" dirty="0"/>
              <a:t>. Простой запрос выполняется до </a:t>
            </a:r>
            <a:r>
              <a:rPr lang="ru-RU" dirty="0" smtClean="0"/>
              <a:t>и</a:t>
            </a:r>
            <a:r>
              <a:rPr lang="en-US" dirty="0" smtClean="0"/>
              <a:t> </a:t>
            </a:r>
            <a:r>
              <a:rPr lang="ru-RU" dirty="0" smtClean="0"/>
              <a:t>независимо </a:t>
            </a:r>
            <a:r>
              <a:rPr lang="ru-RU" dirty="0"/>
              <a:t>от внешнего запроса</a:t>
            </a:r>
            <a:r>
              <a:rPr lang="ru-RU" dirty="0" smtClean="0"/>
              <a:t>.</a:t>
            </a:r>
            <a:endParaRPr lang="en-US" dirty="0" smtClean="0"/>
          </a:p>
          <a:p>
            <a:endParaRPr lang="en-US" dirty="0"/>
          </a:p>
          <a:p>
            <a:r>
              <a:rPr lang="ru-RU" dirty="0"/>
              <a:t>Сложные запросы предполагают </a:t>
            </a:r>
            <a:r>
              <a:rPr lang="ru-RU" dirty="0" smtClean="0"/>
              <a:t>более</a:t>
            </a:r>
            <a:r>
              <a:rPr lang="en-US" dirty="0" smtClean="0"/>
              <a:t> </a:t>
            </a:r>
            <a:r>
              <a:rPr lang="ru-RU" dirty="0" smtClean="0"/>
              <a:t>сложный </a:t>
            </a:r>
            <a:r>
              <a:rPr lang="ru-RU" dirty="0"/>
              <a:t>механизм извлечения </a:t>
            </a:r>
            <a:r>
              <a:rPr lang="ru-RU" dirty="0" smtClean="0"/>
              <a:t>данных</a:t>
            </a:r>
            <a:r>
              <a:rPr lang="en-US" dirty="0" smtClean="0"/>
              <a:t> </a:t>
            </a:r>
            <a:r>
              <a:rPr lang="ru-RU" dirty="0" smtClean="0"/>
              <a:t>по </a:t>
            </a:r>
            <a:r>
              <a:rPr lang="ru-RU" dirty="0"/>
              <a:t>сравнению с простыми запросами. </a:t>
            </a:r>
            <a:endParaRPr lang="ru-RU" dirty="0" smtClean="0"/>
          </a:p>
          <a:p>
            <a:r>
              <a:rPr lang="ru-RU" dirty="0" smtClean="0"/>
              <a:t>Основные </a:t>
            </a:r>
            <a:r>
              <a:rPr lang="ru-RU" dirty="0"/>
              <a:t>параметры, </a:t>
            </a:r>
            <a:r>
              <a:rPr lang="ru-RU" dirty="0" smtClean="0"/>
              <a:t>которые характеризуют </a:t>
            </a:r>
            <a:r>
              <a:rPr lang="ru-RU" dirty="0"/>
              <a:t>сложный запрос</a:t>
            </a:r>
            <a:r>
              <a:rPr lang="ru-RU" dirty="0" smtClean="0"/>
              <a:t>:</a:t>
            </a:r>
          </a:p>
          <a:p>
            <a:r>
              <a:rPr lang="ru-RU" dirty="0"/>
              <a:t>отличается от простого порядком </a:t>
            </a:r>
            <a:r>
              <a:rPr lang="ru-RU" dirty="0" smtClean="0"/>
              <a:t>исполнения</a:t>
            </a:r>
            <a:r>
              <a:rPr lang="ru-RU" dirty="0"/>
              <a:t>, а </a:t>
            </a:r>
            <a:r>
              <a:rPr lang="ru-RU" dirty="0" smtClean="0"/>
              <a:t>также количеством исполнений;</a:t>
            </a:r>
          </a:p>
          <a:p>
            <a:r>
              <a:rPr lang="ru-RU" dirty="0"/>
              <a:t>не может быть исполнен отдельно </a:t>
            </a:r>
            <a:r>
              <a:rPr lang="ru-RU" dirty="0" smtClean="0"/>
              <a:t>от внешнего </a:t>
            </a:r>
            <a:r>
              <a:rPr lang="ru-RU" dirty="0"/>
              <a:t>запроса, так как зависит </a:t>
            </a:r>
            <a:r>
              <a:rPr lang="ru-RU" dirty="0" smtClean="0"/>
              <a:t>от него</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322</a:t>
            </a:fld>
            <a:endParaRPr lang="ru-RU"/>
          </a:p>
        </p:txBody>
      </p:sp>
    </p:spTree>
    <p:extLst>
      <p:ext uri="{BB962C8B-B14F-4D97-AF65-F5344CB8AC3E}">
        <p14:creationId xmlns:p14="http://schemas.microsoft.com/office/powerpoint/2010/main" xmlns="" val="986575192"/>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исполняется несколько раз – один </a:t>
            </a:r>
            <a:r>
              <a:rPr lang="ru-RU" dirty="0" smtClean="0"/>
              <a:t>раз для </a:t>
            </a:r>
            <a:r>
              <a:rPr lang="ru-RU" dirty="0"/>
              <a:t>каждой строки, которая была </a:t>
            </a:r>
            <a:r>
              <a:rPr lang="ru-RU" dirty="0" smtClean="0"/>
              <a:t>выбрана </a:t>
            </a:r>
            <a:r>
              <a:rPr lang="ru-RU" dirty="0"/>
              <a:t>с помощью внешнего запроса</a:t>
            </a:r>
            <a:r>
              <a:rPr lang="ru-RU" dirty="0" smtClean="0"/>
              <a:t>;</a:t>
            </a:r>
          </a:p>
          <a:p>
            <a:r>
              <a:rPr lang="ru-RU" dirty="0"/>
              <a:t>всегда обращается к таблице, </a:t>
            </a:r>
            <a:r>
              <a:rPr lang="ru-RU" dirty="0" smtClean="0"/>
              <a:t>указанной </a:t>
            </a:r>
            <a:r>
              <a:rPr lang="ru-RU" dirty="0"/>
              <a:t>в предложении FROM внешнего </a:t>
            </a:r>
            <a:r>
              <a:rPr lang="ru-RU" dirty="0" smtClean="0"/>
              <a:t>запроса;</a:t>
            </a:r>
          </a:p>
          <a:p>
            <a:r>
              <a:rPr lang="ru-RU" dirty="0"/>
              <a:t>использует названия столбцов, </a:t>
            </a:r>
            <a:r>
              <a:rPr lang="ru-RU" dirty="0" smtClean="0"/>
              <a:t>чтобы ссылаться </a:t>
            </a:r>
            <a:r>
              <a:rPr lang="ru-RU" dirty="0"/>
              <a:t>на значения, указанные </a:t>
            </a:r>
            <a:r>
              <a:rPr lang="ru-RU" dirty="0" smtClean="0"/>
              <a:t>во внешнем </a:t>
            </a:r>
            <a:r>
              <a:rPr lang="ru-RU" dirty="0"/>
              <a:t>запросе.</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323</a:t>
            </a:fld>
            <a:endParaRPr lang="ru-RU"/>
          </a:p>
        </p:txBody>
      </p:sp>
    </p:spTree>
    <p:extLst>
      <p:ext uri="{BB962C8B-B14F-4D97-AF65-F5344CB8AC3E}">
        <p14:creationId xmlns:p14="http://schemas.microsoft.com/office/powerpoint/2010/main" xmlns="" val="94457808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008993"/>
            <a:ext cx="10515600" cy="5167970"/>
          </a:xfrm>
        </p:spPr>
        <p:txBody>
          <a:bodyPr/>
          <a:lstStyle/>
          <a:p>
            <a:r>
              <a:rPr lang="ru-RU" dirty="0"/>
              <a:t>базовая структура запроса, который </a:t>
            </a:r>
            <a:r>
              <a:rPr lang="ru-RU" dirty="0" smtClean="0"/>
              <a:t>содержит </a:t>
            </a:r>
            <a:r>
              <a:rPr lang="ru-RU" dirty="0"/>
              <a:t>сложный подзапрос, такова</a:t>
            </a:r>
            <a:r>
              <a:rPr lang="ru-RU" dirty="0" smtClean="0"/>
              <a:t>:</a:t>
            </a:r>
            <a:endParaRPr lang="en-US" dirty="0" smtClean="0"/>
          </a:p>
          <a:p>
            <a:r>
              <a:rPr lang="en-US" dirty="0" smtClean="0"/>
              <a:t>SELECT </a:t>
            </a:r>
            <a:r>
              <a:rPr lang="en-US" i="1" dirty="0"/>
              <a:t>outer columns</a:t>
            </a:r>
          </a:p>
          <a:p>
            <a:r>
              <a:rPr lang="en-US" dirty="0"/>
              <a:t>FROM </a:t>
            </a:r>
            <a:r>
              <a:rPr lang="en-US" i="1" dirty="0" err="1"/>
              <a:t>outer_table</a:t>
            </a:r>
            <a:endParaRPr lang="en-US" i="1" dirty="0"/>
          </a:p>
          <a:p>
            <a:r>
              <a:rPr lang="en-US" dirty="0"/>
              <a:t>WHERE </a:t>
            </a:r>
            <a:r>
              <a:rPr lang="en-US" i="1" dirty="0" err="1"/>
              <a:t>outer_column_value</a:t>
            </a:r>
            <a:r>
              <a:rPr lang="en-US" i="1" dirty="0"/>
              <a:t> </a:t>
            </a:r>
            <a:r>
              <a:rPr lang="en-US" dirty="0"/>
              <a:t>IN</a:t>
            </a:r>
          </a:p>
          <a:p>
            <a:r>
              <a:rPr lang="en-US" dirty="0"/>
              <a:t>(</a:t>
            </a:r>
            <a:r>
              <a:rPr lang="en-US" b="1" dirty="0"/>
              <a:t>SELECT </a:t>
            </a:r>
            <a:r>
              <a:rPr lang="en-US" b="1" i="1" dirty="0" err="1"/>
              <a:t>inner_column</a:t>
            </a:r>
            <a:endParaRPr lang="en-US" b="1" i="1" dirty="0"/>
          </a:p>
          <a:p>
            <a:r>
              <a:rPr lang="en-US" b="1" dirty="0"/>
              <a:t>FROM </a:t>
            </a:r>
            <a:r>
              <a:rPr lang="en-US" b="1" i="1" dirty="0" err="1"/>
              <a:t>inner_table</a:t>
            </a:r>
            <a:endParaRPr lang="en-US" b="1" i="1" dirty="0"/>
          </a:p>
          <a:p>
            <a:r>
              <a:rPr lang="en-US" b="1" dirty="0"/>
              <a:t>WHERE </a:t>
            </a:r>
            <a:r>
              <a:rPr lang="en-US" b="1" i="1" dirty="0" err="1"/>
              <a:t>inner_column</a:t>
            </a:r>
            <a:r>
              <a:rPr lang="en-US" b="1" i="1" dirty="0"/>
              <a:t> </a:t>
            </a:r>
            <a:r>
              <a:rPr lang="en-US" b="1" dirty="0"/>
              <a:t>= </a:t>
            </a:r>
            <a:r>
              <a:rPr lang="en-US" b="1" i="1" dirty="0" err="1"/>
              <a:t>outer_column</a:t>
            </a:r>
            <a:r>
              <a:rPr lang="en-US" dirty="0"/>
              <a:t>)</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324</a:t>
            </a:fld>
            <a:endParaRPr lang="ru-RU"/>
          </a:p>
        </p:txBody>
      </p:sp>
    </p:spTree>
    <p:extLst>
      <p:ext uri="{BB962C8B-B14F-4D97-AF65-F5344CB8AC3E}">
        <p14:creationId xmlns:p14="http://schemas.microsoft.com/office/powerpoint/2010/main" xmlns="" val="3084031999"/>
      </p:ext>
    </p:extLst>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851338"/>
            <a:ext cx="10515600" cy="5325625"/>
          </a:xfrm>
        </p:spPr>
        <p:txBody>
          <a:bodyPr>
            <a:normAutofit/>
          </a:bodyPr>
          <a:lstStyle/>
          <a:p>
            <a:r>
              <a:rPr lang="ru-RU" dirty="0"/>
              <a:t>Исполнение всегда начинается с </a:t>
            </a:r>
            <a:r>
              <a:rPr lang="ru-RU" dirty="0" smtClean="0"/>
              <a:t>внешнего</a:t>
            </a:r>
            <a:r>
              <a:rPr lang="en-US" dirty="0" smtClean="0"/>
              <a:t> </a:t>
            </a:r>
            <a:r>
              <a:rPr lang="ru-RU" dirty="0" smtClean="0"/>
              <a:t>запроса</a:t>
            </a:r>
            <a:r>
              <a:rPr lang="ru-RU" dirty="0"/>
              <a:t>, который выбирает каждую </a:t>
            </a:r>
            <a:r>
              <a:rPr lang="ru-RU" dirty="0" smtClean="0"/>
              <a:t>отдельную </a:t>
            </a:r>
            <a:r>
              <a:rPr lang="ru-RU" dirty="0"/>
              <a:t>строку в </a:t>
            </a:r>
            <a:r>
              <a:rPr lang="ru-RU" i="1" dirty="0" err="1"/>
              <a:t>outer_table</a:t>
            </a:r>
            <a:r>
              <a:rPr lang="ru-RU" dirty="0"/>
              <a:t>. </a:t>
            </a:r>
            <a:endParaRPr lang="en-US" dirty="0" smtClean="0"/>
          </a:p>
          <a:p>
            <a:r>
              <a:rPr lang="ru-RU" dirty="0" smtClean="0"/>
              <a:t>Для каждой</a:t>
            </a:r>
            <a:r>
              <a:rPr lang="en-US" dirty="0" smtClean="0"/>
              <a:t> </a:t>
            </a:r>
            <a:r>
              <a:rPr lang="ru-RU" dirty="0" smtClean="0"/>
              <a:t>выбранной </a:t>
            </a:r>
            <a:r>
              <a:rPr lang="ru-RU" dirty="0"/>
              <a:t>строки СУБД исполняет </a:t>
            </a:r>
            <a:r>
              <a:rPr lang="ru-RU" dirty="0" smtClean="0"/>
              <a:t>сложный </a:t>
            </a:r>
            <a:r>
              <a:rPr lang="ru-RU" dirty="0"/>
              <a:t>внутренний запрос </a:t>
            </a:r>
            <a:r>
              <a:rPr lang="ru-RU" dirty="0" smtClean="0"/>
              <a:t>один </a:t>
            </a:r>
            <a:r>
              <a:rPr lang="ru-RU" dirty="0"/>
              <a:t>раз и </a:t>
            </a:r>
            <a:r>
              <a:rPr lang="ru-RU" dirty="0" smtClean="0"/>
              <a:t>помечает</a:t>
            </a:r>
            <a:r>
              <a:rPr lang="en-US" dirty="0" smtClean="0"/>
              <a:t> </a:t>
            </a:r>
            <a:r>
              <a:rPr lang="ru-RU" dirty="0" smtClean="0"/>
              <a:t>те </a:t>
            </a:r>
            <a:r>
              <a:rPr lang="ru-RU" dirty="0"/>
              <a:t>строки в </a:t>
            </a:r>
            <a:r>
              <a:rPr lang="ru-RU" i="1" dirty="0" err="1"/>
              <a:t>inner_table</a:t>
            </a:r>
            <a:r>
              <a:rPr lang="ru-RU" dirty="0"/>
              <a:t>, которые </a:t>
            </a:r>
            <a:r>
              <a:rPr lang="ru-RU" dirty="0" smtClean="0"/>
              <a:t>соответствуют </a:t>
            </a:r>
            <a:r>
              <a:rPr lang="ru-RU" dirty="0"/>
              <a:t>условию WHERE для </a:t>
            </a:r>
            <a:r>
              <a:rPr lang="ru-RU" dirty="0" smtClean="0"/>
              <a:t>значения </a:t>
            </a:r>
            <a:r>
              <a:rPr lang="en-US" i="1" dirty="0" err="1"/>
              <a:t>outer_column_value</a:t>
            </a:r>
            <a:r>
              <a:rPr lang="en-US" dirty="0"/>
              <a:t>. </a:t>
            </a:r>
            <a:endParaRPr lang="en-US" dirty="0" smtClean="0"/>
          </a:p>
          <a:p>
            <a:r>
              <a:rPr lang="ru-RU" dirty="0" smtClean="0"/>
              <a:t>СУБД протестирует </a:t>
            </a:r>
            <a:r>
              <a:rPr lang="ru-RU" dirty="0"/>
              <a:t>условие WHERE для отмеченных </a:t>
            </a:r>
            <a:r>
              <a:rPr lang="ru-RU" dirty="0" smtClean="0"/>
              <a:t>строк</a:t>
            </a:r>
            <a:r>
              <a:rPr lang="en-US" dirty="0" smtClean="0"/>
              <a:t> </a:t>
            </a:r>
            <a:r>
              <a:rPr lang="ru-RU" dirty="0" smtClean="0"/>
              <a:t>в </a:t>
            </a:r>
            <a:r>
              <a:rPr lang="ru-RU" i="1" dirty="0" err="1"/>
              <a:t>inner_table</a:t>
            </a:r>
            <a:r>
              <a:rPr lang="ru-RU" i="1" dirty="0"/>
              <a:t> </a:t>
            </a:r>
            <a:r>
              <a:rPr lang="ru-RU" dirty="0"/>
              <a:t>и отобразит строки, </a:t>
            </a:r>
            <a:r>
              <a:rPr lang="ru-RU" dirty="0" smtClean="0"/>
              <a:t>которые</a:t>
            </a:r>
            <a:r>
              <a:rPr lang="en-US" dirty="0" smtClean="0"/>
              <a:t> </a:t>
            </a:r>
            <a:r>
              <a:rPr lang="ru-RU" dirty="0" smtClean="0"/>
              <a:t>соответствуют </a:t>
            </a:r>
            <a:r>
              <a:rPr lang="ru-RU" dirty="0"/>
              <a:t>условию. </a:t>
            </a:r>
            <a:endParaRPr lang="en-US" dirty="0" smtClean="0"/>
          </a:p>
          <a:p>
            <a:r>
              <a:rPr lang="ru-RU" dirty="0" smtClean="0"/>
              <a:t>Этот </a:t>
            </a:r>
            <a:r>
              <a:rPr lang="ru-RU" dirty="0"/>
              <a:t>процесс </a:t>
            </a:r>
            <a:r>
              <a:rPr lang="ru-RU" dirty="0" smtClean="0"/>
              <a:t>будет </a:t>
            </a:r>
            <a:r>
              <a:rPr lang="ru-RU" dirty="0"/>
              <a:t>продолжаться до тех пор, пока </a:t>
            </a:r>
            <a:r>
              <a:rPr lang="ru-RU" dirty="0" smtClean="0"/>
              <a:t>все</a:t>
            </a:r>
            <a:r>
              <a:rPr lang="en-US" dirty="0" smtClean="0"/>
              <a:t> </a:t>
            </a:r>
            <a:r>
              <a:rPr lang="ru-RU" dirty="0" smtClean="0"/>
              <a:t>строки</a:t>
            </a:r>
            <a:r>
              <a:rPr lang="ru-RU" dirty="0"/>
              <a:t>, выбранные с помощью </a:t>
            </a:r>
            <a:r>
              <a:rPr lang="ru-RU" dirty="0" smtClean="0"/>
              <a:t>внешнего</a:t>
            </a:r>
            <a:r>
              <a:rPr lang="en-US" dirty="0" smtClean="0"/>
              <a:t> </a:t>
            </a:r>
            <a:r>
              <a:rPr lang="ru-RU" dirty="0" smtClean="0"/>
              <a:t>запроса</a:t>
            </a:r>
            <a:r>
              <a:rPr lang="ru-RU" dirty="0"/>
              <a:t>, не будут обработаны.</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325</a:t>
            </a:fld>
            <a:endParaRPr lang="ru-RU"/>
          </a:p>
        </p:txBody>
      </p:sp>
    </p:spTree>
    <p:extLst>
      <p:ext uri="{BB962C8B-B14F-4D97-AF65-F5344CB8AC3E}">
        <p14:creationId xmlns:p14="http://schemas.microsoft.com/office/powerpoint/2010/main" xmlns="" val="2831370524"/>
      </p:ext>
    </p:extLst>
  </p:cSld>
  <p:clrMapOvr>
    <a:masterClrMapping/>
  </p:clrMapOvr>
  <p:timing>
    <p:tnLst>
      <p:par>
        <p:cTn id="1" dur="indefinite" restart="never" nodeType="tmRoot"/>
      </p:par>
    </p:tn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smtClean="0"/>
              <a:t>Можно </a:t>
            </a:r>
            <a:r>
              <a:rPr lang="ru-RU" dirty="0"/>
              <a:t>использовать запрос в </a:t>
            </a:r>
            <a:r>
              <a:rPr lang="ru-RU" dirty="0" smtClean="0"/>
              <a:t>качестве </a:t>
            </a:r>
            <a:r>
              <a:rPr lang="ru-RU" dirty="0"/>
              <a:t>фильтра в предложении WHERE </a:t>
            </a:r>
            <a:r>
              <a:rPr lang="ru-RU" dirty="0" smtClean="0"/>
              <a:t>или HAVING </a:t>
            </a:r>
            <a:r>
              <a:rPr lang="ru-RU" dirty="0"/>
              <a:t>внешнего запроса с помощью </a:t>
            </a:r>
            <a:r>
              <a:rPr lang="ru-RU" dirty="0" smtClean="0"/>
              <a:t>одного </a:t>
            </a:r>
            <a:r>
              <a:rPr lang="ru-RU" dirty="0"/>
              <a:t>из операторов сравнения (=, &lt;&gt;, &lt;, </a:t>
            </a:r>
            <a:r>
              <a:rPr lang="ru-RU" dirty="0" smtClean="0"/>
              <a:t>&lt;=,&gt; </a:t>
            </a:r>
            <a:r>
              <a:rPr lang="ru-RU" dirty="0"/>
              <a:t>или &gt;=). </a:t>
            </a:r>
            <a:endParaRPr lang="ru-RU" dirty="0" smtClean="0"/>
          </a:p>
          <a:p>
            <a:r>
              <a:rPr lang="ru-RU" dirty="0" smtClean="0"/>
              <a:t>Параметры</a:t>
            </a:r>
            <a:r>
              <a:rPr lang="ru-RU" dirty="0"/>
              <a:t> </a:t>
            </a:r>
            <a:r>
              <a:rPr lang="ru-RU" dirty="0" smtClean="0"/>
              <a:t>при </a:t>
            </a:r>
            <a:r>
              <a:rPr lang="ru-RU" dirty="0"/>
              <a:t>сравнении запроса</a:t>
            </a:r>
            <a:r>
              <a:rPr lang="ru-RU" dirty="0" smtClean="0"/>
              <a:t>:</a:t>
            </a:r>
          </a:p>
          <a:p>
            <a:r>
              <a:rPr lang="ru-RU" dirty="0"/>
              <a:t>операторы сравнения работают так </a:t>
            </a:r>
            <a:r>
              <a:rPr lang="ru-RU" dirty="0" err="1" smtClean="0"/>
              <a:t>же,как</a:t>
            </a:r>
            <a:r>
              <a:rPr lang="ru-RU" dirty="0" smtClean="0"/>
              <a:t> </a:t>
            </a:r>
            <a:r>
              <a:rPr lang="ru-RU" dirty="0"/>
              <a:t>в других </a:t>
            </a:r>
            <a:r>
              <a:rPr lang="ru-RU" dirty="0" smtClean="0"/>
              <a:t>выражениях</a:t>
            </a:r>
          </a:p>
          <a:p>
            <a:r>
              <a:rPr lang="ru-RU" dirty="0"/>
              <a:t>запрос может быть простым или </a:t>
            </a:r>
            <a:r>
              <a:rPr lang="ru-RU" dirty="0" smtClean="0"/>
              <a:t>сложным</a:t>
            </a:r>
          </a:p>
          <a:p>
            <a:r>
              <a:rPr lang="ru-RU" dirty="0"/>
              <a:t>список столбцов команды SELECT </a:t>
            </a:r>
            <a:r>
              <a:rPr lang="ru-RU" dirty="0" smtClean="0"/>
              <a:t>запроса </a:t>
            </a:r>
            <a:r>
              <a:rPr lang="ru-RU" dirty="0"/>
              <a:t>может включать только </a:t>
            </a:r>
            <a:r>
              <a:rPr lang="ru-RU" dirty="0" smtClean="0"/>
              <a:t>одно выражение </a:t>
            </a:r>
            <a:r>
              <a:rPr lang="ru-RU" dirty="0"/>
              <a:t>или название столбца;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326</a:t>
            </a:fld>
            <a:endParaRPr lang="ru-RU"/>
          </a:p>
        </p:txBody>
      </p:sp>
    </p:spTree>
    <p:extLst>
      <p:ext uri="{BB962C8B-B14F-4D97-AF65-F5344CB8AC3E}">
        <p14:creationId xmlns:p14="http://schemas.microsoft.com/office/powerpoint/2010/main" xmlns="" val="2266875938"/>
      </p:ext>
    </p:extLst>
  </p:cSld>
  <p:clrMapOvr>
    <a:masterClrMapping/>
  </p:clrMapOvr>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сравниваемые значения должны </a:t>
            </a:r>
            <a:r>
              <a:rPr lang="ru-RU" dirty="0" smtClean="0"/>
              <a:t>относиться </a:t>
            </a:r>
            <a:r>
              <a:rPr lang="ru-RU" dirty="0"/>
              <a:t>к одному типу данных </a:t>
            </a:r>
            <a:r>
              <a:rPr lang="ru-RU" dirty="0" smtClean="0"/>
              <a:t>или быть сравнимыми</a:t>
            </a:r>
          </a:p>
          <a:p>
            <a:r>
              <a:rPr lang="ru-RU" dirty="0"/>
              <a:t>запрос должен возвращать одно </a:t>
            </a:r>
            <a:r>
              <a:rPr lang="ru-RU" dirty="0" smtClean="0"/>
              <a:t>значение</a:t>
            </a:r>
          </a:p>
          <a:p>
            <a:r>
              <a:rPr lang="ru-RU" dirty="0"/>
              <a:t>если результат запроса содержит </a:t>
            </a:r>
            <a:r>
              <a:rPr lang="ru-RU" dirty="0" smtClean="0"/>
              <a:t>строки </a:t>
            </a:r>
            <a:r>
              <a:rPr lang="ru-RU" dirty="0"/>
              <a:t>со значением </a:t>
            </a:r>
            <a:r>
              <a:rPr lang="ru-RU" dirty="0" err="1"/>
              <a:t>null</a:t>
            </a:r>
            <a:r>
              <a:rPr lang="ru-RU" dirty="0"/>
              <a:t>, сравнение </a:t>
            </a:r>
            <a:r>
              <a:rPr lang="ru-RU" dirty="0" smtClean="0"/>
              <a:t>даст неверный </a:t>
            </a:r>
            <a:r>
              <a:rPr lang="ru-RU" dirty="0"/>
              <a:t>результат</a:t>
            </a:r>
            <a:r>
              <a:rPr lang="ru-RU" dirty="0" smtClean="0"/>
              <a:t>.</a:t>
            </a:r>
          </a:p>
          <a:p>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327</a:t>
            </a:fld>
            <a:endParaRPr lang="ru-RU"/>
          </a:p>
        </p:txBody>
      </p:sp>
    </p:spTree>
    <p:extLst>
      <p:ext uri="{BB962C8B-B14F-4D97-AF65-F5344CB8AC3E}">
        <p14:creationId xmlns:p14="http://schemas.microsoft.com/office/powerpoint/2010/main" xmlns="" val="2102909124"/>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t>Сложность при написании этих </a:t>
            </a:r>
            <a:r>
              <a:rPr lang="ru-RU" dirty="0" smtClean="0"/>
              <a:t>выражений заключается </a:t>
            </a:r>
            <a:r>
              <a:rPr lang="ru-RU" dirty="0"/>
              <a:t>в том, чтобы запрос </a:t>
            </a:r>
            <a:r>
              <a:rPr lang="ru-RU" dirty="0" smtClean="0"/>
              <a:t>возвращал </a:t>
            </a:r>
            <a:r>
              <a:rPr lang="ru-RU" dirty="0"/>
              <a:t>одно значение</a:t>
            </a:r>
            <a:r>
              <a:rPr lang="ru-RU" dirty="0" smtClean="0"/>
              <a:t>.</a:t>
            </a:r>
          </a:p>
          <a:p>
            <a:r>
              <a:rPr lang="ru-RU" dirty="0"/>
              <a:t>Это достигается </a:t>
            </a:r>
            <a:r>
              <a:rPr lang="ru-RU" dirty="0" smtClean="0"/>
              <a:t>несколькими </a:t>
            </a:r>
            <a:r>
              <a:rPr lang="ru-RU" dirty="0"/>
              <a:t>способами</a:t>
            </a:r>
            <a:r>
              <a:rPr lang="ru-RU" dirty="0" smtClean="0"/>
              <a:t>:</a:t>
            </a:r>
          </a:p>
          <a:p>
            <a:r>
              <a:rPr lang="ru-RU" dirty="0"/>
              <a:t>при использовании агрегатной </a:t>
            </a:r>
            <a:r>
              <a:rPr lang="ru-RU" dirty="0" smtClean="0"/>
              <a:t>функции </a:t>
            </a:r>
            <a:r>
              <a:rPr lang="ru-RU" dirty="0"/>
              <a:t>на </a:t>
            </a:r>
            <a:r>
              <a:rPr lang="ru-RU" dirty="0" err="1"/>
              <a:t>несгруппированной</a:t>
            </a:r>
            <a:r>
              <a:rPr lang="ru-RU" dirty="0"/>
              <a:t> </a:t>
            </a:r>
            <a:r>
              <a:rPr lang="ru-RU" dirty="0" smtClean="0"/>
              <a:t>таблице всегда </a:t>
            </a:r>
            <a:r>
              <a:rPr lang="ru-RU" dirty="0"/>
              <a:t>получается одно </a:t>
            </a:r>
            <a:r>
              <a:rPr lang="ru-RU" dirty="0" smtClean="0"/>
              <a:t>значение</a:t>
            </a:r>
          </a:p>
          <a:p>
            <a:r>
              <a:rPr lang="ru-RU" dirty="0"/>
              <a:t>при использовании объединения с </a:t>
            </a:r>
            <a:r>
              <a:rPr lang="ru-RU" dirty="0" smtClean="0"/>
              <a:t>внешним </a:t>
            </a:r>
            <a:r>
              <a:rPr lang="ru-RU" dirty="0"/>
              <a:t>запросом, включающим </a:t>
            </a:r>
            <a:r>
              <a:rPr lang="ru-RU" dirty="0" smtClean="0"/>
              <a:t>фильтрацию </a:t>
            </a:r>
            <a:r>
              <a:rPr lang="ru-RU" dirty="0"/>
              <a:t>по ключу, всегда получается </a:t>
            </a:r>
            <a:r>
              <a:rPr lang="ru-RU" dirty="0" smtClean="0"/>
              <a:t>одно значение</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328</a:t>
            </a:fld>
            <a:endParaRPr lang="ru-RU"/>
          </a:p>
        </p:txBody>
      </p:sp>
    </p:spTree>
    <p:extLst>
      <p:ext uri="{BB962C8B-B14F-4D97-AF65-F5344CB8AC3E}">
        <p14:creationId xmlns:p14="http://schemas.microsoft.com/office/powerpoint/2010/main" xmlns="" val="36728079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i="1" dirty="0" smtClean="0"/>
              <a:t>Транзакци</a:t>
            </a:r>
            <a:r>
              <a:rPr lang="ru-RU" i="1" dirty="0"/>
              <a:t>и</a:t>
            </a:r>
            <a:endParaRPr lang="ru-RU" dirty="0"/>
          </a:p>
        </p:txBody>
      </p:sp>
      <p:sp>
        <p:nvSpPr>
          <p:cNvPr id="3" name="Объект 2"/>
          <p:cNvSpPr>
            <a:spLocks noGrp="1"/>
          </p:cNvSpPr>
          <p:nvPr>
            <p:ph idx="1"/>
          </p:nvPr>
        </p:nvSpPr>
        <p:spPr/>
        <p:txBody>
          <a:bodyPr/>
          <a:lstStyle/>
          <a:p>
            <a:r>
              <a:rPr lang="ru-RU" i="1" dirty="0"/>
              <a:t>Транзакция </a:t>
            </a:r>
            <a:r>
              <a:rPr lang="ru-RU" dirty="0"/>
              <a:t>(</a:t>
            </a:r>
            <a:r>
              <a:rPr lang="en-US" dirty="0"/>
              <a:t>Transaction) – </a:t>
            </a:r>
            <a:r>
              <a:rPr lang="ru-RU" dirty="0"/>
              <a:t>это </a:t>
            </a:r>
            <a:r>
              <a:rPr lang="ru-RU" dirty="0" smtClean="0"/>
              <a:t>последовательность </a:t>
            </a:r>
            <a:r>
              <a:rPr lang="ru-RU" dirty="0"/>
              <a:t>из одной или нескольких </a:t>
            </a:r>
            <a:r>
              <a:rPr lang="ru-RU" dirty="0" smtClean="0"/>
              <a:t>команд </a:t>
            </a:r>
            <a:r>
              <a:rPr lang="ru-RU" dirty="0"/>
              <a:t>SQL, которые исполняются в </a:t>
            </a:r>
            <a:r>
              <a:rPr lang="ru-RU" dirty="0" smtClean="0"/>
              <a:t>виде единого </a:t>
            </a:r>
            <a:r>
              <a:rPr lang="ru-RU" dirty="0"/>
              <a:t>логического целого</a:t>
            </a:r>
            <a:r>
              <a:rPr lang="ru-RU" dirty="0" smtClean="0"/>
              <a:t>.</a:t>
            </a:r>
          </a:p>
          <a:p>
            <a:r>
              <a:rPr lang="ru-RU" dirty="0"/>
              <a:t>СУБД </a:t>
            </a:r>
            <a:r>
              <a:rPr lang="ru-RU" dirty="0" smtClean="0"/>
              <a:t>рассматривает </a:t>
            </a:r>
            <a:r>
              <a:rPr lang="ru-RU" dirty="0"/>
              <a:t>транзакцию как </a:t>
            </a:r>
            <a:r>
              <a:rPr lang="ru-RU" dirty="0" smtClean="0"/>
              <a:t>неделимую группу </a:t>
            </a:r>
            <a:r>
              <a:rPr lang="ru-RU" dirty="0"/>
              <a:t>и исполняет либо все ее </a:t>
            </a:r>
            <a:r>
              <a:rPr lang="ru-RU" dirty="0" smtClean="0"/>
              <a:t>команды, либо </a:t>
            </a:r>
            <a:r>
              <a:rPr lang="ru-RU" dirty="0"/>
              <a:t>ни одной.</a:t>
            </a:r>
          </a:p>
        </p:txBody>
      </p:sp>
      <p:sp>
        <p:nvSpPr>
          <p:cNvPr id="4" name="Номер слайда 3"/>
          <p:cNvSpPr>
            <a:spLocks noGrp="1"/>
          </p:cNvSpPr>
          <p:nvPr>
            <p:ph type="sldNum" sz="quarter" idx="12"/>
          </p:nvPr>
        </p:nvSpPr>
        <p:spPr/>
        <p:txBody>
          <a:bodyPr/>
          <a:lstStyle/>
          <a:p>
            <a:fld id="{590C5F67-5E4C-4ABB-99F4-36BCAC8BE885}" type="slidenum">
              <a:rPr lang="ru-RU" smtClean="0"/>
              <a:pPr/>
              <a:t>329</a:t>
            </a:fld>
            <a:endParaRPr lang="ru-RU"/>
          </a:p>
        </p:txBody>
      </p:sp>
    </p:spTree>
    <p:extLst>
      <p:ext uri="{BB962C8B-B14F-4D97-AF65-F5344CB8AC3E}">
        <p14:creationId xmlns:p14="http://schemas.microsoft.com/office/powerpoint/2010/main" xmlns="" val="3429915045"/>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Выполнение транзакций</a:t>
            </a:r>
          </a:p>
        </p:txBody>
      </p:sp>
      <p:sp>
        <p:nvSpPr>
          <p:cNvPr id="3" name="Объект 2"/>
          <p:cNvSpPr>
            <a:spLocks noGrp="1"/>
          </p:cNvSpPr>
          <p:nvPr>
            <p:ph idx="1"/>
          </p:nvPr>
        </p:nvSpPr>
        <p:spPr/>
        <p:txBody>
          <a:bodyPr/>
          <a:lstStyle/>
          <a:p>
            <a:r>
              <a:rPr lang="ru-RU" i="1" dirty="0"/>
              <a:t>выполнение </a:t>
            </a:r>
            <a:r>
              <a:rPr lang="ru-RU" dirty="0"/>
              <a:t>(</a:t>
            </a:r>
            <a:r>
              <a:rPr lang="en-US" dirty="0"/>
              <a:t>Commit). </a:t>
            </a:r>
            <a:r>
              <a:rPr lang="ru-RU" dirty="0"/>
              <a:t>Выполнение </a:t>
            </a:r>
            <a:r>
              <a:rPr lang="ru-RU" dirty="0" smtClean="0"/>
              <a:t>транзакции </a:t>
            </a:r>
            <a:r>
              <a:rPr lang="ru-RU" dirty="0"/>
              <a:t>реализует в базе данных все </a:t>
            </a:r>
            <a:r>
              <a:rPr lang="ru-RU" dirty="0" smtClean="0"/>
              <a:t>изменения</a:t>
            </a:r>
            <a:r>
              <a:rPr lang="ru-RU" dirty="0"/>
              <a:t>, произошедшие с начала </a:t>
            </a:r>
            <a:r>
              <a:rPr lang="ru-RU" dirty="0" smtClean="0"/>
              <a:t>исполнения </a:t>
            </a:r>
            <a:r>
              <a:rPr lang="ru-RU" dirty="0"/>
              <a:t>транзакции. После </a:t>
            </a:r>
            <a:r>
              <a:rPr lang="ru-RU" dirty="0" smtClean="0"/>
              <a:t>исполнения </a:t>
            </a:r>
            <a:r>
              <a:rPr lang="ru-RU" dirty="0"/>
              <a:t>операции все изменения </a:t>
            </a:r>
            <a:r>
              <a:rPr lang="ru-RU" dirty="0" smtClean="0"/>
              <a:t>будет видны </a:t>
            </a:r>
            <a:r>
              <a:rPr lang="ru-RU" dirty="0"/>
              <a:t>другим пользователям и </a:t>
            </a:r>
            <a:r>
              <a:rPr lang="ru-RU" dirty="0" smtClean="0"/>
              <a:t>останутся </a:t>
            </a:r>
            <a:r>
              <a:rPr lang="ru-RU" dirty="0"/>
              <a:t>в базе данных даже при сбое </a:t>
            </a:r>
            <a:r>
              <a:rPr lang="ru-RU" dirty="0" smtClean="0"/>
              <a:t>системы</a:t>
            </a:r>
            <a:r>
              <a:rPr lang="ru-RU" dirty="0"/>
              <a:t>;</a:t>
            </a:r>
          </a:p>
        </p:txBody>
      </p:sp>
      <p:sp>
        <p:nvSpPr>
          <p:cNvPr id="4" name="Номер слайда 3"/>
          <p:cNvSpPr>
            <a:spLocks noGrp="1"/>
          </p:cNvSpPr>
          <p:nvPr>
            <p:ph type="sldNum" sz="quarter" idx="12"/>
          </p:nvPr>
        </p:nvSpPr>
        <p:spPr/>
        <p:txBody>
          <a:bodyPr/>
          <a:lstStyle/>
          <a:p>
            <a:fld id="{590C5F67-5E4C-4ABB-99F4-36BCAC8BE885}" type="slidenum">
              <a:rPr lang="ru-RU" smtClean="0"/>
              <a:pPr/>
              <a:t>330</a:t>
            </a:fld>
            <a:endParaRPr lang="ru-RU"/>
          </a:p>
        </p:txBody>
      </p:sp>
    </p:spTree>
    <p:extLst>
      <p:ext uri="{BB962C8B-B14F-4D97-AF65-F5344CB8AC3E}">
        <p14:creationId xmlns:p14="http://schemas.microsoft.com/office/powerpoint/2010/main" xmlns="" val="2160702446"/>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82869"/>
            <a:ext cx="10515600" cy="5294094"/>
          </a:xfrm>
        </p:spPr>
        <p:txBody>
          <a:bodyPr>
            <a:normAutofit/>
          </a:bodyPr>
          <a:lstStyle/>
          <a:p>
            <a:r>
              <a:rPr lang="ru-RU" i="1" dirty="0"/>
              <a:t>откат </a:t>
            </a:r>
            <a:r>
              <a:rPr lang="ru-RU" dirty="0"/>
              <a:t>(</a:t>
            </a:r>
            <a:r>
              <a:rPr lang="ru-RU" dirty="0" err="1"/>
              <a:t>Roll</a:t>
            </a:r>
            <a:r>
              <a:rPr lang="ru-RU" dirty="0"/>
              <a:t> </a:t>
            </a:r>
            <a:r>
              <a:rPr lang="ru-RU" dirty="0" err="1"/>
              <a:t>back</a:t>
            </a:r>
            <a:r>
              <a:rPr lang="ru-RU" dirty="0"/>
              <a:t>). Откат </a:t>
            </a:r>
            <a:r>
              <a:rPr lang="ru-RU" dirty="0" smtClean="0"/>
              <a:t>транзакции отменяет </a:t>
            </a:r>
            <a:r>
              <a:rPr lang="ru-RU" dirty="0"/>
              <a:t>все изменения, которые </a:t>
            </a:r>
            <a:r>
              <a:rPr lang="ru-RU" dirty="0" smtClean="0"/>
              <a:t>возникли </a:t>
            </a:r>
            <a:r>
              <a:rPr lang="ru-RU" dirty="0"/>
              <a:t>в результате исполнения ее </a:t>
            </a:r>
            <a:r>
              <a:rPr lang="ru-RU" dirty="0" smtClean="0"/>
              <a:t>команд</a:t>
            </a:r>
            <a:r>
              <a:rPr lang="ru-RU" dirty="0"/>
              <a:t>. После отката транзакции </a:t>
            </a:r>
            <a:r>
              <a:rPr lang="ru-RU" dirty="0" smtClean="0"/>
              <a:t>данные сохранят </a:t>
            </a:r>
            <a:r>
              <a:rPr lang="ru-RU" dirty="0"/>
              <a:t>свой начальный вид, как </a:t>
            </a:r>
            <a:r>
              <a:rPr lang="ru-RU" dirty="0" smtClean="0"/>
              <a:t>будто </a:t>
            </a:r>
            <a:r>
              <a:rPr lang="ru-RU" dirty="0"/>
              <a:t>она никогда не была исполнена</a:t>
            </a:r>
            <a:r>
              <a:rPr lang="ru-RU" dirty="0" smtClean="0"/>
              <a:t>;</a:t>
            </a:r>
          </a:p>
          <a:p>
            <a:r>
              <a:rPr lang="ru-RU" i="1" dirty="0"/>
              <a:t>журнал транзакций</a:t>
            </a:r>
            <a:r>
              <a:rPr lang="ru-RU" dirty="0"/>
              <a:t>. Файл журнала </a:t>
            </a:r>
            <a:r>
              <a:rPr lang="ru-RU" dirty="0" smtClean="0"/>
              <a:t>транзакций  </a:t>
            </a:r>
            <a:r>
              <a:rPr lang="ru-RU" dirty="0"/>
              <a:t>– это </a:t>
            </a:r>
            <a:r>
              <a:rPr lang="ru-RU" dirty="0" smtClean="0"/>
              <a:t>запись </a:t>
            </a:r>
            <a:r>
              <a:rPr lang="ru-RU" dirty="0"/>
              <a:t>всех изменений, которые </a:t>
            </a:r>
            <a:r>
              <a:rPr lang="ru-RU" dirty="0" smtClean="0"/>
              <a:t>были внесены </a:t>
            </a:r>
            <a:r>
              <a:rPr lang="ru-RU" dirty="0"/>
              <a:t>в базу данных </a:t>
            </a:r>
            <a:r>
              <a:rPr lang="ru-RU" dirty="0" smtClean="0"/>
              <a:t>посредством транзакции</a:t>
            </a:r>
            <a:r>
              <a:rPr lang="ru-RU" dirty="0"/>
              <a:t>. В журнал транзакций </a:t>
            </a:r>
            <a:r>
              <a:rPr lang="ru-RU" dirty="0" smtClean="0"/>
              <a:t> записываются </a:t>
            </a:r>
            <a:r>
              <a:rPr lang="ru-RU" dirty="0"/>
              <a:t>начало каждой </a:t>
            </a:r>
            <a:r>
              <a:rPr lang="ru-RU" dirty="0" smtClean="0"/>
              <a:t>транзакции</a:t>
            </a:r>
            <a:r>
              <a:rPr lang="ru-RU" dirty="0"/>
              <a:t>, изменения, внесенные в </a:t>
            </a:r>
            <a:r>
              <a:rPr lang="ru-RU" dirty="0" smtClean="0"/>
              <a:t>данные, а </a:t>
            </a:r>
            <a:r>
              <a:rPr lang="ru-RU" dirty="0"/>
              <a:t>также информация, с помощью </a:t>
            </a:r>
            <a:r>
              <a:rPr lang="ru-RU" dirty="0" smtClean="0"/>
              <a:t>которой </a:t>
            </a:r>
            <a:r>
              <a:rPr lang="ru-RU" dirty="0"/>
              <a:t>можно отменить или повторить </a:t>
            </a:r>
            <a:r>
              <a:rPr lang="ru-RU" dirty="0" smtClean="0"/>
              <a:t>изменения.</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331</a:t>
            </a:fld>
            <a:endParaRPr lang="ru-RU"/>
          </a:p>
        </p:txBody>
      </p:sp>
    </p:spTree>
    <p:extLst>
      <p:ext uri="{BB962C8B-B14F-4D97-AF65-F5344CB8AC3E}">
        <p14:creationId xmlns:p14="http://schemas.microsoft.com/office/powerpoint/2010/main" xmlns="" val="2758672339"/>
      </p:ext>
    </p:extLst>
  </p:cSld>
  <p:clrMapOvr>
    <a:masterClrMapping/>
  </p:clrMapOvr>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365125"/>
            <a:ext cx="10515600" cy="5811838"/>
          </a:xfrm>
        </p:spPr>
        <p:txBody>
          <a:bodyPr>
            <a:normAutofit lnSpcReduction="10000"/>
          </a:bodyPr>
          <a:lstStyle/>
          <a:p>
            <a:r>
              <a:rPr lang="ru-RU" dirty="0"/>
              <a:t>При разработке и исполнении </a:t>
            </a:r>
            <a:r>
              <a:rPr lang="ru-RU" dirty="0" smtClean="0"/>
              <a:t>транзакций необходимо </a:t>
            </a:r>
            <a:r>
              <a:rPr lang="ru-RU" dirty="0"/>
              <a:t>учитывать следующие </a:t>
            </a:r>
            <a:r>
              <a:rPr lang="ru-RU" dirty="0" smtClean="0"/>
              <a:t>факторы:</a:t>
            </a:r>
          </a:p>
          <a:p>
            <a:r>
              <a:rPr lang="ru-RU" dirty="0"/>
              <a:t>обработка транзакций относится </a:t>
            </a:r>
            <a:r>
              <a:rPr lang="ru-RU" dirty="0" smtClean="0"/>
              <a:t>только </a:t>
            </a:r>
            <a:r>
              <a:rPr lang="ru-RU" dirty="0"/>
              <a:t>к командам INSERT, UPDATE и </a:t>
            </a:r>
            <a:r>
              <a:rPr lang="ru-RU" dirty="0" smtClean="0"/>
              <a:t>DELETE. </a:t>
            </a:r>
            <a:r>
              <a:rPr lang="ru-RU" dirty="0"/>
              <a:t>Вы не сможете </a:t>
            </a:r>
            <a:r>
              <a:rPr lang="ru-RU" dirty="0" smtClean="0"/>
              <a:t>отменить результат </a:t>
            </a:r>
            <a:r>
              <a:rPr lang="ru-RU" dirty="0"/>
              <a:t>выполнения команд </a:t>
            </a:r>
            <a:r>
              <a:rPr lang="en-US" dirty="0" smtClean="0"/>
              <a:t>SELECT,</a:t>
            </a:r>
            <a:r>
              <a:rPr lang="ru-RU" dirty="0" smtClean="0"/>
              <a:t> CREATE</a:t>
            </a:r>
            <a:r>
              <a:rPr lang="ru-RU" dirty="0"/>
              <a:t>, ALTER и DROP, если включите их </a:t>
            </a:r>
            <a:r>
              <a:rPr lang="ru-RU" dirty="0" smtClean="0"/>
              <a:t>в транзакцию;</a:t>
            </a:r>
          </a:p>
          <a:p>
            <a:r>
              <a:rPr lang="ru-RU" dirty="0"/>
              <a:t>выполненная транзакция </a:t>
            </a:r>
            <a:r>
              <a:rPr lang="ru-RU" dirty="0" smtClean="0"/>
              <a:t>становится постоянной</a:t>
            </a:r>
            <a:r>
              <a:rPr lang="ru-RU" dirty="0"/>
              <a:t>. Это значит, что все </a:t>
            </a:r>
            <a:r>
              <a:rPr lang="ru-RU" dirty="0" smtClean="0"/>
              <a:t>изменения </a:t>
            </a:r>
            <a:r>
              <a:rPr lang="ru-RU" dirty="0"/>
              <a:t>сохранятся даже в случае </a:t>
            </a:r>
            <a:r>
              <a:rPr lang="ru-RU" dirty="0" smtClean="0"/>
              <a:t>сбоя системы;</a:t>
            </a:r>
          </a:p>
          <a:p>
            <a:r>
              <a:rPr lang="ru-RU" dirty="0"/>
              <a:t>система восстановления данных </a:t>
            </a:r>
            <a:r>
              <a:rPr lang="ru-RU" dirty="0" smtClean="0"/>
              <a:t>СУБД зависит </a:t>
            </a:r>
            <a:r>
              <a:rPr lang="ru-RU" dirty="0"/>
              <a:t>от транзакции</a:t>
            </a:r>
            <a:r>
              <a:rPr lang="ru-RU" dirty="0" smtClean="0"/>
              <a:t>.</a:t>
            </a:r>
          </a:p>
          <a:p>
            <a:r>
              <a:rPr lang="ru-RU" dirty="0" smtClean="0"/>
              <a:t>После включения СУБД </a:t>
            </a:r>
            <a:r>
              <a:rPr lang="ru-RU" dirty="0"/>
              <a:t>после сбоя, она </a:t>
            </a:r>
            <a:r>
              <a:rPr lang="ru-RU" dirty="0" smtClean="0"/>
              <a:t>проверяет журнал </a:t>
            </a:r>
            <a:r>
              <a:rPr lang="ru-RU" dirty="0"/>
              <a:t>транзакций, чтобы </a:t>
            </a:r>
            <a:r>
              <a:rPr lang="ru-RU" dirty="0" smtClean="0"/>
              <a:t>выяснить, были </a:t>
            </a:r>
            <a:r>
              <a:rPr lang="ru-RU" dirty="0"/>
              <a:t>ли они выполнены. Если </a:t>
            </a:r>
            <a:r>
              <a:rPr lang="ru-RU" dirty="0" smtClean="0"/>
              <a:t>СУБД найдет </a:t>
            </a:r>
            <a:r>
              <a:rPr lang="ru-RU" dirty="0"/>
              <a:t>незавершенные транзакции, </a:t>
            </a:r>
            <a:r>
              <a:rPr lang="ru-RU" dirty="0" smtClean="0"/>
              <a:t>она отменит </a:t>
            </a:r>
            <a:r>
              <a:rPr lang="ru-RU" dirty="0"/>
              <a:t>их на основании журнала. </a:t>
            </a:r>
            <a:r>
              <a:rPr lang="ru-RU" dirty="0" smtClean="0"/>
              <a:t>(хотя </a:t>
            </a:r>
            <a:r>
              <a:rPr lang="ru-RU" dirty="0"/>
              <a:t>некоторые СУБД </a:t>
            </a:r>
            <a:r>
              <a:rPr lang="ru-RU" dirty="0" smtClean="0"/>
              <a:t>автоматически </a:t>
            </a:r>
            <a:r>
              <a:rPr lang="ru-RU" dirty="0"/>
              <a:t>повторяют </a:t>
            </a:r>
            <a:r>
              <a:rPr lang="ru-RU" dirty="0" smtClean="0"/>
              <a:t>незавершенные </a:t>
            </a:r>
            <a:r>
              <a:rPr lang="ru-RU" dirty="0"/>
              <a:t>транзакции);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332</a:t>
            </a:fld>
            <a:endParaRPr lang="ru-RU"/>
          </a:p>
        </p:txBody>
      </p:sp>
    </p:spTree>
    <p:extLst>
      <p:ext uri="{BB962C8B-B14F-4D97-AF65-F5344CB8AC3E}">
        <p14:creationId xmlns:p14="http://schemas.microsoft.com/office/powerpoint/2010/main" xmlns="" val="321369568"/>
      </p:ext>
    </p:extLst>
  </p:cSld>
  <p:clrMapOvr>
    <a:masterClrMapping/>
  </p:clrMapOvr>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690688"/>
            <a:ext cx="10515600" cy="4486275"/>
          </a:xfrm>
        </p:spPr>
        <p:txBody>
          <a:bodyPr/>
          <a:lstStyle/>
          <a:p>
            <a:r>
              <a:rPr lang="ru-RU" dirty="0"/>
              <a:t>Для исполнения транзакции ее </a:t>
            </a:r>
            <a:r>
              <a:rPr lang="ru-RU" dirty="0" smtClean="0"/>
              <a:t>границы (начальная </a:t>
            </a:r>
            <a:r>
              <a:rPr lang="ru-RU" dirty="0"/>
              <a:t>и конечная точки) </a:t>
            </a:r>
            <a:r>
              <a:rPr lang="ru-RU" dirty="0" smtClean="0"/>
              <a:t>должны быть </a:t>
            </a:r>
            <a:r>
              <a:rPr lang="ru-RU" dirty="0"/>
              <a:t>четко обозначены. Эти границы </a:t>
            </a:r>
            <a:r>
              <a:rPr lang="ru-RU" dirty="0" smtClean="0"/>
              <a:t>позволяют </a:t>
            </a:r>
            <a:r>
              <a:rPr lang="ru-RU" dirty="0"/>
              <a:t>СУБД исполнить все команды </a:t>
            </a:r>
            <a:r>
              <a:rPr lang="ru-RU" dirty="0" smtClean="0"/>
              <a:t>в виде </a:t>
            </a:r>
            <a:r>
              <a:rPr lang="ru-RU" dirty="0"/>
              <a:t>единой операции. В соответствии </a:t>
            </a:r>
            <a:r>
              <a:rPr lang="ru-RU" dirty="0" smtClean="0"/>
              <a:t>со стандартом </a:t>
            </a:r>
            <a:r>
              <a:rPr lang="ru-RU" dirty="0"/>
              <a:t>SQL транзакция всегда </a:t>
            </a:r>
            <a:r>
              <a:rPr lang="ru-RU" dirty="0" smtClean="0"/>
              <a:t>начинается </a:t>
            </a:r>
            <a:r>
              <a:rPr lang="ru-RU" dirty="0"/>
              <a:t>с первой команды SQL и </a:t>
            </a:r>
            <a:r>
              <a:rPr lang="ru-RU" dirty="0" smtClean="0"/>
              <a:t>заканчивается </a:t>
            </a:r>
            <a:r>
              <a:rPr lang="ru-RU" dirty="0"/>
              <a:t>командой COMMIT или ROLLBACK.</a:t>
            </a:r>
          </a:p>
        </p:txBody>
      </p:sp>
      <p:sp>
        <p:nvSpPr>
          <p:cNvPr id="4" name="Номер слайда 3"/>
          <p:cNvSpPr>
            <a:spLocks noGrp="1"/>
          </p:cNvSpPr>
          <p:nvPr>
            <p:ph type="sldNum" sz="quarter" idx="12"/>
          </p:nvPr>
        </p:nvSpPr>
        <p:spPr/>
        <p:txBody>
          <a:bodyPr/>
          <a:lstStyle/>
          <a:p>
            <a:fld id="{590C5F67-5E4C-4ABB-99F4-36BCAC8BE885}" type="slidenum">
              <a:rPr lang="ru-RU" smtClean="0"/>
              <a:pPr/>
              <a:t>333</a:t>
            </a:fld>
            <a:endParaRPr lang="ru-RU"/>
          </a:p>
        </p:txBody>
      </p:sp>
    </p:spTree>
    <p:extLst>
      <p:ext uri="{BB962C8B-B14F-4D97-AF65-F5344CB8AC3E}">
        <p14:creationId xmlns:p14="http://schemas.microsoft.com/office/powerpoint/2010/main" xmlns="" val="2502431175"/>
      </p:ext>
    </p:extLst>
  </p:cSld>
  <p:clrMapOvr>
    <a:masterClrMapping/>
  </p:clrMapOvr>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898634"/>
            <a:ext cx="10515600" cy="5278329"/>
          </a:xfrm>
        </p:spPr>
        <p:txBody>
          <a:bodyPr>
            <a:normAutofit/>
          </a:bodyPr>
          <a:lstStyle/>
          <a:p>
            <a:r>
              <a:rPr lang="ru-RU" dirty="0" smtClean="0"/>
              <a:t>В различных СУБД начало </a:t>
            </a:r>
            <a:r>
              <a:rPr lang="ru-RU" dirty="0" err="1" smtClean="0"/>
              <a:t>транзации</a:t>
            </a:r>
            <a:r>
              <a:rPr lang="ru-RU" dirty="0" smtClean="0"/>
              <a:t> обознается по разному.</a:t>
            </a:r>
          </a:p>
          <a:p>
            <a:r>
              <a:rPr lang="nn-NO" dirty="0"/>
              <a:t>В Microsoft Access или Microsoft SQL </a:t>
            </a:r>
            <a:r>
              <a:rPr lang="nn-NO" dirty="0" smtClean="0"/>
              <a:t>Server</a:t>
            </a:r>
            <a:r>
              <a:rPr lang="ru-RU" dirty="0" smtClean="0"/>
              <a:t> это </a:t>
            </a:r>
            <a:r>
              <a:rPr lang="en-US" dirty="0"/>
              <a:t>BEGIN TRANSACTION;</a:t>
            </a:r>
          </a:p>
          <a:p>
            <a:r>
              <a:rPr lang="ru-RU" dirty="0"/>
              <a:t>В</a:t>
            </a:r>
            <a:r>
              <a:rPr lang="ru-RU" dirty="0" smtClean="0"/>
              <a:t> </a:t>
            </a:r>
            <a:r>
              <a:rPr lang="en-US" dirty="0"/>
              <a:t>MySQL </a:t>
            </a:r>
            <a:r>
              <a:rPr lang="ru-RU" dirty="0"/>
              <a:t>или </a:t>
            </a:r>
            <a:r>
              <a:rPr lang="en-US" dirty="0" err="1"/>
              <a:t>PostgreSQL</a:t>
            </a:r>
            <a:r>
              <a:rPr lang="en-US" dirty="0"/>
              <a:t> </a:t>
            </a:r>
            <a:r>
              <a:rPr lang="ru-RU" dirty="0"/>
              <a:t>введите </a:t>
            </a:r>
            <a:r>
              <a:rPr lang="en-US" dirty="0"/>
              <a:t>BEGIN</a:t>
            </a:r>
            <a:r>
              <a:rPr lang="en-US" dirty="0" smtClean="0"/>
              <a:t>;.</a:t>
            </a:r>
            <a:endParaRPr lang="ru-RU" dirty="0" smtClean="0"/>
          </a:p>
          <a:p>
            <a:r>
              <a:rPr lang="ru-RU" dirty="0" smtClean="0"/>
              <a:t>Отмена транза</a:t>
            </a:r>
            <a:r>
              <a:rPr lang="ru-RU" dirty="0"/>
              <a:t>к</a:t>
            </a:r>
            <a:r>
              <a:rPr lang="ru-RU" dirty="0" smtClean="0"/>
              <a:t>ции обозначается </a:t>
            </a:r>
            <a:r>
              <a:rPr lang="en-US" dirty="0" smtClean="0"/>
              <a:t>ROLLBACK.</a:t>
            </a:r>
            <a:endParaRPr lang="ru-RU" dirty="0" smtClean="0"/>
          </a:p>
        </p:txBody>
      </p:sp>
      <p:sp>
        <p:nvSpPr>
          <p:cNvPr id="4" name="Номер слайда 3"/>
          <p:cNvSpPr>
            <a:spLocks noGrp="1"/>
          </p:cNvSpPr>
          <p:nvPr>
            <p:ph type="sldNum" sz="quarter" idx="12"/>
          </p:nvPr>
        </p:nvSpPr>
        <p:spPr/>
        <p:txBody>
          <a:bodyPr/>
          <a:lstStyle/>
          <a:p>
            <a:fld id="{590C5F67-5E4C-4ABB-99F4-36BCAC8BE885}" type="slidenum">
              <a:rPr lang="ru-RU" smtClean="0"/>
              <a:pPr/>
              <a:t>334</a:t>
            </a:fld>
            <a:endParaRPr lang="ru-RU"/>
          </a:p>
        </p:txBody>
      </p:sp>
    </p:spTree>
    <p:extLst>
      <p:ext uri="{BB962C8B-B14F-4D97-AF65-F5344CB8AC3E}">
        <p14:creationId xmlns:p14="http://schemas.microsoft.com/office/powerpoint/2010/main" xmlns="" val="2047454378"/>
      </p:ext>
    </p:extLst>
  </p:cSld>
  <p:clrMapOvr>
    <a:masterClrMapping/>
  </p:clrMapOvr>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Индексы</a:t>
            </a:r>
            <a:endParaRPr lang="ru-RU" dirty="0"/>
          </a:p>
        </p:txBody>
      </p:sp>
      <p:sp>
        <p:nvSpPr>
          <p:cNvPr id="3" name="Объект 2"/>
          <p:cNvSpPr>
            <a:spLocks noGrp="1"/>
          </p:cNvSpPr>
          <p:nvPr>
            <p:ph idx="1"/>
          </p:nvPr>
        </p:nvSpPr>
        <p:spPr>
          <a:xfrm>
            <a:off x="838200" y="1463040"/>
            <a:ext cx="10515600" cy="4713923"/>
          </a:xfrm>
        </p:spPr>
        <p:txBody>
          <a:bodyPr>
            <a:normAutofit lnSpcReduction="10000"/>
          </a:bodyPr>
          <a:lstStyle/>
          <a:p>
            <a:r>
              <a:rPr lang="ru-RU" b="1" dirty="0"/>
              <a:t>Индекс</a:t>
            </a:r>
            <a:r>
              <a:rPr lang="ru-RU" dirty="0"/>
              <a:t> (англ. </a:t>
            </a:r>
            <a:r>
              <a:rPr lang="ru-RU" i="1" dirty="0" err="1"/>
              <a:t>index</a:t>
            </a:r>
            <a:r>
              <a:rPr lang="ru-RU" dirty="0"/>
              <a:t>) — объект базы данных, создаваемый с целью повышения производительности поиска данных. Таблицы в базе данных могут иметь большое количество строк, которые хранятся в произвольном порядке, и их поиск по заданному критерию путем последовательного просмотра таблицы строка за строкой может занимать много времени. Индекс формируется из значений одного или нескольких столбцов таблицы и указателей на соответствующие строки таблицы и, таким образом, позволяет искать строки, удовлетворяющие критерию поиска. Ускорение работы с использованием индексов достигается в первую очередь за счёт того, что индекс имеет структуру, оптимизированную под поиск — например, сбалансированного дерева.</a:t>
            </a:r>
          </a:p>
        </p:txBody>
      </p:sp>
      <p:sp>
        <p:nvSpPr>
          <p:cNvPr id="4" name="Номер слайда 3"/>
          <p:cNvSpPr>
            <a:spLocks noGrp="1"/>
          </p:cNvSpPr>
          <p:nvPr>
            <p:ph type="sldNum" sz="quarter" idx="12"/>
          </p:nvPr>
        </p:nvSpPr>
        <p:spPr/>
        <p:txBody>
          <a:bodyPr/>
          <a:lstStyle/>
          <a:p>
            <a:fld id="{590C5F67-5E4C-4ABB-99F4-36BCAC8BE885}" type="slidenum">
              <a:rPr lang="ru-RU" smtClean="0"/>
              <a:pPr/>
              <a:t>335</a:t>
            </a:fld>
            <a:endParaRPr lang="ru-RU"/>
          </a:p>
        </p:txBody>
      </p:sp>
    </p:spTree>
    <p:extLst>
      <p:ext uri="{BB962C8B-B14F-4D97-AF65-F5344CB8AC3E}">
        <p14:creationId xmlns:p14="http://schemas.microsoft.com/office/powerpoint/2010/main" xmlns="" val="1753641657"/>
      </p:ext>
    </p:extLst>
  </p:cSld>
  <p:clrMapOvr>
    <a:masterClrMapping/>
  </p:clrMapOvr>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986589"/>
            <a:ext cx="10515600" cy="5190374"/>
          </a:xfrm>
        </p:spPr>
        <p:txBody>
          <a:bodyPr/>
          <a:lstStyle/>
          <a:p>
            <a:r>
              <a:rPr lang="ru-RU" dirty="0"/>
              <a:t>Индексы не следует использовать </a:t>
            </a:r>
            <a:r>
              <a:rPr lang="ru-RU" dirty="0" smtClean="0"/>
              <a:t>для столбцов</a:t>
            </a:r>
            <a:r>
              <a:rPr lang="ru-RU" dirty="0"/>
              <a:t>, которые</a:t>
            </a:r>
            <a:r>
              <a:rPr lang="ru-RU" dirty="0" smtClean="0"/>
              <a:t>:</a:t>
            </a:r>
          </a:p>
          <a:p>
            <a:r>
              <a:rPr lang="ru-RU" dirty="0"/>
              <a:t>содержат только небольшое число </a:t>
            </a:r>
            <a:r>
              <a:rPr lang="ru-RU" dirty="0" smtClean="0"/>
              <a:t>значений </a:t>
            </a:r>
            <a:r>
              <a:rPr lang="ru-RU" dirty="0"/>
              <a:t>(например</a:t>
            </a:r>
            <a:r>
              <a:rPr lang="ru-RU" dirty="0" smtClean="0"/>
              <a:t>, </a:t>
            </a:r>
            <a:r>
              <a:rPr lang="ru-RU" dirty="0"/>
              <a:t>(пол) </a:t>
            </a:r>
            <a:r>
              <a:rPr lang="ru-RU" dirty="0" smtClean="0"/>
              <a:t>или штат);</a:t>
            </a:r>
            <a:endParaRPr lang="ru-RU" dirty="0"/>
          </a:p>
          <a:p>
            <a:r>
              <a:rPr lang="ru-RU" dirty="0" smtClean="0"/>
              <a:t>редко </a:t>
            </a:r>
            <a:r>
              <a:rPr lang="ru-RU" dirty="0"/>
              <a:t>используются в запросах;</a:t>
            </a:r>
          </a:p>
          <a:p>
            <a:r>
              <a:rPr lang="ru-RU" dirty="0" smtClean="0"/>
              <a:t>входят </a:t>
            </a:r>
            <a:r>
              <a:rPr lang="ru-RU" dirty="0"/>
              <a:t>в маленькую таблицу с </a:t>
            </a:r>
            <a:r>
              <a:rPr lang="ru-RU" dirty="0" smtClean="0"/>
              <a:t>небольшим </a:t>
            </a:r>
            <a:r>
              <a:rPr lang="ru-RU" dirty="0"/>
              <a:t>числом строк</a:t>
            </a:r>
            <a:r>
              <a:rPr lang="ru-RU" dirty="0" smtClean="0"/>
              <a:t>.</a:t>
            </a:r>
          </a:p>
          <a:p>
            <a:r>
              <a:rPr lang="ru-RU" dirty="0"/>
              <a:t>С</a:t>
            </a:r>
            <a:r>
              <a:rPr lang="ru-RU" dirty="0" smtClean="0"/>
              <a:t>ледует </a:t>
            </a:r>
            <a:r>
              <a:rPr lang="ru-RU" dirty="0"/>
              <a:t>использовать для </a:t>
            </a:r>
            <a:r>
              <a:rPr lang="ru-RU" dirty="0" smtClean="0"/>
              <a:t>столбцов, которые:</a:t>
            </a:r>
          </a:p>
          <a:p>
            <a:r>
              <a:rPr lang="ru-RU" dirty="0"/>
              <a:t>часто используются для поиска;</a:t>
            </a:r>
          </a:p>
          <a:p>
            <a:r>
              <a:rPr lang="ru-RU" dirty="0" smtClean="0"/>
              <a:t>часто </a:t>
            </a:r>
            <a:r>
              <a:rPr lang="ru-RU" dirty="0"/>
              <a:t>используются для сортировки;</a:t>
            </a:r>
          </a:p>
          <a:p>
            <a:r>
              <a:rPr lang="ru-RU" dirty="0" smtClean="0"/>
              <a:t>регулярно </a:t>
            </a:r>
            <a:r>
              <a:rPr lang="ru-RU" dirty="0"/>
              <a:t>используются для </a:t>
            </a:r>
            <a:r>
              <a:rPr lang="ru-RU" dirty="0" smtClean="0"/>
              <a:t>объединений таблиц. </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336</a:t>
            </a:fld>
            <a:endParaRPr lang="ru-RU"/>
          </a:p>
        </p:txBody>
      </p:sp>
    </p:spTree>
    <p:extLst>
      <p:ext uri="{BB962C8B-B14F-4D97-AF65-F5344CB8AC3E}">
        <p14:creationId xmlns:p14="http://schemas.microsoft.com/office/powerpoint/2010/main" xmlns="" val="1996904683"/>
      </p:ext>
    </p:extLst>
  </p:cSld>
  <p:clrMapOvr>
    <a:masterClrMapping/>
  </p:clrMapOvr>
  <p:timing>
    <p:tnLst>
      <p:par>
        <p:cTn id="1" dur="indefinite" restart="never" nodeType="tmRoot"/>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Уникальные индексы	</a:t>
            </a:r>
            <a:endParaRPr lang="ru-RU" dirty="0"/>
          </a:p>
        </p:txBody>
      </p:sp>
      <p:sp>
        <p:nvSpPr>
          <p:cNvPr id="3" name="Объект 2"/>
          <p:cNvSpPr>
            <a:spLocks noGrp="1"/>
          </p:cNvSpPr>
          <p:nvPr>
            <p:ph idx="1"/>
          </p:nvPr>
        </p:nvSpPr>
        <p:spPr/>
        <p:txBody>
          <a:bodyPr/>
          <a:lstStyle/>
          <a:p>
            <a:r>
              <a:rPr lang="ru-RU" dirty="0" smtClean="0"/>
              <a:t>При проектировании БД важно определить, какие столбцы могут содержать дублирующие данные, а какие нет.</a:t>
            </a:r>
          </a:p>
          <a:p>
            <a:r>
              <a:rPr lang="ru-RU" dirty="0" smtClean="0"/>
              <a:t>Уникальный индекс служит механизмом запрета дублирования значений.</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337</a:t>
            </a:fld>
            <a:endParaRPr lang="ru-RU"/>
          </a:p>
        </p:txBody>
      </p:sp>
    </p:spTree>
    <p:extLst>
      <p:ext uri="{BB962C8B-B14F-4D97-AF65-F5344CB8AC3E}">
        <p14:creationId xmlns:p14="http://schemas.microsoft.com/office/powerpoint/2010/main" xmlns="" val="3238127717"/>
      </p:ext>
    </p:extLst>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Составные индексы</a:t>
            </a:r>
            <a:endParaRPr lang="ru-RU" dirty="0"/>
          </a:p>
        </p:txBody>
      </p:sp>
      <p:sp>
        <p:nvSpPr>
          <p:cNvPr id="3" name="Объект 2"/>
          <p:cNvSpPr>
            <a:spLocks noGrp="1"/>
          </p:cNvSpPr>
          <p:nvPr>
            <p:ph idx="1"/>
          </p:nvPr>
        </p:nvSpPr>
        <p:spPr/>
        <p:txBody>
          <a:bodyPr/>
          <a:lstStyle/>
          <a:p>
            <a:r>
              <a:rPr lang="ru-RU" dirty="0" smtClean="0"/>
              <a:t>Можно создавать индексы, охватывающие несколько столбцов.</a:t>
            </a:r>
          </a:p>
          <a:p>
            <a:r>
              <a:rPr lang="ru-RU" dirty="0" smtClean="0"/>
              <a:t>Порядок следовая столбцов важен в составном индексе.</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338</a:t>
            </a:fld>
            <a:endParaRPr lang="ru-RU"/>
          </a:p>
        </p:txBody>
      </p:sp>
    </p:spTree>
    <p:extLst>
      <p:ext uri="{BB962C8B-B14F-4D97-AF65-F5344CB8AC3E}">
        <p14:creationId xmlns:p14="http://schemas.microsoft.com/office/powerpoint/2010/main" xmlns="" val="2991447451"/>
      </p:ext>
    </p:extLst>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Типы индексов	</a:t>
            </a:r>
            <a:endParaRPr lang="ru-RU" dirty="0"/>
          </a:p>
        </p:txBody>
      </p:sp>
      <p:sp>
        <p:nvSpPr>
          <p:cNvPr id="3" name="Объект 2"/>
          <p:cNvSpPr>
            <a:spLocks noGrp="1"/>
          </p:cNvSpPr>
          <p:nvPr>
            <p:ph idx="1"/>
          </p:nvPr>
        </p:nvSpPr>
        <p:spPr/>
        <p:txBody>
          <a:bodyPr/>
          <a:lstStyle/>
          <a:p>
            <a:r>
              <a:rPr lang="ru-RU" dirty="0" smtClean="0"/>
              <a:t>Индексы на основе </a:t>
            </a:r>
            <a:r>
              <a:rPr lang="en-US" dirty="0" smtClean="0"/>
              <a:t>B-</a:t>
            </a:r>
            <a:r>
              <a:rPr lang="ru-RU" dirty="0" smtClean="0"/>
              <a:t>дерева.</a:t>
            </a:r>
          </a:p>
          <a:p>
            <a:r>
              <a:rPr lang="ru-RU" dirty="0" smtClean="0"/>
              <a:t>Битовые индексы</a:t>
            </a:r>
          </a:p>
          <a:p>
            <a:r>
              <a:rPr lang="ru-RU" dirty="0" smtClean="0"/>
              <a:t>Текстовые индексы</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339</a:t>
            </a:fld>
            <a:endParaRPr lang="ru-RU"/>
          </a:p>
        </p:txBody>
      </p:sp>
    </p:spTree>
    <p:extLst>
      <p:ext uri="{BB962C8B-B14F-4D97-AF65-F5344CB8AC3E}">
        <p14:creationId xmlns:p14="http://schemas.microsoft.com/office/powerpoint/2010/main" xmlns="" val="3577935544"/>
      </p:ext>
    </p:extLst>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Обратная сторона индексов</a:t>
            </a:r>
            <a:endParaRPr lang="ru-RU" dirty="0"/>
          </a:p>
        </p:txBody>
      </p:sp>
      <p:sp>
        <p:nvSpPr>
          <p:cNvPr id="3" name="Объект 2"/>
          <p:cNvSpPr>
            <a:spLocks noGrp="1"/>
          </p:cNvSpPr>
          <p:nvPr>
            <p:ph idx="1"/>
          </p:nvPr>
        </p:nvSpPr>
        <p:spPr/>
        <p:txBody>
          <a:bodyPr/>
          <a:lstStyle/>
          <a:p>
            <a:r>
              <a:rPr lang="ru-RU" dirty="0" smtClean="0"/>
              <a:t>Каждый индекс это отдельная таблица. Поэтому при добавлении, изменении или удалении строки все ее индексы должны быть модифицированы.</a:t>
            </a:r>
          </a:p>
          <a:p>
            <a:r>
              <a:rPr lang="ru-RU" dirty="0" smtClean="0"/>
              <a:t>Чем больше индексов, тем больше работы приходится выполнять серверу для обновления индексов.</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340</a:t>
            </a:fld>
            <a:endParaRPr lang="ru-RU"/>
          </a:p>
        </p:txBody>
      </p:sp>
    </p:spTree>
    <p:extLst>
      <p:ext uri="{BB962C8B-B14F-4D97-AF65-F5344CB8AC3E}">
        <p14:creationId xmlns:p14="http://schemas.microsoft.com/office/powerpoint/2010/main" xmlns="" val="3928544433"/>
      </p:ext>
    </p:extLst>
  </p:cSld>
  <p:clrMapOvr>
    <a:masterClrMapping/>
  </p:clrMapOvr>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Оптимизация </a:t>
            </a:r>
            <a:r>
              <a:rPr lang="en-US" dirty="0" smtClean="0"/>
              <a:t>SQL </a:t>
            </a:r>
            <a:r>
              <a:rPr lang="ru-RU" dirty="0" smtClean="0"/>
              <a:t>запросов</a:t>
            </a:r>
            <a:endParaRPr lang="ru-RU" dirty="0"/>
          </a:p>
        </p:txBody>
      </p:sp>
      <p:sp>
        <p:nvSpPr>
          <p:cNvPr id="3" name="Объект 2"/>
          <p:cNvSpPr>
            <a:spLocks noGrp="1"/>
          </p:cNvSpPr>
          <p:nvPr>
            <p:ph idx="1"/>
          </p:nvPr>
        </p:nvSpPr>
        <p:spPr/>
        <p:txBody>
          <a:bodyPr/>
          <a:lstStyle/>
          <a:p>
            <a:r>
              <a:rPr lang="ru-RU" dirty="0"/>
              <a:t>Основной закон при оптимизации запросов - закон преобразования</a:t>
            </a:r>
            <a:r>
              <a:rPr lang="ru-RU" dirty="0" smtClean="0"/>
              <a:t>.</a:t>
            </a:r>
          </a:p>
          <a:p>
            <a:r>
              <a:rPr lang="ru-RU" dirty="0" smtClean="0"/>
              <a:t>Пример</a:t>
            </a:r>
            <a:r>
              <a:rPr lang="en-US" dirty="0" smtClean="0"/>
              <a:t>:</a:t>
            </a:r>
          </a:p>
          <a:p>
            <a:r>
              <a:rPr lang="en-US" dirty="0"/>
              <a:t>WHERE column1 &lt; column2 AND column2 = column3 AND column1 = 5.</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341</a:t>
            </a:fld>
            <a:endParaRPr lang="ru-RU"/>
          </a:p>
        </p:txBody>
      </p:sp>
    </p:spTree>
    <p:extLst>
      <p:ext uri="{BB962C8B-B14F-4D97-AF65-F5344CB8AC3E}">
        <p14:creationId xmlns:p14="http://schemas.microsoft.com/office/powerpoint/2010/main" xmlns="" val="1613568887"/>
      </p:ext>
    </p:extLst>
  </p:cSld>
  <p:clrMapOvr>
    <a:masterClrMapping/>
  </p:clrMapOvr>
  <p:timing>
    <p:tnLst>
      <p:par>
        <p:cTn id="1" dur="indefinite" restart="never" nodeType="tmRoot"/>
      </p:par>
    </p:tn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t>Еще одна возможность оптимизировать запрос - придерживаться общей идеи </a:t>
            </a:r>
            <a:r>
              <a:rPr lang="ru-RU" dirty="0" smtClean="0"/>
              <a:t>составления </a:t>
            </a:r>
            <a:r>
              <a:rPr lang="ru-RU" dirty="0"/>
              <a:t>условий в </a:t>
            </a:r>
            <a:r>
              <a:rPr lang="ru-RU" dirty="0" smtClean="0"/>
              <a:t>SQL</a:t>
            </a:r>
            <a:r>
              <a:rPr lang="en-US" dirty="0" smtClean="0"/>
              <a:t>.</a:t>
            </a:r>
            <a:endParaRPr lang="ru-RU" dirty="0" smtClean="0"/>
          </a:p>
          <a:p>
            <a:r>
              <a:rPr lang="ru-RU" dirty="0" smtClean="0"/>
              <a:t>Условие </a:t>
            </a:r>
            <a:r>
              <a:rPr lang="ru-RU" dirty="0"/>
              <a:t>должно иметь вид: &lt;колонка&gt; &lt;операция&gt; &lt;выражение&gt;. Например, запрос "... WHERE column1 - 3 = -column2" лучше привести к виду: ... WHERE column1 = -column2 + 3.</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342</a:t>
            </a:fld>
            <a:endParaRPr lang="ru-RU"/>
          </a:p>
        </p:txBody>
      </p:sp>
    </p:spTree>
    <p:extLst>
      <p:ext uri="{BB962C8B-B14F-4D97-AF65-F5344CB8AC3E}">
        <p14:creationId xmlns:p14="http://schemas.microsoft.com/office/powerpoint/2010/main" xmlns="" val="1591972955"/>
      </p:ext>
    </p:extLst>
  </p:cSld>
  <p:clrMapOvr>
    <a:masterClrMapping/>
  </p:clrMapOvr>
  <p:timing>
    <p:tnLst>
      <p:par>
        <p:cTn id="1" dur="indefinite" restart="never" nodeType="tmRoot"/>
      </p:par>
    </p:tn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Оптимизация условий</a:t>
            </a:r>
            <a:r>
              <a:rPr lang="ru-RU" dirty="0"/>
              <a:t/>
            </a:r>
            <a:br>
              <a:rPr lang="ru-RU" dirty="0"/>
            </a:br>
            <a:endParaRPr lang="ru-RU" dirty="0"/>
          </a:p>
        </p:txBody>
      </p:sp>
      <p:sp>
        <p:nvSpPr>
          <p:cNvPr id="3" name="Объект 2"/>
          <p:cNvSpPr>
            <a:spLocks noGrp="1"/>
          </p:cNvSpPr>
          <p:nvPr>
            <p:ph idx="1"/>
          </p:nvPr>
        </p:nvSpPr>
        <p:spPr/>
        <p:txBody>
          <a:bodyPr/>
          <a:lstStyle/>
          <a:p>
            <a:r>
              <a:rPr lang="en-US" dirty="0"/>
              <a:t>AND</a:t>
            </a:r>
          </a:p>
          <a:p>
            <a:r>
              <a:rPr lang="ru-RU" dirty="0" smtClean="0"/>
              <a:t>В серии </a:t>
            </a:r>
            <a:r>
              <a:rPr lang="ru-RU" dirty="0"/>
              <a:t>из нескольких операторов </a:t>
            </a:r>
            <a:r>
              <a:rPr lang="ru-RU" b="1" dirty="0"/>
              <a:t>AND</a:t>
            </a:r>
            <a:r>
              <a:rPr lang="ru-RU" dirty="0"/>
              <a:t> условия должны располагаться в порядке возрастания вероятности истинности данного условия. Это делается для того, чтобы при проверке условий БД не проверяла остальную часть условия. Эти рекомендации не относится к БД </a:t>
            </a:r>
            <a:r>
              <a:rPr lang="ru-RU" dirty="0" err="1"/>
              <a:t>Oracle</a:t>
            </a:r>
            <a:r>
              <a:rPr lang="ru-RU" dirty="0"/>
              <a:t>, где условия начинают проверяться с конца. Соответственно, их порядок должен быть обратным – по убыванию вероятности истинности.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343</a:t>
            </a:fld>
            <a:endParaRPr lang="ru-RU"/>
          </a:p>
        </p:txBody>
      </p:sp>
    </p:spTree>
    <p:extLst>
      <p:ext uri="{BB962C8B-B14F-4D97-AF65-F5344CB8AC3E}">
        <p14:creationId xmlns:p14="http://schemas.microsoft.com/office/powerpoint/2010/main" xmlns="" val="4197719706"/>
      </p:ext>
    </p:extLst>
  </p:cSld>
  <p:clrMapOvr>
    <a:masterClrMapping/>
  </p:clrMapOvr>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en-US" dirty="0"/>
              <a:t>OR</a:t>
            </a:r>
          </a:p>
          <a:p>
            <a:r>
              <a:rPr lang="ru-RU" dirty="0"/>
              <a:t>Условия должны располагаться в порядке убывания вероятности истинности. </a:t>
            </a:r>
            <a:r>
              <a:rPr lang="ru-RU" dirty="0" smtClean="0"/>
              <a:t>Это не </a:t>
            </a:r>
            <a:r>
              <a:rPr lang="ru-RU" dirty="0"/>
              <a:t>относится к БД </a:t>
            </a:r>
            <a:r>
              <a:rPr lang="ru-RU" dirty="0" err="1"/>
              <a:t>Oracle</a:t>
            </a:r>
            <a:r>
              <a:rPr lang="ru-RU" dirty="0"/>
              <a:t>, где условия должны располагаться по возрастанию вероятности истинности.</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344</a:t>
            </a:fld>
            <a:endParaRPr lang="ru-RU"/>
          </a:p>
        </p:txBody>
      </p:sp>
    </p:spTree>
    <p:extLst>
      <p:ext uri="{BB962C8B-B14F-4D97-AF65-F5344CB8AC3E}">
        <p14:creationId xmlns:p14="http://schemas.microsoft.com/office/powerpoint/2010/main" xmlns="" val="1375938642"/>
      </p:ext>
    </p:extLst>
  </p:cSld>
  <p:clrMapOvr>
    <a:masterClrMapping/>
  </p:clrMapOvr>
  <p:timing>
    <p:tnLst>
      <p:par>
        <p:cTn id="1" dur="indefinite" restart="never" nodeType="tmRoot"/>
      </p:par>
    </p:tn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en-US" dirty="0"/>
              <a:t>AND + OR</a:t>
            </a:r>
          </a:p>
          <a:p>
            <a:r>
              <a:rPr lang="en-US" dirty="0"/>
              <a:t>A AND (B OR C) - </a:t>
            </a:r>
            <a:r>
              <a:rPr lang="ru-RU" dirty="0"/>
              <a:t>то же самое, что и (</a:t>
            </a:r>
            <a:r>
              <a:rPr lang="en-US" dirty="0"/>
              <a:t>A AND B) OR (A AND C). </a:t>
            </a:r>
            <a:endParaRPr lang="ru-RU" dirty="0" smtClean="0"/>
          </a:p>
          <a:p>
            <a:r>
              <a:rPr lang="ru-RU" dirty="0"/>
              <a:t>З</a:t>
            </a:r>
            <a:r>
              <a:rPr lang="ru-RU" dirty="0" smtClean="0"/>
              <a:t>апрос </a:t>
            </a:r>
            <a:r>
              <a:rPr lang="ru-RU" dirty="0"/>
              <a:t>вида "...</a:t>
            </a:r>
            <a:r>
              <a:rPr lang="en-US" dirty="0"/>
              <a:t>WHERE column1 = 1 AND (column2 = 'A' OR column2 = 'B')" </a:t>
            </a:r>
            <a:r>
              <a:rPr lang="ru-RU" dirty="0"/>
              <a:t>выполняется несколько быстрее, чем "...</a:t>
            </a:r>
            <a:r>
              <a:rPr lang="en-US" dirty="0"/>
              <a:t>WHERE (column1 = 1 AND column2 = 'A') OR (column1 = 1 AND column2 = 'B')". </a:t>
            </a:r>
            <a:r>
              <a:rPr lang="ru-RU" dirty="0"/>
              <a:t>Некоторые БД сами умеют оптимизировать запросы такого </a:t>
            </a:r>
            <a:r>
              <a:rPr lang="ru-RU" dirty="0" smtClean="0"/>
              <a:t>типа.</a:t>
            </a:r>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345</a:t>
            </a:fld>
            <a:endParaRPr lang="ru-RU"/>
          </a:p>
        </p:txBody>
      </p:sp>
    </p:spTree>
    <p:extLst>
      <p:ext uri="{BB962C8B-B14F-4D97-AF65-F5344CB8AC3E}">
        <p14:creationId xmlns:p14="http://schemas.microsoft.com/office/powerpoint/2010/main" xmlns="" val="2021267099"/>
      </p:ext>
    </p:extLst>
  </p:cSld>
  <p:clrMapOvr>
    <a:masterClrMapping/>
  </p:clrMapOvr>
  <p:timing>
    <p:tnLst>
      <p:par>
        <p:cTn id="1" dur="indefinite" restart="never" nodeType="tmRoot"/>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112363"/>
            <a:ext cx="10515600" cy="5064600"/>
          </a:xfrm>
        </p:spPr>
        <p:txBody>
          <a:bodyPr>
            <a:normAutofit/>
          </a:bodyPr>
          <a:lstStyle/>
          <a:p>
            <a:r>
              <a:rPr lang="en-US" dirty="0"/>
              <a:t>NOT</a:t>
            </a:r>
          </a:p>
          <a:p>
            <a:r>
              <a:rPr lang="ru-RU" dirty="0"/>
              <a:t>Эту операцию всегда следует приводить к более "читабельному" </a:t>
            </a:r>
            <a:r>
              <a:rPr lang="ru-RU" dirty="0" smtClean="0"/>
              <a:t>виду. </a:t>
            </a:r>
          </a:p>
          <a:p>
            <a:r>
              <a:rPr lang="ru-RU" dirty="0" smtClean="0"/>
              <a:t>Так</a:t>
            </a:r>
            <a:r>
              <a:rPr lang="ru-RU" dirty="0"/>
              <a:t>, запрос "...WHERE NOT (column1 &gt; 5)" преобразуется в "...WHERE column1 &lt;= 5". Более сложные условия можно преобразовать используя правило де </a:t>
            </a:r>
            <a:r>
              <a:rPr lang="ru-RU" dirty="0" smtClean="0"/>
              <a:t>Моргана. </a:t>
            </a:r>
            <a:r>
              <a:rPr lang="ru-RU" dirty="0"/>
              <a:t>Согласно этому правилу NOT(A AND B) = (NOT A) OR (NOT B) и NOT(A OR B) = (NOT A) AND (NOT B). Например, условие "...WHERE NOT (column1 &gt; 5 OR column2 = 7)" преобразуется в более простую форму: ...WHERE column1 &lt;= 5 AND column2 &lt;&gt; 7.</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346</a:t>
            </a:fld>
            <a:endParaRPr lang="ru-RU"/>
          </a:p>
        </p:txBody>
      </p:sp>
    </p:spTree>
    <p:extLst>
      <p:ext uri="{BB962C8B-B14F-4D97-AF65-F5344CB8AC3E}">
        <p14:creationId xmlns:p14="http://schemas.microsoft.com/office/powerpoint/2010/main" xmlns="" val="1789226020"/>
      </p:ext>
    </p:extLst>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normAutofit lnSpcReduction="10000"/>
          </a:bodyPr>
          <a:lstStyle/>
          <a:p>
            <a:r>
              <a:rPr lang="en-US" dirty="0"/>
              <a:t>IN</a:t>
            </a:r>
          </a:p>
          <a:p>
            <a:r>
              <a:rPr lang="ru-RU" dirty="0" smtClean="0"/>
              <a:t>Многие полагают, что запрос "... </a:t>
            </a:r>
            <a:r>
              <a:rPr lang="ru-RU" dirty="0"/>
              <a:t>WHERE column1 = 5 OR column1 = 6" равносилен запросу "...WHERE column1 IN (5, 6)". На самом деле это не так. Операция IN работает гораздо быстрее, чем серия OR. Поэтому всегда следует заменять OR на IN, где это возможно, несмотря на то, что некоторые БД сами производят эту оптимизацию. Там, где используется серия последовательных чисел, IN следует поменять на BETWEEN. Например, "...WHERE column1 IN (1, 3, 4, 5)" оптимизируется к виду: …WHERE column1 BETWEEN 1 AND 5 AND column1 &lt;&gt; 2. И этот запрос действительно быстрее.</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347</a:t>
            </a:fld>
            <a:endParaRPr lang="ru-RU"/>
          </a:p>
        </p:txBody>
      </p:sp>
    </p:spTree>
    <p:extLst>
      <p:ext uri="{BB962C8B-B14F-4D97-AF65-F5344CB8AC3E}">
        <p14:creationId xmlns:p14="http://schemas.microsoft.com/office/powerpoint/2010/main" xmlns="" val="2645267653"/>
      </p:ext>
    </p:extLst>
  </p:cSld>
  <p:clrMapOvr>
    <a:masterClrMapping/>
  </p:clrMapOvr>
  <p:timing>
    <p:tnLst>
      <p:par>
        <p:cTn id="1" dur="indefinite" restart="never" nodeType="tmRoot"/>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smtClean="0"/>
              <a:t> </a:t>
            </a:r>
            <a:r>
              <a:rPr lang="en-US" dirty="0"/>
              <a:t>LIKE</a:t>
            </a:r>
          </a:p>
          <a:p>
            <a:r>
              <a:rPr lang="ru-RU" dirty="0"/>
              <a:t>Эту операцию следует использовать только при крайней необходимости, потому что лучше и быстрее использовать поиск, основанный на </a:t>
            </a:r>
            <a:r>
              <a:rPr lang="ru-RU" dirty="0" err="1"/>
              <a:t>full-text</a:t>
            </a:r>
            <a:r>
              <a:rPr lang="ru-RU" dirty="0"/>
              <a:t> индексах. </a:t>
            </a:r>
          </a:p>
        </p:txBody>
      </p:sp>
      <p:sp>
        <p:nvSpPr>
          <p:cNvPr id="4" name="Номер слайда 3"/>
          <p:cNvSpPr>
            <a:spLocks noGrp="1"/>
          </p:cNvSpPr>
          <p:nvPr>
            <p:ph type="sldNum" sz="quarter" idx="12"/>
          </p:nvPr>
        </p:nvSpPr>
        <p:spPr/>
        <p:txBody>
          <a:bodyPr/>
          <a:lstStyle/>
          <a:p>
            <a:fld id="{590C5F67-5E4C-4ABB-99F4-36BCAC8BE885}" type="slidenum">
              <a:rPr lang="ru-RU" smtClean="0"/>
              <a:pPr/>
              <a:t>348</a:t>
            </a:fld>
            <a:endParaRPr lang="ru-RU"/>
          </a:p>
        </p:txBody>
      </p:sp>
    </p:spTree>
    <p:extLst>
      <p:ext uri="{BB962C8B-B14F-4D97-AF65-F5344CB8AC3E}">
        <p14:creationId xmlns:p14="http://schemas.microsoft.com/office/powerpoint/2010/main" xmlns="" val="2190571985"/>
      </p:ext>
    </p:extLst>
  </p:cSld>
  <p:clrMapOvr>
    <a:masterClrMapping/>
  </p:clrMapOvr>
  <p:timing>
    <p:tnLst>
      <p:par>
        <p:cTn id="1" dur="indefinite" restart="never" nodeType="tmRoot"/>
      </p:par>
    </p:tn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Оптимизация сортировки</a:t>
            </a:r>
            <a:endParaRPr lang="ru-RU" dirty="0"/>
          </a:p>
        </p:txBody>
      </p:sp>
      <p:sp>
        <p:nvSpPr>
          <p:cNvPr id="3" name="Объект 2"/>
          <p:cNvSpPr>
            <a:spLocks noGrp="1"/>
          </p:cNvSpPr>
          <p:nvPr>
            <p:ph idx="1"/>
          </p:nvPr>
        </p:nvSpPr>
        <p:spPr/>
        <p:txBody>
          <a:bodyPr>
            <a:normAutofit fontScale="92500" lnSpcReduction="20000"/>
          </a:bodyPr>
          <a:lstStyle/>
          <a:p>
            <a:r>
              <a:rPr lang="ru-RU" b="1" dirty="0"/>
              <a:t>ORDER BY</a:t>
            </a:r>
            <a:r>
              <a:rPr lang="ru-RU" dirty="0"/>
              <a:t> используется для сортировки, которая, как известно, занимает время. </a:t>
            </a:r>
            <a:endParaRPr lang="ru-RU" dirty="0" smtClean="0"/>
          </a:p>
          <a:p>
            <a:r>
              <a:rPr lang="ru-RU" dirty="0" smtClean="0"/>
              <a:t>На </a:t>
            </a:r>
            <a:r>
              <a:rPr lang="ru-RU" dirty="0"/>
              <a:t>скорость сортировки в запросах влияет три фактора:</a:t>
            </a:r>
          </a:p>
          <a:p>
            <a:r>
              <a:rPr lang="ru-RU" dirty="0"/>
              <a:t>количество выбранных записей;</a:t>
            </a:r>
          </a:p>
          <a:p>
            <a:r>
              <a:rPr lang="ru-RU" dirty="0"/>
              <a:t>количество колонок после оператора ORDER BY;</a:t>
            </a:r>
          </a:p>
          <a:p>
            <a:r>
              <a:rPr lang="ru-RU" dirty="0"/>
              <a:t>длина и тип колонок, указанных после оператора ORDER BY.</a:t>
            </a:r>
          </a:p>
          <a:p>
            <a:r>
              <a:rPr lang="ru-RU" dirty="0"/>
              <a:t>Самой ресурсоемкой сортировкой является сортировка строк. Несмотря на то, что текстовые поля имеют фиксированную длину, длина содержимого этих полей может быть различной (в пределах размера поля). С</a:t>
            </a:r>
            <a:r>
              <a:rPr lang="ru-RU" dirty="0" smtClean="0"/>
              <a:t>ортировка </a:t>
            </a:r>
            <a:r>
              <a:rPr lang="ru-RU" dirty="0"/>
              <a:t>колонки VARCHAR(100) будет медленней, чем сортировка колонки VARCHAR(10) (даже если данные будут одинаковые). </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349</a:t>
            </a:fld>
            <a:endParaRPr lang="ru-RU"/>
          </a:p>
        </p:txBody>
      </p:sp>
    </p:spTree>
    <p:extLst>
      <p:ext uri="{BB962C8B-B14F-4D97-AF65-F5344CB8AC3E}">
        <p14:creationId xmlns:p14="http://schemas.microsoft.com/office/powerpoint/2010/main" xmlns="" val="4011675633"/>
      </p:ext>
    </p:extLst>
  </p:cSld>
  <p:clrMapOvr>
    <a:masterClrMapping/>
  </p:clrMapOvr>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Оптимизация </a:t>
            </a:r>
            <a:r>
              <a:rPr lang="en-US" b="1" dirty="0"/>
              <a:t>GROUP BY</a:t>
            </a:r>
            <a:endParaRPr lang="ru-RU" dirty="0"/>
          </a:p>
        </p:txBody>
      </p:sp>
      <p:sp>
        <p:nvSpPr>
          <p:cNvPr id="3" name="Объект 2"/>
          <p:cNvSpPr>
            <a:spLocks noGrp="1"/>
          </p:cNvSpPr>
          <p:nvPr>
            <p:ph idx="1"/>
          </p:nvPr>
        </p:nvSpPr>
        <p:spPr>
          <a:xfrm>
            <a:off x="838200" y="1536569"/>
            <a:ext cx="10515600" cy="4640394"/>
          </a:xfrm>
        </p:spPr>
        <p:txBody>
          <a:bodyPr>
            <a:normAutofit fontScale="70000" lnSpcReduction="20000"/>
          </a:bodyPr>
          <a:lstStyle/>
          <a:p>
            <a:r>
              <a:rPr lang="ru-RU" dirty="0"/>
              <a:t>В большинстве БД операции WHERE и HAVING не равноценны и выполняются не одинаково. Это значит, что следующие два запроса логически одинаковы, но выполняются с разной </a:t>
            </a:r>
            <a:r>
              <a:rPr lang="ru-RU" dirty="0" smtClean="0"/>
              <a:t>скоростью:</a:t>
            </a:r>
          </a:p>
          <a:p>
            <a:r>
              <a:rPr lang="ru-RU" dirty="0" smtClean="0"/>
              <a:t>SELECT </a:t>
            </a:r>
            <a:r>
              <a:rPr lang="ru-RU" dirty="0"/>
              <a:t>column1 FROM Table1 WHERE column2 = 5 GROUP BY column1 HAVING column1 &gt; </a:t>
            </a:r>
            <a:r>
              <a:rPr lang="ru-RU" dirty="0" smtClean="0"/>
              <a:t>6</a:t>
            </a:r>
          </a:p>
          <a:p>
            <a:r>
              <a:rPr lang="ru-RU" dirty="0" smtClean="0"/>
              <a:t>SELECT </a:t>
            </a:r>
            <a:r>
              <a:rPr lang="ru-RU" dirty="0"/>
              <a:t>column1 FROM Table1 WHERE column2 = 5 AND column1 &gt; 6 GROUP BY </a:t>
            </a:r>
            <a:r>
              <a:rPr lang="ru-RU" dirty="0" smtClean="0"/>
              <a:t>column1</a:t>
            </a:r>
          </a:p>
          <a:p>
            <a:r>
              <a:rPr lang="ru-RU" dirty="0" smtClean="0"/>
              <a:t>Второй </a:t>
            </a:r>
            <a:r>
              <a:rPr lang="ru-RU" dirty="0"/>
              <a:t>запрос работает быстрее, чем первый. HAVING следует использовать в тех редких случаях, когда условие (в примере column1 &gt; 6) сложно выразить без ущерба </a:t>
            </a:r>
            <a:r>
              <a:rPr lang="ru-RU" dirty="0" smtClean="0"/>
              <a:t>производительности.</a:t>
            </a:r>
          </a:p>
          <a:p>
            <a:r>
              <a:rPr lang="ru-RU" dirty="0" smtClean="0"/>
              <a:t>Если </a:t>
            </a:r>
            <a:r>
              <a:rPr lang="ru-RU" dirty="0"/>
              <a:t>требуется группирование, но без использования агрегатных функций (COUNT(), MIN(), MAX и т.д.), разумно использовать DISTINCT. Так, вместо SELECT column1 FROM Table1 GROUP BY column1 лучше использовать SELECT DISTINCT column1 FROM </a:t>
            </a:r>
            <a:r>
              <a:rPr lang="ru-RU" dirty="0" smtClean="0"/>
              <a:t>Table1.</a:t>
            </a:r>
          </a:p>
          <a:p>
            <a:r>
              <a:rPr lang="ru-RU" dirty="0" smtClean="0"/>
              <a:t>При </a:t>
            </a:r>
            <a:r>
              <a:rPr lang="ru-RU" dirty="0"/>
              <a:t>использовании MIN() и MAX() учитываем, что эти функции лучше работают по отдельности. Это значит, что их лучше использовать в раздельных запросах или в запросах с использованием </a:t>
            </a:r>
            <a:r>
              <a:rPr lang="ru-RU" dirty="0" smtClean="0"/>
              <a:t>UNION.</a:t>
            </a:r>
          </a:p>
          <a:p>
            <a:r>
              <a:rPr lang="ru-RU" dirty="0" smtClean="0"/>
              <a:t>При </a:t>
            </a:r>
            <a:r>
              <a:rPr lang="ru-RU" dirty="0"/>
              <a:t>использовании функции SUM() большей производительности можно добиться используя SUM(x + y), а не SUM(x) + SUM(y). Для вычитания лучше противоположное: SUM(x) – SUM(y) быстрее, чем SUM(x – y).</a:t>
            </a:r>
          </a:p>
          <a:p>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350</a:t>
            </a:fld>
            <a:endParaRPr lang="ru-RU"/>
          </a:p>
        </p:txBody>
      </p:sp>
    </p:spTree>
    <p:extLst>
      <p:ext uri="{BB962C8B-B14F-4D97-AF65-F5344CB8AC3E}">
        <p14:creationId xmlns:p14="http://schemas.microsoft.com/office/powerpoint/2010/main" xmlns="" val="59721039"/>
      </p:ext>
    </p:extLst>
  </p:cSld>
  <p:clrMapOvr>
    <a:masterClrMapping/>
  </p:clrMapOvr>
  <p:timing>
    <p:tnLst>
      <p:par>
        <p:cTn id="1" dur="indefinite" restart="never" nodeType="tmRoot"/>
      </p:par>
    </p:tn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a:xfrm>
            <a:off x="838200" y="696191"/>
            <a:ext cx="10515600" cy="5480772"/>
          </a:xfrm>
        </p:spPr>
        <p:txBody>
          <a:bodyPr/>
          <a:lstStyle/>
          <a:p>
            <a:endParaRPr lang="en-US" dirty="0" smtClean="0"/>
          </a:p>
          <a:p>
            <a:endParaRPr lang="en-US" dirty="0"/>
          </a:p>
          <a:p>
            <a:endParaRPr lang="en-US" dirty="0" smtClean="0"/>
          </a:p>
          <a:p>
            <a:r>
              <a:rPr lang="en-US" sz="5400" dirty="0" smtClean="0"/>
              <a:t>          </a:t>
            </a:r>
            <a:r>
              <a:rPr lang="ru-RU" sz="5400" dirty="0" smtClean="0"/>
              <a:t>Вредные </a:t>
            </a:r>
            <a:r>
              <a:rPr lang="ru-RU" sz="5400" dirty="0"/>
              <a:t>советы </a:t>
            </a:r>
            <a:r>
              <a:rPr lang="en-US" sz="5400" dirty="0"/>
              <a:t>SQL</a:t>
            </a:r>
            <a:endParaRPr lang="ru-RU" sz="5400"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351</a:t>
            </a:fld>
            <a:endParaRPr lang="ru-RU"/>
          </a:p>
        </p:txBody>
      </p:sp>
    </p:spTree>
    <p:extLst>
      <p:ext uri="{BB962C8B-B14F-4D97-AF65-F5344CB8AC3E}">
        <p14:creationId xmlns:p14="http://schemas.microsoft.com/office/powerpoint/2010/main" xmlns="" val="2375418504"/>
      </p:ext>
    </p:extLst>
  </p:cSld>
  <p:clrMapOvr>
    <a:masterClrMapping/>
  </p:clrMapOvr>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№1</a:t>
            </a:r>
            <a:endParaRPr lang="ru-RU" dirty="0"/>
          </a:p>
        </p:txBody>
      </p:sp>
      <p:sp>
        <p:nvSpPr>
          <p:cNvPr id="3" name="Объект 2"/>
          <p:cNvSpPr>
            <a:spLocks noGrp="1"/>
          </p:cNvSpPr>
          <p:nvPr>
            <p:ph idx="1"/>
          </p:nvPr>
        </p:nvSpPr>
        <p:spPr/>
        <p:txBody>
          <a:bodyPr/>
          <a:lstStyle/>
          <a:p>
            <a:r>
              <a:rPr lang="ru-RU" dirty="0"/>
              <a:t>Используйте конструкцию </a:t>
            </a:r>
            <a:r>
              <a:rPr lang="en-US" dirty="0"/>
              <a:t>SELECT * from table</a:t>
            </a:r>
            <a:endParaRPr lang="ru-RU" dirty="0"/>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352</a:t>
            </a:fld>
            <a:endParaRPr lang="ru-RU"/>
          </a:p>
        </p:txBody>
      </p:sp>
    </p:spTree>
    <p:extLst>
      <p:ext uri="{BB962C8B-B14F-4D97-AF65-F5344CB8AC3E}">
        <p14:creationId xmlns:p14="http://schemas.microsoft.com/office/powerpoint/2010/main" xmlns="" val="3746041312"/>
      </p:ext>
    </p:extLst>
  </p:cSld>
  <p:clrMapOvr>
    <a:masterClrMapping/>
  </p:clrMapOvr>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a:xfrm>
            <a:off x="838200" y="1392382"/>
            <a:ext cx="10515600" cy="4784581"/>
          </a:xfrm>
        </p:spPr>
        <p:txBody>
          <a:bodyPr/>
          <a:lstStyle/>
          <a:p>
            <a:r>
              <a:rPr lang="ru-RU" dirty="0">
                <a:solidFill>
                  <a:srgbClr val="00B050"/>
                </a:solidFill>
              </a:rPr>
              <a:t>Нет необходимости вспоминать структуру таблицы</a:t>
            </a:r>
          </a:p>
          <a:p>
            <a:r>
              <a:rPr lang="ru-RU" dirty="0">
                <a:solidFill>
                  <a:srgbClr val="00B050"/>
                </a:solidFill>
              </a:rPr>
              <a:t>Можно печатать гораздо меньше </a:t>
            </a:r>
            <a:r>
              <a:rPr lang="ru-RU" dirty="0" smtClean="0">
                <a:solidFill>
                  <a:srgbClr val="00B050"/>
                </a:solidFill>
              </a:rPr>
              <a:t>текста</a:t>
            </a:r>
            <a:endParaRPr lang="ru-RU" dirty="0">
              <a:solidFill>
                <a:srgbClr val="00B050"/>
              </a:solidFill>
            </a:endParaRPr>
          </a:p>
          <a:p>
            <a:r>
              <a:rPr lang="ru-RU" dirty="0">
                <a:solidFill>
                  <a:srgbClr val="00B050"/>
                </a:solidFill>
              </a:rPr>
              <a:t>Кто знает, какие столбцы понадобятся в будущем</a:t>
            </a:r>
          </a:p>
          <a:p>
            <a:r>
              <a:rPr lang="ru-RU" dirty="0">
                <a:solidFill>
                  <a:srgbClr val="00B050"/>
                </a:solidFill>
              </a:rPr>
              <a:t>Меньше работы при модификации приложения</a:t>
            </a:r>
          </a:p>
          <a:p>
            <a:r>
              <a:rPr lang="ru-RU" dirty="0">
                <a:solidFill>
                  <a:srgbClr val="00B050"/>
                </a:solidFill>
              </a:rPr>
              <a:t>Скорость разработки возрастает</a:t>
            </a:r>
          </a:p>
          <a:p>
            <a:r>
              <a:rPr lang="ru-RU" dirty="0">
                <a:solidFill>
                  <a:srgbClr val="00B050"/>
                </a:solidFill>
              </a:rPr>
              <a:t>Чем проще текст запроса, тем лучше</a:t>
            </a:r>
          </a:p>
          <a:p>
            <a:endParaRPr lang="ru-RU" dirty="0"/>
          </a:p>
        </p:txBody>
      </p:sp>
      <p:sp>
        <p:nvSpPr>
          <p:cNvPr id="4" name="Номер слайда 3"/>
          <p:cNvSpPr>
            <a:spLocks noGrp="1"/>
          </p:cNvSpPr>
          <p:nvPr>
            <p:ph type="sldNum" sz="quarter" idx="12"/>
          </p:nvPr>
        </p:nvSpPr>
        <p:spPr/>
        <p:txBody>
          <a:bodyPr/>
          <a:lstStyle/>
          <a:p>
            <a:fld id="{590C5F67-5E4C-4ABB-99F4-36BCAC8BE885}" type="slidenum">
              <a:rPr lang="ru-RU" smtClean="0"/>
              <a:pPr/>
              <a:t>353</a:t>
            </a:fld>
            <a:endParaRPr lang="ru-RU"/>
          </a:p>
        </p:txBody>
      </p:sp>
    </p:spTree>
    <p:extLst>
      <p:ext uri="{BB962C8B-B14F-4D97-AF65-F5344CB8AC3E}">
        <p14:creationId xmlns:p14="http://schemas.microsoft.com/office/powerpoint/2010/main" xmlns="" val="1981850333"/>
      </p:ext>
    </p:extLst>
  </p:cSld>
  <p:clrMapOvr>
    <a:masterClrMapping/>
  </p:clrMapOvr>
  <p:timing>
    <p:tnLst>
      <p:par>
        <p:cTn id="1" dur="indefinite" restart="never" nodeType="tmRoot"/>
      </p:par>
    </p:tn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Проблемы с ассоциативными массивами в приложении</a:t>
            </a:r>
          </a:p>
          <a:p>
            <a:r>
              <a:rPr lang="ru-RU" dirty="0">
                <a:solidFill>
                  <a:srgbClr val="FF0000"/>
                </a:solidFill>
              </a:rPr>
              <a:t>Игнорирование </a:t>
            </a:r>
            <a:r>
              <a:rPr lang="ru-RU" dirty="0" smtClean="0">
                <a:solidFill>
                  <a:srgbClr val="FF0000"/>
                </a:solidFill>
              </a:rPr>
              <a:t>индексов</a:t>
            </a:r>
            <a:endParaRPr lang="ru-RU" dirty="0">
              <a:solidFill>
                <a:srgbClr val="FF0000"/>
              </a:solidFill>
            </a:endParaRPr>
          </a:p>
          <a:p>
            <a:r>
              <a:rPr lang="ru-RU" dirty="0" smtClean="0">
                <a:solidFill>
                  <a:srgbClr val="FF0000"/>
                </a:solidFill>
              </a:rPr>
              <a:t>Проблемы с вычисляемыми столбцами</a:t>
            </a:r>
            <a:endParaRPr lang="ru-RU" dirty="0">
              <a:solidFill>
                <a:srgbClr val="FF0000"/>
              </a:solidFill>
            </a:endParaRPr>
          </a:p>
          <a:p>
            <a:r>
              <a:rPr lang="ru-RU" dirty="0">
                <a:solidFill>
                  <a:srgbClr val="FF0000"/>
                </a:solidFill>
              </a:rPr>
              <a:t>Дополнительная нагрузка на сеть при передаче результата запроса приложению</a:t>
            </a:r>
          </a:p>
        </p:txBody>
      </p:sp>
      <p:sp>
        <p:nvSpPr>
          <p:cNvPr id="4" name="Номер слайда 3"/>
          <p:cNvSpPr>
            <a:spLocks noGrp="1"/>
          </p:cNvSpPr>
          <p:nvPr>
            <p:ph type="sldNum" sz="quarter" idx="12"/>
          </p:nvPr>
        </p:nvSpPr>
        <p:spPr/>
        <p:txBody>
          <a:bodyPr/>
          <a:lstStyle/>
          <a:p>
            <a:fld id="{590C5F67-5E4C-4ABB-99F4-36BCAC8BE885}" type="slidenum">
              <a:rPr lang="ru-RU" smtClean="0"/>
              <a:pPr/>
              <a:t>354</a:t>
            </a:fld>
            <a:endParaRPr lang="ru-RU"/>
          </a:p>
        </p:txBody>
      </p:sp>
    </p:spTree>
    <p:extLst>
      <p:ext uri="{BB962C8B-B14F-4D97-AF65-F5344CB8AC3E}">
        <p14:creationId xmlns:p14="http://schemas.microsoft.com/office/powerpoint/2010/main" xmlns="" val="2814415460"/>
      </p:ext>
    </p:extLst>
  </p:cSld>
  <p:clrMapOvr>
    <a:masterClrMapping/>
  </p:clrMapOvr>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№2</a:t>
            </a:r>
            <a:endParaRPr lang="ru-RU" dirty="0"/>
          </a:p>
        </p:txBody>
      </p:sp>
      <p:sp>
        <p:nvSpPr>
          <p:cNvPr id="3" name="Объект 2"/>
          <p:cNvSpPr>
            <a:spLocks noGrp="1"/>
          </p:cNvSpPr>
          <p:nvPr>
            <p:ph idx="1"/>
          </p:nvPr>
        </p:nvSpPr>
        <p:spPr/>
        <p:txBody>
          <a:bodyPr/>
          <a:lstStyle/>
          <a:p>
            <a:r>
              <a:rPr lang="ru-RU" dirty="0"/>
              <a:t>При сортировке обращайтесь к столбцам по </a:t>
            </a:r>
            <a:r>
              <a:rPr lang="ru-RU" dirty="0" smtClean="0"/>
              <a:t>номерам</a:t>
            </a:r>
          </a:p>
          <a:p>
            <a:r>
              <a:rPr lang="ru-RU" dirty="0" smtClean="0"/>
              <a:t>Пример</a:t>
            </a:r>
            <a:r>
              <a:rPr lang="en-US" dirty="0" smtClean="0"/>
              <a:t>:</a:t>
            </a:r>
          </a:p>
          <a:p>
            <a:r>
              <a:rPr lang="en-US" dirty="0" smtClean="0"/>
              <a:t>Select </a:t>
            </a:r>
            <a:r>
              <a:rPr lang="en-US" dirty="0" err="1" smtClean="0"/>
              <a:t>name,price</a:t>
            </a:r>
            <a:r>
              <a:rPr lang="en-US" dirty="0" smtClean="0"/>
              <a:t> from table order by 1,2</a:t>
            </a:r>
            <a:endParaRPr lang="ru-RU" dirty="0"/>
          </a:p>
        </p:txBody>
      </p:sp>
    </p:spTree>
    <p:extLst>
      <p:ext uri="{BB962C8B-B14F-4D97-AF65-F5344CB8AC3E}">
        <p14:creationId xmlns:p14="http://schemas.microsoft.com/office/powerpoint/2010/main" xmlns="" val="3596597359"/>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Простое решение – лучшее решение!</a:t>
            </a:r>
          </a:p>
          <a:p>
            <a:r>
              <a:rPr lang="ru-RU" dirty="0">
                <a:solidFill>
                  <a:srgbClr val="00B050"/>
                </a:solidFill>
              </a:rPr>
              <a:t>Можно печатать гораздо меньше текста</a:t>
            </a:r>
          </a:p>
        </p:txBody>
      </p:sp>
    </p:spTree>
    <p:extLst>
      <p:ext uri="{BB962C8B-B14F-4D97-AF65-F5344CB8AC3E}">
        <p14:creationId xmlns:p14="http://schemas.microsoft.com/office/powerpoint/2010/main" xmlns="" val="676349348"/>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При изменении структуры объектов связь по номерам разрушается!</a:t>
            </a:r>
          </a:p>
        </p:txBody>
      </p:sp>
    </p:spTree>
    <p:extLst>
      <p:ext uri="{BB962C8B-B14F-4D97-AF65-F5344CB8AC3E}">
        <p14:creationId xmlns:p14="http://schemas.microsoft.com/office/powerpoint/2010/main" xmlns="" val="3607829581"/>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№3</a:t>
            </a:r>
            <a:endParaRPr lang="ru-RU" dirty="0"/>
          </a:p>
        </p:txBody>
      </p:sp>
      <p:sp>
        <p:nvSpPr>
          <p:cNvPr id="3" name="Объект 2"/>
          <p:cNvSpPr>
            <a:spLocks noGrp="1"/>
          </p:cNvSpPr>
          <p:nvPr>
            <p:ph idx="1"/>
          </p:nvPr>
        </p:nvSpPr>
        <p:spPr/>
        <p:txBody>
          <a:bodyPr/>
          <a:lstStyle/>
          <a:p>
            <a:r>
              <a:rPr lang="ru-RU" dirty="0"/>
              <a:t>При вставке используйте </a:t>
            </a:r>
            <a:r>
              <a:rPr lang="ru-RU" dirty="0" smtClean="0"/>
              <a:t>конструкцию «INSERT </a:t>
            </a:r>
            <a:r>
              <a:rPr lang="ru-RU" dirty="0"/>
              <a:t>INTO Table1 VALUES </a:t>
            </a:r>
            <a:r>
              <a:rPr lang="ru-RU" dirty="0" smtClean="0"/>
              <a:t>…»</a:t>
            </a:r>
          </a:p>
          <a:p>
            <a:r>
              <a:rPr lang="ru-RU" dirty="0" smtClean="0"/>
              <a:t>Пример</a:t>
            </a:r>
            <a:r>
              <a:rPr lang="en-US" dirty="0" smtClean="0"/>
              <a:t>:  insert into table values (15,’</a:t>
            </a:r>
            <a:r>
              <a:rPr lang="ru-RU" dirty="0" smtClean="0"/>
              <a:t>Чайник</a:t>
            </a:r>
            <a:r>
              <a:rPr lang="en-US" dirty="0" smtClean="0"/>
              <a:t>’</a:t>
            </a:r>
            <a:r>
              <a:rPr lang="ru-RU" dirty="0" smtClean="0"/>
              <a:t>,500</a:t>
            </a:r>
            <a:r>
              <a:rPr lang="en-US" dirty="0" smtClean="0"/>
              <a:t>)</a:t>
            </a:r>
            <a:endParaRPr lang="ru-RU" dirty="0"/>
          </a:p>
        </p:txBody>
      </p:sp>
    </p:spTree>
    <p:extLst>
      <p:ext uri="{BB962C8B-B14F-4D97-AF65-F5344CB8AC3E}">
        <p14:creationId xmlns:p14="http://schemas.microsoft.com/office/powerpoint/2010/main" xmlns="" val="1239804726"/>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Простое решение – лучшее решение!</a:t>
            </a:r>
          </a:p>
          <a:p>
            <a:r>
              <a:rPr lang="ru-RU" dirty="0">
                <a:solidFill>
                  <a:srgbClr val="00B050"/>
                </a:solidFill>
              </a:rPr>
              <a:t>Можно печатать гораздо меньше текста</a:t>
            </a:r>
          </a:p>
          <a:p>
            <a:r>
              <a:rPr lang="ru-RU" dirty="0">
                <a:solidFill>
                  <a:srgbClr val="00B050"/>
                </a:solidFill>
              </a:rPr>
              <a:t>Не нужно вспоминать структуру таблицы </a:t>
            </a:r>
          </a:p>
        </p:txBody>
      </p:sp>
    </p:spTree>
    <p:extLst>
      <p:ext uri="{BB962C8B-B14F-4D97-AF65-F5344CB8AC3E}">
        <p14:creationId xmlns:p14="http://schemas.microsoft.com/office/powerpoint/2010/main" xmlns="" val="2245535109"/>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При добавлении новых столбцов в таблицу, написанные ранее </a:t>
            </a:r>
            <a:r>
              <a:rPr lang="ru-RU" dirty="0" err="1">
                <a:solidFill>
                  <a:srgbClr val="FF0000"/>
                </a:solidFill>
              </a:rPr>
              <a:t>INSERT’ы</a:t>
            </a:r>
            <a:r>
              <a:rPr lang="ru-RU" dirty="0">
                <a:solidFill>
                  <a:srgbClr val="FF0000"/>
                </a:solidFill>
              </a:rPr>
              <a:t> перестают работать!</a:t>
            </a:r>
          </a:p>
        </p:txBody>
      </p:sp>
    </p:spTree>
    <p:extLst>
      <p:ext uri="{BB962C8B-B14F-4D97-AF65-F5344CB8AC3E}">
        <p14:creationId xmlns:p14="http://schemas.microsoft.com/office/powerpoint/2010/main" xmlns="" val="119911286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№4</a:t>
            </a:r>
            <a:endParaRPr lang="ru-RU" dirty="0"/>
          </a:p>
        </p:txBody>
      </p:sp>
      <p:sp>
        <p:nvSpPr>
          <p:cNvPr id="3" name="Объект 2"/>
          <p:cNvSpPr>
            <a:spLocks noGrp="1"/>
          </p:cNvSpPr>
          <p:nvPr>
            <p:ph idx="1"/>
          </p:nvPr>
        </p:nvSpPr>
        <p:spPr/>
        <p:txBody>
          <a:bodyPr/>
          <a:lstStyle/>
          <a:p>
            <a:r>
              <a:rPr lang="ru-RU" dirty="0"/>
              <a:t>Всегда старайтесь решить задачу одним запросом</a:t>
            </a:r>
          </a:p>
        </p:txBody>
      </p:sp>
    </p:spTree>
    <p:extLst>
      <p:ext uri="{BB962C8B-B14F-4D97-AF65-F5344CB8AC3E}">
        <p14:creationId xmlns:p14="http://schemas.microsoft.com/office/powerpoint/2010/main" xmlns="" val="81466922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Почувствуйте себя мастером</a:t>
            </a:r>
          </a:p>
          <a:p>
            <a:r>
              <a:rPr lang="ru-RU" dirty="0">
                <a:solidFill>
                  <a:srgbClr val="00B050"/>
                </a:solidFill>
              </a:rPr>
              <a:t>Если даже один запрос выполняется медленно, то несколько запросов будут ещё медленнее!</a:t>
            </a:r>
          </a:p>
          <a:p>
            <a:r>
              <a:rPr lang="ru-RU" dirty="0">
                <a:solidFill>
                  <a:srgbClr val="00B050"/>
                </a:solidFill>
              </a:rPr>
              <a:t>Один запрос всегда элегантнее и изящнее</a:t>
            </a:r>
          </a:p>
        </p:txBody>
      </p:sp>
    </p:spTree>
    <p:extLst>
      <p:ext uri="{BB962C8B-B14F-4D97-AF65-F5344CB8AC3E}">
        <p14:creationId xmlns:p14="http://schemas.microsoft.com/office/powerpoint/2010/main" xmlns="" val="3042259842"/>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Сложно писать, сложно модифицировать, сложно отлаживать</a:t>
            </a:r>
          </a:p>
          <a:p>
            <a:r>
              <a:rPr lang="ru-RU" dirty="0">
                <a:solidFill>
                  <a:srgbClr val="FF0000"/>
                </a:solidFill>
              </a:rPr>
              <a:t>Резко возрастает вероятность ошибки</a:t>
            </a:r>
          </a:p>
          <a:p>
            <a:r>
              <a:rPr lang="ru-RU" dirty="0">
                <a:solidFill>
                  <a:srgbClr val="FF0000"/>
                </a:solidFill>
              </a:rPr>
              <a:t>Решение перестаёт помещаться в голове</a:t>
            </a:r>
          </a:p>
        </p:txBody>
      </p:sp>
    </p:spTree>
    <p:extLst>
      <p:ext uri="{BB962C8B-B14F-4D97-AF65-F5344CB8AC3E}">
        <p14:creationId xmlns:p14="http://schemas.microsoft.com/office/powerpoint/2010/main" xmlns="" val="61490667"/>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№5</a:t>
            </a:r>
            <a:endParaRPr lang="ru-RU" dirty="0"/>
          </a:p>
        </p:txBody>
      </p:sp>
      <p:sp>
        <p:nvSpPr>
          <p:cNvPr id="3" name="Объект 2"/>
          <p:cNvSpPr>
            <a:spLocks noGrp="1"/>
          </p:cNvSpPr>
          <p:nvPr>
            <p:ph idx="1"/>
          </p:nvPr>
        </p:nvSpPr>
        <p:spPr/>
        <p:txBody>
          <a:bodyPr/>
          <a:lstStyle/>
          <a:p>
            <a:r>
              <a:rPr lang="ru-RU" dirty="0"/>
              <a:t>Применяйте скалярные функции к столбцам в секциях WHERE и ORDER BY</a:t>
            </a:r>
          </a:p>
        </p:txBody>
      </p:sp>
    </p:spTree>
    <p:extLst>
      <p:ext uri="{BB962C8B-B14F-4D97-AF65-F5344CB8AC3E}">
        <p14:creationId xmlns:p14="http://schemas.microsoft.com/office/powerpoint/2010/main" xmlns="" val="2589259487"/>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Простое решение</a:t>
            </a:r>
          </a:p>
          <a:p>
            <a:r>
              <a:rPr lang="ru-RU" dirty="0">
                <a:solidFill>
                  <a:srgbClr val="00B050"/>
                </a:solidFill>
              </a:rPr>
              <a:t>Запрос легче читается</a:t>
            </a:r>
          </a:p>
        </p:txBody>
      </p:sp>
    </p:spTree>
    <p:extLst>
      <p:ext uri="{BB962C8B-B14F-4D97-AF65-F5344CB8AC3E}">
        <p14:creationId xmlns:p14="http://schemas.microsoft.com/office/powerpoint/2010/main" xmlns="" val="1774256312"/>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Не используются индексы</a:t>
            </a:r>
          </a:p>
          <a:p>
            <a:r>
              <a:rPr lang="ru-RU" dirty="0">
                <a:solidFill>
                  <a:srgbClr val="FF0000"/>
                </a:solidFill>
              </a:rPr>
              <a:t>Скалярные вычисления для каждой строки</a:t>
            </a:r>
          </a:p>
        </p:txBody>
      </p:sp>
    </p:spTree>
    <p:extLst>
      <p:ext uri="{BB962C8B-B14F-4D97-AF65-F5344CB8AC3E}">
        <p14:creationId xmlns:p14="http://schemas.microsoft.com/office/powerpoint/2010/main" xmlns="" val="2400996151"/>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№6</a:t>
            </a:r>
            <a:endParaRPr lang="ru-RU" dirty="0"/>
          </a:p>
        </p:txBody>
      </p:sp>
      <p:sp>
        <p:nvSpPr>
          <p:cNvPr id="3" name="Объект 2"/>
          <p:cNvSpPr>
            <a:spLocks noGrp="1"/>
          </p:cNvSpPr>
          <p:nvPr>
            <p:ph idx="1"/>
          </p:nvPr>
        </p:nvSpPr>
        <p:spPr/>
        <p:txBody>
          <a:bodyPr/>
          <a:lstStyle/>
          <a:p>
            <a:r>
              <a:rPr lang="ru-RU" dirty="0"/>
              <a:t>Используйте LIKE для поиска по тексту</a:t>
            </a:r>
          </a:p>
          <a:p>
            <a:r>
              <a:rPr lang="ru-RU" dirty="0"/>
              <a:t>Используйте регулярные выражения для поиска по тексту</a:t>
            </a:r>
          </a:p>
        </p:txBody>
      </p:sp>
    </p:spTree>
    <p:extLst>
      <p:ext uri="{BB962C8B-B14F-4D97-AF65-F5344CB8AC3E}">
        <p14:creationId xmlns:p14="http://schemas.microsoft.com/office/powerpoint/2010/main" xmlns="" val="4043926001"/>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Простое решение</a:t>
            </a:r>
          </a:p>
          <a:p>
            <a:r>
              <a:rPr lang="ru-RU" dirty="0">
                <a:solidFill>
                  <a:srgbClr val="00B050"/>
                </a:solidFill>
              </a:rPr>
              <a:t>Можно искать сложные конструкции</a:t>
            </a:r>
          </a:p>
          <a:p>
            <a:endParaRPr lang="ru-RU" dirty="0"/>
          </a:p>
        </p:txBody>
      </p:sp>
    </p:spTree>
    <p:extLst>
      <p:ext uri="{BB962C8B-B14F-4D97-AF65-F5344CB8AC3E}">
        <p14:creationId xmlns:p14="http://schemas.microsoft.com/office/powerpoint/2010/main" xmlns="" val="1000368803"/>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FF0000"/>
                </a:solidFill>
              </a:rPr>
              <a:t>Очень медленно!</a:t>
            </a:r>
          </a:p>
          <a:p>
            <a:r>
              <a:rPr lang="ru-RU" dirty="0">
                <a:solidFill>
                  <a:srgbClr val="FF0000"/>
                </a:solidFill>
              </a:rPr>
              <a:t>Решение не масштабируется</a:t>
            </a:r>
          </a:p>
          <a:p>
            <a:r>
              <a:rPr lang="ru-RU" dirty="0">
                <a:solidFill>
                  <a:srgbClr val="FF0000"/>
                </a:solidFill>
              </a:rPr>
              <a:t>Практически невозможно искать слова</a:t>
            </a:r>
          </a:p>
        </p:txBody>
      </p:sp>
    </p:spTree>
    <p:extLst>
      <p:ext uri="{BB962C8B-B14F-4D97-AF65-F5344CB8AC3E}">
        <p14:creationId xmlns:p14="http://schemas.microsoft.com/office/powerpoint/2010/main" xmlns="" val="90522325"/>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Совет №7</a:t>
            </a:r>
            <a:endParaRPr lang="ru-RU" dirty="0"/>
          </a:p>
        </p:txBody>
      </p:sp>
      <p:sp>
        <p:nvSpPr>
          <p:cNvPr id="3" name="Объект 2"/>
          <p:cNvSpPr>
            <a:spLocks noGrp="1"/>
          </p:cNvSpPr>
          <p:nvPr>
            <p:ph idx="1"/>
          </p:nvPr>
        </p:nvSpPr>
        <p:spPr/>
        <p:txBody>
          <a:bodyPr/>
          <a:lstStyle/>
          <a:p>
            <a:r>
              <a:rPr lang="ru-RU" dirty="0"/>
              <a:t>Используйте NULL, как обычное </a:t>
            </a:r>
            <a:r>
              <a:rPr lang="ru-RU" dirty="0" smtClean="0"/>
              <a:t>значение</a:t>
            </a:r>
            <a:endParaRPr lang="en-US" dirty="0"/>
          </a:p>
          <a:p>
            <a:r>
              <a:rPr lang="ru-RU" dirty="0" smtClean="0"/>
              <a:t>Пример</a:t>
            </a:r>
            <a:r>
              <a:rPr lang="en-US" dirty="0" smtClean="0"/>
              <a:t>:</a:t>
            </a:r>
            <a:endParaRPr lang="ru-RU" dirty="0"/>
          </a:p>
          <a:p>
            <a:r>
              <a:rPr lang="en-US" dirty="0"/>
              <a:t>select * from table where </a:t>
            </a:r>
            <a:r>
              <a:rPr lang="en-US" dirty="0" err="1"/>
              <a:t>ShipCity</a:t>
            </a:r>
            <a:r>
              <a:rPr lang="en-US" dirty="0"/>
              <a:t> in('berlin','</a:t>
            </a:r>
            <a:r>
              <a:rPr lang="en-US" dirty="0" err="1"/>
              <a:t>paris</a:t>
            </a:r>
            <a:r>
              <a:rPr lang="en-US" dirty="0"/>
              <a:t>',NULL)</a:t>
            </a:r>
            <a:endParaRPr lang="ru-RU" dirty="0"/>
          </a:p>
        </p:txBody>
      </p:sp>
    </p:spTree>
    <p:extLst>
      <p:ext uri="{BB962C8B-B14F-4D97-AF65-F5344CB8AC3E}">
        <p14:creationId xmlns:p14="http://schemas.microsoft.com/office/powerpoint/2010/main" xmlns="" val="77652873"/>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ru-RU" dirty="0">
                <a:solidFill>
                  <a:srgbClr val="00B050"/>
                </a:solidFill>
              </a:rPr>
              <a:t>Если уж придуман NULL, надо его использовать</a:t>
            </a:r>
          </a:p>
        </p:txBody>
      </p:sp>
    </p:spTree>
    <p:extLst>
      <p:ext uri="{BB962C8B-B14F-4D97-AF65-F5344CB8AC3E}">
        <p14:creationId xmlns:p14="http://schemas.microsoft.com/office/powerpoint/2010/main" xmlns="" val="3407238528"/>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Объект 2"/>
          <p:cNvSpPr>
            <a:spLocks noGrp="1"/>
          </p:cNvSpPr>
          <p:nvPr>
            <p:ph idx="1"/>
          </p:nvPr>
        </p:nvSpPr>
        <p:spPr/>
        <p:txBody>
          <a:bodyPr/>
          <a:lstStyle/>
          <a:p>
            <a:r>
              <a:rPr lang="en-US" dirty="0">
                <a:solidFill>
                  <a:srgbClr val="FF0000"/>
                </a:solidFill>
              </a:rPr>
              <a:t>NULL – </a:t>
            </a:r>
            <a:r>
              <a:rPr lang="ru-RU" dirty="0">
                <a:solidFill>
                  <a:srgbClr val="FF0000"/>
                </a:solidFill>
              </a:rPr>
              <a:t>это не значение</a:t>
            </a:r>
          </a:p>
        </p:txBody>
      </p:sp>
    </p:spTree>
    <p:extLst>
      <p:ext uri="{BB962C8B-B14F-4D97-AF65-F5344CB8AC3E}">
        <p14:creationId xmlns:p14="http://schemas.microsoft.com/office/powerpoint/2010/main" xmlns="" val="3149914309"/>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94956" y="1111827"/>
            <a:ext cx="9457746" cy="5065136"/>
          </a:xfrm>
        </p:spPr>
      </p:pic>
    </p:spTree>
    <p:extLst>
      <p:ext uri="{BB962C8B-B14F-4D97-AF65-F5344CB8AC3E}">
        <p14:creationId xmlns:p14="http://schemas.microsoft.com/office/powerpoint/2010/main" xmlns="" val="216921203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8920</TotalTime>
  <Words>7040</Words>
  <Application>Microsoft Office PowerPoint</Application>
  <PresentationFormat>Произвольный</PresentationFormat>
  <Paragraphs>1875</Paragraphs>
  <Slides>373</Slides>
  <Notes>23</Notes>
  <HiddenSlides>0</HiddenSlides>
  <MMClips>0</MMClips>
  <ScaleCrop>false</ScaleCrop>
  <HeadingPairs>
    <vt:vector size="4" baseType="variant">
      <vt:variant>
        <vt:lpstr>Тема</vt:lpstr>
      </vt:variant>
      <vt:variant>
        <vt:i4>1</vt:i4>
      </vt:variant>
      <vt:variant>
        <vt:lpstr>Заголовки слайдов</vt:lpstr>
      </vt:variant>
      <vt:variant>
        <vt:i4>373</vt:i4>
      </vt:variant>
    </vt:vector>
  </HeadingPairs>
  <TitlesOfParts>
    <vt:vector size="374" baseType="lpstr">
      <vt:lpstr>Тема Office</vt:lpstr>
      <vt:lpstr>Слайд 1</vt:lpstr>
      <vt:lpstr>Базы данных и файловые системы</vt:lpstr>
      <vt:lpstr> </vt:lpstr>
      <vt:lpstr>Файловые системы</vt:lpstr>
      <vt:lpstr>Структуры файлов</vt:lpstr>
      <vt:lpstr>Именование файлов</vt:lpstr>
      <vt:lpstr>Защита файлов</vt:lpstr>
      <vt:lpstr>Режим многопользовательского доступа</vt:lpstr>
      <vt:lpstr>Области применения файлов</vt:lpstr>
      <vt:lpstr>Потребности информационных систем</vt:lpstr>
      <vt:lpstr> </vt:lpstr>
      <vt:lpstr>Функции СУБД. Типовая организация СУБД</vt:lpstr>
      <vt:lpstr>Функции СУБД</vt:lpstr>
      <vt:lpstr> </vt:lpstr>
      <vt:lpstr>Введение в реляционную модель данных</vt:lpstr>
      <vt:lpstr>Основные понятия реляционных баз данных</vt:lpstr>
      <vt:lpstr> </vt:lpstr>
      <vt:lpstr> </vt:lpstr>
      <vt:lpstr> </vt:lpstr>
      <vt:lpstr> </vt:lpstr>
      <vt:lpstr>Фундаментальные свойства отношений</vt:lpstr>
      <vt:lpstr>Отсутствие кортежей-дубликатов, первичный и возможные ключи отношений </vt:lpstr>
      <vt:lpstr>Отсутствие упорядоченности кортежей</vt:lpstr>
      <vt:lpstr> Отсутствие упорядоченности атрибутов </vt:lpstr>
      <vt:lpstr>Атомарность значений атрибутов, первая нормальная форма отношения </vt:lpstr>
      <vt:lpstr>Целостность сущности и ссылок </vt:lpstr>
      <vt:lpstr>NULL </vt:lpstr>
      <vt:lpstr>Целостность по ссылкам</vt:lpstr>
      <vt:lpstr> </vt:lpstr>
      <vt:lpstr> </vt:lpstr>
      <vt:lpstr> </vt:lpstr>
      <vt:lpstr>Базисные средства манипулирования реляционными данными: реляционная алгебра Кодда</vt:lpstr>
      <vt:lpstr> </vt:lpstr>
      <vt:lpstr>Алгебра Кодда </vt:lpstr>
      <vt:lpstr>Теоретико-множественные операции</vt:lpstr>
      <vt:lpstr>Реляционные операции</vt:lpstr>
      <vt:lpstr> </vt:lpstr>
      <vt:lpstr>Общая интерпретация реляционных операций </vt:lpstr>
      <vt:lpstr> </vt:lpstr>
      <vt:lpstr> </vt:lpstr>
      <vt:lpstr> </vt:lpstr>
      <vt:lpstr>Лекция №3</vt:lpstr>
      <vt:lpstr>Замкнутость реляционной алгебры </vt:lpstr>
      <vt:lpstr>Особенности теоретико-множественных операций реляционной алгебры </vt:lpstr>
      <vt:lpstr>Операции объединения, пересечения, взятия разности. </vt:lpstr>
      <vt:lpstr> </vt:lpstr>
      <vt:lpstr>Совместимости отношений по объединению</vt:lpstr>
      <vt:lpstr>Ассоциативность</vt:lpstr>
      <vt:lpstr>Коммутативность</vt:lpstr>
      <vt:lpstr> </vt:lpstr>
      <vt:lpstr>Операция ограничения </vt:lpstr>
      <vt:lpstr> </vt:lpstr>
      <vt:lpstr> </vt:lpstr>
      <vt:lpstr>Операция взятия проекции </vt:lpstr>
      <vt:lpstr>Операция соединения отношений </vt:lpstr>
      <vt:lpstr> </vt:lpstr>
      <vt:lpstr>Операция деления отношений </vt:lpstr>
      <vt:lpstr> </vt:lpstr>
      <vt:lpstr>Базисные средства манипулирования реляционными данными: реляционное исчисление</vt:lpstr>
      <vt:lpstr>Исчисление кортежей</vt:lpstr>
      <vt:lpstr>Правильно построенные формулы </vt:lpstr>
      <vt:lpstr>Простые условия </vt:lpstr>
      <vt:lpstr>Кванторы, свободные и связанные переменные </vt:lpstr>
      <vt:lpstr> </vt:lpstr>
      <vt:lpstr>Исчисление доменов </vt:lpstr>
      <vt:lpstr>Функциональные зависимости </vt:lpstr>
      <vt:lpstr>  </vt:lpstr>
      <vt:lpstr> </vt:lpstr>
      <vt:lpstr>Проектирование реляционных баз данных на основе принципов нормализации</vt:lpstr>
      <vt:lpstr>Свойства нормальных форм</vt:lpstr>
      <vt:lpstr> </vt:lpstr>
      <vt:lpstr>Первая нормальная форма</vt:lpstr>
      <vt:lpstr>Минимальные функциональные зависимости и вторая нормальная форма </vt:lpstr>
      <vt:lpstr> </vt:lpstr>
      <vt:lpstr>Аномалии обновления, возникающие из-за наличия неминимальных функциональных зависимостей </vt:lpstr>
      <vt:lpstr> </vt:lpstr>
      <vt:lpstr> </vt:lpstr>
      <vt:lpstr>Нетранзитивные функциональные зависимости и третья нормальная форма </vt:lpstr>
      <vt:lpstr>Аномалии обновлений </vt:lpstr>
      <vt:lpstr>Возможная декомпозиция </vt:lpstr>
      <vt:lpstr> </vt:lpstr>
      <vt:lpstr>НФБК (Нормальная Форма Бойса-Кодда) </vt:lpstr>
      <vt:lpstr>Пример</vt:lpstr>
      <vt:lpstr>Многозначные зависимости и четвертая нормальная форма </vt:lpstr>
      <vt:lpstr>Пример</vt:lpstr>
      <vt:lpstr>Аномалии обновления</vt:lpstr>
      <vt:lpstr>Декомпозиция отношения</vt:lpstr>
      <vt:lpstr> </vt:lpstr>
      <vt:lpstr>Многозначные зависимости </vt:lpstr>
      <vt:lpstr>Зависимости проекции/соединения и пятая нормальная форма </vt:lpstr>
      <vt:lpstr> 5NF</vt:lpstr>
      <vt:lpstr>Проектирование реляционных баз данных с использованием семантических моделей: ER-диаграммы</vt:lpstr>
      <vt:lpstr> </vt:lpstr>
      <vt:lpstr> </vt:lpstr>
      <vt:lpstr> </vt:lpstr>
      <vt:lpstr> </vt:lpstr>
      <vt:lpstr> </vt:lpstr>
      <vt:lpstr> </vt:lpstr>
      <vt:lpstr>Рекурсивная связь</vt:lpstr>
      <vt:lpstr> </vt:lpstr>
      <vt:lpstr>Атрибут сущности</vt:lpstr>
      <vt:lpstr> </vt:lpstr>
      <vt:lpstr>Уникальные идентификаторы типов сущности </vt:lpstr>
      <vt:lpstr> </vt:lpstr>
      <vt:lpstr>Нормальные формы ER-диаграмм </vt:lpstr>
      <vt:lpstr> </vt:lpstr>
      <vt:lpstr> </vt:lpstr>
      <vt:lpstr>Вторая нормальная форма ER-диаграммы </vt:lpstr>
      <vt:lpstr> </vt:lpstr>
      <vt:lpstr> </vt:lpstr>
      <vt:lpstr>Третья нормальная форма ER-диаграммы </vt:lpstr>
      <vt:lpstr> </vt:lpstr>
      <vt:lpstr> </vt:lpstr>
      <vt:lpstr>Более сложные элементы ER-модели </vt:lpstr>
      <vt:lpstr> </vt:lpstr>
      <vt:lpstr> </vt:lpstr>
      <vt:lpstr> </vt:lpstr>
      <vt:lpstr>Получение реляционной схемы из ER-диаграммы </vt:lpstr>
      <vt:lpstr> </vt:lpstr>
      <vt:lpstr> </vt:lpstr>
      <vt:lpstr> </vt:lpstr>
      <vt:lpstr> </vt:lpstr>
      <vt:lpstr>Представление в реляционной схеме взаимно исключающих связей </vt:lpstr>
      <vt:lpstr>Проектирование реляционных баз данных с использованием семантических моделей: диаграммы классов языка UML</vt:lpstr>
      <vt:lpstr>Классы, атрибуты, операции </vt:lpstr>
      <vt:lpstr> </vt:lpstr>
      <vt:lpstr> </vt:lpstr>
      <vt:lpstr> </vt:lpstr>
      <vt:lpstr> </vt:lpstr>
      <vt:lpstr> </vt:lpstr>
      <vt:lpstr>Категории связей. Связь-зависимость </vt:lpstr>
      <vt:lpstr> </vt:lpstr>
      <vt:lpstr> </vt:lpstr>
      <vt:lpstr> </vt:lpstr>
      <vt:lpstr> </vt:lpstr>
      <vt:lpstr>Связи-ассоциации: роли, кратность, агрегация </vt:lpstr>
      <vt:lpstr> </vt:lpstr>
      <vt:lpstr> </vt:lpstr>
      <vt:lpstr> </vt:lpstr>
      <vt:lpstr> </vt:lpstr>
      <vt:lpstr> </vt:lpstr>
      <vt:lpstr> </vt:lpstr>
      <vt:lpstr> </vt:lpstr>
      <vt:lpstr> </vt:lpstr>
      <vt:lpstr> </vt:lpstr>
      <vt:lpstr> </vt:lpstr>
      <vt:lpstr> </vt:lpstr>
      <vt:lpstr> </vt:lpstr>
      <vt:lpstr> </vt:lpstr>
      <vt:lpstr> </vt:lpstr>
      <vt:lpstr>Получение схемы реляционной базы данных из диаграммы классов UML </vt:lpstr>
      <vt:lpstr> </vt:lpstr>
      <vt:lpstr>Введение в модель данных SQL </vt:lpstr>
      <vt:lpstr> </vt:lpstr>
      <vt:lpstr> </vt:lpstr>
      <vt:lpstr>Типы данных SQL </vt:lpstr>
      <vt:lpstr> </vt:lpstr>
      <vt:lpstr>Tочные числовые типы </vt:lpstr>
      <vt:lpstr>Истинно целые типы </vt:lpstr>
      <vt:lpstr>Точные типы, допускающие наличие дробной части </vt:lpstr>
      <vt:lpstr> </vt:lpstr>
      <vt:lpstr>Приближенные числовые типы </vt:lpstr>
      <vt:lpstr> </vt:lpstr>
      <vt:lpstr> </vt:lpstr>
      <vt:lpstr> </vt:lpstr>
      <vt:lpstr> </vt:lpstr>
      <vt:lpstr>Типы символьных строк </vt:lpstr>
      <vt:lpstr> </vt:lpstr>
      <vt:lpstr> </vt:lpstr>
      <vt:lpstr> </vt:lpstr>
      <vt:lpstr> </vt:lpstr>
      <vt:lpstr>Операции над символьными строками.</vt:lpstr>
      <vt:lpstr> </vt:lpstr>
      <vt:lpstr>Типы битовых строк </vt:lpstr>
      <vt:lpstr> </vt:lpstr>
      <vt:lpstr>Операции над битовыми строками </vt:lpstr>
      <vt:lpstr> </vt:lpstr>
      <vt:lpstr> </vt:lpstr>
      <vt:lpstr> </vt:lpstr>
      <vt:lpstr>Типы даты и времени </vt:lpstr>
      <vt:lpstr>Типы времени </vt:lpstr>
      <vt:lpstr> </vt:lpstr>
      <vt:lpstr> Типы временной метки </vt:lpstr>
      <vt:lpstr> </vt:lpstr>
      <vt:lpstr>Типы времени и временной метки с временной зоной </vt:lpstr>
      <vt:lpstr>Типы временных интервалов </vt:lpstr>
      <vt:lpstr> </vt:lpstr>
      <vt:lpstr>  </vt:lpstr>
      <vt:lpstr>Арифметические операции</vt:lpstr>
      <vt:lpstr>Булевский тип </vt:lpstr>
      <vt:lpstr> </vt:lpstr>
      <vt:lpstr>Типы коллекций </vt:lpstr>
      <vt:lpstr>Типы массивов </vt:lpstr>
      <vt:lpstr> </vt:lpstr>
      <vt:lpstr> </vt:lpstr>
      <vt:lpstr>Типы мультимножеств </vt:lpstr>
      <vt:lpstr> </vt:lpstr>
      <vt:lpstr> </vt:lpstr>
      <vt:lpstr>Типы, определяемые пользователем </vt:lpstr>
      <vt:lpstr>Ссылочные типы </vt:lpstr>
      <vt:lpstr>Средства определения, изменения определения и отмены определения доменов </vt:lpstr>
      <vt:lpstr>Определение домена </vt:lpstr>
      <vt:lpstr> </vt:lpstr>
      <vt:lpstr> </vt:lpstr>
      <vt:lpstr> </vt:lpstr>
      <vt:lpstr>Примеры определений доменов </vt:lpstr>
      <vt:lpstr>Изменение определения домена </vt:lpstr>
      <vt:lpstr> </vt:lpstr>
      <vt:lpstr> </vt:lpstr>
      <vt:lpstr> </vt:lpstr>
      <vt:lpstr>Отмена определения домена </vt:lpstr>
      <vt:lpstr> </vt:lpstr>
      <vt:lpstr>Неявные и явные преобразования типа или домена </vt:lpstr>
      <vt:lpstr>Неявные преобразования типов в SQL </vt:lpstr>
      <vt:lpstr> </vt:lpstr>
      <vt:lpstr>Явные преобразования типов или доменов и оператор CAST </vt:lpstr>
      <vt:lpstr> </vt:lpstr>
      <vt:lpstr> </vt:lpstr>
      <vt:lpstr> Средства определения базовых таблиц и ограничений целостности </vt:lpstr>
      <vt:lpstr>Средства определения, изменения и ликвидации базовых таблиц </vt:lpstr>
      <vt:lpstr>Определение базовой таблицы </vt:lpstr>
      <vt:lpstr>Определение столбца </vt:lpstr>
      <vt:lpstr>Значения столбца по умолчанию </vt:lpstr>
      <vt:lpstr>Ограничения целостности столбца </vt:lpstr>
      <vt:lpstr> </vt:lpstr>
      <vt:lpstr> </vt:lpstr>
      <vt:lpstr>Определение табличного ограничения </vt:lpstr>
      <vt:lpstr> </vt:lpstr>
      <vt:lpstr> Табличное ограничение первичного или возможного ключа </vt:lpstr>
      <vt:lpstr>Проверочное табличное ограничение </vt:lpstr>
      <vt:lpstr>Табличное ограничение внешнего ключа </vt:lpstr>
      <vt:lpstr> </vt:lpstr>
      <vt:lpstr> </vt:lpstr>
      <vt:lpstr> </vt:lpstr>
      <vt:lpstr> </vt:lpstr>
      <vt:lpstr> </vt:lpstr>
      <vt:lpstr>Поддержка ссылочной целостности и ссылочные действия</vt:lpstr>
      <vt:lpstr> </vt:lpstr>
      <vt:lpstr> </vt:lpstr>
      <vt:lpstr> </vt:lpstr>
      <vt:lpstr> </vt:lpstr>
      <vt:lpstr>Примеры определений базовых таблиц </vt:lpstr>
      <vt:lpstr> </vt:lpstr>
      <vt:lpstr>Изменение определения таблицы </vt:lpstr>
      <vt:lpstr>Добавление, изменение или удаление определения столбца</vt:lpstr>
      <vt:lpstr> </vt:lpstr>
      <vt:lpstr> </vt:lpstr>
      <vt:lpstr>Отмена определения (уничтожение) таблицы </vt:lpstr>
      <vt:lpstr>Средства определения и отмены общих ограничений целостности </vt:lpstr>
      <vt:lpstr>Определение общих ограничений целостности </vt:lpstr>
      <vt:lpstr>Отмена определения общего ограничения целостности </vt:lpstr>
      <vt:lpstr>Общая структура оператора выборки в языке SQL</vt:lpstr>
      <vt:lpstr>Семантика оператора выборки </vt:lpstr>
      <vt:lpstr> </vt:lpstr>
      <vt:lpstr> </vt:lpstr>
      <vt:lpstr> </vt:lpstr>
      <vt:lpstr> </vt:lpstr>
      <vt:lpstr> </vt:lpstr>
      <vt:lpstr> </vt:lpstr>
      <vt:lpstr> </vt:lpstr>
      <vt:lpstr> </vt:lpstr>
      <vt:lpstr> </vt:lpstr>
      <vt:lpstr> </vt:lpstr>
      <vt:lpstr>Логические выражения раздела WHERE </vt:lpstr>
      <vt:lpstr> </vt:lpstr>
      <vt:lpstr>Предикат сравнения </vt:lpstr>
      <vt:lpstr> </vt:lpstr>
      <vt:lpstr>Предикат between </vt:lpstr>
      <vt:lpstr>Предикат is null </vt:lpstr>
      <vt:lpstr>Предикат in </vt:lpstr>
      <vt:lpstr>Предикат like </vt:lpstr>
      <vt:lpstr>Предикат similar </vt:lpstr>
      <vt:lpstr> </vt:lpstr>
      <vt:lpstr>Предикат exists </vt:lpstr>
      <vt:lpstr>Предикат unique </vt:lpstr>
      <vt:lpstr>Предикат overlaps </vt:lpstr>
      <vt:lpstr>Предикат is distinct </vt:lpstr>
      <vt:lpstr>Агрегатные функции, группировка и условия раздела HAVING </vt:lpstr>
      <vt:lpstr> </vt:lpstr>
      <vt:lpstr>Логические выражения раздела HAVING </vt:lpstr>
      <vt:lpstr>Предикат between </vt:lpstr>
      <vt:lpstr> </vt:lpstr>
      <vt:lpstr>Предикат null </vt:lpstr>
      <vt:lpstr> </vt:lpstr>
      <vt:lpstr>Предикат in </vt:lpstr>
      <vt:lpstr> </vt:lpstr>
      <vt:lpstr>Предикат like </vt:lpstr>
      <vt:lpstr> </vt:lpstr>
      <vt:lpstr>Предикат exists </vt:lpstr>
      <vt:lpstr> </vt:lpstr>
      <vt:lpstr>Объединение таблиц</vt:lpstr>
      <vt:lpstr>Синтаксис объединения</vt:lpstr>
      <vt:lpstr> </vt:lpstr>
      <vt:lpstr>CROSS JOIN</vt:lpstr>
      <vt:lpstr> </vt:lpstr>
      <vt:lpstr>NATURAL JOIN</vt:lpstr>
      <vt:lpstr> </vt:lpstr>
      <vt:lpstr> </vt:lpstr>
      <vt:lpstr>INNER JOIN</vt:lpstr>
      <vt:lpstr> </vt:lpstr>
      <vt:lpstr>OUTER JOIN</vt:lpstr>
      <vt:lpstr> </vt:lpstr>
      <vt:lpstr>LEFT OUTER JOIN</vt:lpstr>
      <vt:lpstr> </vt:lpstr>
      <vt:lpstr>RIGHT OUTER JOIN</vt:lpstr>
      <vt:lpstr>FULL OUTER JOIN</vt:lpstr>
      <vt:lpstr> </vt:lpstr>
      <vt:lpstr>Cамообъединения</vt:lpstr>
      <vt:lpstr>Комбинирование строк с помощью оператора UNION</vt:lpstr>
      <vt:lpstr> </vt:lpstr>
      <vt:lpstr> </vt:lpstr>
      <vt:lpstr>Поиск общих строк с помощью команды INTERSECT</vt:lpstr>
      <vt:lpstr> </vt:lpstr>
      <vt:lpstr>Поиск разных строк с помощью команды EXCEPT</vt:lpstr>
      <vt:lpstr> </vt:lpstr>
      <vt:lpstr>Подзапросы</vt:lpstr>
      <vt:lpstr>Структура подзапросов</vt:lpstr>
      <vt:lpstr> </vt:lpstr>
      <vt:lpstr> </vt:lpstr>
      <vt:lpstr> </vt:lpstr>
      <vt:lpstr>Простые и сложные запросы</vt:lpstr>
      <vt:lpstr> </vt:lpstr>
      <vt:lpstr> </vt:lpstr>
      <vt:lpstr> </vt:lpstr>
      <vt:lpstr> </vt:lpstr>
      <vt:lpstr> </vt:lpstr>
      <vt:lpstr> </vt:lpstr>
      <vt:lpstr> </vt:lpstr>
      <vt:lpstr>Транзакции</vt:lpstr>
      <vt:lpstr>Выполнение транзакций</vt:lpstr>
      <vt:lpstr> </vt:lpstr>
      <vt:lpstr> </vt:lpstr>
      <vt:lpstr> </vt:lpstr>
      <vt:lpstr> </vt:lpstr>
      <vt:lpstr>Индексы</vt:lpstr>
      <vt:lpstr> </vt:lpstr>
      <vt:lpstr>Уникальные индексы </vt:lpstr>
      <vt:lpstr>Составные индексы</vt:lpstr>
      <vt:lpstr>Типы индексов </vt:lpstr>
      <vt:lpstr>Обратная сторона индексов</vt:lpstr>
      <vt:lpstr>Оптимизация SQL запросов</vt:lpstr>
      <vt:lpstr> </vt:lpstr>
      <vt:lpstr>Оптимизация условий </vt:lpstr>
      <vt:lpstr> </vt:lpstr>
      <vt:lpstr> </vt:lpstr>
      <vt:lpstr> </vt:lpstr>
      <vt:lpstr> </vt:lpstr>
      <vt:lpstr> </vt:lpstr>
      <vt:lpstr>Оптимизация сортировки</vt:lpstr>
      <vt:lpstr>Оптимизация GROUP BY</vt:lpstr>
      <vt:lpstr> </vt:lpstr>
      <vt:lpstr>Совет №1</vt:lpstr>
      <vt:lpstr> </vt:lpstr>
      <vt:lpstr> </vt:lpstr>
      <vt:lpstr>Совет №2</vt:lpstr>
      <vt:lpstr> </vt:lpstr>
      <vt:lpstr> </vt:lpstr>
      <vt:lpstr>Совет №3</vt:lpstr>
      <vt:lpstr> </vt:lpstr>
      <vt:lpstr> </vt:lpstr>
      <vt:lpstr>Совет №4</vt:lpstr>
      <vt:lpstr> </vt:lpstr>
      <vt:lpstr> </vt:lpstr>
      <vt:lpstr>Совет №5</vt:lpstr>
      <vt:lpstr> </vt:lpstr>
      <vt:lpstr> </vt:lpstr>
      <vt:lpstr>Совет №6</vt:lpstr>
      <vt:lpstr> </vt:lpstr>
      <vt:lpstr> </vt:lpstr>
      <vt:lpstr>Совет №7</vt:lpstr>
      <vt:lpstr> </vt:lpstr>
      <vt:lpstr> </vt:lpstr>
      <vt:lpstr>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Вадим Фельдман</dc:creator>
  <cp:lastModifiedBy>work</cp:lastModifiedBy>
  <cp:revision>454</cp:revision>
  <dcterms:created xsi:type="dcterms:W3CDTF">2014-02-26T14:55:03Z</dcterms:created>
  <dcterms:modified xsi:type="dcterms:W3CDTF">2016-04-28T09:53:47Z</dcterms:modified>
</cp:coreProperties>
</file>